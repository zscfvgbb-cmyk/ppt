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5" r:id="rId3"/>
    <p:sldId id="267" r:id="rId18"/>
    <p:sldId id="257" r:id="rId4"/>
    <p:sldId id="259" r:id="rId6"/>
    <p:sldId id="260" r:id="rId7"/>
    <p:sldId id="261" r:id="rId8"/>
    <p:sldId id="262" r:id="rId9"/>
    <p:sldId id="263" r:id="rId10"/>
    <p:sldId id="264"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D7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268" y="9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  <Relationship Id="rId18" Type="http://schemas.openxmlformats.org/officeDocument/2006/relationships/slide" Target="slides/slide1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6451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a:t>
            </a:r>
          </a:p>
          <a:p>
            <a:r>
              <a:rPr lang="en-US" dirty="0"/>
              <a:t>안녕하십니까, MLC 우성훈입니다. 해양 구조물을 점검할 때 가장 어려운 질문은 '어디부터 봐야 하나'입니다. 저희는 녹의 색을 읽어서 그 답을 먼저 드리는 기술을 만들고 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15초]</a:t>
            </a:r>
          </a:p>
          <a:p>
            <a:r>
              <a:rPr lang="en-US" dirty="0"/>
              <a:t>팀 MLC는 경상국립대학교 기계시스템공학과의 우성훈, 박준범입니다. 저희 두 사람이 부식 연구를 직접 했고, 미국 고객 인터뷰 35건도 함께 진행했습니다.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28초]</a:t>
            </a:r>
          </a:p>
          <a:p>
            <a:r>
              <a:rPr lang="en-US" dirty="0"/>
              <a:t>특히 해양 구조물이 그렇습니다. 파도가 치는 비말대는 부식이 가장 빠른 곳인데, 로프 액세스나 잠수, ROV 없이는 볼 수가 없습니다. 지금은 상태와 상관없이 모든 지점을 똑같이 돌고, 비용의 대부분은 검사 자체가 아니라 배를 빌리고 날씨를 기다리고 리프트를 빌리는 데서 나옵니다. 점검 주기는 규제로 정해져 있어 줄일 수 없습니다. 결국 문제는 그 주기 안에서 어디에 사람과 배를 먼저 보낼지입니다.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40초]</a:t>
            </a:r>
          </a:p>
          <a:p>
            <a:r>
              <a:rPr lang="en-US" dirty="0"/>
              <a:t>저희는 올해 7월 Tex-Corps 프로그램으로 미국에서 35명을 인터뷰했습니다. 처음 가설은 '검사원마다 판단이 달라 보정 도구가 필요하다'였는데, 현장 인력 11명 모두 아니라고 했습니다. 매뉴얼과 인증 시험으로 이미 해결된 문제였습니다. 대신 Williams의 한 관리자가 방향을 제시했습니다. 접근하기 어려운 곳을 드론으로 먼저 훑어서 정말 가까이 봐야 할 곳만 알려 주면 시간과 비용이 줄어든다는 것입니다. 이후 현장 인력 11명 중 10명이 여기에 공감했고, 의사결정권자 5명 모두 관심을 보이며 파일럿 조건까지 이야기했습니다.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35초]</a:t>
            </a:r>
          </a:p>
          <a:p>
            <a:r>
              <a:rPr lang="en-US" dirty="0"/>
              <a:t>그래서 MLC는 이렇게 작동합니다. 드론이나 카메라로 접근이 어려운 구간을 먼저 찍습니다. 녹이 있는 부분만 자동으로 골라내고, 그 녹의 색으로 부식 속도 구간을 판정해 위험도를 높음, 중간, 낮음으로 매깁니다. 마지막으로 구조물 사진 위에 위험한 지점부터 번호를 매긴 지도를 드립니다. 빨간 1번은 바로 점검하고, 파란 3번은 다음 주기로 미뤄도 되는 곳입니다. 규제 주기는 그대로 지키면서, 사람과 배와 리프트를 위험한 곳에 먼저 보내는 겁니다.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35초]</a:t>
            </a:r>
          </a:p>
          <a:p>
            <a:r>
              <a:rPr lang="en-US" dirty="0"/>
              <a:t>핵심 기술은 실험실에서 검증했습니다. 탄소강을 240시간 촉진부식 시키며 측정했습니다. 보시는 것처럼 표면의 녹 색이 변하면서 색 좌표 b* 값이 1.7에서 13.1로 커지고, 같은 기간 실제 부식 속도는 연 0.34mm에서 1.45mm로 약 4배 빨라졌습니다. 색과 부식 속도의 순위 상관계수는 0.88이고, 위험도 세 구간의 부식 속도는 서로 겹치지 않습니다. 이 색 변화는 부식을 빠르게 만드는 다공성 녹 성분이 늘어나면서 생기기 때문에, 색과 속도가 함께 움직이는 물리적 근거도 있습니다. 이 결과는 SEM, XRD, 전기화학 등 여섯 가지 분석으로 교차 검증했습니다.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25초]</a:t>
            </a:r>
          </a:p>
          <a:p>
            <a:r>
              <a:rPr lang="en-US" dirty="0"/>
              <a:t>고객은 해양 석유·가스 운영사입니다. 현장 검사원이 리포트를 쓰고, 부식 엔지니어링 매니저가 추천하고, 대표가 결정합니다. 대표마다 결정 동기가 달랐는데, 안전, 비용, 규제와 보험 대응 세 가지였습니다. 수익은 점검 건당 요금이나 구독형으로 생각하고 있고, 방식 전문 업체와 드론 업체를 파트너이자 소개 채널로 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a:t>
            </a:r>
          </a:p>
          <a:p>
            <a:r>
              <a:rPr lang="en-US" dirty="0"/>
              <a:t>이 시장은 규제가 반복 수요를 만듭니다. 미국 해양 플랫폼은 매년, 3~5년, 6~10년 주기로 점검이 의무입니다. 첫 타깃은 멕시코만의 유인 생산 플랫폼 371곳으로, 모두 매년 점검이 돌아오는 고객입니다. 인터뷰에서 확인한 구매 동기는 안전, 비용, 규제와 보험 대응 세 가지였습니다. 멕시코만 플랫폼에서 시작해 미드스트림 가스 압축 기지, 그리고 국내 해상풍력과 해양 플랜트로 넓혀 가겠습니다.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25초]</a:t>
            </a:r>
          </a:p>
          <a:p>
            <a:r>
              <a:rPr lang="en-US" dirty="0"/>
              <a:t>지금까지 실험실 검증을 마쳤고, 미국에서 35명을 만나 타깃을 해양 석유·가스로 좁혔습니다. 다음 단계는 세 가지입니다. 선박 일수와 리프트 임대처럼 실제 절감액을 숫자로 만들고, 사진이 볼 수 없는 두께 감소를 보완하기 위해 두께 측정 데이터와 결합하고, 반응이 가장 좋았던 현장을 더 깊이 검증하겠습니다.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15초]</a:t>
            </a:r>
          </a:p>
          <a:p>
            <a:r>
              <a:rPr lang="en-US" dirty="0"/>
              <a:t>저희는 이 기술을 현장에서 함께 검증할 파트너를 찾고 있습니다. 어디부터 점검할지, 녹의 색이 먼저 알려드리겠습니다.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a:t>
            </a:r>
          </a:p>
          <a:p>
            <a:r>
              <a:rPr lang="en-US" dirty="0"/>
              <a:t>부식은 생각보다 큰 문제입니다. 전 세계가 매년 부식으로 잃는 비용은 약 2.5조 달러, 세계 GDP의 3.4%입니다. 국제 부식 학회인 AMPP가 2025년에도 공식적으로 인용하는 수치입니다. 환경 비용도 큽니다. 매년 생산되는 철강의 4분의 1에서 3분의 1이 부식으로 잃은 강재를 메우는 데 쓰이고, 이 강재를 다시 만드는 과정에서 전 세계 이산화탄소 배출의 1.6~3.4%가 나옵니다. 반대로 부식을 제때 찾아 관리하면 이 비용의 15~35%, 연간 3,750억에서 8,750억 달러를 줄일 수 있습니다. 문제는 '제때 찾는 것'이 어렵다는 점입니다.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image" Target="../media/v4_s6_image-1-1.png"/><Relationship Id="rId2" Type="http://schemas.openxmlformats.org/officeDocument/2006/relationships/image" Target="../media/v4_s6_image-1-2.png"/><Relationship Id="rId3" Type="http://schemas.openxmlformats.org/officeDocument/2006/relationships/image" Target="../media/v4_s6_image-1-3.png"/><Relationship Id="rId4" Type="http://schemas.openxmlformats.org/officeDocument/2006/relationships/image" Target="../media/v4_s6_image-1-4.png"/><Relationship Id="rId5" Type="http://schemas.openxmlformats.org/officeDocument/2006/relationships/image" Target="../media/v4_s6_image-1-5.png"/><Relationship Id="rId6" Type="http://schemas.openxmlformats.org/officeDocument/2006/relationships/image" Target="../media/v4_s6_image-1-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v4_s7_image-2-1.png"/><Relationship Id="rId2" Type="http://schemas.openxmlformats.org/officeDocument/2006/relationships/image" Target="../media/v4_s7_image-2-2.png"/><Relationship Id="rId3" Type="http://schemas.openxmlformats.org/officeDocument/2006/relationships/image" Target="../media/v4_s7_image-2-3.png"/><Relationship Id="rId4" Type="http://schemas.openxmlformats.org/officeDocument/2006/relationships/image" Target="../media/v4_s7_image-2-4.png"/><Relationship Id="rId5" Type="http://schemas.openxmlformats.org/officeDocument/2006/relationships/image" Target="../media/v4_s7_image-2-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image" Target="../media/v4_s9_image-3-1.png"/><Relationship Id="rId2" Type="http://schemas.openxmlformats.org/officeDocument/2006/relationships/image" Target="../media/v4_s9_image-3-2.png"/><Relationship Id="rId3" Type="http://schemas.openxmlformats.org/officeDocument/2006/relationships/image" Target="../media/v4_s9_image-3-3.png"/><Relationship Id="rId4" Type="http://schemas.openxmlformats.org/officeDocument/2006/relationships/image" Target="../media/v4_s9_image-3-4.png"/><Relationship Id="rId5" Type="http://schemas.openxmlformats.org/officeDocument/2006/relationships/image" Target="../media/v4_s9_image-3-5.png"/><Relationship Id="rId6" Type="http://schemas.openxmlformats.org/officeDocument/2006/relationships/image" Target="../media/v4_s9_image-3-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why_1.png"/><Relationship Id="rId2" Type="http://schemas.openxmlformats.org/officeDocument/2006/relationships/image" Target="../media/why_2.png"/><Relationship Id="rId3" Type="http://schemas.openxmlformats.org/officeDocument/2006/relationships/image" Target="../media/why_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226"/>
        </a:solidFill>
        <a:effectLst/>
      </p:bgPr>
    </p:bg>
    <p:spTree>
      <p:nvGrpSpPr>
        <p:cNvPr id="1" name=""/>
        <p:cNvGrpSpPr/>
        <p:nvPr/>
      </p:nvGrpSpPr>
      <p:grpSpPr>
        <a:xfrm>
          <a:off x="0" y="0"/>
          <a:ext cx="0" cy="0"/>
          <a:chOff x="0" y="0"/>
          <a:chExt cx="0" cy="0"/>
        </a:xfrm>
      </p:grpSpPr>
      <p:sp>
        <p:nvSpPr>
          <p:cNvPr id="3" name="Text 1"/>
          <p:cNvSpPr txBox="1"/>
          <p:nvPr/>
        </p:nvSpPr>
        <p:spPr>
          <a:xfrm>
            <a:off x="548640" y="1143000"/>
            <a:ext cx="2743200" cy="548640"/>
          </a:xfrm>
          <a:prstGeom prst="rect">
            <a:avLst/>
          </a:prstGeom>
          <a:noFill/>
          <a:ln/>
        </p:spPr>
        <p:txBody>
          <a:bodyPr wrap="square" lIns="0" tIns="0" rIns="0" bIns="0" rtlCol="0" anchor="t"/>
          <a:lstStyle/>
          <a:p>
            <a:pPr marL="0" indent="0">
              <a:buNone/>
            </a:pPr>
            <a:r>
              <a:rPr lang="en-US" sz="3000" b="1" kern="0" spc="400" dirty="0">
                <a:solidFill>
                  <a:srgbClr val="E8A87C"/>
                </a:solidFill>
                <a:latin typeface="맑은 고딕" pitchFamily="34" charset="0"/>
                <a:ea typeface="맑은 고딕" pitchFamily="34" charset="-122"/>
                <a:cs typeface="맑은 고딕" pitchFamily="34" charset="-120"/>
              </a:rPr>
              <a:t>MLC</a:t>
            </a:r>
            <a:endParaRPr lang="en-US" sz="3000" dirty="0"/>
          </a:p>
        </p:txBody>
      </p:sp>
      <p:sp>
        <p:nvSpPr>
          <p:cNvPr id="4" name="Text 2"/>
          <p:cNvSpPr txBox="1"/>
          <p:nvPr/>
        </p:nvSpPr>
        <p:spPr>
          <a:xfrm>
            <a:off x="548640" y="1783080"/>
            <a:ext cx="6035040" cy="228600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맑은 고딕" pitchFamily="34" charset="0"/>
                <a:ea typeface="맑은 고딕" pitchFamily="34" charset="-122"/>
                <a:cs typeface="맑은 고딕" pitchFamily="34" charset="-120"/>
              </a:rPr>
              <a:t>어디부터 점검할지,</a:t>
            </a:r>
            <a:endParaRPr lang="en-US" sz="3800" dirty="0"/>
          </a:p>
          <a:p>
            <a:pPr marL="0" indent="0">
              <a:lnSpc>
                <a:spcPct val="105000"/>
              </a:lnSpc>
              <a:buNone/>
            </a:pPr>
            <a:r>
              <a:rPr lang="en-US" sz="3800" b="1" dirty="0">
                <a:solidFill>
                  <a:srgbClr val="FFFFFF"/>
                </a:solidFill>
                <a:latin typeface="맑은 고딕" pitchFamily="34" charset="0"/>
                <a:ea typeface="맑은 고딕" pitchFamily="34" charset="-122"/>
                <a:cs typeface="맑은 고딕" pitchFamily="34" charset="-120"/>
              </a:rPr>
              <a:t>녹의 색이 먼저</a:t>
            </a:r>
            <a:endParaRPr lang="en-US" sz="3800" dirty="0"/>
          </a:p>
          <a:p>
            <a:pPr marL="0" indent="0">
              <a:lnSpc>
                <a:spcPct val="105000"/>
              </a:lnSpc>
              <a:buNone/>
            </a:pPr>
            <a:r>
              <a:rPr lang="en-US" sz="3800" b="1" dirty="0">
                <a:solidFill>
                  <a:srgbClr val="FFFFFF"/>
                </a:solidFill>
                <a:latin typeface="맑은 고딕" pitchFamily="34" charset="0"/>
                <a:ea typeface="맑은 고딕" pitchFamily="34" charset="-122"/>
                <a:cs typeface="맑은 고딕" pitchFamily="34" charset="-120"/>
              </a:rPr>
              <a:t>알려드립니다</a:t>
            </a:r>
            <a:endParaRPr lang="en-US" sz="3800" dirty="0"/>
          </a:p>
        </p:txBody>
      </p:sp>
      <p:sp>
        <p:nvSpPr>
          <p:cNvPr id="5" name="Text 3"/>
          <p:cNvSpPr txBox="1"/>
          <p:nvPr/>
        </p:nvSpPr>
        <p:spPr>
          <a:xfrm>
            <a:off x="548640" y="4206240"/>
            <a:ext cx="6035040" cy="411480"/>
          </a:xfrm>
          <a:prstGeom prst="rect">
            <a:avLst/>
          </a:prstGeom>
          <a:noFill/>
          <a:ln/>
        </p:spPr>
        <p:txBody>
          <a:bodyPr wrap="square" lIns="0" tIns="0" rIns="0" bIns="0" rtlCol="0" anchor="t"/>
          <a:lstStyle/>
          <a:p>
            <a:pPr marL="0" indent="0">
              <a:buNone/>
            </a:pPr>
            <a:r>
              <a:rPr lang="en-US" sz="1900" dirty="0">
                <a:solidFill>
                  <a:srgbClr val="E8A87C"/>
                </a:solidFill>
                <a:latin typeface="맑은 고딕" pitchFamily="34" charset="0"/>
                <a:ea typeface="맑은 고딕" pitchFamily="34" charset="-122"/>
                <a:cs typeface="맑은 고딕" pitchFamily="34" charset="-120"/>
              </a:rPr>
              <a:t>녹 색상 기반 AI 금속 열화 예측 플랫폼</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TEAM</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팀 MLC</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a:t>
            </a:r>
            <a:r>
              <a:rPr lang="en-US" sz="900" dirty="0" err="1">
                <a:solidFill>
                  <a:srgbClr val="A3A7AD"/>
                </a:solidFill>
                <a:latin typeface="맑은 고딕" pitchFamily="34" charset="0"/>
                <a:ea typeface="맑은 고딕" pitchFamily="34" charset="-122"/>
                <a:cs typeface="맑은 고딕" pitchFamily="34" charset="-120"/>
              </a:rPr>
              <a:t>제주</a:t>
            </a:r>
            <a:r>
              <a:rPr lang="en-US" sz="900" dirty="0">
                <a:solidFill>
                  <a:srgbClr val="A3A7AD"/>
                </a:solidFill>
                <a:latin typeface="맑은 고딕" pitchFamily="34" charset="0"/>
                <a:ea typeface="맑은 고딕" pitchFamily="34" charset="-122"/>
                <a:cs typeface="맑은 고딕" pitchFamily="34" charset="-120"/>
              </a:rPr>
              <a:t>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rPr>
              <a:t>2</a:t>
            </a:r>
            <a:endParaRPr lang="en-US" sz="900" dirty="0"/>
          </a:p>
        </p:txBody>
      </p:sp>
      <p:sp>
        <p:nvSpPr>
          <p:cNvPr id="6" name="Shape 4"/>
          <p:cNvSpPr/>
          <p:nvPr/>
        </p:nvSpPr>
        <p:spPr>
          <a:xfrm>
            <a:off x="548640" y="1417320"/>
            <a:ext cx="5349240" cy="3017520"/>
          </a:xfrm>
          <a:prstGeom prst="roundRect">
            <a:avLst>
              <a:gd name="adj" fmla="val 2424"/>
            </a:avLst>
          </a:prstGeom>
          <a:solidFill>
            <a:srgbClr val="FBEDE4"/>
          </a:solidFill>
          <a:ln w="6350">
            <a:solidFill>
              <a:srgbClr val="FBEDE4"/>
            </a:solidFill>
            <a:prstDash val="solid"/>
          </a:ln>
        </p:spPr>
      </p:sp>
      <p:pic>
        <p:nvPicPr>
          <p:cNvPr id="7" name="Image 0" descr="/home/user/PPT/src/img/team_woo.png"/>
          <p:cNvPicPr>
            <a:picLocks noChangeAspect="1"/>
          </p:cNvPicPr>
          <p:nvPr/>
        </p:nvPicPr>
        <p:blipFill>
          <a:blip r:embed="rId3"/>
          <a:srcRect/>
          <a:stretch/>
        </p:blipFill>
        <p:spPr>
          <a:xfrm>
            <a:off x="822960" y="1691640"/>
            <a:ext cx="1920240" cy="2468880"/>
          </a:xfrm>
          <a:prstGeom prst="rect">
            <a:avLst/>
          </a:prstGeom>
        </p:spPr>
      </p:pic>
      <p:sp>
        <p:nvSpPr>
          <p:cNvPr id="8" name="Text 5"/>
          <p:cNvSpPr txBox="1"/>
          <p:nvPr/>
        </p:nvSpPr>
        <p:spPr>
          <a:xfrm>
            <a:off x="3017520" y="1828800"/>
            <a:ext cx="2697480" cy="457200"/>
          </a:xfrm>
          <a:prstGeom prst="rect">
            <a:avLst/>
          </a:prstGeom>
          <a:noFill/>
          <a:ln/>
        </p:spPr>
        <p:txBody>
          <a:bodyPr wrap="square" lIns="0" tIns="0" rIns="0" bIns="0" rtlCol="0" anchor="t"/>
          <a:lstStyle/>
          <a:p>
            <a:pPr marL="0" indent="0">
              <a:buNone/>
            </a:pPr>
            <a:r>
              <a:rPr lang="en-US" sz="2400" b="1" dirty="0">
                <a:solidFill>
                  <a:srgbClr val="2B2D31"/>
                </a:solidFill>
                <a:latin typeface="맑은 고딕" pitchFamily="34" charset="0"/>
                <a:ea typeface="맑은 고딕" pitchFamily="34" charset="-122"/>
                <a:cs typeface="맑은 고딕" pitchFamily="34" charset="-120"/>
              </a:rPr>
              <a:t>우성훈</a:t>
            </a:r>
            <a:endParaRPr lang="en-US" sz="2400" dirty="0"/>
          </a:p>
        </p:txBody>
      </p:sp>
      <p:sp>
        <p:nvSpPr>
          <p:cNvPr id="9" name="Text 6"/>
          <p:cNvSpPr txBox="1"/>
          <p:nvPr/>
        </p:nvSpPr>
        <p:spPr>
          <a:xfrm>
            <a:off x="3017520" y="2331720"/>
            <a:ext cx="2697480" cy="320040"/>
          </a:xfrm>
          <a:prstGeom prst="rect">
            <a:avLst/>
          </a:prstGeom>
          <a:noFill/>
          <a:ln/>
        </p:spPr>
        <p:txBody>
          <a:bodyPr wrap="square" lIns="0" tIns="0" rIns="0" bIns="0" rtlCol="0" anchor="t"/>
          <a:lstStyle/>
          <a:p>
            <a:pPr marL="0" indent="0">
              <a:buNone/>
            </a:pPr>
            <a:r>
              <a:rPr lang="en-US" sz="1350" b="1" dirty="0">
                <a:solidFill>
                  <a:srgbClr val="B5501F"/>
                </a:solidFill>
                <a:latin typeface="맑은 고딕" pitchFamily="34" charset="0"/>
                <a:ea typeface="맑은 고딕" pitchFamily="34" charset="-122"/>
                <a:cs typeface="맑은 고딕" pitchFamily="34" charset="-120"/>
              </a:rPr>
              <a:t>EL</a:t>
            </a:r>
            <a:endParaRPr lang="en-US" sz="1350" dirty="0"/>
          </a:p>
        </p:txBody>
      </p:sp>
      <p:sp>
        <p:nvSpPr>
          <p:cNvPr id="10" name="Text 7"/>
          <p:cNvSpPr txBox="1"/>
          <p:nvPr/>
        </p:nvSpPr>
        <p:spPr>
          <a:xfrm>
            <a:off x="3017520" y="2743200"/>
            <a:ext cx="2697480" cy="548640"/>
          </a:xfrm>
          <a:prstGeom prst="rect">
            <a:avLst/>
          </a:prstGeom>
          <a:noFill/>
          <a:ln/>
        </p:spPr>
        <p:txBody>
          <a:bodyPr wrap="square" lIns="0" tIns="0" rIns="0" bIns="0" rtlCol="0" anchor="t"/>
          <a:lstStyle/>
          <a:p>
            <a:pPr marL="0" indent="0">
              <a:buNone/>
            </a:pPr>
            <a:r>
              <a:rPr lang="en-US" sz="1250" dirty="0">
                <a:solidFill>
                  <a:srgbClr val="6B6F76"/>
                </a:solidFill>
                <a:latin typeface="맑은 고딕" pitchFamily="34" charset="0"/>
                <a:ea typeface="맑은 고딕" pitchFamily="34" charset="-122"/>
                <a:cs typeface="맑은 고딕" pitchFamily="34" charset="-120"/>
              </a:rPr>
              <a:t>경상국립대학교</a:t>
            </a:r>
            <a:endParaRPr lang="en-US" sz="1250" dirty="0"/>
          </a:p>
          <a:p>
            <a:pPr marL="0" indent="0">
              <a:buNone/>
            </a:pPr>
            <a:r>
              <a:rPr lang="en-US" sz="1250" dirty="0">
                <a:solidFill>
                  <a:srgbClr val="6B6F76"/>
                </a:solidFill>
                <a:latin typeface="맑은 고딕" pitchFamily="34" charset="0"/>
                <a:ea typeface="맑은 고딕" pitchFamily="34" charset="-122"/>
                <a:cs typeface="맑은 고딕" pitchFamily="34" charset="-120"/>
              </a:rPr>
              <a:t>기계시스템공학과</a:t>
            </a:r>
            <a:endParaRPr lang="en-US" sz="1250" dirty="0"/>
          </a:p>
        </p:txBody>
      </p:sp>
      <p:sp>
        <p:nvSpPr>
          <p:cNvPr id="12" name="Shape 9"/>
          <p:cNvSpPr/>
          <p:nvPr/>
        </p:nvSpPr>
        <p:spPr>
          <a:xfrm>
            <a:off x="6291072" y="1417320"/>
            <a:ext cx="5349240" cy="3017520"/>
          </a:xfrm>
          <a:prstGeom prst="roundRect">
            <a:avLst>
              <a:gd name="adj" fmla="val 2424"/>
            </a:avLst>
          </a:prstGeom>
          <a:solidFill>
            <a:srgbClr val="F3F4F6"/>
          </a:solidFill>
          <a:ln w="6350">
            <a:solidFill>
              <a:srgbClr val="F3F4F6"/>
            </a:solidFill>
            <a:prstDash val="solid"/>
          </a:ln>
        </p:spPr>
      </p:sp>
      <p:pic>
        <p:nvPicPr>
          <p:cNvPr id="13" name="Image 1" descr="/home/user/PPT/src/img/team_park.jpg"/>
          <p:cNvPicPr>
            <a:picLocks noChangeAspect="1"/>
          </p:cNvPicPr>
          <p:nvPr/>
        </p:nvPicPr>
        <p:blipFill>
          <a:blip r:embed="rId4"/>
          <a:srcRect/>
          <a:stretch/>
        </p:blipFill>
        <p:spPr>
          <a:xfrm>
            <a:off x="6565392" y="1691640"/>
            <a:ext cx="1919930" cy="2468880"/>
          </a:xfrm>
          <a:prstGeom prst="rect">
            <a:avLst/>
          </a:prstGeom>
        </p:spPr>
      </p:pic>
      <p:sp>
        <p:nvSpPr>
          <p:cNvPr id="14" name="Text 10"/>
          <p:cNvSpPr txBox="1"/>
          <p:nvPr/>
        </p:nvSpPr>
        <p:spPr>
          <a:xfrm>
            <a:off x="8759642" y="1828800"/>
            <a:ext cx="2697790" cy="457200"/>
          </a:xfrm>
          <a:prstGeom prst="rect">
            <a:avLst/>
          </a:prstGeom>
          <a:noFill/>
          <a:ln/>
        </p:spPr>
        <p:txBody>
          <a:bodyPr wrap="square" lIns="0" tIns="0" rIns="0" bIns="0" rtlCol="0" anchor="t"/>
          <a:lstStyle/>
          <a:p>
            <a:pPr marL="0" indent="0">
              <a:buNone/>
            </a:pPr>
            <a:r>
              <a:rPr lang="en-US" sz="2400" b="1" dirty="0">
                <a:solidFill>
                  <a:srgbClr val="2B2D31"/>
                </a:solidFill>
                <a:latin typeface="맑은 고딕" pitchFamily="34" charset="0"/>
                <a:ea typeface="맑은 고딕" pitchFamily="34" charset="-122"/>
                <a:cs typeface="맑은 고딕" pitchFamily="34" charset="-120"/>
              </a:rPr>
              <a:t>박준범</a:t>
            </a:r>
            <a:endParaRPr lang="en-US" sz="2400" dirty="0"/>
          </a:p>
        </p:txBody>
      </p:sp>
      <p:sp>
        <p:nvSpPr>
          <p:cNvPr id="15" name="Text 11"/>
          <p:cNvSpPr txBox="1"/>
          <p:nvPr/>
        </p:nvSpPr>
        <p:spPr>
          <a:xfrm>
            <a:off x="8759642" y="2331720"/>
            <a:ext cx="2697790" cy="320040"/>
          </a:xfrm>
          <a:prstGeom prst="rect">
            <a:avLst/>
          </a:prstGeom>
          <a:noFill/>
          <a:ln/>
        </p:spPr>
        <p:txBody>
          <a:bodyPr wrap="square" lIns="0" tIns="0" rIns="0" bIns="0" rtlCol="0" anchor="t"/>
          <a:lstStyle/>
          <a:p>
            <a:pPr marL="0" indent="0">
              <a:buNone/>
            </a:pPr>
            <a:r>
              <a:rPr lang="en-US" sz="1350" b="1" dirty="0">
                <a:solidFill>
                  <a:srgbClr val="B5501F"/>
                </a:solidFill>
                <a:latin typeface="맑은 고딕" pitchFamily="34" charset="0"/>
                <a:ea typeface="맑은 고딕" pitchFamily="34" charset="-122"/>
                <a:cs typeface="맑은 고딕" pitchFamily="34" charset="-120"/>
              </a:rPr>
              <a:t>EM</a:t>
            </a:r>
            <a:endParaRPr lang="en-US" sz="1350" dirty="0"/>
          </a:p>
        </p:txBody>
      </p:sp>
      <p:sp>
        <p:nvSpPr>
          <p:cNvPr id="16" name="Text 12"/>
          <p:cNvSpPr txBox="1"/>
          <p:nvPr/>
        </p:nvSpPr>
        <p:spPr>
          <a:xfrm>
            <a:off x="8759642" y="2743200"/>
            <a:ext cx="2697790" cy="548640"/>
          </a:xfrm>
          <a:prstGeom prst="rect">
            <a:avLst/>
          </a:prstGeom>
          <a:noFill/>
          <a:ln/>
        </p:spPr>
        <p:txBody>
          <a:bodyPr wrap="square" lIns="0" tIns="0" rIns="0" bIns="0" rtlCol="0" anchor="t"/>
          <a:lstStyle/>
          <a:p>
            <a:pPr marL="0" indent="0">
              <a:buNone/>
            </a:pPr>
            <a:r>
              <a:rPr lang="en-US" sz="1250" dirty="0">
                <a:solidFill>
                  <a:srgbClr val="6B6F76"/>
                </a:solidFill>
                <a:latin typeface="맑은 고딕" pitchFamily="34" charset="0"/>
                <a:ea typeface="맑은 고딕" pitchFamily="34" charset="-122"/>
                <a:cs typeface="맑은 고딕" pitchFamily="34" charset="-120"/>
              </a:rPr>
              <a:t>경상국립대학교</a:t>
            </a:r>
            <a:endParaRPr lang="en-US" sz="1250" dirty="0"/>
          </a:p>
          <a:p>
            <a:pPr marL="0" indent="0">
              <a:buNone/>
            </a:pPr>
            <a:r>
              <a:rPr lang="en-US" sz="1250" dirty="0">
                <a:solidFill>
                  <a:srgbClr val="6B6F76"/>
                </a:solidFill>
                <a:latin typeface="맑은 고딕" pitchFamily="34" charset="0"/>
                <a:ea typeface="맑은 고딕" pitchFamily="34" charset="-122"/>
                <a:cs typeface="맑은 고딕" pitchFamily="34" charset="-120"/>
              </a:rPr>
              <a:t>기계시스템공학과</a:t>
            </a:r>
            <a:endParaRPr lang="en-US" sz="1250" dirty="0"/>
          </a:p>
        </p:txBody>
      </p:sp>
      <p:sp>
        <p:nvSpPr>
          <p:cNvPr id="18" name="Shape 14"/>
          <p:cNvSpPr/>
          <p:nvPr/>
        </p:nvSpPr>
        <p:spPr>
          <a:xfrm>
            <a:off x="548640" y="4709160"/>
            <a:ext cx="11094415" cy="548640"/>
          </a:xfrm>
          <a:prstGeom prst="roundRect">
            <a:avLst>
              <a:gd name="adj" fmla="val 10000"/>
            </a:avLst>
          </a:prstGeom>
          <a:solidFill>
            <a:srgbClr val="FFF6DB"/>
          </a:solidFill>
          <a:ln w="15875">
            <a:solidFill>
              <a:srgbClr val="E0B23C"/>
            </a:solidFill>
            <a:prstDash val="dash"/>
          </a:ln>
        </p:spPr>
      </p:sp>
      <p:sp>
        <p:nvSpPr>
          <p:cNvPr id="19" name="Text 15"/>
          <p:cNvSpPr txBox="1"/>
          <p:nvPr/>
        </p:nvSpPr>
        <p:spPr>
          <a:xfrm>
            <a:off x="685800" y="4709160"/>
            <a:ext cx="10820095" cy="548640"/>
          </a:xfrm>
          <a:prstGeom prst="rect">
            <a:avLst/>
          </a:prstGeom>
          <a:noFill/>
          <a:ln/>
        </p:spPr>
        <p:txBody>
          <a:bodyPr wrap="square" lIns="0" tIns="0" rIns="0" bIns="0" rtlCol="0" anchor="ctr"/>
          <a:lstStyle/>
          <a:p>
            <a:pPr marL="0" indent="0">
              <a:buNone/>
            </a:pPr>
            <a:r>
              <a:rPr lang="en-US" sz="1300" dirty="0">
                <a:solidFill>
                  <a:srgbClr val="9A6A00"/>
                </a:solidFill>
                <a:latin typeface="맑은 고딕" pitchFamily="34" charset="0"/>
                <a:ea typeface="맑은 고딕" pitchFamily="34" charset="-122"/>
                <a:cs typeface="맑은 고딕" pitchFamily="34" charset="-120"/>
              </a:rPr>
              <a:t>✎  지도교수 · 멘토 · 자문 (예: 부식/재료 분야 지도교수, Tex-Corps 멘토)</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PROBLEM</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해양 구조물 점검의 접근 비용</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a:t>
            </a:r>
            <a:r>
              <a:rPr lang="en-US" sz="900" dirty="0" err="1">
                <a:solidFill>
                  <a:srgbClr val="A3A7AD"/>
                </a:solidFill>
                <a:latin typeface="맑은 고딕" pitchFamily="34" charset="0"/>
                <a:ea typeface="맑은 고딕" pitchFamily="34" charset="-122"/>
                <a:cs typeface="맑은 고딕" pitchFamily="34" charset="-120"/>
              </a:rPr>
              <a:t>제주</a:t>
            </a:r>
            <a:r>
              <a:rPr lang="en-US" sz="900" dirty="0">
                <a:solidFill>
                  <a:srgbClr val="A3A7AD"/>
                </a:solidFill>
                <a:latin typeface="맑은 고딕" pitchFamily="34" charset="0"/>
                <a:ea typeface="맑은 고딕" pitchFamily="34" charset="-122"/>
                <a:cs typeface="맑은 고딕" pitchFamily="34" charset="-120"/>
              </a:rPr>
              <a:t>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cs typeface="맑은 고딕" pitchFamily="34" charset="-120"/>
              </a:rPr>
              <a:t>4</a:t>
            </a:r>
            <a:endParaRPr lang="en-US" sz="900" dirty="0"/>
          </a:p>
        </p:txBody>
      </p:sp>
      <p:pic>
        <p:nvPicPr>
          <p:cNvPr id="6" name="Image 0" descr="/home/user/PPT/src/img/offshore_zones.png"/>
          <p:cNvPicPr>
            <a:picLocks noChangeAspect="1"/>
          </p:cNvPicPr>
          <p:nvPr/>
        </p:nvPicPr>
        <p:blipFill>
          <a:blip r:embed="rId3"/>
          <a:stretch>
            <a:fillRect/>
          </a:stretch>
        </p:blipFill>
        <p:spPr>
          <a:xfrm>
            <a:off x="548640" y="1371600"/>
            <a:ext cx="4160520" cy="4142192"/>
          </a:xfrm>
          <a:prstGeom prst="rect">
            <a:avLst/>
          </a:prstGeom>
        </p:spPr>
      </p:pic>
      <p:sp>
        <p:nvSpPr>
          <p:cNvPr id="7" name="Shape 4"/>
          <p:cNvSpPr/>
          <p:nvPr/>
        </p:nvSpPr>
        <p:spPr>
          <a:xfrm>
            <a:off x="5120640" y="1371600"/>
            <a:ext cx="6522415" cy="987552"/>
          </a:xfrm>
          <a:prstGeom prst="roundRect">
            <a:avLst>
              <a:gd name="adj" fmla="val 7407"/>
            </a:avLst>
          </a:prstGeom>
          <a:solidFill>
            <a:srgbClr val="F3F4F6"/>
          </a:solidFill>
          <a:ln w="6350">
            <a:solidFill>
              <a:srgbClr val="F3F4F6"/>
            </a:solidFill>
            <a:prstDash val="solid"/>
          </a:ln>
        </p:spPr>
      </p:sp>
      <p:sp>
        <p:nvSpPr>
          <p:cNvPr id="8" name="Shape 5"/>
          <p:cNvSpPr/>
          <p:nvPr/>
        </p:nvSpPr>
        <p:spPr>
          <a:xfrm>
            <a:off x="5321808" y="1536192"/>
            <a:ext cx="658368" cy="658368"/>
          </a:xfrm>
          <a:prstGeom prst="ellipse">
            <a:avLst/>
          </a:prstGeom>
          <a:solidFill>
            <a:srgbClr val="2B2D31"/>
          </a:solidFill>
          <a:ln w="12700">
            <a:solidFill>
              <a:srgbClr val="2B2D31"/>
            </a:solidFill>
            <a:prstDash val="solid"/>
          </a:ln>
        </p:spPr>
      </p:sp>
      <p:pic>
        <p:nvPicPr>
          <p:cNvPr id="9" name="Image 1" descr="preencoded.png"/>
          <p:cNvPicPr>
            <a:picLocks noChangeAspect="1"/>
          </p:cNvPicPr>
          <p:nvPr/>
        </p:nvPicPr>
        <p:blipFill>
          <a:blip r:embed="rId4"/>
          <a:stretch>
            <a:fillRect/>
          </a:stretch>
        </p:blipFill>
        <p:spPr>
          <a:xfrm>
            <a:off x="5492984" y="1707368"/>
            <a:ext cx="316017" cy="316017"/>
          </a:xfrm>
          <a:prstGeom prst="rect">
            <a:avLst/>
          </a:prstGeom>
        </p:spPr>
      </p:pic>
      <p:sp>
        <p:nvSpPr>
          <p:cNvPr id="10" name="Text 6"/>
          <p:cNvSpPr txBox="1"/>
          <p:nvPr/>
        </p:nvSpPr>
        <p:spPr>
          <a:xfrm>
            <a:off x="6172200" y="1481328"/>
            <a:ext cx="5333695" cy="329184"/>
          </a:xfrm>
          <a:prstGeom prst="rect">
            <a:avLst/>
          </a:prstGeom>
          <a:noFill/>
          <a:ln/>
        </p:spPr>
        <p:txBody>
          <a:bodyPr wrap="square" lIns="0" tIns="0" rIns="0" bIns="0" rtlCol="0" anchor="t"/>
          <a:lstStyle/>
          <a:p>
            <a:pPr marL="0" indent="0">
              <a:buNone/>
            </a:pPr>
            <a:r>
              <a:rPr lang="en-US" sz="1550" b="1" dirty="0">
                <a:solidFill>
                  <a:srgbClr val="2B2D31"/>
                </a:solidFill>
                <a:latin typeface="맑은 고딕" pitchFamily="34" charset="0"/>
                <a:ea typeface="맑은 고딕" pitchFamily="34" charset="-122"/>
                <a:cs typeface="맑은 고딕" pitchFamily="34" charset="-120"/>
              </a:rPr>
              <a:t>모든 지점을 똑같이 순회</a:t>
            </a:r>
            <a:endParaRPr lang="en-US" sz="1550" dirty="0"/>
          </a:p>
        </p:txBody>
      </p:sp>
      <p:sp>
        <p:nvSpPr>
          <p:cNvPr id="11" name="Text 7"/>
          <p:cNvSpPr txBox="1"/>
          <p:nvPr/>
        </p:nvSpPr>
        <p:spPr>
          <a:xfrm>
            <a:off x="6172200" y="1810512"/>
            <a:ext cx="5333695" cy="274320"/>
          </a:xfrm>
          <a:prstGeom prst="rect">
            <a:avLst/>
          </a:prstGeom>
          <a:noFill/>
          <a:ln/>
        </p:spPr>
        <p:txBody>
          <a:bodyPr wrap="square" lIns="0" tIns="0" rIns="0" bIns="0" rtlCol="0" anchor="t"/>
          <a:lstStyle/>
          <a:p>
            <a:pPr marL="0" indent="0">
              <a:buNone/>
            </a:pPr>
            <a:r>
              <a:rPr lang="en-US" sz="1250" dirty="0">
                <a:solidFill>
                  <a:srgbClr val="6B6F76"/>
                </a:solidFill>
                <a:latin typeface="맑은 고딕" pitchFamily="34" charset="0"/>
                <a:ea typeface="맑은 고딕" pitchFamily="34" charset="-122"/>
                <a:cs typeface="맑은 고딕" pitchFamily="34" charset="-120"/>
              </a:rPr>
              <a:t>상태와 관계없이 정해진 목록을 전부 방문</a:t>
            </a:r>
            <a:endParaRPr lang="en-US" sz="1250" dirty="0"/>
          </a:p>
        </p:txBody>
      </p:sp>
      <p:sp>
        <p:nvSpPr>
          <p:cNvPr id="12" name="Text 8"/>
          <p:cNvSpPr txBox="1"/>
          <p:nvPr/>
        </p:nvSpPr>
        <p:spPr>
          <a:xfrm>
            <a:off x="6172200" y="2066544"/>
            <a:ext cx="5333695" cy="228600"/>
          </a:xfrm>
          <a:prstGeom prst="rect">
            <a:avLst/>
          </a:prstGeom>
          <a:noFill/>
          <a:ln/>
        </p:spPr>
        <p:txBody>
          <a:bodyPr wrap="square" lIns="0" tIns="0" rIns="0" bIns="0" rtlCol="0" anchor="t"/>
          <a:lstStyle/>
          <a:p>
            <a:pPr marL="0" indent="0">
              <a:buNone/>
            </a:pPr>
            <a:r>
              <a:rPr lang="en-US" sz="1050" i="1" dirty="0">
                <a:solidFill>
                  <a:srgbClr val="A3A7AD"/>
                </a:solidFill>
                <a:latin typeface="맑은 고딕" pitchFamily="34" charset="0"/>
                <a:ea typeface="맑은 고딕" pitchFamily="34" charset="-122"/>
                <a:cs typeface="맑은 고딕" pitchFamily="34" charset="-120"/>
              </a:rPr>
              <a:t>— Williams · 점검 관리자</a:t>
            </a:r>
            <a:endParaRPr lang="en-US" sz="1050" dirty="0"/>
          </a:p>
        </p:txBody>
      </p:sp>
      <p:sp>
        <p:nvSpPr>
          <p:cNvPr id="13" name="Shape 9"/>
          <p:cNvSpPr/>
          <p:nvPr/>
        </p:nvSpPr>
        <p:spPr>
          <a:xfrm>
            <a:off x="5120640" y="2487168"/>
            <a:ext cx="6522415" cy="987552"/>
          </a:xfrm>
          <a:prstGeom prst="roundRect">
            <a:avLst>
              <a:gd name="adj" fmla="val 7407"/>
            </a:avLst>
          </a:prstGeom>
          <a:solidFill>
            <a:srgbClr val="F3F4F6"/>
          </a:solidFill>
          <a:ln w="6350">
            <a:solidFill>
              <a:srgbClr val="F3F4F6"/>
            </a:solidFill>
            <a:prstDash val="solid"/>
          </a:ln>
        </p:spPr>
      </p:sp>
      <p:sp>
        <p:nvSpPr>
          <p:cNvPr id="14" name="Shape 10"/>
          <p:cNvSpPr/>
          <p:nvPr/>
        </p:nvSpPr>
        <p:spPr>
          <a:xfrm>
            <a:off x="5321808" y="2651760"/>
            <a:ext cx="658368" cy="658368"/>
          </a:xfrm>
          <a:prstGeom prst="ellipse">
            <a:avLst/>
          </a:prstGeom>
          <a:solidFill>
            <a:srgbClr val="2B2D31"/>
          </a:solidFill>
          <a:ln w="12700">
            <a:solidFill>
              <a:srgbClr val="2B2D31"/>
            </a:solidFill>
            <a:prstDash val="solid"/>
          </a:ln>
        </p:spPr>
      </p:sp>
      <p:pic>
        <p:nvPicPr>
          <p:cNvPr id="15" name="Image 2" descr="preencoded.png"/>
          <p:cNvPicPr>
            <a:picLocks noChangeAspect="1"/>
          </p:cNvPicPr>
          <p:nvPr/>
        </p:nvPicPr>
        <p:blipFill>
          <a:blip r:embed="rId5"/>
          <a:stretch>
            <a:fillRect/>
          </a:stretch>
        </p:blipFill>
        <p:spPr>
          <a:xfrm>
            <a:off x="5492984" y="2822936"/>
            <a:ext cx="316017" cy="316017"/>
          </a:xfrm>
          <a:prstGeom prst="rect">
            <a:avLst/>
          </a:prstGeom>
        </p:spPr>
      </p:pic>
      <p:sp>
        <p:nvSpPr>
          <p:cNvPr id="16" name="Text 11"/>
          <p:cNvSpPr txBox="1"/>
          <p:nvPr/>
        </p:nvSpPr>
        <p:spPr>
          <a:xfrm>
            <a:off x="6172200" y="2596896"/>
            <a:ext cx="5333695" cy="329184"/>
          </a:xfrm>
          <a:prstGeom prst="rect">
            <a:avLst/>
          </a:prstGeom>
          <a:noFill/>
          <a:ln/>
        </p:spPr>
        <p:txBody>
          <a:bodyPr wrap="square" lIns="0" tIns="0" rIns="0" bIns="0" rtlCol="0" anchor="t"/>
          <a:lstStyle/>
          <a:p>
            <a:pPr marL="0" indent="0">
              <a:buNone/>
            </a:pPr>
            <a:r>
              <a:rPr lang="en-US" sz="1550" b="1" dirty="0">
                <a:solidFill>
                  <a:srgbClr val="2B2D31"/>
                </a:solidFill>
                <a:latin typeface="맑은 고딕" pitchFamily="34" charset="0"/>
                <a:ea typeface="맑은 고딕" pitchFamily="34" charset="-122"/>
                <a:cs typeface="맑은 고딕" pitchFamily="34" charset="-120"/>
              </a:rPr>
              <a:t>비말대 · 해저 구간은 접근 자체가 어려움</a:t>
            </a:r>
            <a:endParaRPr lang="en-US" sz="1550" dirty="0"/>
          </a:p>
        </p:txBody>
      </p:sp>
      <p:sp>
        <p:nvSpPr>
          <p:cNvPr id="17" name="Text 12"/>
          <p:cNvSpPr txBox="1"/>
          <p:nvPr/>
        </p:nvSpPr>
        <p:spPr>
          <a:xfrm>
            <a:off x="6172200" y="2926080"/>
            <a:ext cx="5333695" cy="274320"/>
          </a:xfrm>
          <a:prstGeom prst="rect">
            <a:avLst/>
          </a:prstGeom>
          <a:noFill/>
          <a:ln/>
        </p:spPr>
        <p:txBody>
          <a:bodyPr wrap="square" lIns="0" tIns="0" rIns="0" bIns="0" rtlCol="0" anchor="t"/>
          <a:lstStyle/>
          <a:p>
            <a:pPr marL="0" indent="0">
              <a:buNone/>
            </a:pPr>
            <a:r>
              <a:rPr lang="en-US" sz="1250" dirty="0">
                <a:solidFill>
                  <a:srgbClr val="6B6F76"/>
                </a:solidFill>
                <a:latin typeface="맑은 고딕" pitchFamily="34" charset="0"/>
                <a:ea typeface="맑은 고딕" pitchFamily="34" charset="-122"/>
                <a:cs typeface="맑은 고딕" pitchFamily="34" charset="-120"/>
              </a:rPr>
              <a:t>로프 액세스 · 잠수 · ROV를 미리 일정 잡아야만 확인 가능</a:t>
            </a:r>
            <a:endParaRPr lang="en-US" sz="1250" dirty="0"/>
          </a:p>
        </p:txBody>
      </p:sp>
      <p:sp>
        <p:nvSpPr>
          <p:cNvPr id="18" name="Text 13"/>
          <p:cNvSpPr txBox="1"/>
          <p:nvPr/>
        </p:nvSpPr>
        <p:spPr>
          <a:xfrm>
            <a:off x="6172200" y="3182112"/>
            <a:ext cx="5333695" cy="228600"/>
          </a:xfrm>
          <a:prstGeom prst="rect">
            <a:avLst/>
          </a:prstGeom>
          <a:noFill/>
          <a:ln/>
        </p:spPr>
        <p:txBody>
          <a:bodyPr wrap="square" lIns="0" tIns="0" rIns="0" bIns="0" rtlCol="0" anchor="t"/>
          <a:lstStyle/>
          <a:p>
            <a:pPr marL="0" indent="0">
              <a:buNone/>
            </a:pPr>
            <a:r>
              <a:rPr lang="en-US" sz="1050" i="1" dirty="0">
                <a:solidFill>
                  <a:srgbClr val="A3A7AD"/>
                </a:solidFill>
                <a:latin typeface="맑은 고딕" pitchFamily="34" charset="0"/>
                <a:ea typeface="맑은 고딕" pitchFamily="34" charset="-122"/>
                <a:cs typeface="맑은 고딕" pitchFamily="34" charset="-120"/>
              </a:rPr>
              <a:t>— Deepwater Corrosion Services · CTO</a:t>
            </a:r>
            <a:endParaRPr lang="en-US" sz="1050" dirty="0"/>
          </a:p>
        </p:txBody>
      </p:sp>
      <p:sp>
        <p:nvSpPr>
          <p:cNvPr id="19" name="Shape 14"/>
          <p:cNvSpPr/>
          <p:nvPr/>
        </p:nvSpPr>
        <p:spPr>
          <a:xfrm>
            <a:off x="5120640" y="3602736"/>
            <a:ext cx="6522415" cy="987552"/>
          </a:xfrm>
          <a:prstGeom prst="roundRect">
            <a:avLst>
              <a:gd name="adj" fmla="val 7407"/>
            </a:avLst>
          </a:prstGeom>
          <a:solidFill>
            <a:srgbClr val="F3F4F6"/>
          </a:solidFill>
          <a:ln w="6350">
            <a:solidFill>
              <a:srgbClr val="F3F4F6"/>
            </a:solidFill>
            <a:prstDash val="solid"/>
          </a:ln>
        </p:spPr>
      </p:sp>
      <p:sp>
        <p:nvSpPr>
          <p:cNvPr id="20" name="Shape 15"/>
          <p:cNvSpPr/>
          <p:nvPr/>
        </p:nvSpPr>
        <p:spPr>
          <a:xfrm>
            <a:off x="5321808" y="3767328"/>
            <a:ext cx="658368" cy="658368"/>
          </a:xfrm>
          <a:prstGeom prst="ellipse">
            <a:avLst/>
          </a:prstGeom>
          <a:solidFill>
            <a:srgbClr val="2B2D31"/>
          </a:solidFill>
          <a:ln w="12700">
            <a:solidFill>
              <a:srgbClr val="2B2D31"/>
            </a:solidFill>
            <a:prstDash val="solid"/>
          </a:ln>
        </p:spPr>
      </p:sp>
      <p:pic>
        <p:nvPicPr>
          <p:cNvPr id="21" name="Image 3" descr="preencoded.png"/>
          <p:cNvPicPr>
            <a:picLocks noChangeAspect="1"/>
          </p:cNvPicPr>
          <p:nvPr/>
        </p:nvPicPr>
        <p:blipFill>
          <a:blip r:embed="rId6"/>
          <a:stretch>
            <a:fillRect/>
          </a:stretch>
        </p:blipFill>
        <p:spPr>
          <a:xfrm>
            <a:off x="5492984" y="3938504"/>
            <a:ext cx="316017" cy="316017"/>
          </a:xfrm>
          <a:prstGeom prst="rect">
            <a:avLst/>
          </a:prstGeom>
        </p:spPr>
      </p:pic>
      <p:sp>
        <p:nvSpPr>
          <p:cNvPr id="22" name="Text 16"/>
          <p:cNvSpPr txBox="1"/>
          <p:nvPr/>
        </p:nvSpPr>
        <p:spPr>
          <a:xfrm>
            <a:off x="6172200" y="3712464"/>
            <a:ext cx="5333695" cy="329184"/>
          </a:xfrm>
          <a:prstGeom prst="rect">
            <a:avLst/>
          </a:prstGeom>
          <a:noFill/>
          <a:ln/>
        </p:spPr>
        <p:txBody>
          <a:bodyPr wrap="square" lIns="0" tIns="0" rIns="0" bIns="0" rtlCol="0" anchor="t"/>
          <a:lstStyle/>
          <a:p>
            <a:pPr marL="0" indent="0">
              <a:buNone/>
            </a:pPr>
            <a:r>
              <a:rPr lang="en-US" sz="1550" b="1" dirty="0">
                <a:solidFill>
                  <a:srgbClr val="2B2D31"/>
                </a:solidFill>
                <a:latin typeface="맑은 고딕" pitchFamily="34" charset="0"/>
                <a:ea typeface="맑은 고딕" pitchFamily="34" charset="-122"/>
                <a:cs typeface="맑은 고딕" pitchFamily="34" charset="-120"/>
              </a:rPr>
              <a:t>비용은 '검사'가 아니라 '이동·대기'</a:t>
            </a:r>
            <a:endParaRPr lang="en-US" sz="1550" dirty="0"/>
          </a:p>
        </p:txBody>
      </p:sp>
      <p:sp>
        <p:nvSpPr>
          <p:cNvPr id="23" name="Text 17"/>
          <p:cNvSpPr txBox="1"/>
          <p:nvPr/>
        </p:nvSpPr>
        <p:spPr>
          <a:xfrm>
            <a:off x="6172200" y="4041648"/>
            <a:ext cx="5333695" cy="274320"/>
          </a:xfrm>
          <a:prstGeom prst="rect">
            <a:avLst/>
          </a:prstGeom>
          <a:noFill/>
          <a:ln/>
        </p:spPr>
        <p:txBody>
          <a:bodyPr wrap="square" lIns="0" tIns="0" rIns="0" bIns="0" rtlCol="0" anchor="t"/>
          <a:lstStyle/>
          <a:p>
            <a:pPr marL="0" indent="0">
              <a:buNone/>
            </a:pPr>
            <a:r>
              <a:rPr lang="en-US" sz="1250" dirty="0">
                <a:solidFill>
                  <a:srgbClr val="6B6F76"/>
                </a:solidFill>
                <a:latin typeface="맑은 고딕" pitchFamily="34" charset="0"/>
                <a:ea typeface="맑은 고딕" pitchFamily="34" charset="-122"/>
                <a:cs typeface="맑은 고딕" pitchFamily="34" charset="-120"/>
              </a:rPr>
              <a:t>선박 용선일 · 기상 대기 · 리프트 · 비계 임대가 실제 비용</a:t>
            </a:r>
            <a:endParaRPr lang="en-US" sz="1250" dirty="0"/>
          </a:p>
        </p:txBody>
      </p:sp>
      <p:sp>
        <p:nvSpPr>
          <p:cNvPr id="24" name="Text 18"/>
          <p:cNvSpPr txBox="1"/>
          <p:nvPr/>
        </p:nvSpPr>
        <p:spPr>
          <a:xfrm>
            <a:off x="6172200" y="4297680"/>
            <a:ext cx="5333695" cy="228600"/>
          </a:xfrm>
          <a:prstGeom prst="rect">
            <a:avLst/>
          </a:prstGeom>
          <a:noFill/>
          <a:ln/>
        </p:spPr>
        <p:txBody>
          <a:bodyPr wrap="square" lIns="0" tIns="0" rIns="0" bIns="0" rtlCol="0" anchor="t"/>
          <a:lstStyle/>
          <a:p>
            <a:pPr marL="0" indent="0">
              <a:buNone/>
            </a:pPr>
            <a:r>
              <a:rPr lang="en-US" sz="1050" i="1" dirty="0">
                <a:solidFill>
                  <a:srgbClr val="A3A7AD"/>
                </a:solidFill>
                <a:latin typeface="맑은 고딕" pitchFamily="34" charset="0"/>
                <a:ea typeface="맑은 고딕" pitchFamily="34" charset="-122"/>
                <a:cs typeface="맑은 고딕" pitchFamily="34" charset="-120"/>
              </a:rPr>
              <a:t>— Deepwater · Brown Corrosion · MISTRAS</a:t>
            </a:r>
            <a:endParaRPr lang="en-US" sz="1050" dirty="0"/>
          </a:p>
        </p:txBody>
      </p:sp>
      <p:sp>
        <p:nvSpPr>
          <p:cNvPr id="25" name="Shape 19"/>
          <p:cNvSpPr/>
          <p:nvPr/>
        </p:nvSpPr>
        <p:spPr>
          <a:xfrm>
            <a:off x="5120640" y="4846320"/>
            <a:ext cx="6522415" cy="1188720"/>
          </a:xfrm>
          <a:prstGeom prst="roundRect">
            <a:avLst>
              <a:gd name="adj" fmla="val 6154"/>
            </a:avLst>
          </a:prstGeom>
          <a:solidFill>
            <a:srgbClr val="1F2226"/>
          </a:solidFill>
          <a:ln w="12700">
            <a:solidFill>
              <a:srgbClr val="1F2226"/>
            </a:solidFill>
            <a:prstDash val="solid"/>
          </a:ln>
        </p:spPr>
      </p:sp>
      <p:sp>
        <p:nvSpPr>
          <p:cNvPr id="26" name="Text 20"/>
          <p:cNvSpPr txBox="1"/>
          <p:nvPr/>
        </p:nvSpPr>
        <p:spPr>
          <a:xfrm>
            <a:off x="5440680" y="4846320"/>
            <a:ext cx="5973775" cy="1188720"/>
          </a:xfrm>
          <a:prstGeom prst="rect">
            <a:avLst/>
          </a:prstGeom>
          <a:noFill/>
          <a:ln/>
        </p:spPr>
        <p:txBody>
          <a:bodyPr wrap="square" lIns="0" tIns="0" rIns="0" bIns="0" rtlCol="0" anchor="ctr"/>
          <a:lstStyle/>
          <a:p>
            <a:pPr marL="0" indent="0">
              <a:spcAft>
                <a:spcPts val="400"/>
              </a:spcAft>
              <a:buNone/>
            </a:pPr>
            <a:r>
              <a:rPr lang="en-US" sz="1700" dirty="0">
                <a:solidFill>
                  <a:srgbClr val="D5D7DA"/>
                </a:solidFill>
                <a:latin typeface="맑은 고딕" pitchFamily="34" charset="0"/>
                <a:ea typeface="맑은 고딕" pitchFamily="34" charset="-122"/>
                <a:cs typeface="맑은 고딕" pitchFamily="34" charset="-120"/>
              </a:rPr>
              <a:t>점검 주기는 규제로 정해져 줄일 수 없습니다.</a:t>
            </a:r>
            <a:endParaRPr lang="en-US" sz="1700" dirty="0"/>
          </a:p>
          <a:p>
            <a:pPr marL="0" indent="0">
              <a:spcAft>
                <a:spcPts val="400"/>
              </a:spcAft>
              <a:buNone/>
            </a:pPr>
            <a:r>
              <a:rPr lang="en-US" sz="1700" b="1" dirty="0">
                <a:solidFill>
                  <a:srgbClr val="FFFFFF"/>
                </a:solidFill>
                <a:latin typeface="맑은 고딕" pitchFamily="34" charset="0"/>
                <a:ea typeface="맑은 고딕" pitchFamily="34" charset="-122"/>
                <a:cs typeface="맑은 고딕" pitchFamily="34" charset="-120"/>
              </a:rPr>
              <a:t>문제는 그 주기 안에서 </a:t>
            </a:r>
            <a:r>
              <a:rPr lang="en-US" sz="1700" b="1" dirty="0">
                <a:solidFill>
                  <a:srgbClr val="E8A87C"/>
                </a:solidFill>
                <a:latin typeface="맑은 고딕" pitchFamily="34" charset="0"/>
                <a:ea typeface="맑은 고딕" pitchFamily="34" charset="-122"/>
                <a:cs typeface="맑은 고딕" pitchFamily="34" charset="-120"/>
              </a:rPr>
              <a:t>어디에 사람과 배를 보낼지</a:t>
            </a:r>
            <a:r>
              <a:rPr lang="en-US" sz="1700" b="1" dirty="0">
                <a:solidFill>
                  <a:srgbClr val="FFFFFF"/>
                </a:solidFill>
                <a:latin typeface="맑은 고딕" pitchFamily="34" charset="0"/>
                <a:ea typeface="맑은 고딕" pitchFamily="34" charset="-122"/>
                <a:cs typeface="맑은 고딕" pitchFamily="34" charset="-120"/>
              </a:rPr>
              <a:t>입니다.</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CUSTOMER DISCOVERY  ·  미국 인터뷰 35건</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고객 인터뷰로 바뀐 가설</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a:t>
            </a:r>
            <a:r>
              <a:rPr lang="en-US" sz="900" dirty="0" err="1">
                <a:solidFill>
                  <a:srgbClr val="A3A7AD"/>
                </a:solidFill>
                <a:latin typeface="맑은 고딕" pitchFamily="34" charset="0"/>
                <a:ea typeface="맑은 고딕" pitchFamily="34" charset="-122"/>
                <a:cs typeface="맑은 고딕" pitchFamily="34" charset="-120"/>
              </a:rPr>
              <a:t>제주</a:t>
            </a:r>
            <a:r>
              <a:rPr lang="en-US" sz="900" dirty="0">
                <a:solidFill>
                  <a:srgbClr val="A3A7AD"/>
                </a:solidFill>
                <a:latin typeface="맑은 고딕" pitchFamily="34" charset="0"/>
                <a:ea typeface="맑은 고딕" pitchFamily="34" charset="-122"/>
                <a:cs typeface="맑은 고딕" pitchFamily="34" charset="-120"/>
              </a:rPr>
              <a:t>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cs typeface="맑은 고딕" pitchFamily="34" charset="-120"/>
              </a:rPr>
              <a:t>5</a:t>
            </a:r>
            <a:endParaRPr lang="en-US" sz="900" dirty="0"/>
          </a:p>
        </p:txBody>
      </p:sp>
      <p:sp>
        <p:nvSpPr>
          <p:cNvPr id="6" name="Shape 4"/>
          <p:cNvSpPr/>
          <p:nvPr/>
        </p:nvSpPr>
        <p:spPr>
          <a:xfrm>
            <a:off x="548640" y="1417320"/>
            <a:ext cx="5074920" cy="2514600"/>
          </a:xfrm>
          <a:prstGeom prst="roundRect">
            <a:avLst>
              <a:gd name="adj" fmla="val 2909"/>
            </a:avLst>
          </a:prstGeom>
          <a:solidFill>
            <a:srgbClr val="F3F4F6"/>
          </a:solidFill>
          <a:ln w="6350">
            <a:solidFill>
              <a:srgbClr val="F3F4F6"/>
            </a:solidFill>
            <a:prstDash val="solid"/>
          </a:ln>
        </p:spPr>
      </p:sp>
      <p:sp>
        <p:nvSpPr>
          <p:cNvPr id="7" name="Shape 5"/>
          <p:cNvSpPr/>
          <p:nvPr/>
        </p:nvSpPr>
        <p:spPr>
          <a:xfrm>
            <a:off x="868680" y="1691640"/>
            <a:ext cx="1371600" cy="292608"/>
          </a:xfrm>
          <a:prstGeom prst="roundRect">
            <a:avLst>
              <a:gd name="adj" fmla="val 50000"/>
            </a:avLst>
          </a:prstGeom>
          <a:solidFill>
            <a:srgbClr val="A3A7AD"/>
          </a:solidFill>
          <a:ln w="12700">
            <a:solidFill>
              <a:srgbClr val="A3A7AD"/>
            </a:solidFill>
            <a:prstDash val="solid"/>
          </a:ln>
        </p:spPr>
      </p:sp>
      <p:sp>
        <p:nvSpPr>
          <p:cNvPr id="8" name="Text 6"/>
          <p:cNvSpPr txBox="1"/>
          <p:nvPr/>
        </p:nvSpPr>
        <p:spPr>
          <a:xfrm>
            <a:off x="868680" y="1691640"/>
            <a:ext cx="13716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처음 가설</a:t>
            </a:r>
            <a:endParaRPr lang="en-US" sz="1200" dirty="0"/>
          </a:p>
        </p:txBody>
      </p:sp>
      <p:sp>
        <p:nvSpPr>
          <p:cNvPr id="9" name="Text 7"/>
          <p:cNvSpPr txBox="1"/>
          <p:nvPr/>
        </p:nvSpPr>
        <p:spPr>
          <a:xfrm>
            <a:off x="868680" y="2148840"/>
            <a:ext cx="4434840" cy="822960"/>
          </a:xfrm>
          <a:prstGeom prst="rect">
            <a:avLst/>
          </a:prstGeom>
          <a:noFill/>
          <a:ln/>
        </p:spPr>
        <p:txBody>
          <a:bodyPr wrap="square" lIns="0" tIns="0" rIns="0" bIns="0" rtlCol="0" anchor="t"/>
          <a:lstStyle/>
          <a:p>
            <a:pPr marL="0" indent="0">
              <a:buNone/>
            </a:pPr>
            <a:r>
              <a:rPr lang="en-US" sz="1800" b="1" dirty="0">
                <a:solidFill>
                  <a:srgbClr val="6B6F76"/>
                </a:solidFill>
                <a:latin typeface="맑은 고딕" pitchFamily="34" charset="0"/>
                <a:ea typeface="맑은 고딕" pitchFamily="34" charset="-122"/>
                <a:cs typeface="맑은 고딕" pitchFamily="34" charset="-120"/>
              </a:rPr>
              <a:t>검사원마다 부식 판단이 달라</a:t>
            </a:r>
            <a:endParaRPr lang="en-US" sz="1800" dirty="0"/>
          </a:p>
          <a:p>
            <a:pPr marL="0" indent="0">
              <a:buNone/>
            </a:pPr>
            <a:r>
              <a:rPr lang="en-US" sz="1800" b="1" dirty="0">
                <a:solidFill>
                  <a:srgbClr val="6B6F76"/>
                </a:solidFill>
                <a:latin typeface="맑은 고딕" pitchFamily="34" charset="0"/>
                <a:ea typeface="맑은 고딕" pitchFamily="34" charset="-122"/>
                <a:cs typeface="맑은 고딕" pitchFamily="34" charset="-120"/>
              </a:rPr>
              <a:t>'판단 보정' 도구가 필요하다</a:t>
            </a:r>
            <a:endParaRPr lang="en-US" sz="1800" dirty="0"/>
          </a:p>
        </p:txBody>
      </p:sp>
      <p:sp>
        <p:nvSpPr>
          <p:cNvPr id="10" name="Shape 8"/>
          <p:cNvSpPr/>
          <p:nvPr/>
        </p:nvSpPr>
        <p:spPr>
          <a:xfrm>
            <a:off x="868680" y="3154680"/>
            <a:ext cx="457200" cy="457200"/>
          </a:xfrm>
          <a:prstGeom prst="ellipse">
            <a:avLst/>
          </a:prstGeom>
          <a:solidFill>
            <a:srgbClr val="B23A2E"/>
          </a:solidFill>
          <a:ln w="12700">
            <a:solidFill>
              <a:srgbClr val="B23A2E"/>
            </a:solidFill>
            <a:prstDash val="solid"/>
          </a:ln>
        </p:spPr>
      </p:sp>
      <p:pic>
        <p:nvPicPr>
          <p:cNvPr id="11" name="Image 0" descr="preencoded.png"/>
          <p:cNvPicPr>
            <a:picLocks noChangeAspect="1"/>
          </p:cNvPicPr>
          <p:nvPr/>
        </p:nvPicPr>
        <p:blipFill>
          <a:blip r:embed="rId3"/>
          <a:stretch>
            <a:fillRect/>
          </a:stretch>
        </p:blipFill>
        <p:spPr>
          <a:xfrm>
            <a:off x="987552" y="3273552"/>
            <a:ext cx="219456" cy="219456"/>
          </a:xfrm>
          <a:prstGeom prst="rect">
            <a:avLst/>
          </a:prstGeom>
        </p:spPr>
      </p:pic>
      <p:sp>
        <p:nvSpPr>
          <p:cNvPr id="12" name="Text 9"/>
          <p:cNvSpPr txBox="1"/>
          <p:nvPr/>
        </p:nvSpPr>
        <p:spPr>
          <a:xfrm>
            <a:off x="1463040" y="3154680"/>
            <a:ext cx="3886200" cy="457200"/>
          </a:xfrm>
          <a:prstGeom prst="rect">
            <a:avLst/>
          </a:prstGeom>
          <a:noFill/>
          <a:ln/>
        </p:spPr>
        <p:txBody>
          <a:bodyPr wrap="square" lIns="0" tIns="0" rIns="0" bIns="0" rtlCol="0" anchor="ctr"/>
          <a:lstStyle/>
          <a:p>
            <a:pPr marL="0" indent="0">
              <a:buNone/>
            </a:pPr>
            <a:r>
              <a:rPr lang="en-US" sz="1400" b="1" dirty="0">
                <a:solidFill>
                  <a:srgbClr val="B23A2E"/>
                </a:solidFill>
                <a:latin typeface="맑은 고딕" pitchFamily="34" charset="0"/>
                <a:ea typeface="맑은 고딕" pitchFamily="34" charset="-122"/>
                <a:cs typeface="맑은 고딕" pitchFamily="34" charset="-120"/>
              </a:rPr>
              <a:t>기각  </a:t>
            </a:r>
            <a:r>
              <a:rPr lang="en-US" sz="1400" dirty="0">
                <a:solidFill>
                  <a:srgbClr val="2B2D31"/>
                </a:solidFill>
                <a:latin typeface="맑은 고딕" pitchFamily="34" charset="0"/>
                <a:ea typeface="맑은 고딕" pitchFamily="34" charset="-122"/>
                <a:cs typeface="맑은 고딕" pitchFamily="34" charset="-120"/>
              </a:rPr>
              <a:t>사내 매뉴얼과 인증 시험으로 이미 해결됨</a:t>
            </a:r>
            <a:endParaRPr lang="en-US" sz="1400" dirty="0"/>
          </a:p>
        </p:txBody>
      </p:sp>
      <p:pic>
        <p:nvPicPr>
          <p:cNvPr id="13" name="Image 1" descr="preencoded.png"/>
          <p:cNvPicPr>
            <a:picLocks noChangeAspect="1"/>
          </p:cNvPicPr>
          <p:nvPr/>
        </p:nvPicPr>
        <p:blipFill>
          <a:blip r:embed="rId4"/>
          <a:stretch>
            <a:fillRect/>
          </a:stretch>
        </p:blipFill>
        <p:spPr>
          <a:xfrm>
            <a:off x="5779008" y="2446020"/>
            <a:ext cx="457200" cy="457200"/>
          </a:xfrm>
          <a:prstGeom prst="rect">
            <a:avLst/>
          </a:prstGeom>
        </p:spPr>
      </p:pic>
      <p:sp>
        <p:nvSpPr>
          <p:cNvPr id="14" name="Shape 10"/>
          <p:cNvSpPr/>
          <p:nvPr/>
        </p:nvSpPr>
        <p:spPr>
          <a:xfrm>
            <a:off x="6400800" y="1417320"/>
            <a:ext cx="5242255" cy="2514600"/>
          </a:xfrm>
          <a:prstGeom prst="roundRect">
            <a:avLst>
              <a:gd name="adj" fmla="val 2909"/>
            </a:avLst>
          </a:prstGeom>
          <a:solidFill>
            <a:srgbClr val="FBEDE4"/>
          </a:solidFill>
          <a:ln w="15875">
            <a:solidFill>
              <a:srgbClr val="B5501F"/>
            </a:solidFill>
            <a:prstDash val="solid"/>
          </a:ln>
        </p:spPr>
      </p:sp>
      <p:sp>
        <p:nvSpPr>
          <p:cNvPr id="15" name="Shape 11"/>
          <p:cNvSpPr/>
          <p:nvPr/>
        </p:nvSpPr>
        <p:spPr>
          <a:xfrm>
            <a:off x="6720840" y="1691640"/>
            <a:ext cx="1737360" cy="292608"/>
          </a:xfrm>
          <a:prstGeom prst="roundRect">
            <a:avLst>
              <a:gd name="adj" fmla="val 50000"/>
            </a:avLst>
          </a:prstGeom>
          <a:solidFill>
            <a:srgbClr val="B5501F"/>
          </a:solidFill>
          <a:ln w="12700">
            <a:solidFill>
              <a:srgbClr val="B5501F"/>
            </a:solidFill>
            <a:prstDash val="solid"/>
          </a:ln>
        </p:spPr>
      </p:sp>
      <p:sp>
        <p:nvSpPr>
          <p:cNvPr id="16" name="Text 12"/>
          <p:cNvSpPr txBox="1"/>
          <p:nvPr/>
        </p:nvSpPr>
        <p:spPr>
          <a:xfrm>
            <a:off x="6720840" y="1691640"/>
            <a:ext cx="17373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현장이 원한 것</a:t>
            </a:r>
            <a:endParaRPr lang="en-US" sz="1200" dirty="0"/>
          </a:p>
        </p:txBody>
      </p:sp>
      <p:sp>
        <p:nvSpPr>
          <p:cNvPr id="17" name="Text 13"/>
          <p:cNvSpPr txBox="1"/>
          <p:nvPr/>
        </p:nvSpPr>
        <p:spPr>
          <a:xfrm>
            <a:off x="6720840" y="2148840"/>
            <a:ext cx="4693615" cy="822960"/>
          </a:xfrm>
          <a:prstGeom prst="rect">
            <a:avLst/>
          </a:prstGeom>
          <a:noFill/>
          <a:ln/>
        </p:spPr>
        <p:txBody>
          <a:bodyPr wrap="square" lIns="0" tIns="0" rIns="0" bIns="0" rtlCol="0" anchor="t"/>
          <a:lstStyle/>
          <a:p>
            <a:pPr marL="0" indent="0">
              <a:buNone/>
            </a:pPr>
            <a:r>
              <a:rPr lang="en-US" sz="1800" b="1" dirty="0">
                <a:solidFill>
                  <a:srgbClr val="2B2D31"/>
                </a:solidFill>
                <a:latin typeface="맑은 고딕" pitchFamily="34" charset="0"/>
                <a:ea typeface="맑은 고딕" pitchFamily="34" charset="-122"/>
                <a:cs typeface="맑은 고딕" pitchFamily="34" charset="-120"/>
              </a:rPr>
              <a:t>접근이 어려운 곳을 드론으로 먼저 훑어</a:t>
            </a:r>
            <a:endParaRPr lang="en-US" sz="1800" dirty="0"/>
          </a:p>
          <a:p>
            <a:pPr marL="0" indent="0">
              <a:buNone/>
            </a:pPr>
            <a:r>
              <a:rPr lang="en-US" sz="1800" b="1" dirty="0">
                <a:solidFill>
                  <a:srgbClr val="2B2D31"/>
                </a:solidFill>
                <a:latin typeface="맑은 고딕" pitchFamily="34" charset="0"/>
                <a:ea typeface="맑은 고딕" pitchFamily="34" charset="-122"/>
                <a:cs typeface="맑은 고딕" pitchFamily="34" charset="-120"/>
              </a:rPr>
              <a:t>점검할 곳의 우선순위를 정해 달라</a:t>
            </a:r>
            <a:endParaRPr lang="en-US" sz="1800" dirty="0"/>
          </a:p>
        </p:txBody>
      </p:sp>
      <p:sp>
        <p:nvSpPr>
          <p:cNvPr id="18" name="Shape 14"/>
          <p:cNvSpPr/>
          <p:nvPr/>
        </p:nvSpPr>
        <p:spPr>
          <a:xfrm>
            <a:off x="6720840" y="3154680"/>
            <a:ext cx="457200" cy="457200"/>
          </a:xfrm>
          <a:prstGeom prst="ellipse">
            <a:avLst/>
          </a:prstGeom>
          <a:solidFill>
            <a:srgbClr val="3C8D5A"/>
          </a:solidFill>
          <a:ln w="12700">
            <a:solidFill>
              <a:srgbClr val="3C8D5A"/>
            </a:solidFill>
            <a:prstDash val="solid"/>
          </a:ln>
        </p:spPr>
      </p:sp>
      <p:pic>
        <p:nvPicPr>
          <p:cNvPr id="19" name="Image 2" descr="preencoded.png"/>
          <p:cNvPicPr>
            <a:picLocks noChangeAspect="1"/>
          </p:cNvPicPr>
          <p:nvPr/>
        </p:nvPicPr>
        <p:blipFill>
          <a:blip r:embed="rId5"/>
          <a:stretch>
            <a:fillRect/>
          </a:stretch>
        </p:blipFill>
        <p:spPr>
          <a:xfrm>
            <a:off x="6839712" y="3273552"/>
            <a:ext cx="219456" cy="219456"/>
          </a:xfrm>
          <a:prstGeom prst="rect">
            <a:avLst/>
          </a:prstGeom>
        </p:spPr>
      </p:pic>
      <p:sp>
        <p:nvSpPr>
          <p:cNvPr id="20" name="Text 15"/>
          <p:cNvSpPr txBox="1"/>
          <p:nvPr/>
        </p:nvSpPr>
        <p:spPr>
          <a:xfrm>
            <a:off x="7315200" y="3154680"/>
            <a:ext cx="4053535" cy="457200"/>
          </a:xfrm>
          <a:prstGeom prst="rect">
            <a:avLst/>
          </a:prstGeom>
          <a:noFill/>
          <a:ln/>
        </p:spPr>
        <p:txBody>
          <a:bodyPr wrap="square" lIns="0" tIns="0" rIns="0" bIns="0" rtlCol="0" anchor="ctr"/>
          <a:lstStyle/>
          <a:p>
            <a:pPr marL="0" indent="0">
              <a:buNone/>
            </a:pPr>
            <a:r>
              <a:rPr lang="en-US" sz="1400" b="1" dirty="0">
                <a:solidFill>
                  <a:srgbClr val="3C8D5A"/>
                </a:solidFill>
                <a:latin typeface="맑은 고딕" pitchFamily="34" charset="0"/>
                <a:ea typeface="맑은 고딕" pitchFamily="34" charset="-122"/>
                <a:cs typeface="맑은 고딕" pitchFamily="34" charset="-120"/>
              </a:rPr>
              <a:t>검증  </a:t>
            </a:r>
            <a:r>
              <a:rPr lang="en-US" sz="1400" dirty="0">
                <a:solidFill>
                  <a:srgbClr val="2B2D31"/>
                </a:solidFill>
                <a:latin typeface="맑은 고딕" pitchFamily="34" charset="0"/>
                <a:ea typeface="맑은 고딕" pitchFamily="34" charset="-122"/>
                <a:cs typeface="맑은 고딕" pitchFamily="34" charset="-120"/>
              </a:rPr>
              <a:t>리프트 · 로프 액세스 · 선박 일수 절감</a:t>
            </a:r>
            <a:endParaRPr lang="en-US" sz="1400" dirty="0"/>
          </a:p>
        </p:txBody>
      </p:sp>
      <p:sp>
        <p:nvSpPr>
          <p:cNvPr id="21" name="Text 16"/>
          <p:cNvSpPr txBox="1"/>
          <p:nvPr/>
        </p:nvSpPr>
        <p:spPr>
          <a:xfrm>
            <a:off x="548640" y="4251960"/>
            <a:ext cx="3515258" cy="685800"/>
          </a:xfrm>
          <a:prstGeom prst="rect">
            <a:avLst/>
          </a:prstGeom>
          <a:noFill/>
          <a:ln/>
        </p:spPr>
        <p:txBody>
          <a:bodyPr wrap="square" lIns="0" tIns="0" rIns="0" bIns="0" rtlCol="0" anchor="ctr"/>
          <a:lstStyle/>
          <a:p>
            <a:pPr marL="0" indent="0">
              <a:buNone/>
            </a:pPr>
            <a:r>
              <a:rPr lang="en-US" sz="3400" b="1" dirty="0">
                <a:solidFill>
                  <a:srgbClr val="6B6F76"/>
                </a:solidFill>
                <a:latin typeface="맑은 고딕" pitchFamily="34" charset="0"/>
                <a:ea typeface="맑은 고딕" pitchFamily="34" charset="-122"/>
                <a:cs typeface="맑은 고딕" pitchFamily="34" charset="-120"/>
              </a:rPr>
              <a:t>11 / 11</a:t>
            </a:r>
            <a:endParaRPr lang="en-US" sz="3400" dirty="0"/>
          </a:p>
        </p:txBody>
      </p:sp>
      <p:sp>
        <p:nvSpPr>
          <p:cNvPr id="22" name="Text 17"/>
          <p:cNvSpPr txBox="1"/>
          <p:nvPr/>
        </p:nvSpPr>
        <p:spPr>
          <a:xfrm>
            <a:off x="548640" y="4937760"/>
            <a:ext cx="3515258" cy="365760"/>
          </a:xfrm>
          <a:prstGeom prst="rect">
            <a:avLst/>
          </a:prstGeom>
          <a:noFill/>
          <a:ln/>
        </p:spPr>
        <p:txBody>
          <a:bodyPr wrap="square" lIns="0" tIns="0" rIns="0" bIns="0" rtlCol="0" anchor="t"/>
          <a:lstStyle/>
          <a:p>
            <a:pPr marL="0" indent="0">
              <a:buNone/>
            </a:pPr>
            <a:r>
              <a:rPr lang="en-US" sz="1350" dirty="0">
                <a:solidFill>
                  <a:srgbClr val="2B2D31"/>
                </a:solidFill>
                <a:latin typeface="맑은 고딕" pitchFamily="34" charset="0"/>
                <a:ea typeface="맑은 고딕" pitchFamily="34" charset="-122"/>
                <a:cs typeface="맑은 고딕" pitchFamily="34" charset="-120"/>
              </a:rPr>
              <a:t>현장 인력 모두 '판단 보정' 가설 기각</a:t>
            </a:r>
            <a:endParaRPr lang="en-US" sz="1350" dirty="0"/>
          </a:p>
        </p:txBody>
      </p:sp>
      <p:sp>
        <p:nvSpPr>
          <p:cNvPr id="23" name="Text 18"/>
          <p:cNvSpPr txBox="1"/>
          <p:nvPr/>
        </p:nvSpPr>
        <p:spPr>
          <a:xfrm>
            <a:off x="4338218" y="4251960"/>
            <a:ext cx="3515258" cy="685800"/>
          </a:xfrm>
          <a:prstGeom prst="rect">
            <a:avLst/>
          </a:prstGeom>
          <a:noFill/>
          <a:ln/>
        </p:spPr>
        <p:txBody>
          <a:bodyPr wrap="square" lIns="0" tIns="0" rIns="0" bIns="0" rtlCol="0" anchor="ctr"/>
          <a:lstStyle/>
          <a:p>
            <a:pPr marL="0" indent="0">
              <a:buNone/>
            </a:pPr>
            <a:r>
              <a:rPr lang="en-US" sz="3400" b="1" dirty="0">
                <a:solidFill>
                  <a:srgbClr val="B5501F"/>
                </a:solidFill>
                <a:latin typeface="맑은 고딕" pitchFamily="34" charset="0"/>
                <a:ea typeface="맑은 고딕" pitchFamily="34" charset="-122"/>
                <a:cs typeface="맑은 고딕" pitchFamily="34" charset="-120"/>
              </a:rPr>
              <a:t>10 / 11</a:t>
            </a:r>
            <a:endParaRPr lang="en-US" sz="3400" dirty="0"/>
          </a:p>
        </p:txBody>
      </p:sp>
      <p:sp>
        <p:nvSpPr>
          <p:cNvPr id="24" name="Text 19"/>
          <p:cNvSpPr txBox="1"/>
          <p:nvPr/>
        </p:nvSpPr>
        <p:spPr>
          <a:xfrm>
            <a:off x="4338218" y="4937760"/>
            <a:ext cx="3515258" cy="365760"/>
          </a:xfrm>
          <a:prstGeom prst="rect">
            <a:avLst/>
          </a:prstGeom>
          <a:noFill/>
          <a:ln/>
        </p:spPr>
        <p:txBody>
          <a:bodyPr wrap="square" lIns="0" tIns="0" rIns="0" bIns="0" rtlCol="0" anchor="t"/>
          <a:lstStyle/>
          <a:p>
            <a:pPr marL="0" indent="0">
              <a:buNone/>
            </a:pPr>
            <a:r>
              <a:rPr lang="en-US" sz="1350" dirty="0">
                <a:solidFill>
                  <a:srgbClr val="2B2D31"/>
                </a:solidFill>
                <a:latin typeface="맑은 고딕" pitchFamily="34" charset="0"/>
                <a:ea typeface="맑은 고딕" pitchFamily="34" charset="-122"/>
                <a:cs typeface="맑은 고딕" pitchFamily="34" charset="-120"/>
              </a:rPr>
              <a:t>현장 인력이 '드론 사전 스캔' 필요성에 공감</a:t>
            </a:r>
            <a:endParaRPr lang="en-US" sz="1350" dirty="0"/>
          </a:p>
        </p:txBody>
      </p:sp>
      <p:sp>
        <p:nvSpPr>
          <p:cNvPr id="25" name="Text 20"/>
          <p:cNvSpPr txBox="1"/>
          <p:nvPr/>
        </p:nvSpPr>
        <p:spPr>
          <a:xfrm>
            <a:off x="8127797" y="4251960"/>
            <a:ext cx="3515258" cy="685800"/>
          </a:xfrm>
          <a:prstGeom prst="rect">
            <a:avLst/>
          </a:prstGeom>
          <a:noFill/>
          <a:ln/>
        </p:spPr>
        <p:txBody>
          <a:bodyPr wrap="square" lIns="0" tIns="0" rIns="0" bIns="0" rtlCol="0" anchor="ctr"/>
          <a:lstStyle/>
          <a:p>
            <a:pPr marL="0" indent="0">
              <a:buNone/>
            </a:pPr>
            <a:r>
              <a:rPr lang="en-US" sz="3400" b="1" dirty="0">
                <a:solidFill>
                  <a:srgbClr val="B5501F"/>
                </a:solidFill>
                <a:latin typeface="맑은 고딕" pitchFamily="34" charset="0"/>
                <a:ea typeface="맑은 고딕" pitchFamily="34" charset="-122"/>
                <a:cs typeface="맑은 고딕" pitchFamily="34" charset="-120"/>
              </a:rPr>
              <a:t>5 / 5</a:t>
            </a:r>
            <a:endParaRPr lang="en-US" sz="3400" dirty="0"/>
          </a:p>
        </p:txBody>
      </p:sp>
      <p:sp>
        <p:nvSpPr>
          <p:cNvPr id="26" name="Text 21"/>
          <p:cNvSpPr txBox="1"/>
          <p:nvPr/>
        </p:nvSpPr>
        <p:spPr>
          <a:xfrm>
            <a:off x="8127797" y="4937760"/>
            <a:ext cx="3515258" cy="365760"/>
          </a:xfrm>
          <a:prstGeom prst="rect">
            <a:avLst/>
          </a:prstGeom>
          <a:noFill/>
          <a:ln/>
        </p:spPr>
        <p:txBody>
          <a:bodyPr wrap="square" lIns="0" tIns="0" rIns="0" bIns="0" rtlCol="0" anchor="t"/>
          <a:lstStyle/>
          <a:p>
            <a:pPr marL="0" indent="0">
              <a:buNone/>
            </a:pPr>
            <a:r>
              <a:rPr lang="en-US" sz="1350" dirty="0">
                <a:solidFill>
                  <a:srgbClr val="2B2D31"/>
                </a:solidFill>
                <a:latin typeface="맑은 고딕" pitchFamily="34" charset="0"/>
                <a:ea typeface="맑은 고딕" pitchFamily="34" charset="-122"/>
                <a:cs typeface="맑은 고딕" pitchFamily="34" charset="-120"/>
              </a:rPr>
              <a:t>의사결정권자 관심 · 파일럿 조건까지 제시</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100" kern="0" dirty="0">
                <a:solidFill>
                  <a:srgbClr val="B5501F"/>
                </a:solidFill>
                <a:latin typeface="맑은 고딕" pitchFamily="34" charset="0"/>
                <a:ea typeface="맑은 고딕" pitchFamily="34" charset="-122"/>
                <a:cs typeface="맑은 고딕" pitchFamily="34" charset="-120"/>
              </a:rPr>
              <a:t>SOLUTION</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2800" b="1" dirty="0">
                <a:solidFill>
                  <a:srgbClr val="2B2D31"/>
                </a:solidFill>
                <a:latin typeface="맑은 고딕" pitchFamily="34" charset="0"/>
                <a:ea typeface="맑은 고딕" pitchFamily="34" charset="-122"/>
                <a:cs typeface="맑은 고딕" pitchFamily="34" charset="-120"/>
              </a:rPr>
              <a:t>MLC 솔루션</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indent="0" marL="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900" dirty="0">
                <a:solidFill>
                  <a:srgbClr val="A3A7AD"/>
                </a:solidFill>
                <a:latin typeface="맑은 고딕" pitchFamily="34" charset="0"/>
                <a:ea typeface="맑은 고딕" pitchFamily="34" charset="-122"/>
                <a:cs typeface="맑은 고딕" pitchFamily="34" charset="-120"/>
              </a:rPr>
              <a:t>6</a:t>
            </a:r>
            <a:endParaRPr lang="en-US" sz="900" dirty="0"/>
          </a:p>
        </p:txBody>
      </p:sp>
      <p:pic>
        <p:nvPicPr>
          <p:cNvPr id="6" name="Image 0" descr="/home/user/PPT/src/img/photo_15.png">    </p:cNvPr>
          <p:cNvPicPr>
            <a:picLocks noChangeAspect="1"/>
          </p:cNvPicPr>
          <p:nvPr/>
        </p:nvPicPr>
        <p:blipFill>
          <a:blip r:embed="rId1"/>
          <a:stretch>
            <a:fillRect/>
          </a:stretch>
        </p:blipFill>
        <p:spPr>
          <a:xfrm>
            <a:off x="548640" y="1463040"/>
            <a:ext cx="2331720" cy="2331720"/>
          </a:xfrm>
          <a:prstGeom prst="rect">
            <a:avLst/>
          </a:prstGeom>
        </p:spPr>
      </p:pic>
      <p:sp>
        <p:nvSpPr>
          <p:cNvPr id="7" name="Shape 4"/>
          <p:cNvSpPr/>
          <p:nvPr/>
        </p:nvSpPr>
        <p:spPr>
          <a:xfrm>
            <a:off x="384048" y="1298448"/>
            <a:ext cx="457200" cy="457200"/>
          </a:xfrm>
          <a:prstGeom prst="ellipse">
            <a:avLst/>
          </a:prstGeom>
          <a:solidFill>
            <a:srgbClr val="B5501F"/>
          </a:solidFill>
          <a:ln w="25400">
            <a:solidFill>
              <a:srgbClr val="FFFFFF"/>
            </a:solidFill>
            <a:prstDash val="solid"/>
          </a:ln>
        </p:spPr>
      </p:sp>
      <p:sp>
        <p:nvSpPr>
          <p:cNvPr id="8" name="Text 5"/>
          <p:cNvSpPr txBox="1"/>
          <p:nvPr/>
        </p:nvSpPr>
        <p:spPr>
          <a:xfrm>
            <a:off x="384048" y="12984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9" name="Text 6"/>
          <p:cNvSpPr txBox="1"/>
          <p:nvPr/>
        </p:nvSpPr>
        <p:spPr>
          <a:xfrm>
            <a:off x="548640" y="3931920"/>
            <a:ext cx="2606040" cy="365760"/>
          </a:xfrm>
          <a:prstGeom prst="rect">
            <a:avLst/>
          </a:prstGeom>
          <a:noFill/>
          <a:ln/>
        </p:spPr>
        <p:txBody>
          <a:bodyPr wrap="square" lIns="0" tIns="0" rIns="0" bIns="0" rtlCol="0" anchor="t"/>
          <a:lstStyle/>
          <a:p>
            <a:pPr indent="0" marL="0">
              <a:buNone/>
            </a:pPr>
            <a:r>
              <a:rPr lang="en-US" sz="1600" b="1" dirty="0">
                <a:solidFill>
                  <a:srgbClr val="2B2D31"/>
                </a:solidFill>
                <a:latin typeface="맑은 고딕" pitchFamily="34" charset="0"/>
                <a:ea typeface="맑은 고딕" pitchFamily="34" charset="-122"/>
                <a:cs typeface="맑은 고딕" pitchFamily="34" charset="-120"/>
              </a:rPr>
              <a:t>드론 · 카메라 사전 스캔</a:t>
            </a:r>
            <a:endParaRPr lang="en-US" sz="1600" dirty="0"/>
          </a:p>
        </p:txBody>
      </p:sp>
      <p:sp>
        <p:nvSpPr>
          <p:cNvPr id="10" name="Text 7"/>
          <p:cNvSpPr txBox="1"/>
          <p:nvPr/>
        </p:nvSpPr>
        <p:spPr>
          <a:xfrm>
            <a:off x="548640" y="4306824"/>
            <a:ext cx="2606040" cy="59436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접근이 어려운 비말대 ·</a:t>
            </a:r>
            <a:endParaRPr lang="en-US" sz="1250" dirty="0"/>
          </a:p>
          <a:p>
            <a:pPr indent="0" marL="0">
              <a:buNone/>
            </a:pPr>
            <a:r>
              <a:rPr lang="en-US" sz="1250" dirty="0">
                <a:solidFill>
                  <a:srgbClr val="6B6F76"/>
                </a:solidFill>
                <a:latin typeface="맑은 고딕" pitchFamily="34" charset="0"/>
                <a:ea typeface="맑은 고딕" pitchFamily="34" charset="-122"/>
                <a:cs typeface="맑은 고딕" pitchFamily="34" charset="-120"/>
              </a:rPr>
              <a:t>고소 구간을 먼저 촬영</a:t>
            </a:r>
            <a:endParaRPr lang="en-US" sz="1250" dirty="0"/>
          </a:p>
        </p:txBody>
      </p:sp>
      <p:pic>
        <p:nvPicPr>
          <p:cNvPr id="11" name="Image 1" descr="preencoded.png">    </p:cNvPr>
          <p:cNvPicPr>
            <a:picLocks noChangeAspect="1"/>
          </p:cNvPicPr>
          <p:nvPr/>
        </p:nvPicPr>
        <p:blipFill>
          <a:blip r:embed="rId2"/>
          <a:stretch>
            <a:fillRect/>
          </a:stretch>
        </p:blipFill>
        <p:spPr>
          <a:xfrm>
            <a:off x="3056077" y="2510028"/>
            <a:ext cx="237744" cy="237744"/>
          </a:xfrm>
          <a:prstGeom prst="rect">
            <a:avLst/>
          </a:prstGeom>
        </p:spPr>
      </p:pic>
      <p:pic>
        <p:nvPicPr>
          <p:cNvPr id="12" name="Image 2" descr="/home/user/PPT/src/img/mask_15.png">    </p:cNvPr>
          <p:cNvPicPr>
            <a:picLocks noChangeAspect="1"/>
          </p:cNvPicPr>
          <p:nvPr/>
        </p:nvPicPr>
        <p:blipFill>
          <a:blip r:embed="rId3"/>
          <a:stretch>
            <a:fillRect/>
          </a:stretch>
        </p:blipFill>
        <p:spPr>
          <a:xfrm>
            <a:off x="3469538" y="1463040"/>
            <a:ext cx="2331720" cy="2331720"/>
          </a:xfrm>
          <a:prstGeom prst="rect">
            <a:avLst/>
          </a:prstGeom>
        </p:spPr>
      </p:pic>
      <p:sp>
        <p:nvSpPr>
          <p:cNvPr id="13" name="Shape 8"/>
          <p:cNvSpPr/>
          <p:nvPr/>
        </p:nvSpPr>
        <p:spPr>
          <a:xfrm>
            <a:off x="3304946" y="1298448"/>
            <a:ext cx="457200" cy="457200"/>
          </a:xfrm>
          <a:prstGeom prst="ellipse">
            <a:avLst/>
          </a:prstGeom>
          <a:solidFill>
            <a:srgbClr val="B5501F"/>
          </a:solidFill>
          <a:ln w="25400">
            <a:solidFill>
              <a:srgbClr val="FFFFFF"/>
            </a:solidFill>
            <a:prstDash val="solid"/>
          </a:ln>
        </p:spPr>
      </p:sp>
      <p:sp>
        <p:nvSpPr>
          <p:cNvPr id="14" name="Text 9"/>
          <p:cNvSpPr txBox="1"/>
          <p:nvPr/>
        </p:nvSpPr>
        <p:spPr>
          <a:xfrm>
            <a:off x="3304946" y="12984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5" name="Text 10"/>
          <p:cNvSpPr txBox="1"/>
          <p:nvPr/>
        </p:nvSpPr>
        <p:spPr>
          <a:xfrm>
            <a:off x="3469538" y="3931920"/>
            <a:ext cx="2606040" cy="365760"/>
          </a:xfrm>
          <a:prstGeom prst="rect">
            <a:avLst/>
          </a:prstGeom>
          <a:noFill/>
          <a:ln/>
        </p:spPr>
        <p:txBody>
          <a:bodyPr wrap="square" lIns="0" tIns="0" rIns="0" bIns="0" rtlCol="0" anchor="t"/>
          <a:lstStyle/>
          <a:p>
            <a:pPr indent="0" marL="0">
              <a:buNone/>
            </a:pPr>
            <a:r>
              <a:rPr lang="en-US" sz="1600" b="1" dirty="0">
                <a:solidFill>
                  <a:srgbClr val="2B2D31"/>
                </a:solidFill>
                <a:latin typeface="맑은 고딕" pitchFamily="34" charset="0"/>
                <a:ea typeface="맑은 고딕" pitchFamily="34" charset="-122"/>
                <a:cs typeface="맑은 고딕" pitchFamily="34" charset="-120"/>
              </a:rPr>
              <a:t>녹 영역 자동 추출</a:t>
            </a:r>
            <a:endParaRPr lang="en-US" sz="1600" dirty="0"/>
          </a:p>
        </p:txBody>
      </p:sp>
      <p:sp>
        <p:nvSpPr>
          <p:cNvPr id="16" name="Text 11"/>
          <p:cNvSpPr txBox="1"/>
          <p:nvPr/>
        </p:nvSpPr>
        <p:spPr>
          <a:xfrm>
            <a:off x="3469538" y="4306824"/>
            <a:ext cx="2606040" cy="59436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녹 픽셀만 골라내</a:t>
            </a:r>
            <a:endParaRPr lang="en-US" sz="1250" dirty="0"/>
          </a:p>
          <a:p>
            <a:pPr indent="0" marL="0">
              <a:buNone/>
            </a:pPr>
            <a:r>
              <a:rPr lang="en-US" sz="1250" dirty="0">
                <a:solidFill>
                  <a:srgbClr val="6B6F76"/>
                </a:solidFill>
                <a:latin typeface="맑은 고딕" pitchFamily="34" charset="0"/>
                <a:ea typeface="맑은 고딕" pitchFamily="34" charset="-122"/>
                <a:cs typeface="맑은 고딕" pitchFamily="34" charset="-120"/>
              </a:rPr>
              <a:t>도장면 · 맨 강재 간섭 제거</a:t>
            </a:r>
            <a:endParaRPr lang="en-US" sz="1250" dirty="0"/>
          </a:p>
        </p:txBody>
      </p:sp>
      <p:pic>
        <p:nvPicPr>
          <p:cNvPr id="17" name="Image 3" descr="preencoded.png">    </p:cNvPr>
          <p:cNvPicPr>
            <a:picLocks noChangeAspect="1"/>
          </p:cNvPicPr>
          <p:nvPr/>
        </p:nvPicPr>
        <p:blipFill>
          <a:blip r:embed="rId4"/>
          <a:stretch>
            <a:fillRect/>
          </a:stretch>
        </p:blipFill>
        <p:spPr>
          <a:xfrm>
            <a:off x="5976976" y="2510028"/>
            <a:ext cx="237744" cy="237744"/>
          </a:xfrm>
          <a:prstGeom prst="rect">
            <a:avLst/>
          </a:prstGeom>
        </p:spPr>
      </p:pic>
      <p:sp>
        <p:nvSpPr>
          <p:cNvPr id="18" name="Shape 12"/>
          <p:cNvSpPr/>
          <p:nvPr/>
        </p:nvSpPr>
        <p:spPr>
          <a:xfrm>
            <a:off x="6390437" y="1463040"/>
            <a:ext cx="2331720" cy="2331720"/>
          </a:xfrm>
          <a:prstGeom prst="rect">
            <a:avLst/>
          </a:prstGeom>
          <a:solidFill>
            <a:srgbClr val="4E3F2F"/>
          </a:solidFill>
          <a:ln w="12700">
            <a:solidFill>
              <a:srgbClr val="D9DCE0"/>
            </a:solidFill>
            <a:prstDash val="solid"/>
          </a:ln>
        </p:spPr>
      </p:sp>
      <p:sp>
        <p:nvSpPr>
          <p:cNvPr id="19" name="Text 13"/>
          <p:cNvSpPr txBox="1"/>
          <p:nvPr/>
        </p:nvSpPr>
        <p:spPr>
          <a:xfrm>
            <a:off x="6390437" y="1965960"/>
            <a:ext cx="23317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맑은 고딕" pitchFamily="34" charset="0"/>
                <a:ea typeface="맑은 고딕" pitchFamily="34" charset="-122"/>
                <a:cs typeface="맑은 고딕" pitchFamily="34" charset="-120"/>
              </a:rPr>
              <a:t>b* 12.2</a:t>
            </a:r>
            <a:endParaRPr lang="en-US" sz="3000" dirty="0"/>
          </a:p>
        </p:txBody>
      </p:sp>
      <p:sp>
        <p:nvSpPr>
          <p:cNvPr id="20" name="Shape 14"/>
          <p:cNvSpPr/>
          <p:nvPr/>
        </p:nvSpPr>
        <p:spPr>
          <a:xfrm>
            <a:off x="6801917" y="2834640"/>
            <a:ext cx="1508760" cy="384048"/>
          </a:xfrm>
          <a:prstGeom prst="roundRect">
            <a:avLst>
              <a:gd name="adj" fmla="val 50000"/>
            </a:avLst>
          </a:prstGeom>
          <a:solidFill>
            <a:srgbClr val="3C8D5A"/>
          </a:solidFill>
          <a:ln w="12700">
            <a:solidFill>
              <a:srgbClr val="3C8D5A"/>
            </a:solidFill>
            <a:prstDash val="solid"/>
          </a:ln>
        </p:spPr>
      </p:sp>
      <p:sp>
        <p:nvSpPr>
          <p:cNvPr id="21" name="Text 15"/>
          <p:cNvSpPr txBox="1"/>
          <p:nvPr/>
        </p:nvSpPr>
        <p:spPr>
          <a:xfrm>
            <a:off x="6801917" y="2834640"/>
            <a:ext cx="15087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위험도  중간</a:t>
            </a:r>
            <a:endParaRPr lang="en-US" sz="1300" dirty="0"/>
          </a:p>
        </p:txBody>
      </p:sp>
      <p:sp>
        <p:nvSpPr>
          <p:cNvPr id="22" name="Shape 16"/>
          <p:cNvSpPr/>
          <p:nvPr/>
        </p:nvSpPr>
        <p:spPr>
          <a:xfrm>
            <a:off x="6225845" y="1298448"/>
            <a:ext cx="457200" cy="457200"/>
          </a:xfrm>
          <a:prstGeom prst="ellipse">
            <a:avLst/>
          </a:prstGeom>
          <a:solidFill>
            <a:srgbClr val="B5501F"/>
          </a:solidFill>
          <a:ln w="25400">
            <a:solidFill>
              <a:srgbClr val="FFFFFF"/>
            </a:solidFill>
            <a:prstDash val="solid"/>
          </a:ln>
        </p:spPr>
      </p:sp>
      <p:sp>
        <p:nvSpPr>
          <p:cNvPr id="23" name="Text 17"/>
          <p:cNvSpPr txBox="1"/>
          <p:nvPr/>
        </p:nvSpPr>
        <p:spPr>
          <a:xfrm>
            <a:off x="6225845" y="12984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4" name="Text 18"/>
          <p:cNvSpPr txBox="1"/>
          <p:nvPr/>
        </p:nvSpPr>
        <p:spPr>
          <a:xfrm>
            <a:off x="6390437" y="3931920"/>
            <a:ext cx="2606040" cy="365760"/>
          </a:xfrm>
          <a:prstGeom prst="rect">
            <a:avLst/>
          </a:prstGeom>
          <a:noFill/>
          <a:ln/>
        </p:spPr>
        <p:txBody>
          <a:bodyPr wrap="square" lIns="0" tIns="0" rIns="0" bIns="0" rtlCol="0" anchor="t"/>
          <a:lstStyle/>
          <a:p>
            <a:pPr indent="0" marL="0">
              <a:buNone/>
            </a:pPr>
            <a:r>
              <a:rPr lang="en-US" sz="1600" b="1" dirty="0">
                <a:solidFill>
                  <a:srgbClr val="2B2D31"/>
                </a:solidFill>
                <a:latin typeface="맑은 고딕" pitchFamily="34" charset="0"/>
                <a:ea typeface="맑은 고딕" pitchFamily="34" charset="-122"/>
                <a:cs typeface="맑은 고딕" pitchFamily="34" charset="-120"/>
              </a:rPr>
              <a:t>색 분석 → 위험도</a:t>
            </a:r>
            <a:endParaRPr lang="en-US" sz="1600" dirty="0"/>
          </a:p>
        </p:txBody>
      </p:sp>
      <p:sp>
        <p:nvSpPr>
          <p:cNvPr id="25" name="Text 19"/>
          <p:cNvSpPr txBox="1"/>
          <p:nvPr/>
        </p:nvSpPr>
        <p:spPr>
          <a:xfrm>
            <a:off x="6390437" y="4306824"/>
            <a:ext cx="2606040" cy="59436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녹의 색 좌표(b*)로</a:t>
            </a:r>
            <a:endParaRPr lang="en-US" sz="1250" dirty="0"/>
          </a:p>
          <a:p>
            <a:pPr indent="0" marL="0">
              <a:buNone/>
            </a:pPr>
            <a:r>
              <a:rPr lang="en-US" sz="1250" dirty="0">
                <a:solidFill>
                  <a:srgbClr val="6B6F76"/>
                </a:solidFill>
                <a:latin typeface="맑은 고딕" pitchFamily="34" charset="0"/>
                <a:ea typeface="맑은 고딕" pitchFamily="34" charset="-122"/>
                <a:cs typeface="맑은 고딕" pitchFamily="34" charset="-120"/>
              </a:rPr>
              <a:t>부식 속도 구간 판정</a:t>
            </a:r>
            <a:endParaRPr lang="en-US" sz="1250" dirty="0"/>
          </a:p>
        </p:txBody>
      </p:sp>
      <p:pic>
        <p:nvPicPr>
          <p:cNvPr id="26" name="Image 4" descr="preencoded.png">    </p:cNvPr>
          <p:cNvPicPr>
            <a:picLocks noChangeAspect="1"/>
          </p:cNvPicPr>
          <p:nvPr/>
        </p:nvPicPr>
        <p:blipFill>
          <a:blip r:embed="rId5"/>
          <a:stretch>
            <a:fillRect/>
          </a:stretch>
        </p:blipFill>
        <p:spPr>
          <a:xfrm>
            <a:off x="8897874" y="2510028"/>
            <a:ext cx="237744" cy="237744"/>
          </a:xfrm>
          <a:prstGeom prst="rect">
            <a:avLst/>
          </a:prstGeom>
        </p:spPr>
      </p:pic>
      <p:pic>
        <p:nvPicPr>
          <p:cNvPr id="27" name="Image 5" descr="/home/user/PPT/src/img/offshore_legs.png">    </p:cNvPr>
          <p:cNvPicPr>
            <a:picLocks noChangeAspect="1"/>
          </p:cNvPicPr>
          <p:nvPr/>
        </p:nvPicPr>
        <p:blipFill>
          <a:blip r:embed="rId6"/>
          <a:srcRect l="0" r="0" t="0" b="0"/>
          <a:stretch/>
        </p:blipFill>
        <p:spPr>
          <a:xfrm>
            <a:off x="9311335" y="1463040"/>
            <a:ext cx="2331720" cy="2331720"/>
          </a:xfrm>
          <a:prstGeom prst="rect">
            <a:avLst/>
          </a:prstGeom>
        </p:spPr>
      </p:pic>
      <p:sp>
        <p:nvSpPr>
          <p:cNvPr id="28" name="Shape 20"/>
          <p:cNvSpPr/>
          <p:nvPr/>
        </p:nvSpPr>
        <p:spPr>
          <a:xfrm>
            <a:off x="9758020" y="2725826"/>
            <a:ext cx="365760" cy="365760"/>
          </a:xfrm>
          <a:prstGeom prst="ellipse">
            <a:avLst/>
          </a:prstGeom>
          <a:solidFill>
            <a:srgbClr val="B23A2E"/>
          </a:solidFill>
          <a:ln w="25400">
            <a:solidFill>
              <a:srgbClr val="FFFFFF"/>
            </a:solidFill>
            <a:prstDash val="solid"/>
          </a:ln>
        </p:spPr>
      </p:sp>
      <p:sp>
        <p:nvSpPr>
          <p:cNvPr id="29" name="Text 21"/>
          <p:cNvSpPr txBox="1"/>
          <p:nvPr/>
        </p:nvSpPr>
        <p:spPr>
          <a:xfrm>
            <a:off x="9758020" y="272582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30" name="Shape 22"/>
          <p:cNvSpPr/>
          <p:nvPr/>
        </p:nvSpPr>
        <p:spPr>
          <a:xfrm>
            <a:off x="10160356" y="2780690"/>
            <a:ext cx="854964" cy="256032"/>
          </a:xfrm>
          <a:prstGeom prst="roundRect">
            <a:avLst>
              <a:gd name="adj" fmla="val 50000"/>
            </a:avLst>
          </a:prstGeom>
          <a:solidFill>
            <a:srgbClr val="FFFFFF">
              <a:alpha val="92000"/>
            </a:srgbClr>
          </a:solidFill>
          <a:ln w="12700">
            <a:solidFill>
              <a:srgbClr val="B23A2E"/>
            </a:solidFill>
            <a:prstDash val="solid"/>
          </a:ln>
        </p:spPr>
      </p:sp>
      <p:sp>
        <p:nvSpPr>
          <p:cNvPr id="31" name="Text 23"/>
          <p:cNvSpPr txBox="1"/>
          <p:nvPr/>
        </p:nvSpPr>
        <p:spPr>
          <a:xfrm>
            <a:off x="10160356" y="2780690"/>
            <a:ext cx="854964" cy="256032"/>
          </a:xfrm>
          <a:prstGeom prst="rect">
            <a:avLst/>
          </a:prstGeom>
          <a:noFill/>
          <a:ln/>
        </p:spPr>
        <p:txBody>
          <a:bodyPr wrap="square" lIns="0" tIns="0" rIns="0" bIns="0" rtlCol="0" anchor="ctr"/>
          <a:lstStyle/>
          <a:p>
            <a:pPr algn="ctr" indent="0" marL="0">
              <a:buNone/>
            </a:pPr>
            <a:r>
              <a:rPr lang="en-US" sz="950" b="1" dirty="0">
                <a:solidFill>
                  <a:srgbClr val="B23A2E"/>
                </a:solidFill>
                <a:latin typeface="맑은 고딕" pitchFamily="34" charset="0"/>
                <a:ea typeface="맑은 고딕" pitchFamily="34" charset="-122"/>
                <a:cs typeface="맑은 고딕" pitchFamily="34" charset="-120"/>
              </a:rPr>
              <a:t>높음 · 즉시</a:t>
            </a:r>
            <a:endParaRPr lang="en-US" sz="950" dirty="0"/>
          </a:p>
        </p:txBody>
      </p:sp>
      <p:sp>
        <p:nvSpPr>
          <p:cNvPr id="32" name="Shape 24"/>
          <p:cNvSpPr/>
          <p:nvPr/>
        </p:nvSpPr>
        <p:spPr>
          <a:xfrm>
            <a:off x="10947197" y="2259482"/>
            <a:ext cx="365760" cy="365760"/>
          </a:xfrm>
          <a:prstGeom prst="ellipse">
            <a:avLst/>
          </a:prstGeom>
          <a:solidFill>
            <a:srgbClr val="3C8D5A"/>
          </a:solidFill>
          <a:ln w="25400">
            <a:solidFill>
              <a:srgbClr val="FFFFFF"/>
            </a:solidFill>
            <a:prstDash val="solid"/>
          </a:ln>
        </p:spPr>
      </p:sp>
      <p:sp>
        <p:nvSpPr>
          <p:cNvPr id="33" name="Text 25"/>
          <p:cNvSpPr txBox="1"/>
          <p:nvPr/>
        </p:nvSpPr>
        <p:spPr>
          <a:xfrm>
            <a:off x="10947197" y="225948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34" name="Shape 26"/>
          <p:cNvSpPr/>
          <p:nvPr/>
        </p:nvSpPr>
        <p:spPr>
          <a:xfrm>
            <a:off x="9767621" y="2314346"/>
            <a:ext cx="1143000" cy="256032"/>
          </a:xfrm>
          <a:prstGeom prst="roundRect">
            <a:avLst>
              <a:gd name="adj" fmla="val 50000"/>
            </a:avLst>
          </a:prstGeom>
          <a:solidFill>
            <a:srgbClr val="FFFFFF">
              <a:alpha val="92000"/>
            </a:srgbClr>
          </a:solidFill>
          <a:ln w="12700">
            <a:solidFill>
              <a:srgbClr val="3C8D5A"/>
            </a:solidFill>
            <a:prstDash val="solid"/>
          </a:ln>
        </p:spPr>
      </p:sp>
      <p:sp>
        <p:nvSpPr>
          <p:cNvPr id="35" name="Text 27"/>
          <p:cNvSpPr txBox="1"/>
          <p:nvPr/>
        </p:nvSpPr>
        <p:spPr>
          <a:xfrm>
            <a:off x="9767621" y="2314346"/>
            <a:ext cx="1143000" cy="256032"/>
          </a:xfrm>
          <a:prstGeom prst="rect">
            <a:avLst/>
          </a:prstGeom>
          <a:noFill/>
          <a:ln/>
        </p:spPr>
        <p:txBody>
          <a:bodyPr wrap="square" lIns="0" tIns="0" rIns="0" bIns="0" rtlCol="0" anchor="ctr"/>
          <a:lstStyle/>
          <a:p>
            <a:pPr algn="ctr" indent="0" marL="0">
              <a:buNone/>
            </a:pPr>
            <a:r>
              <a:rPr lang="en-US" sz="950" b="1" dirty="0">
                <a:solidFill>
                  <a:srgbClr val="3C8D5A"/>
                </a:solidFill>
                <a:latin typeface="맑은 고딕" pitchFamily="34" charset="0"/>
                <a:ea typeface="맑은 고딕" pitchFamily="34" charset="-122"/>
                <a:cs typeface="맑은 고딕" pitchFamily="34" charset="-120"/>
              </a:rPr>
              <a:t>중간 · 이번 주기</a:t>
            </a:r>
            <a:endParaRPr lang="en-US" sz="950" dirty="0"/>
          </a:p>
        </p:txBody>
      </p:sp>
      <p:sp>
        <p:nvSpPr>
          <p:cNvPr id="36" name="Shape 28"/>
          <p:cNvSpPr/>
          <p:nvPr/>
        </p:nvSpPr>
        <p:spPr>
          <a:xfrm>
            <a:off x="10061143" y="1653235"/>
            <a:ext cx="365760" cy="365760"/>
          </a:xfrm>
          <a:prstGeom prst="ellipse">
            <a:avLst/>
          </a:prstGeom>
          <a:solidFill>
            <a:srgbClr val="3A6EA5"/>
          </a:solidFill>
          <a:ln w="25400">
            <a:solidFill>
              <a:srgbClr val="FFFFFF"/>
            </a:solidFill>
            <a:prstDash val="solid"/>
          </a:ln>
        </p:spPr>
      </p:sp>
      <p:sp>
        <p:nvSpPr>
          <p:cNvPr id="37" name="Text 29"/>
          <p:cNvSpPr txBox="1"/>
          <p:nvPr/>
        </p:nvSpPr>
        <p:spPr>
          <a:xfrm>
            <a:off x="10061143" y="1653235"/>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38" name="Shape 30"/>
          <p:cNvSpPr/>
          <p:nvPr/>
        </p:nvSpPr>
        <p:spPr>
          <a:xfrm>
            <a:off x="10463479" y="1708099"/>
            <a:ext cx="1143000" cy="256032"/>
          </a:xfrm>
          <a:prstGeom prst="roundRect">
            <a:avLst>
              <a:gd name="adj" fmla="val 50000"/>
            </a:avLst>
          </a:prstGeom>
          <a:solidFill>
            <a:srgbClr val="FFFFFF">
              <a:alpha val="92000"/>
            </a:srgbClr>
          </a:solidFill>
          <a:ln w="12700">
            <a:solidFill>
              <a:srgbClr val="3A6EA5"/>
            </a:solidFill>
            <a:prstDash val="solid"/>
          </a:ln>
        </p:spPr>
      </p:sp>
      <p:sp>
        <p:nvSpPr>
          <p:cNvPr id="39" name="Text 31"/>
          <p:cNvSpPr txBox="1"/>
          <p:nvPr/>
        </p:nvSpPr>
        <p:spPr>
          <a:xfrm>
            <a:off x="10463479" y="1708099"/>
            <a:ext cx="1143000" cy="256032"/>
          </a:xfrm>
          <a:prstGeom prst="rect">
            <a:avLst/>
          </a:prstGeom>
          <a:noFill/>
          <a:ln/>
        </p:spPr>
        <p:txBody>
          <a:bodyPr wrap="square" lIns="0" tIns="0" rIns="0" bIns="0" rtlCol="0" anchor="ctr"/>
          <a:lstStyle/>
          <a:p>
            <a:pPr algn="ctr" indent="0" marL="0">
              <a:buNone/>
            </a:pPr>
            <a:r>
              <a:rPr lang="en-US" sz="950" b="1" dirty="0">
                <a:solidFill>
                  <a:srgbClr val="3A6EA5"/>
                </a:solidFill>
                <a:latin typeface="맑은 고딕" pitchFamily="34" charset="0"/>
                <a:ea typeface="맑은 고딕" pitchFamily="34" charset="-122"/>
                <a:cs typeface="맑은 고딕" pitchFamily="34" charset="-120"/>
              </a:rPr>
              <a:t>낮음 · 다음 주기</a:t>
            </a:r>
            <a:endParaRPr lang="en-US" sz="950" dirty="0"/>
          </a:p>
        </p:txBody>
      </p:sp>
      <p:sp>
        <p:nvSpPr>
          <p:cNvPr id="40" name="Shape 32"/>
          <p:cNvSpPr/>
          <p:nvPr/>
        </p:nvSpPr>
        <p:spPr>
          <a:xfrm>
            <a:off x="9146743" y="1298448"/>
            <a:ext cx="457200" cy="457200"/>
          </a:xfrm>
          <a:prstGeom prst="ellipse">
            <a:avLst/>
          </a:prstGeom>
          <a:solidFill>
            <a:srgbClr val="B5501F"/>
          </a:solidFill>
          <a:ln w="25400">
            <a:solidFill>
              <a:srgbClr val="FFFFFF"/>
            </a:solidFill>
            <a:prstDash val="solid"/>
          </a:ln>
        </p:spPr>
      </p:sp>
      <p:sp>
        <p:nvSpPr>
          <p:cNvPr id="41" name="Text 33"/>
          <p:cNvSpPr txBox="1"/>
          <p:nvPr/>
        </p:nvSpPr>
        <p:spPr>
          <a:xfrm>
            <a:off x="9146743" y="12984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42" name="Text 34"/>
          <p:cNvSpPr txBox="1"/>
          <p:nvPr/>
        </p:nvSpPr>
        <p:spPr>
          <a:xfrm>
            <a:off x="9311335" y="3931920"/>
            <a:ext cx="2606040" cy="365760"/>
          </a:xfrm>
          <a:prstGeom prst="rect">
            <a:avLst/>
          </a:prstGeom>
          <a:noFill/>
          <a:ln/>
        </p:spPr>
        <p:txBody>
          <a:bodyPr wrap="square" lIns="0" tIns="0" rIns="0" bIns="0" rtlCol="0" anchor="t"/>
          <a:lstStyle/>
          <a:p>
            <a:pPr indent="0" marL="0">
              <a:buNone/>
            </a:pPr>
            <a:r>
              <a:rPr lang="en-US" sz="1600" b="1" dirty="0">
                <a:solidFill>
                  <a:srgbClr val="2B2D31"/>
                </a:solidFill>
                <a:latin typeface="맑은 고딕" pitchFamily="34" charset="0"/>
                <a:ea typeface="맑은 고딕" pitchFamily="34" charset="-122"/>
                <a:cs typeface="맑은 고딕" pitchFamily="34" charset="-120"/>
              </a:rPr>
              <a:t>점검 우선순위 지도</a:t>
            </a:r>
            <a:endParaRPr lang="en-US" sz="1600" dirty="0"/>
          </a:p>
        </p:txBody>
      </p:sp>
      <p:sp>
        <p:nvSpPr>
          <p:cNvPr id="43" name="Text 35"/>
          <p:cNvSpPr txBox="1"/>
          <p:nvPr/>
        </p:nvSpPr>
        <p:spPr>
          <a:xfrm>
            <a:off x="9311335" y="4306824"/>
            <a:ext cx="2606040" cy="59436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위험한 지점부터 번호를 매겨</a:t>
            </a:r>
            <a:endParaRPr lang="en-US" sz="1250" dirty="0"/>
          </a:p>
          <a:p>
            <a:pPr indent="0" marL="0">
              <a:buNone/>
            </a:pPr>
            <a:r>
              <a:rPr lang="en-US" sz="1250" dirty="0">
                <a:solidFill>
                  <a:srgbClr val="6B6F76"/>
                </a:solidFill>
                <a:latin typeface="맑은 고딕" pitchFamily="34" charset="0"/>
                <a:ea typeface="맑은 고딕" pitchFamily="34" charset="-122"/>
                <a:cs typeface="맑은 고딕" pitchFamily="34" charset="-120"/>
              </a:rPr>
              <a:t>사람 · 배 · 리프트 배치</a:t>
            </a:r>
            <a:endParaRPr lang="en-US" sz="1250" dirty="0"/>
          </a:p>
        </p:txBody>
      </p:sp>
      <p:sp>
        <p:nvSpPr>
          <p:cNvPr id="44" name="Text 36"/>
          <p:cNvSpPr txBox="1"/>
          <p:nvPr/>
        </p:nvSpPr>
        <p:spPr>
          <a:xfrm>
            <a:off x="9311335" y="1051560"/>
            <a:ext cx="2331720" cy="228600"/>
          </a:xfrm>
          <a:prstGeom prst="rect">
            <a:avLst/>
          </a:prstGeom>
          <a:noFill/>
          <a:ln/>
        </p:spPr>
        <p:txBody>
          <a:bodyPr wrap="square" lIns="0" tIns="0" rIns="0" bIns="0" rtlCol="0" anchor="t"/>
          <a:lstStyle/>
          <a:p>
            <a:pPr algn="r" indent="0" marL="0">
              <a:buNone/>
            </a:pPr>
            <a:r>
              <a:rPr lang="en-US" sz="1000" i="1" dirty="0">
                <a:solidFill>
                  <a:srgbClr val="A3A7AD"/>
                </a:solidFill>
                <a:latin typeface="맑은 고딕" pitchFamily="34" charset="0"/>
                <a:ea typeface="맑은 고딕" pitchFamily="34" charset="-122"/>
                <a:cs typeface="맑은 고딕" pitchFamily="34" charset="-120"/>
              </a:rPr>
              <a:t>예시 화면 (개념도)</a:t>
            </a:r>
            <a:endParaRPr lang="en-US" sz="1000" dirty="0"/>
          </a:p>
        </p:txBody>
      </p:sp>
      <p:sp>
        <p:nvSpPr>
          <p:cNvPr id="45" name="Shape 37"/>
          <p:cNvSpPr/>
          <p:nvPr/>
        </p:nvSpPr>
        <p:spPr>
          <a:xfrm>
            <a:off x="548640" y="5669280"/>
            <a:ext cx="3606698" cy="438912"/>
          </a:xfrm>
          <a:prstGeom prst="roundRect">
            <a:avLst>
              <a:gd name="adj" fmla="val 50000"/>
            </a:avLst>
          </a:prstGeom>
          <a:solidFill>
            <a:srgbClr val="2B2D31"/>
          </a:solidFill>
          <a:ln w="12700">
            <a:solidFill>
              <a:srgbClr val="2B2D31"/>
            </a:solidFill>
            <a:prstDash val="solid"/>
          </a:ln>
        </p:spPr>
      </p:sp>
      <p:sp>
        <p:nvSpPr>
          <p:cNvPr id="46" name="Text 38"/>
          <p:cNvSpPr txBox="1"/>
          <p:nvPr/>
        </p:nvSpPr>
        <p:spPr>
          <a:xfrm>
            <a:off x="548640" y="5669280"/>
            <a:ext cx="360669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점검 주기는 그대로, 자원 배치만 최적화</a:t>
            </a:r>
            <a:endParaRPr lang="en-US" sz="1300" dirty="0"/>
          </a:p>
        </p:txBody>
      </p:sp>
      <p:sp>
        <p:nvSpPr>
          <p:cNvPr id="47" name="Shape 39"/>
          <p:cNvSpPr/>
          <p:nvPr/>
        </p:nvSpPr>
        <p:spPr>
          <a:xfrm>
            <a:off x="4292498" y="5669280"/>
            <a:ext cx="3606698" cy="438912"/>
          </a:xfrm>
          <a:prstGeom prst="roundRect">
            <a:avLst>
              <a:gd name="adj" fmla="val 50000"/>
            </a:avLst>
          </a:prstGeom>
          <a:solidFill>
            <a:srgbClr val="2B2D31"/>
          </a:solidFill>
          <a:ln w="12700">
            <a:solidFill>
              <a:srgbClr val="2B2D31"/>
            </a:solidFill>
            <a:prstDash val="solid"/>
          </a:ln>
        </p:spPr>
      </p:sp>
      <p:sp>
        <p:nvSpPr>
          <p:cNvPr id="48" name="Text 40"/>
          <p:cNvSpPr txBox="1"/>
          <p:nvPr/>
        </p:nvSpPr>
        <p:spPr>
          <a:xfrm>
            <a:off x="4292498" y="5669280"/>
            <a:ext cx="360669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로프 액세스 출동 여부 판단</a:t>
            </a:r>
            <a:endParaRPr lang="en-US" sz="1300" dirty="0"/>
          </a:p>
        </p:txBody>
      </p:sp>
      <p:sp>
        <p:nvSpPr>
          <p:cNvPr id="49" name="Shape 41"/>
          <p:cNvSpPr/>
          <p:nvPr/>
        </p:nvSpPr>
        <p:spPr>
          <a:xfrm>
            <a:off x="8036357" y="5669280"/>
            <a:ext cx="3606698" cy="438912"/>
          </a:xfrm>
          <a:prstGeom prst="roundRect">
            <a:avLst>
              <a:gd name="adj" fmla="val 50000"/>
            </a:avLst>
          </a:prstGeom>
          <a:solidFill>
            <a:srgbClr val="2B2D31"/>
          </a:solidFill>
          <a:ln w="12700">
            <a:solidFill>
              <a:srgbClr val="2B2D31"/>
            </a:solidFill>
            <a:prstDash val="solid"/>
          </a:ln>
        </p:spPr>
      </p:sp>
      <p:sp>
        <p:nvSpPr>
          <p:cNvPr id="50" name="Text 42"/>
          <p:cNvSpPr txBox="1"/>
          <p:nvPr/>
        </p:nvSpPr>
        <p:spPr>
          <a:xfrm>
            <a:off x="8036357" y="5669280"/>
            <a:ext cx="360669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개인 판단이 아닌 데이터 리포트</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100" kern="0" dirty="0">
                <a:solidFill>
                  <a:srgbClr val="B5501F"/>
                </a:solidFill>
                <a:latin typeface="맑은 고딕" pitchFamily="34" charset="0"/>
                <a:ea typeface="맑은 고딕" pitchFamily="34" charset="-122"/>
                <a:cs typeface="맑은 고딕" pitchFamily="34" charset="-120"/>
              </a:rPr>
              <a:t>TECHNOLOGY  ·  실험실 검증</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2800" b="1" dirty="0">
                <a:solidFill>
                  <a:srgbClr val="2B2D31"/>
                </a:solidFill>
                <a:latin typeface="맑은 고딕" pitchFamily="34" charset="0"/>
                <a:ea typeface="맑은 고딕" pitchFamily="34" charset="-122"/>
                <a:cs typeface="맑은 고딕" pitchFamily="34" charset="-120"/>
              </a:rPr>
              <a:t>색으로 추적하는 부식 속도</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indent="0" marL="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900" dirty="0">
                <a:solidFill>
                  <a:srgbClr val="A3A7AD"/>
                </a:solidFill>
                <a:latin typeface="맑은 고딕" pitchFamily="34" charset="0"/>
                <a:ea typeface="맑은 고딕" pitchFamily="34" charset="-122"/>
                <a:cs typeface="맑은 고딕" pitchFamily="34" charset="-120"/>
              </a:rPr>
              <a:t>7</a:t>
            </a:r>
            <a:endParaRPr lang="en-US" sz="900" dirty="0"/>
          </a:p>
        </p:txBody>
      </p:sp>
      <p:sp>
        <p:nvSpPr>
          <p:cNvPr id="6" name="Text 4"/>
          <p:cNvSpPr txBox="1"/>
          <p:nvPr/>
        </p:nvSpPr>
        <p:spPr>
          <a:xfrm>
            <a:off x="548640" y="2331720"/>
            <a:ext cx="1417320" cy="365760"/>
          </a:xfrm>
          <a:prstGeom prst="rect">
            <a:avLst/>
          </a:prstGeom>
          <a:noFill/>
          <a:ln/>
        </p:spPr>
        <p:txBody>
          <a:bodyPr wrap="square" lIns="0" tIns="0" rIns="0" bIns="0" rtlCol="0" anchor="ctr"/>
          <a:lstStyle/>
          <a:p>
            <a:pPr indent="0" marL="0">
              <a:buNone/>
            </a:pPr>
            <a:r>
              <a:rPr lang="en-US" sz="1400" b="1" dirty="0">
                <a:solidFill>
                  <a:srgbClr val="6B6F76"/>
                </a:solidFill>
                <a:latin typeface="맑은 고딕" pitchFamily="34" charset="0"/>
                <a:ea typeface="맑은 고딕" pitchFamily="34" charset="-122"/>
                <a:cs typeface="맑은 고딕" pitchFamily="34" charset="-120"/>
              </a:rPr>
              <a:t>표면 사진</a:t>
            </a:r>
            <a:endParaRPr lang="en-US" sz="1400" dirty="0"/>
          </a:p>
        </p:txBody>
      </p:sp>
      <p:sp>
        <p:nvSpPr>
          <p:cNvPr id="7" name="Text 5"/>
          <p:cNvSpPr txBox="1"/>
          <p:nvPr/>
        </p:nvSpPr>
        <p:spPr>
          <a:xfrm>
            <a:off x="548640" y="3721608"/>
            <a:ext cx="1417320" cy="365760"/>
          </a:xfrm>
          <a:prstGeom prst="rect">
            <a:avLst/>
          </a:prstGeom>
          <a:noFill/>
          <a:ln/>
        </p:spPr>
        <p:txBody>
          <a:bodyPr wrap="square" lIns="0" tIns="0" rIns="0" bIns="0" rtlCol="0" anchor="ctr"/>
          <a:lstStyle/>
          <a:p>
            <a:pPr indent="0" marL="0">
              <a:buNone/>
            </a:pPr>
            <a:r>
              <a:rPr lang="en-US" sz="1400" b="1" dirty="0">
                <a:solidFill>
                  <a:srgbClr val="6B6F76"/>
                </a:solidFill>
                <a:latin typeface="맑은 고딕" pitchFamily="34" charset="0"/>
                <a:ea typeface="맑은 고딕" pitchFamily="34" charset="-122"/>
                <a:cs typeface="맑은 고딕" pitchFamily="34" charset="-120"/>
              </a:rPr>
              <a:t>녹의 색</a:t>
            </a:r>
            <a:endParaRPr lang="en-US" sz="1400" dirty="0"/>
          </a:p>
        </p:txBody>
      </p:sp>
      <p:sp>
        <p:nvSpPr>
          <p:cNvPr id="8" name="Text 6"/>
          <p:cNvSpPr txBox="1"/>
          <p:nvPr/>
        </p:nvSpPr>
        <p:spPr>
          <a:xfrm>
            <a:off x="548640" y="4617720"/>
            <a:ext cx="1417320" cy="365760"/>
          </a:xfrm>
          <a:prstGeom prst="rect">
            <a:avLst/>
          </a:prstGeom>
          <a:noFill/>
          <a:ln/>
        </p:spPr>
        <p:txBody>
          <a:bodyPr wrap="square" lIns="0" tIns="0" rIns="0" bIns="0" rtlCol="0" anchor="ctr"/>
          <a:lstStyle/>
          <a:p>
            <a:pPr indent="0" marL="0">
              <a:buNone/>
            </a:pPr>
            <a:r>
              <a:rPr lang="en-US" sz="1400" b="1" dirty="0">
                <a:solidFill>
                  <a:srgbClr val="6B6F76"/>
                </a:solidFill>
                <a:latin typeface="맑은 고딕" pitchFamily="34" charset="0"/>
                <a:ea typeface="맑은 고딕" pitchFamily="34" charset="-122"/>
                <a:cs typeface="맑은 고딕" pitchFamily="34" charset="-120"/>
              </a:rPr>
              <a:t>부식 속도</a:t>
            </a:r>
            <a:endParaRPr lang="en-US" sz="1400" dirty="0"/>
          </a:p>
        </p:txBody>
      </p:sp>
      <p:sp>
        <p:nvSpPr>
          <p:cNvPr id="9" name="Shape 7"/>
          <p:cNvSpPr/>
          <p:nvPr/>
        </p:nvSpPr>
        <p:spPr>
          <a:xfrm>
            <a:off x="2877769" y="1325880"/>
            <a:ext cx="1554480" cy="329184"/>
          </a:xfrm>
          <a:prstGeom prst="roundRect">
            <a:avLst>
              <a:gd name="adj" fmla="val 50000"/>
            </a:avLst>
          </a:prstGeom>
          <a:solidFill>
            <a:srgbClr val="3A6EA5"/>
          </a:solidFill>
          <a:ln w="12700">
            <a:solidFill>
              <a:srgbClr val="3A6EA5"/>
            </a:solidFill>
            <a:prstDash val="solid"/>
          </a:ln>
        </p:spPr>
      </p:sp>
      <p:sp>
        <p:nvSpPr>
          <p:cNvPr id="10" name="Text 8"/>
          <p:cNvSpPr txBox="1"/>
          <p:nvPr/>
        </p:nvSpPr>
        <p:spPr>
          <a:xfrm>
            <a:off x="2877769" y="1325880"/>
            <a:ext cx="15544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위험도  낮음</a:t>
            </a:r>
            <a:endParaRPr lang="en-US" sz="1300" dirty="0"/>
          </a:p>
        </p:txBody>
      </p:sp>
      <p:pic>
        <p:nvPicPr>
          <p:cNvPr id="11" name="Image 0" descr="/home/user/PPT/src/img/photo_3.png">    </p:cNvPr>
          <p:cNvPicPr>
            <a:picLocks noChangeAspect="1"/>
          </p:cNvPicPr>
          <p:nvPr/>
        </p:nvPicPr>
        <p:blipFill>
          <a:blip r:embed="rId1"/>
          <a:stretch>
            <a:fillRect/>
          </a:stretch>
        </p:blipFill>
        <p:spPr>
          <a:xfrm>
            <a:off x="2809189" y="1737360"/>
            <a:ext cx="1691640" cy="1691640"/>
          </a:xfrm>
          <a:prstGeom prst="rect">
            <a:avLst/>
          </a:prstGeom>
        </p:spPr>
      </p:pic>
      <p:sp>
        <p:nvSpPr>
          <p:cNvPr id="12" name="Text 9"/>
          <p:cNvSpPr txBox="1"/>
          <p:nvPr/>
        </p:nvSpPr>
        <p:spPr>
          <a:xfrm>
            <a:off x="2809189" y="3136392"/>
            <a:ext cx="1618488" cy="256032"/>
          </a:xfrm>
          <a:prstGeom prst="rect">
            <a:avLst/>
          </a:prstGeom>
          <a:noFill/>
          <a:ln/>
        </p:spPr>
        <p:txBody>
          <a:bodyPr wrap="square" lIns="0" tIns="0" rIns="0" bIns="0" rtlCol="0" anchor="ctr"/>
          <a:lstStyle/>
          <a:p>
            <a:pPr algn="r" indent="0" marL="0">
              <a:buNone/>
            </a:pPr>
            <a:r>
              <a:rPr lang="en-US" sz="1050" b="1" dirty="0">
                <a:solidFill>
                  <a:srgbClr val="FFFFFF"/>
                </a:solidFill>
                <a:latin typeface="맑은 고딕" pitchFamily="34" charset="0"/>
                <a:ea typeface="맑은 고딕" pitchFamily="34" charset="-122"/>
                <a:cs typeface="맑은 고딕" pitchFamily="34" charset="-120"/>
              </a:rPr>
              <a:t>24 h</a:t>
            </a:r>
            <a:endParaRPr lang="en-US" sz="1050" dirty="0"/>
          </a:p>
        </p:txBody>
      </p:sp>
      <p:sp>
        <p:nvSpPr>
          <p:cNvPr id="13" name="Shape 10"/>
          <p:cNvSpPr/>
          <p:nvPr/>
        </p:nvSpPr>
        <p:spPr>
          <a:xfrm>
            <a:off x="2809189" y="3657600"/>
            <a:ext cx="1691640" cy="502920"/>
          </a:xfrm>
          <a:prstGeom prst="rect">
            <a:avLst/>
          </a:prstGeom>
          <a:solidFill>
            <a:srgbClr val="4B4A48"/>
          </a:solidFill>
          <a:ln w="12700">
            <a:solidFill>
              <a:srgbClr val="D9DCE0"/>
            </a:solidFill>
            <a:prstDash val="solid"/>
          </a:ln>
        </p:spPr>
      </p:sp>
      <p:sp>
        <p:nvSpPr>
          <p:cNvPr id="14" name="Text 11"/>
          <p:cNvSpPr txBox="1"/>
          <p:nvPr/>
        </p:nvSpPr>
        <p:spPr>
          <a:xfrm>
            <a:off x="2809189" y="3657600"/>
            <a:ext cx="16916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b*  1.7</a:t>
            </a:r>
            <a:endParaRPr lang="en-US" sz="1600" dirty="0"/>
          </a:p>
        </p:txBody>
      </p:sp>
      <p:sp>
        <p:nvSpPr>
          <p:cNvPr id="15" name="Shape 12"/>
          <p:cNvSpPr/>
          <p:nvPr/>
        </p:nvSpPr>
        <p:spPr>
          <a:xfrm>
            <a:off x="3197809" y="5215548"/>
            <a:ext cx="914400" cy="225132"/>
          </a:xfrm>
          <a:prstGeom prst="rect">
            <a:avLst/>
          </a:prstGeom>
          <a:solidFill>
            <a:srgbClr val="3A6EA5"/>
          </a:solidFill>
          <a:ln w="12700">
            <a:solidFill>
              <a:srgbClr val="3A6EA5"/>
            </a:solidFill>
            <a:prstDash val="solid"/>
          </a:ln>
        </p:spPr>
      </p:sp>
      <p:sp>
        <p:nvSpPr>
          <p:cNvPr id="16" name="Text 13"/>
          <p:cNvSpPr txBox="1"/>
          <p:nvPr/>
        </p:nvSpPr>
        <p:spPr>
          <a:xfrm>
            <a:off x="2740609" y="4904652"/>
            <a:ext cx="1828800" cy="274320"/>
          </a:xfrm>
          <a:prstGeom prst="rect">
            <a:avLst/>
          </a:prstGeom>
          <a:noFill/>
          <a:ln/>
        </p:spPr>
        <p:txBody>
          <a:bodyPr wrap="square" lIns="0" tIns="0" rIns="0" bIns="0" rtlCol="0" anchor="t"/>
          <a:lstStyle/>
          <a:p>
            <a:pPr algn="ctr" indent="0" marL="0">
              <a:buNone/>
            </a:pPr>
            <a:r>
              <a:rPr lang="en-US" sz="1300" b="1" dirty="0">
                <a:solidFill>
                  <a:srgbClr val="3A6EA5"/>
                </a:solidFill>
                <a:latin typeface="맑은 고딕" pitchFamily="34" charset="0"/>
                <a:ea typeface="맑은 고딕" pitchFamily="34" charset="-122"/>
                <a:cs typeface="맑은 고딕" pitchFamily="34" charset="-120"/>
              </a:rPr>
              <a:t>0.34 mm/년</a:t>
            </a:r>
            <a:endParaRPr lang="en-US" sz="1300" dirty="0"/>
          </a:p>
        </p:txBody>
      </p:sp>
      <p:pic>
        <p:nvPicPr>
          <p:cNvPr id="17" name="Image 1" descr="preencoded.png">    </p:cNvPr>
          <p:cNvPicPr>
            <a:picLocks noChangeAspect="1"/>
          </p:cNvPicPr>
          <p:nvPr/>
        </p:nvPicPr>
        <p:blipFill>
          <a:blip r:embed="rId2"/>
          <a:stretch>
            <a:fillRect/>
          </a:stretch>
        </p:blipFill>
        <p:spPr>
          <a:xfrm>
            <a:off x="5097170" y="2427732"/>
            <a:ext cx="310896" cy="310896"/>
          </a:xfrm>
          <a:prstGeom prst="rect">
            <a:avLst/>
          </a:prstGeom>
        </p:spPr>
      </p:pic>
      <p:sp>
        <p:nvSpPr>
          <p:cNvPr id="18" name="Shape 14"/>
          <p:cNvSpPr/>
          <p:nvPr/>
        </p:nvSpPr>
        <p:spPr>
          <a:xfrm>
            <a:off x="6072988" y="1325880"/>
            <a:ext cx="1554480" cy="329184"/>
          </a:xfrm>
          <a:prstGeom prst="roundRect">
            <a:avLst>
              <a:gd name="adj" fmla="val 50000"/>
            </a:avLst>
          </a:prstGeom>
          <a:solidFill>
            <a:srgbClr val="3C8D5A"/>
          </a:solidFill>
          <a:ln w="12700">
            <a:solidFill>
              <a:srgbClr val="3C8D5A"/>
            </a:solidFill>
            <a:prstDash val="solid"/>
          </a:ln>
        </p:spPr>
      </p:sp>
      <p:sp>
        <p:nvSpPr>
          <p:cNvPr id="19" name="Text 15"/>
          <p:cNvSpPr txBox="1"/>
          <p:nvPr/>
        </p:nvSpPr>
        <p:spPr>
          <a:xfrm>
            <a:off x="6072988" y="1325880"/>
            <a:ext cx="15544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위험도  중간</a:t>
            </a:r>
            <a:endParaRPr lang="en-US" sz="1300" dirty="0"/>
          </a:p>
        </p:txBody>
      </p:sp>
      <p:pic>
        <p:nvPicPr>
          <p:cNvPr id="20" name="Image 2" descr="/home/user/PPT/src/img/photo_15.png">    </p:cNvPr>
          <p:cNvPicPr>
            <a:picLocks noChangeAspect="1"/>
          </p:cNvPicPr>
          <p:nvPr/>
        </p:nvPicPr>
        <p:blipFill>
          <a:blip r:embed="rId3"/>
          <a:stretch>
            <a:fillRect/>
          </a:stretch>
        </p:blipFill>
        <p:spPr>
          <a:xfrm>
            <a:off x="6004408" y="1737360"/>
            <a:ext cx="1691640" cy="1691640"/>
          </a:xfrm>
          <a:prstGeom prst="rect">
            <a:avLst/>
          </a:prstGeom>
        </p:spPr>
      </p:pic>
      <p:sp>
        <p:nvSpPr>
          <p:cNvPr id="21" name="Text 16"/>
          <p:cNvSpPr txBox="1"/>
          <p:nvPr/>
        </p:nvSpPr>
        <p:spPr>
          <a:xfrm>
            <a:off x="6004408" y="3136392"/>
            <a:ext cx="1618488" cy="256032"/>
          </a:xfrm>
          <a:prstGeom prst="rect">
            <a:avLst/>
          </a:prstGeom>
          <a:noFill/>
          <a:ln/>
        </p:spPr>
        <p:txBody>
          <a:bodyPr wrap="square" lIns="0" tIns="0" rIns="0" bIns="0" rtlCol="0" anchor="ctr"/>
          <a:lstStyle/>
          <a:p>
            <a:pPr algn="r" indent="0" marL="0">
              <a:buNone/>
            </a:pPr>
            <a:r>
              <a:rPr lang="en-US" sz="1050" b="1" dirty="0">
                <a:solidFill>
                  <a:srgbClr val="FFFFFF"/>
                </a:solidFill>
                <a:latin typeface="맑은 고딕" pitchFamily="34" charset="0"/>
                <a:ea typeface="맑은 고딕" pitchFamily="34" charset="-122"/>
                <a:cs typeface="맑은 고딕" pitchFamily="34" charset="-120"/>
              </a:rPr>
              <a:t>120 h</a:t>
            </a:r>
            <a:endParaRPr lang="en-US" sz="1050" dirty="0"/>
          </a:p>
        </p:txBody>
      </p:sp>
      <p:sp>
        <p:nvSpPr>
          <p:cNvPr id="22" name="Shape 17"/>
          <p:cNvSpPr/>
          <p:nvPr/>
        </p:nvSpPr>
        <p:spPr>
          <a:xfrm>
            <a:off x="6004408" y="3657600"/>
            <a:ext cx="1691640" cy="502920"/>
          </a:xfrm>
          <a:prstGeom prst="rect">
            <a:avLst/>
          </a:prstGeom>
          <a:solidFill>
            <a:srgbClr val="4B4034"/>
          </a:solidFill>
          <a:ln w="12700">
            <a:solidFill>
              <a:srgbClr val="D9DCE0"/>
            </a:solidFill>
            <a:prstDash val="solid"/>
          </a:ln>
        </p:spPr>
      </p:sp>
      <p:sp>
        <p:nvSpPr>
          <p:cNvPr id="23" name="Text 18"/>
          <p:cNvSpPr txBox="1"/>
          <p:nvPr/>
        </p:nvSpPr>
        <p:spPr>
          <a:xfrm>
            <a:off x="6004408" y="3657600"/>
            <a:ext cx="16916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b*  9.4</a:t>
            </a:r>
            <a:endParaRPr lang="en-US" sz="1600" dirty="0"/>
          </a:p>
        </p:txBody>
      </p:sp>
      <p:sp>
        <p:nvSpPr>
          <p:cNvPr id="24" name="Shape 19"/>
          <p:cNvSpPr/>
          <p:nvPr/>
        </p:nvSpPr>
        <p:spPr>
          <a:xfrm>
            <a:off x="6393028" y="4990417"/>
            <a:ext cx="914400" cy="450263"/>
          </a:xfrm>
          <a:prstGeom prst="rect">
            <a:avLst/>
          </a:prstGeom>
          <a:solidFill>
            <a:srgbClr val="3C8D5A"/>
          </a:solidFill>
          <a:ln w="12700">
            <a:solidFill>
              <a:srgbClr val="3C8D5A"/>
            </a:solidFill>
            <a:prstDash val="solid"/>
          </a:ln>
        </p:spPr>
      </p:sp>
      <p:sp>
        <p:nvSpPr>
          <p:cNvPr id="25" name="Text 20"/>
          <p:cNvSpPr txBox="1"/>
          <p:nvPr/>
        </p:nvSpPr>
        <p:spPr>
          <a:xfrm>
            <a:off x="5935828" y="4679521"/>
            <a:ext cx="1828800" cy="274320"/>
          </a:xfrm>
          <a:prstGeom prst="rect">
            <a:avLst/>
          </a:prstGeom>
          <a:noFill/>
          <a:ln/>
        </p:spPr>
        <p:txBody>
          <a:bodyPr wrap="square" lIns="0" tIns="0" rIns="0" bIns="0" rtlCol="0" anchor="t"/>
          <a:lstStyle/>
          <a:p>
            <a:pPr algn="ctr" indent="0" marL="0">
              <a:buNone/>
            </a:pPr>
            <a:r>
              <a:rPr lang="en-US" sz="1300" b="1" dirty="0">
                <a:solidFill>
                  <a:srgbClr val="3C8D5A"/>
                </a:solidFill>
                <a:latin typeface="맑은 고딕" pitchFamily="34" charset="0"/>
                <a:ea typeface="맑은 고딕" pitchFamily="34" charset="-122"/>
                <a:cs typeface="맑은 고딕" pitchFamily="34" charset="-120"/>
              </a:rPr>
              <a:t>0.68 mm/년</a:t>
            </a:r>
            <a:endParaRPr lang="en-US" sz="1300" dirty="0"/>
          </a:p>
        </p:txBody>
      </p:sp>
      <p:pic>
        <p:nvPicPr>
          <p:cNvPr id="26" name="Image 3" descr="preencoded.png">    </p:cNvPr>
          <p:cNvPicPr>
            <a:picLocks noChangeAspect="1"/>
          </p:cNvPicPr>
          <p:nvPr/>
        </p:nvPicPr>
        <p:blipFill>
          <a:blip r:embed="rId4"/>
          <a:stretch>
            <a:fillRect/>
          </a:stretch>
        </p:blipFill>
        <p:spPr>
          <a:xfrm>
            <a:off x="8292389" y="2427732"/>
            <a:ext cx="310896" cy="310896"/>
          </a:xfrm>
          <a:prstGeom prst="rect">
            <a:avLst/>
          </a:prstGeom>
        </p:spPr>
      </p:pic>
      <p:sp>
        <p:nvSpPr>
          <p:cNvPr id="27" name="Shape 21"/>
          <p:cNvSpPr/>
          <p:nvPr/>
        </p:nvSpPr>
        <p:spPr>
          <a:xfrm>
            <a:off x="9268206" y="1325880"/>
            <a:ext cx="1554480" cy="329184"/>
          </a:xfrm>
          <a:prstGeom prst="roundRect">
            <a:avLst>
              <a:gd name="adj" fmla="val 50000"/>
            </a:avLst>
          </a:prstGeom>
          <a:solidFill>
            <a:srgbClr val="B23A2E"/>
          </a:solidFill>
          <a:ln w="12700">
            <a:solidFill>
              <a:srgbClr val="B23A2E"/>
            </a:solidFill>
            <a:prstDash val="solid"/>
          </a:ln>
        </p:spPr>
      </p:sp>
      <p:sp>
        <p:nvSpPr>
          <p:cNvPr id="28" name="Text 22"/>
          <p:cNvSpPr txBox="1"/>
          <p:nvPr/>
        </p:nvSpPr>
        <p:spPr>
          <a:xfrm>
            <a:off x="9268206" y="1325880"/>
            <a:ext cx="15544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위험도  높음</a:t>
            </a:r>
            <a:endParaRPr lang="en-US" sz="1300" dirty="0"/>
          </a:p>
        </p:txBody>
      </p:sp>
      <p:pic>
        <p:nvPicPr>
          <p:cNvPr id="29" name="Image 4" descr="/home/user/PPT/src/img/photo_30.png">    </p:cNvPr>
          <p:cNvPicPr>
            <a:picLocks noChangeAspect="1"/>
          </p:cNvPicPr>
          <p:nvPr/>
        </p:nvPicPr>
        <p:blipFill>
          <a:blip r:embed="rId5"/>
          <a:stretch>
            <a:fillRect/>
          </a:stretch>
        </p:blipFill>
        <p:spPr>
          <a:xfrm>
            <a:off x="9199626" y="1737360"/>
            <a:ext cx="1691640" cy="1691640"/>
          </a:xfrm>
          <a:prstGeom prst="rect">
            <a:avLst/>
          </a:prstGeom>
        </p:spPr>
      </p:pic>
      <p:sp>
        <p:nvSpPr>
          <p:cNvPr id="30" name="Text 23"/>
          <p:cNvSpPr txBox="1"/>
          <p:nvPr/>
        </p:nvSpPr>
        <p:spPr>
          <a:xfrm>
            <a:off x="9199626" y="3136392"/>
            <a:ext cx="1618488" cy="256032"/>
          </a:xfrm>
          <a:prstGeom prst="rect">
            <a:avLst/>
          </a:prstGeom>
          <a:noFill/>
          <a:ln/>
        </p:spPr>
        <p:txBody>
          <a:bodyPr wrap="square" lIns="0" tIns="0" rIns="0" bIns="0" rtlCol="0" anchor="ctr"/>
          <a:lstStyle/>
          <a:p>
            <a:pPr algn="r" indent="0" marL="0">
              <a:buNone/>
            </a:pPr>
            <a:r>
              <a:rPr lang="en-US" sz="1050" b="1" dirty="0">
                <a:solidFill>
                  <a:srgbClr val="FFFFFF"/>
                </a:solidFill>
                <a:latin typeface="맑은 고딕" pitchFamily="34" charset="0"/>
                <a:ea typeface="맑은 고딕" pitchFamily="34" charset="-122"/>
                <a:cs typeface="맑은 고딕" pitchFamily="34" charset="-120"/>
              </a:rPr>
              <a:t>240 h</a:t>
            </a:r>
            <a:endParaRPr lang="en-US" sz="1050" dirty="0"/>
          </a:p>
        </p:txBody>
      </p:sp>
      <p:sp>
        <p:nvSpPr>
          <p:cNvPr id="31" name="Shape 24"/>
          <p:cNvSpPr/>
          <p:nvPr/>
        </p:nvSpPr>
        <p:spPr>
          <a:xfrm>
            <a:off x="9199626" y="3657600"/>
            <a:ext cx="1691640" cy="502920"/>
          </a:xfrm>
          <a:prstGeom prst="rect">
            <a:avLst/>
          </a:prstGeom>
          <a:solidFill>
            <a:srgbClr val="4C3C2C"/>
          </a:solidFill>
          <a:ln w="12700">
            <a:solidFill>
              <a:srgbClr val="D9DCE0"/>
            </a:solidFill>
            <a:prstDash val="solid"/>
          </a:ln>
        </p:spPr>
      </p:sp>
      <p:sp>
        <p:nvSpPr>
          <p:cNvPr id="32" name="Text 25"/>
          <p:cNvSpPr txBox="1"/>
          <p:nvPr/>
        </p:nvSpPr>
        <p:spPr>
          <a:xfrm>
            <a:off x="9199626" y="3657600"/>
            <a:ext cx="16916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b*  13.1</a:t>
            </a:r>
            <a:endParaRPr lang="en-US" sz="1600" dirty="0"/>
          </a:p>
        </p:txBody>
      </p:sp>
      <p:sp>
        <p:nvSpPr>
          <p:cNvPr id="33" name="Shape 26"/>
          <p:cNvSpPr/>
          <p:nvPr/>
        </p:nvSpPr>
        <p:spPr>
          <a:xfrm>
            <a:off x="9588246" y="4480560"/>
            <a:ext cx="914400" cy="960120"/>
          </a:xfrm>
          <a:prstGeom prst="rect">
            <a:avLst/>
          </a:prstGeom>
          <a:solidFill>
            <a:srgbClr val="B23A2E"/>
          </a:solidFill>
          <a:ln w="12700">
            <a:solidFill>
              <a:srgbClr val="B23A2E"/>
            </a:solidFill>
            <a:prstDash val="solid"/>
          </a:ln>
        </p:spPr>
      </p:sp>
      <p:sp>
        <p:nvSpPr>
          <p:cNvPr id="34" name="Text 27"/>
          <p:cNvSpPr txBox="1"/>
          <p:nvPr/>
        </p:nvSpPr>
        <p:spPr>
          <a:xfrm>
            <a:off x="9131046" y="4169664"/>
            <a:ext cx="1828800" cy="274320"/>
          </a:xfrm>
          <a:prstGeom prst="rect">
            <a:avLst/>
          </a:prstGeom>
          <a:noFill/>
          <a:ln/>
        </p:spPr>
        <p:txBody>
          <a:bodyPr wrap="square" lIns="0" tIns="0" rIns="0" bIns="0" rtlCol="0" anchor="t"/>
          <a:lstStyle/>
          <a:p>
            <a:pPr algn="ctr" indent="0" marL="0">
              <a:buNone/>
            </a:pPr>
            <a:r>
              <a:rPr lang="en-US" sz="1300" b="1" dirty="0">
                <a:solidFill>
                  <a:srgbClr val="B23A2E"/>
                </a:solidFill>
                <a:latin typeface="맑은 고딕" pitchFamily="34" charset="0"/>
                <a:ea typeface="맑은 고딕" pitchFamily="34" charset="-122"/>
                <a:cs typeface="맑은 고딕" pitchFamily="34" charset="-120"/>
              </a:rPr>
              <a:t>1.45 mm/년</a:t>
            </a:r>
            <a:endParaRPr lang="en-US" sz="1300" dirty="0"/>
          </a:p>
        </p:txBody>
      </p:sp>
      <p:sp>
        <p:nvSpPr>
          <p:cNvPr id="35" name="Shape 28"/>
          <p:cNvSpPr/>
          <p:nvPr/>
        </p:nvSpPr>
        <p:spPr>
          <a:xfrm>
            <a:off x="2240280" y="5440680"/>
            <a:ext cx="9219895" cy="0"/>
          </a:xfrm>
          <a:prstGeom prst="line">
            <a:avLst/>
          </a:prstGeom>
          <a:noFill/>
          <a:ln w="12700">
            <a:solidFill>
              <a:srgbClr val="A3A7AD"/>
            </a:solidFill>
            <a:prstDash val="solid"/>
          </a:ln>
        </p:spPr>
      </p:sp>
      <p:sp>
        <p:nvSpPr>
          <p:cNvPr id="36" name="Text 29"/>
          <p:cNvSpPr txBox="1"/>
          <p:nvPr/>
        </p:nvSpPr>
        <p:spPr>
          <a:xfrm>
            <a:off x="10454335" y="4434840"/>
            <a:ext cx="1188720" cy="365760"/>
          </a:xfrm>
          <a:prstGeom prst="rect">
            <a:avLst/>
          </a:prstGeom>
          <a:noFill/>
          <a:ln/>
        </p:spPr>
        <p:txBody>
          <a:bodyPr wrap="square" lIns="0" tIns="0" rIns="0" bIns="0" rtlCol="0" anchor="t"/>
          <a:lstStyle/>
          <a:p>
            <a:pPr algn="r" indent="0" marL="0">
              <a:buNone/>
            </a:pPr>
            <a:r>
              <a:rPr lang="en-US" sz="1800" b="1" dirty="0">
                <a:solidFill>
                  <a:srgbClr val="B23A2E"/>
                </a:solidFill>
                <a:latin typeface="맑은 고딕" pitchFamily="34" charset="0"/>
                <a:ea typeface="맑은 고딕" pitchFamily="34" charset="-122"/>
                <a:cs typeface="맑은 고딕" pitchFamily="34" charset="-120"/>
              </a:rPr>
              <a:t>약 4배</a:t>
            </a:r>
            <a:endParaRPr lang="en-US" sz="1800" dirty="0"/>
          </a:p>
        </p:txBody>
      </p:sp>
      <p:sp>
        <p:nvSpPr>
          <p:cNvPr id="37" name="Shape 30"/>
          <p:cNvSpPr/>
          <p:nvPr/>
        </p:nvSpPr>
        <p:spPr>
          <a:xfrm>
            <a:off x="548640" y="5623560"/>
            <a:ext cx="3576218" cy="566928"/>
          </a:xfrm>
          <a:prstGeom prst="roundRect">
            <a:avLst>
              <a:gd name="adj" fmla="val 12903"/>
            </a:avLst>
          </a:prstGeom>
          <a:solidFill>
            <a:srgbClr val="FBEDE4"/>
          </a:solidFill>
          <a:ln w="12700">
            <a:solidFill>
              <a:srgbClr val="FBEDE4"/>
            </a:solidFill>
            <a:prstDash val="solid"/>
          </a:ln>
        </p:spPr>
      </p:sp>
      <p:sp>
        <p:nvSpPr>
          <p:cNvPr id="38" name="Text 31"/>
          <p:cNvSpPr txBox="1"/>
          <p:nvPr/>
        </p:nvSpPr>
        <p:spPr>
          <a:xfrm>
            <a:off x="777240" y="5623560"/>
            <a:ext cx="3210458" cy="566928"/>
          </a:xfrm>
          <a:prstGeom prst="rect">
            <a:avLst/>
          </a:prstGeom>
          <a:noFill/>
          <a:ln/>
        </p:spPr>
        <p:txBody>
          <a:bodyPr wrap="square" lIns="0" tIns="0" rIns="0" bIns="0" rtlCol="0" anchor="ctr"/>
          <a:lstStyle/>
          <a:p>
            <a:pPr indent="0" marL="0">
              <a:buNone/>
            </a:pPr>
            <a:r>
              <a:rPr lang="en-US" sz="1700" b="1" dirty="0">
                <a:solidFill>
                  <a:srgbClr val="B5501F"/>
                </a:solidFill>
                <a:latin typeface="맑은 고딕" pitchFamily="34" charset="0"/>
                <a:ea typeface="맑은 고딕" pitchFamily="34" charset="-122"/>
                <a:cs typeface="맑은 고딕" pitchFamily="34" charset="-120"/>
              </a:rPr>
              <a:t>ρ = 0.88   </a:t>
            </a:r>
            <a:pPr indent="0" marL="0">
              <a:buNone/>
            </a:pPr>
            <a:r>
              <a:rPr lang="en-US" sz="1150" dirty="0">
                <a:solidFill>
                  <a:srgbClr val="6B6F76"/>
                </a:solidFill>
                <a:latin typeface="맑은 고딕" pitchFamily="34" charset="0"/>
                <a:ea typeface="맑은 고딕" pitchFamily="34" charset="-122"/>
                <a:cs typeface="맑은 고딕" pitchFamily="34" charset="-120"/>
              </a:rPr>
              <a:t>색(b*)–부식 속도 상관</a:t>
            </a:r>
            <a:endParaRPr lang="en-US" sz="1400" dirty="0"/>
          </a:p>
        </p:txBody>
      </p:sp>
      <p:sp>
        <p:nvSpPr>
          <p:cNvPr id="39" name="Shape 32"/>
          <p:cNvSpPr/>
          <p:nvPr/>
        </p:nvSpPr>
        <p:spPr>
          <a:xfrm>
            <a:off x="4307738" y="5623560"/>
            <a:ext cx="3576218" cy="566928"/>
          </a:xfrm>
          <a:prstGeom prst="roundRect">
            <a:avLst>
              <a:gd name="adj" fmla="val 12903"/>
            </a:avLst>
          </a:prstGeom>
          <a:solidFill>
            <a:srgbClr val="F3F4F6"/>
          </a:solidFill>
          <a:ln w="12700">
            <a:solidFill>
              <a:srgbClr val="F3F4F6"/>
            </a:solidFill>
            <a:prstDash val="solid"/>
          </a:ln>
        </p:spPr>
      </p:sp>
      <p:sp>
        <p:nvSpPr>
          <p:cNvPr id="40" name="Text 33"/>
          <p:cNvSpPr txBox="1"/>
          <p:nvPr/>
        </p:nvSpPr>
        <p:spPr>
          <a:xfrm>
            <a:off x="4536338" y="5623560"/>
            <a:ext cx="3210458" cy="566928"/>
          </a:xfrm>
          <a:prstGeom prst="rect">
            <a:avLst/>
          </a:prstGeom>
          <a:noFill/>
          <a:ln/>
        </p:spPr>
        <p:txBody>
          <a:bodyPr wrap="square" lIns="0" tIns="0" rIns="0" bIns="0" rtlCol="0" anchor="ctr"/>
          <a:lstStyle/>
          <a:p>
            <a:pPr indent="0" marL="0">
              <a:buNone/>
            </a:pPr>
            <a:r>
              <a:rPr lang="en-US" sz="1700" b="1" dirty="0">
                <a:solidFill>
                  <a:srgbClr val="B5501F"/>
                </a:solidFill>
                <a:latin typeface="맑은 고딕" pitchFamily="34" charset="0"/>
                <a:ea typeface="맑은 고딕" pitchFamily="34" charset="-122"/>
                <a:cs typeface="맑은 고딕" pitchFamily="34" charset="-120"/>
              </a:rPr>
              <a:t>3개 구간   </a:t>
            </a:r>
            <a:pPr indent="0" marL="0">
              <a:buNone/>
            </a:pPr>
            <a:r>
              <a:rPr lang="en-US" sz="1150" dirty="0">
                <a:solidFill>
                  <a:srgbClr val="6B6F76"/>
                </a:solidFill>
                <a:latin typeface="맑은 고딕" pitchFamily="34" charset="0"/>
                <a:ea typeface="맑은 고딕" pitchFamily="34" charset="-122"/>
                <a:cs typeface="맑은 고딕" pitchFamily="34" charset="-120"/>
              </a:rPr>
              <a:t>위험도별 속도 구간 분리</a:t>
            </a:r>
            <a:endParaRPr lang="en-US" sz="1400" dirty="0"/>
          </a:p>
        </p:txBody>
      </p:sp>
      <p:sp>
        <p:nvSpPr>
          <p:cNvPr id="41" name="Shape 34"/>
          <p:cNvSpPr/>
          <p:nvPr/>
        </p:nvSpPr>
        <p:spPr>
          <a:xfrm>
            <a:off x="8066837" y="5623560"/>
            <a:ext cx="3576218" cy="566928"/>
          </a:xfrm>
          <a:prstGeom prst="roundRect">
            <a:avLst>
              <a:gd name="adj" fmla="val 12903"/>
            </a:avLst>
          </a:prstGeom>
          <a:solidFill>
            <a:srgbClr val="F3F4F6"/>
          </a:solidFill>
          <a:ln w="12700">
            <a:solidFill>
              <a:srgbClr val="F3F4F6"/>
            </a:solidFill>
            <a:prstDash val="solid"/>
          </a:ln>
        </p:spPr>
      </p:sp>
      <p:sp>
        <p:nvSpPr>
          <p:cNvPr id="42" name="Text 35"/>
          <p:cNvSpPr txBox="1"/>
          <p:nvPr/>
        </p:nvSpPr>
        <p:spPr>
          <a:xfrm>
            <a:off x="8295437" y="5623560"/>
            <a:ext cx="3210458" cy="566928"/>
          </a:xfrm>
          <a:prstGeom prst="rect">
            <a:avLst/>
          </a:prstGeom>
          <a:noFill/>
          <a:ln/>
        </p:spPr>
        <p:txBody>
          <a:bodyPr wrap="square" lIns="0" tIns="0" rIns="0" bIns="0" rtlCol="0" anchor="ctr"/>
          <a:lstStyle/>
          <a:p>
            <a:pPr indent="0" marL="0">
              <a:buNone/>
            </a:pPr>
            <a:r>
              <a:rPr lang="en-US" sz="1700" b="1" dirty="0">
                <a:solidFill>
                  <a:srgbClr val="B5501F"/>
                </a:solidFill>
                <a:latin typeface="맑은 고딕" pitchFamily="34" charset="0"/>
                <a:ea typeface="맑은 고딕" pitchFamily="34" charset="-122"/>
                <a:cs typeface="맑은 고딕" pitchFamily="34" charset="-120"/>
              </a:rPr>
              <a:t>6가지 분석   </a:t>
            </a:r>
            <a:pPr indent="0" marL="0">
              <a:buNone/>
            </a:pPr>
            <a:r>
              <a:rPr lang="en-US" sz="1150" dirty="0">
                <a:solidFill>
                  <a:srgbClr val="6B6F76"/>
                </a:solidFill>
                <a:latin typeface="맑은 고딕" pitchFamily="34" charset="0"/>
                <a:ea typeface="맑은 고딕" pitchFamily="34" charset="-122"/>
                <a:cs typeface="맑은 고딕" pitchFamily="34" charset="-120"/>
              </a:rPr>
              <a:t>교차 검증 완료</a:t>
            </a:r>
            <a:endParaRPr lang="en-US" sz="1400" dirty="0"/>
          </a:p>
        </p:txBody>
      </p:sp>
      <p:sp>
        <p:nvSpPr>
          <p:cNvPr id="43" name="Text 36"/>
          <p:cNvSpPr txBox="1"/>
          <p:nvPr/>
        </p:nvSpPr>
        <p:spPr>
          <a:xfrm>
            <a:off x="7528255" y="1051560"/>
            <a:ext cx="4114800" cy="228600"/>
          </a:xfrm>
          <a:prstGeom prst="rect">
            <a:avLst/>
          </a:prstGeom>
          <a:noFill/>
          <a:ln/>
        </p:spPr>
        <p:txBody>
          <a:bodyPr wrap="square" lIns="0" tIns="0" rIns="0" bIns="0" rtlCol="0" anchor="t"/>
          <a:lstStyle/>
          <a:p>
            <a:pPr algn="r" indent="0" marL="0">
              <a:buNone/>
            </a:pPr>
            <a:r>
              <a:rPr lang="en-US" sz="1000" i="1" dirty="0">
                <a:solidFill>
                  <a:srgbClr val="A3A7AD"/>
                </a:solidFill>
                <a:latin typeface="맑은 고딕" pitchFamily="34" charset="0"/>
                <a:ea typeface="맑은 고딕" pitchFamily="34" charset="-122"/>
                <a:cs typeface="맑은 고딕" pitchFamily="34" charset="-120"/>
              </a:rPr>
              <a:t>탄소강 · 240시간 촉진부식 · 단계별 평균값</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BUSINESS MODEL</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고객 생태계와 비즈니스 모델</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a:t>
            </a:r>
            <a:r>
              <a:rPr lang="en-US" sz="900" dirty="0" err="1">
                <a:solidFill>
                  <a:srgbClr val="A3A7AD"/>
                </a:solidFill>
                <a:latin typeface="맑은 고딕" pitchFamily="34" charset="0"/>
                <a:ea typeface="맑은 고딕" pitchFamily="34" charset="-122"/>
                <a:cs typeface="맑은 고딕" pitchFamily="34" charset="-120"/>
              </a:rPr>
              <a:t>제주</a:t>
            </a:r>
            <a:r>
              <a:rPr lang="en-US" sz="900" dirty="0">
                <a:solidFill>
                  <a:srgbClr val="A3A7AD"/>
                </a:solidFill>
                <a:latin typeface="맑은 고딕" pitchFamily="34" charset="0"/>
                <a:ea typeface="맑은 고딕" pitchFamily="34" charset="-122"/>
                <a:cs typeface="맑은 고딕" pitchFamily="34" charset="-120"/>
              </a:rPr>
              <a:t>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cs typeface="맑은 고딕" pitchFamily="34" charset="-120"/>
              </a:rPr>
              <a:t>8</a:t>
            </a:r>
            <a:endParaRPr lang="en-US" sz="900" dirty="0"/>
          </a:p>
        </p:txBody>
      </p:sp>
      <p:sp>
        <p:nvSpPr>
          <p:cNvPr id="6" name="Text 4"/>
          <p:cNvSpPr txBox="1"/>
          <p:nvPr/>
        </p:nvSpPr>
        <p:spPr>
          <a:xfrm>
            <a:off x="548640" y="1325880"/>
            <a:ext cx="5577840" cy="274320"/>
          </a:xfrm>
          <a:prstGeom prst="rect">
            <a:avLst/>
          </a:prstGeom>
          <a:noFill/>
          <a:ln/>
        </p:spPr>
        <p:txBody>
          <a:bodyPr wrap="square" lIns="0" tIns="0" rIns="0" bIns="0" rtlCol="0" anchor="t"/>
          <a:lstStyle/>
          <a:p>
            <a:pPr marL="0" indent="0">
              <a:buNone/>
            </a:pPr>
            <a:r>
              <a:rPr lang="en-US" sz="1300" b="1" dirty="0">
                <a:solidFill>
                  <a:srgbClr val="1F5F7A"/>
                </a:solidFill>
                <a:latin typeface="맑은 고딕" pitchFamily="34" charset="0"/>
                <a:ea typeface="맑은 고딕" pitchFamily="34" charset="-122"/>
                <a:cs typeface="맑은 고딕" pitchFamily="34" charset="-120"/>
              </a:rPr>
              <a:t>고객 생태계 · 해양 석유·가스 운영사</a:t>
            </a:r>
            <a:endParaRPr lang="en-US" sz="1300" dirty="0"/>
          </a:p>
        </p:txBody>
      </p:sp>
      <p:sp>
        <p:nvSpPr>
          <p:cNvPr id="7" name="Shape 5"/>
          <p:cNvSpPr/>
          <p:nvPr/>
        </p:nvSpPr>
        <p:spPr>
          <a:xfrm>
            <a:off x="548640" y="1737360"/>
            <a:ext cx="5577840" cy="868680"/>
          </a:xfrm>
          <a:prstGeom prst="roundRect">
            <a:avLst>
              <a:gd name="adj" fmla="val 8421"/>
            </a:avLst>
          </a:prstGeom>
          <a:solidFill>
            <a:srgbClr val="F3F4F6"/>
          </a:solidFill>
          <a:ln w="6350">
            <a:solidFill>
              <a:srgbClr val="F3F4F6"/>
            </a:solidFill>
            <a:prstDash val="solid"/>
          </a:ln>
        </p:spPr>
      </p:sp>
      <p:sp>
        <p:nvSpPr>
          <p:cNvPr id="8" name="Shape 6"/>
          <p:cNvSpPr/>
          <p:nvPr/>
        </p:nvSpPr>
        <p:spPr>
          <a:xfrm>
            <a:off x="731520" y="1883664"/>
            <a:ext cx="576072" cy="576072"/>
          </a:xfrm>
          <a:prstGeom prst="ellipse">
            <a:avLst/>
          </a:prstGeom>
          <a:solidFill>
            <a:srgbClr val="B5501F"/>
          </a:solidFill>
          <a:ln w="12700">
            <a:solidFill>
              <a:srgbClr val="B5501F"/>
            </a:solidFill>
            <a:prstDash val="solid"/>
          </a:ln>
        </p:spPr>
      </p:sp>
      <p:pic>
        <p:nvPicPr>
          <p:cNvPr id="9" name="Image 0" descr="preencoded.png"/>
          <p:cNvPicPr>
            <a:picLocks noChangeAspect="1"/>
          </p:cNvPicPr>
          <p:nvPr/>
        </p:nvPicPr>
        <p:blipFill>
          <a:blip r:embed="rId3"/>
          <a:stretch>
            <a:fillRect/>
          </a:stretch>
        </p:blipFill>
        <p:spPr>
          <a:xfrm>
            <a:off x="881299" y="2033443"/>
            <a:ext cx="276515" cy="276515"/>
          </a:xfrm>
          <a:prstGeom prst="rect">
            <a:avLst/>
          </a:prstGeom>
        </p:spPr>
      </p:pic>
      <p:sp>
        <p:nvSpPr>
          <p:cNvPr id="10" name="Shape 7"/>
          <p:cNvSpPr/>
          <p:nvPr/>
        </p:nvSpPr>
        <p:spPr>
          <a:xfrm>
            <a:off x="1463040" y="2011680"/>
            <a:ext cx="685800" cy="310896"/>
          </a:xfrm>
          <a:prstGeom prst="roundRect">
            <a:avLst>
              <a:gd name="adj" fmla="val 50000"/>
            </a:avLst>
          </a:prstGeom>
          <a:solidFill>
            <a:srgbClr val="B5501F"/>
          </a:solidFill>
          <a:ln w="12700">
            <a:solidFill>
              <a:srgbClr val="B5501F"/>
            </a:solidFill>
            <a:prstDash val="solid"/>
          </a:ln>
        </p:spPr>
      </p:sp>
      <p:sp>
        <p:nvSpPr>
          <p:cNvPr id="11" name="Text 8"/>
          <p:cNvSpPr txBox="1"/>
          <p:nvPr/>
        </p:nvSpPr>
        <p:spPr>
          <a:xfrm>
            <a:off x="1463040" y="2011680"/>
            <a:ext cx="68580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결정</a:t>
            </a:r>
            <a:endParaRPr lang="en-US" sz="1100" dirty="0"/>
          </a:p>
        </p:txBody>
      </p:sp>
      <p:sp>
        <p:nvSpPr>
          <p:cNvPr id="12" name="Text 9"/>
          <p:cNvSpPr txBox="1"/>
          <p:nvPr/>
        </p:nvSpPr>
        <p:spPr>
          <a:xfrm>
            <a:off x="2331720" y="1828800"/>
            <a:ext cx="3657600" cy="347472"/>
          </a:xfrm>
          <a:prstGeom prst="rect">
            <a:avLst/>
          </a:prstGeom>
          <a:noFill/>
          <a:ln/>
        </p:spPr>
        <p:txBody>
          <a:bodyPr wrap="square" lIns="0" tIns="0" rIns="0" bIns="0" rtlCol="0" anchor="ctr"/>
          <a:lstStyle/>
          <a:p>
            <a:pPr marL="0" indent="0">
              <a:buNone/>
            </a:pPr>
            <a:r>
              <a:rPr lang="en-US" sz="1450" b="1" dirty="0">
                <a:solidFill>
                  <a:srgbClr val="2B2D31"/>
                </a:solidFill>
                <a:latin typeface="맑은 고딕" pitchFamily="34" charset="0"/>
                <a:ea typeface="맑은 고딕" pitchFamily="34" charset="-122"/>
                <a:cs typeface="맑은 고딕" pitchFamily="34" charset="-120"/>
              </a:rPr>
              <a:t>CEO · 대표</a:t>
            </a:r>
            <a:endParaRPr lang="en-US" sz="1450" dirty="0"/>
          </a:p>
        </p:txBody>
      </p:sp>
      <p:sp>
        <p:nvSpPr>
          <p:cNvPr id="13" name="Text 10"/>
          <p:cNvSpPr txBox="1"/>
          <p:nvPr/>
        </p:nvSpPr>
        <p:spPr>
          <a:xfrm>
            <a:off x="2331720" y="2194560"/>
            <a:ext cx="3657600" cy="320040"/>
          </a:xfrm>
          <a:prstGeom prst="rect">
            <a:avLst/>
          </a:prstGeom>
          <a:noFill/>
          <a:ln/>
        </p:spPr>
        <p:txBody>
          <a:bodyPr wrap="square" lIns="0" tIns="0" rIns="0" bIns="0" rtlCol="0" anchor="t"/>
          <a:lstStyle/>
          <a:p>
            <a:pPr marL="0" indent="0">
              <a:buNone/>
            </a:pPr>
            <a:r>
              <a:rPr lang="en-US" sz="1200" dirty="0">
                <a:solidFill>
                  <a:srgbClr val="6B6F76"/>
                </a:solidFill>
                <a:latin typeface="맑은 고딕" pitchFamily="34" charset="0"/>
                <a:ea typeface="맑은 고딕" pitchFamily="34" charset="-122"/>
                <a:cs typeface="맑은 고딕" pitchFamily="34" charset="-120"/>
              </a:rPr>
              <a:t>안전 · 비용 · 규제 대응 중 하나가 결정 동기</a:t>
            </a:r>
            <a:endParaRPr lang="en-US" sz="1200" dirty="0"/>
          </a:p>
        </p:txBody>
      </p:sp>
      <p:sp>
        <p:nvSpPr>
          <p:cNvPr id="14" name="Shape 11"/>
          <p:cNvSpPr/>
          <p:nvPr/>
        </p:nvSpPr>
        <p:spPr>
          <a:xfrm>
            <a:off x="548640" y="2724912"/>
            <a:ext cx="5577840" cy="868680"/>
          </a:xfrm>
          <a:prstGeom prst="roundRect">
            <a:avLst>
              <a:gd name="adj" fmla="val 8421"/>
            </a:avLst>
          </a:prstGeom>
          <a:solidFill>
            <a:srgbClr val="F3F4F6"/>
          </a:solidFill>
          <a:ln w="6350">
            <a:solidFill>
              <a:srgbClr val="F3F4F6"/>
            </a:solidFill>
            <a:prstDash val="solid"/>
          </a:ln>
        </p:spPr>
      </p:sp>
      <p:sp>
        <p:nvSpPr>
          <p:cNvPr id="15" name="Shape 12"/>
          <p:cNvSpPr/>
          <p:nvPr/>
        </p:nvSpPr>
        <p:spPr>
          <a:xfrm>
            <a:off x="731520" y="2871216"/>
            <a:ext cx="576072" cy="576072"/>
          </a:xfrm>
          <a:prstGeom prst="ellipse">
            <a:avLst/>
          </a:prstGeom>
          <a:solidFill>
            <a:srgbClr val="1F5F7A"/>
          </a:solidFill>
          <a:ln w="12700">
            <a:solidFill>
              <a:srgbClr val="1F5F7A"/>
            </a:solidFill>
            <a:prstDash val="solid"/>
          </a:ln>
        </p:spPr>
      </p:sp>
      <p:pic>
        <p:nvPicPr>
          <p:cNvPr id="16" name="Image 1" descr="preencoded.png"/>
          <p:cNvPicPr>
            <a:picLocks noChangeAspect="1"/>
          </p:cNvPicPr>
          <p:nvPr/>
        </p:nvPicPr>
        <p:blipFill>
          <a:blip r:embed="rId4"/>
          <a:stretch>
            <a:fillRect/>
          </a:stretch>
        </p:blipFill>
        <p:spPr>
          <a:xfrm>
            <a:off x="881299" y="3020995"/>
            <a:ext cx="276515" cy="276515"/>
          </a:xfrm>
          <a:prstGeom prst="rect">
            <a:avLst/>
          </a:prstGeom>
        </p:spPr>
      </p:pic>
      <p:sp>
        <p:nvSpPr>
          <p:cNvPr id="17" name="Shape 13"/>
          <p:cNvSpPr/>
          <p:nvPr/>
        </p:nvSpPr>
        <p:spPr>
          <a:xfrm>
            <a:off x="1463040" y="2999232"/>
            <a:ext cx="685800" cy="310896"/>
          </a:xfrm>
          <a:prstGeom prst="roundRect">
            <a:avLst>
              <a:gd name="adj" fmla="val 50000"/>
            </a:avLst>
          </a:prstGeom>
          <a:solidFill>
            <a:srgbClr val="1F5F7A"/>
          </a:solidFill>
          <a:ln w="12700">
            <a:solidFill>
              <a:srgbClr val="1F5F7A"/>
            </a:solidFill>
            <a:prstDash val="solid"/>
          </a:ln>
        </p:spPr>
      </p:sp>
      <p:sp>
        <p:nvSpPr>
          <p:cNvPr id="18" name="Text 14"/>
          <p:cNvSpPr txBox="1"/>
          <p:nvPr/>
        </p:nvSpPr>
        <p:spPr>
          <a:xfrm>
            <a:off x="1463040" y="2999232"/>
            <a:ext cx="68580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추천</a:t>
            </a:r>
            <a:endParaRPr lang="en-US" sz="1100" dirty="0"/>
          </a:p>
        </p:txBody>
      </p:sp>
      <p:sp>
        <p:nvSpPr>
          <p:cNvPr id="19" name="Text 15"/>
          <p:cNvSpPr txBox="1"/>
          <p:nvPr/>
        </p:nvSpPr>
        <p:spPr>
          <a:xfrm>
            <a:off x="2331720" y="2816352"/>
            <a:ext cx="3657600" cy="347472"/>
          </a:xfrm>
          <a:prstGeom prst="rect">
            <a:avLst/>
          </a:prstGeom>
          <a:noFill/>
          <a:ln/>
        </p:spPr>
        <p:txBody>
          <a:bodyPr wrap="square" lIns="0" tIns="0" rIns="0" bIns="0" rtlCol="0" anchor="ctr"/>
          <a:lstStyle/>
          <a:p>
            <a:pPr marL="0" indent="0">
              <a:buNone/>
            </a:pPr>
            <a:r>
              <a:rPr lang="en-US" sz="1450" b="1" dirty="0">
                <a:solidFill>
                  <a:srgbClr val="2B2D31"/>
                </a:solidFill>
                <a:latin typeface="맑은 고딕" pitchFamily="34" charset="0"/>
                <a:ea typeface="맑은 고딕" pitchFamily="34" charset="-122"/>
                <a:cs typeface="맑은 고딕" pitchFamily="34" charset="-120"/>
              </a:rPr>
              <a:t>부식 엔지니어링 매니저</a:t>
            </a:r>
            <a:endParaRPr lang="en-US" sz="1450" dirty="0"/>
          </a:p>
        </p:txBody>
      </p:sp>
      <p:sp>
        <p:nvSpPr>
          <p:cNvPr id="20" name="Text 16"/>
          <p:cNvSpPr txBox="1"/>
          <p:nvPr/>
        </p:nvSpPr>
        <p:spPr>
          <a:xfrm>
            <a:off x="2331720" y="3182112"/>
            <a:ext cx="3657600" cy="320040"/>
          </a:xfrm>
          <a:prstGeom prst="rect">
            <a:avLst/>
          </a:prstGeom>
          <a:noFill/>
          <a:ln/>
        </p:spPr>
        <p:txBody>
          <a:bodyPr wrap="square" lIns="0" tIns="0" rIns="0" bIns="0" rtlCol="0" anchor="t"/>
          <a:lstStyle/>
          <a:p>
            <a:pPr marL="0" indent="0">
              <a:buNone/>
            </a:pPr>
            <a:r>
              <a:rPr lang="en-US" sz="1200" dirty="0">
                <a:solidFill>
                  <a:srgbClr val="6B6F76"/>
                </a:solidFill>
                <a:latin typeface="맑은 고딕" pitchFamily="34" charset="0"/>
                <a:ea typeface="맑은 고딕" pitchFamily="34" charset="-122"/>
                <a:cs typeface="맑은 고딕" pitchFamily="34" charset="-120"/>
              </a:rPr>
              <a:t>기술 검토 후 대표에게 추천</a:t>
            </a:r>
            <a:endParaRPr lang="en-US" sz="1200" dirty="0"/>
          </a:p>
        </p:txBody>
      </p:sp>
      <p:sp>
        <p:nvSpPr>
          <p:cNvPr id="21" name="Shape 17"/>
          <p:cNvSpPr/>
          <p:nvPr/>
        </p:nvSpPr>
        <p:spPr>
          <a:xfrm>
            <a:off x="548640" y="3712464"/>
            <a:ext cx="5577840" cy="868680"/>
          </a:xfrm>
          <a:prstGeom prst="roundRect">
            <a:avLst>
              <a:gd name="adj" fmla="val 8421"/>
            </a:avLst>
          </a:prstGeom>
          <a:solidFill>
            <a:srgbClr val="F3F4F6"/>
          </a:solidFill>
          <a:ln w="6350">
            <a:solidFill>
              <a:srgbClr val="F3F4F6"/>
            </a:solidFill>
            <a:prstDash val="solid"/>
          </a:ln>
        </p:spPr>
      </p:sp>
      <p:sp>
        <p:nvSpPr>
          <p:cNvPr id="22" name="Shape 18"/>
          <p:cNvSpPr/>
          <p:nvPr/>
        </p:nvSpPr>
        <p:spPr>
          <a:xfrm>
            <a:off x="731520" y="3858768"/>
            <a:ext cx="576072" cy="576072"/>
          </a:xfrm>
          <a:prstGeom prst="ellipse">
            <a:avLst/>
          </a:prstGeom>
          <a:solidFill>
            <a:srgbClr val="1F5F7A"/>
          </a:solidFill>
          <a:ln w="12700">
            <a:solidFill>
              <a:srgbClr val="1F5F7A"/>
            </a:solidFill>
            <a:prstDash val="solid"/>
          </a:ln>
        </p:spPr>
      </p:sp>
      <p:pic>
        <p:nvPicPr>
          <p:cNvPr id="23" name="Image 2" descr="preencoded.png"/>
          <p:cNvPicPr>
            <a:picLocks noChangeAspect="1"/>
          </p:cNvPicPr>
          <p:nvPr/>
        </p:nvPicPr>
        <p:blipFill>
          <a:blip r:embed="rId5"/>
          <a:stretch>
            <a:fillRect/>
          </a:stretch>
        </p:blipFill>
        <p:spPr>
          <a:xfrm>
            <a:off x="881299" y="4008547"/>
            <a:ext cx="276515" cy="276515"/>
          </a:xfrm>
          <a:prstGeom prst="rect">
            <a:avLst/>
          </a:prstGeom>
        </p:spPr>
      </p:pic>
      <p:sp>
        <p:nvSpPr>
          <p:cNvPr id="24" name="Shape 19"/>
          <p:cNvSpPr/>
          <p:nvPr/>
        </p:nvSpPr>
        <p:spPr>
          <a:xfrm>
            <a:off x="1463040" y="3986784"/>
            <a:ext cx="685800" cy="310896"/>
          </a:xfrm>
          <a:prstGeom prst="roundRect">
            <a:avLst>
              <a:gd name="adj" fmla="val 50000"/>
            </a:avLst>
          </a:prstGeom>
          <a:solidFill>
            <a:srgbClr val="1F5F7A"/>
          </a:solidFill>
          <a:ln w="12700">
            <a:solidFill>
              <a:srgbClr val="1F5F7A"/>
            </a:solidFill>
            <a:prstDash val="solid"/>
          </a:ln>
        </p:spPr>
      </p:sp>
      <p:sp>
        <p:nvSpPr>
          <p:cNvPr id="25" name="Text 20"/>
          <p:cNvSpPr txBox="1"/>
          <p:nvPr/>
        </p:nvSpPr>
        <p:spPr>
          <a:xfrm>
            <a:off x="1463040" y="3986784"/>
            <a:ext cx="68580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사용</a:t>
            </a:r>
            <a:endParaRPr lang="en-US" sz="1100" dirty="0"/>
          </a:p>
        </p:txBody>
      </p:sp>
      <p:sp>
        <p:nvSpPr>
          <p:cNvPr id="26" name="Text 21"/>
          <p:cNvSpPr txBox="1"/>
          <p:nvPr/>
        </p:nvSpPr>
        <p:spPr>
          <a:xfrm>
            <a:off x="2331720" y="3803904"/>
            <a:ext cx="3657600" cy="347472"/>
          </a:xfrm>
          <a:prstGeom prst="rect">
            <a:avLst/>
          </a:prstGeom>
          <a:noFill/>
          <a:ln/>
        </p:spPr>
        <p:txBody>
          <a:bodyPr wrap="square" lIns="0" tIns="0" rIns="0" bIns="0" rtlCol="0" anchor="ctr"/>
          <a:lstStyle/>
          <a:p>
            <a:pPr marL="0" indent="0">
              <a:buNone/>
            </a:pPr>
            <a:r>
              <a:rPr lang="en-US" sz="1450" b="1" dirty="0">
                <a:solidFill>
                  <a:srgbClr val="2B2D31"/>
                </a:solidFill>
                <a:latin typeface="맑은 고딕" pitchFamily="34" charset="0"/>
                <a:ea typeface="맑은 고딕" pitchFamily="34" charset="-122"/>
                <a:cs typeface="맑은 고딕" pitchFamily="34" charset="-120"/>
              </a:rPr>
              <a:t>현장 엔지니어 · 검사원</a:t>
            </a:r>
            <a:endParaRPr lang="en-US" sz="1450" dirty="0"/>
          </a:p>
        </p:txBody>
      </p:sp>
      <p:sp>
        <p:nvSpPr>
          <p:cNvPr id="27" name="Text 22"/>
          <p:cNvSpPr txBox="1"/>
          <p:nvPr/>
        </p:nvSpPr>
        <p:spPr>
          <a:xfrm>
            <a:off x="2331720" y="4169664"/>
            <a:ext cx="3657600" cy="320040"/>
          </a:xfrm>
          <a:prstGeom prst="rect">
            <a:avLst/>
          </a:prstGeom>
          <a:noFill/>
          <a:ln/>
        </p:spPr>
        <p:txBody>
          <a:bodyPr wrap="square" lIns="0" tIns="0" rIns="0" bIns="0" rtlCol="0" anchor="t"/>
          <a:lstStyle/>
          <a:p>
            <a:pPr marL="0" indent="0">
              <a:buNone/>
            </a:pPr>
            <a:r>
              <a:rPr lang="en-US" sz="1200" dirty="0">
                <a:solidFill>
                  <a:srgbClr val="6B6F76"/>
                </a:solidFill>
                <a:latin typeface="맑은 고딕" pitchFamily="34" charset="0"/>
                <a:ea typeface="맑은 고딕" pitchFamily="34" charset="-122"/>
                <a:cs typeface="맑은 고딕" pitchFamily="34" charset="-120"/>
              </a:rPr>
              <a:t>리포트로 점검 동선과 출동 여부 결정</a:t>
            </a:r>
            <a:endParaRPr lang="en-US" sz="1200" dirty="0"/>
          </a:p>
        </p:txBody>
      </p:sp>
      <p:sp>
        <p:nvSpPr>
          <p:cNvPr id="28" name="Shape 23"/>
          <p:cNvSpPr/>
          <p:nvPr/>
        </p:nvSpPr>
        <p:spPr>
          <a:xfrm>
            <a:off x="548640" y="4700016"/>
            <a:ext cx="5577840" cy="868680"/>
          </a:xfrm>
          <a:prstGeom prst="roundRect">
            <a:avLst>
              <a:gd name="adj" fmla="val 8421"/>
            </a:avLst>
          </a:prstGeom>
          <a:solidFill>
            <a:srgbClr val="F3F4F6"/>
          </a:solidFill>
          <a:ln w="6350">
            <a:solidFill>
              <a:srgbClr val="F3F4F6"/>
            </a:solidFill>
            <a:prstDash val="solid"/>
          </a:ln>
        </p:spPr>
      </p:sp>
      <p:sp>
        <p:nvSpPr>
          <p:cNvPr id="29" name="Shape 24"/>
          <p:cNvSpPr/>
          <p:nvPr/>
        </p:nvSpPr>
        <p:spPr>
          <a:xfrm>
            <a:off x="731520" y="4846320"/>
            <a:ext cx="576072" cy="576072"/>
          </a:xfrm>
          <a:prstGeom prst="ellipse">
            <a:avLst/>
          </a:prstGeom>
          <a:solidFill>
            <a:srgbClr val="6B6F76"/>
          </a:solidFill>
          <a:ln w="12700">
            <a:solidFill>
              <a:srgbClr val="6B6F76"/>
            </a:solidFill>
            <a:prstDash val="solid"/>
          </a:ln>
        </p:spPr>
      </p:sp>
      <p:pic>
        <p:nvPicPr>
          <p:cNvPr id="30" name="Image 3" descr="preencoded.png"/>
          <p:cNvPicPr>
            <a:picLocks noChangeAspect="1"/>
          </p:cNvPicPr>
          <p:nvPr/>
        </p:nvPicPr>
        <p:blipFill>
          <a:blip r:embed="rId6"/>
          <a:stretch>
            <a:fillRect/>
          </a:stretch>
        </p:blipFill>
        <p:spPr>
          <a:xfrm>
            <a:off x="881299" y="4996099"/>
            <a:ext cx="276515" cy="276515"/>
          </a:xfrm>
          <a:prstGeom prst="rect">
            <a:avLst/>
          </a:prstGeom>
        </p:spPr>
      </p:pic>
      <p:sp>
        <p:nvSpPr>
          <p:cNvPr id="31" name="Shape 25"/>
          <p:cNvSpPr/>
          <p:nvPr/>
        </p:nvSpPr>
        <p:spPr>
          <a:xfrm>
            <a:off x="1463040" y="4974336"/>
            <a:ext cx="685800" cy="310896"/>
          </a:xfrm>
          <a:prstGeom prst="roundRect">
            <a:avLst>
              <a:gd name="adj" fmla="val 50000"/>
            </a:avLst>
          </a:prstGeom>
          <a:solidFill>
            <a:srgbClr val="6B6F76"/>
          </a:solidFill>
          <a:ln w="12700">
            <a:solidFill>
              <a:srgbClr val="6B6F76"/>
            </a:solidFill>
            <a:prstDash val="solid"/>
          </a:ln>
        </p:spPr>
      </p:sp>
      <p:sp>
        <p:nvSpPr>
          <p:cNvPr id="32" name="Text 26"/>
          <p:cNvSpPr txBox="1"/>
          <p:nvPr/>
        </p:nvSpPr>
        <p:spPr>
          <a:xfrm>
            <a:off x="1463040" y="4974336"/>
            <a:ext cx="68580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영향</a:t>
            </a:r>
            <a:endParaRPr lang="en-US" sz="1100" dirty="0"/>
          </a:p>
        </p:txBody>
      </p:sp>
      <p:sp>
        <p:nvSpPr>
          <p:cNvPr id="33" name="Text 27"/>
          <p:cNvSpPr txBox="1"/>
          <p:nvPr/>
        </p:nvSpPr>
        <p:spPr>
          <a:xfrm>
            <a:off x="2331720" y="4791456"/>
            <a:ext cx="3657600" cy="347472"/>
          </a:xfrm>
          <a:prstGeom prst="rect">
            <a:avLst/>
          </a:prstGeom>
          <a:noFill/>
          <a:ln/>
        </p:spPr>
        <p:txBody>
          <a:bodyPr wrap="square" lIns="0" tIns="0" rIns="0" bIns="0" rtlCol="0" anchor="ctr"/>
          <a:lstStyle/>
          <a:p>
            <a:pPr marL="0" indent="0">
              <a:buNone/>
            </a:pPr>
            <a:r>
              <a:rPr lang="en-US" sz="1450" b="1" dirty="0">
                <a:solidFill>
                  <a:srgbClr val="2B2D31"/>
                </a:solidFill>
                <a:latin typeface="맑은 고딕" pitchFamily="34" charset="0"/>
                <a:ea typeface="맑은 고딕" pitchFamily="34" charset="-122"/>
                <a:cs typeface="맑은 고딕" pitchFamily="34" charset="-120"/>
              </a:rPr>
              <a:t>방식(防蝕) 전문 업체 · 연구자</a:t>
            </a:r>
            <a:endParaRPr lang="en-US" sz="1450" dirty="0"/>
          </a:p>
        </p:txBody>
      </p:sp>
      <p:sp>
        <p:nvSpPr>
          <p:cNvPr id="34" name="Text 28"/>
          <p:cNvSpPr txBox="1"/>
          <p:nvPr/>
        </p:nvSpPr>
        <p:spPr>
          <a:xfrm>
            <a:off x="2331720" y="5157216"/>
            <a:ext cx="3657600" cy="320040"/>
          </a:xfrm>
          <a:prstGeom prst="rect">
            <a:avLst/>
          </a:prstGeom>
          <a:noFill/>
          <a:ln/>
        </p:spPr>
        <p:txBody>
          <a:bodyPr wrap="square" lIns="0" tIns="0" rIns="0" bIns="0" rtlCol="0" anchor="t"/>
          <a:lstStyle/>
          <a:p>
            <a:pPr marL="0" indent="0">
              <a:buNone/>
            </a:pPr>
            <a:r>
              <a:rPr lang="en-US" sz="1200" dirty="0">
                <a:solidFill>
                  <a:srgbClr val="6B6F76"/>
                </a:solidFill>
                <a:latin typeface="맑은 고딕" pitchFamily="34" charset="0"/>
                <a:ea typeface="맑은 고딕" pitchFamily="34" charset="-122"/>
                <a:cs typeface="맑은 고딕" pitchFamily="34" charset="-120"/>
              </a:rPr>
              <a:t>기술 교차 검증 · 고객 소개</a:t>
            </a:r>
            <a:endParaRPr lang="en-US" sz="1200" dirty="0"/>
          </a:p>
        </p:txBody>
      </p:sp>
      <p:sp>
        <p:nvSpPr>
          <p:cNvPr id="35" name="Text 29"/>
          <p:cNvSpPr txBox="1"/>
          <p:nvPr/>
        </p:nvSpPr>
        <p:spPr>
          <a:xfrm>
            <a:off x="6537960" y="1325880"/>
            <a:ext cx="868680" cy="777240"/>
          </a:xfrm>
          <a:prstGeom prst="rect">
            <a:avLst/>
          </a:prstGeom>
          <a:noFill/>
          <a:ln/>
        </p:spPr>
        <p:txBody>
          <a:bodyPr wrap="square" lIns="0" tIns="0" rIns="0" bIns="0" rtlCol="0" anchor="ctr"/>
          <a:lstStyle/>
          <a:p>
            <a:pPr marL="0" indent="0">
              <a:buNone/>
            </a:pPr>
            <a:r>
              <a:rPr lang="en-US" sz="1400" b="1" dirty="0">
                <a:solidFill>
                  <a:srgbClr val="B5501F"/>
                </a:solidFill>
                <a:latin typeface="맑은 고딕" pitchFamily="34" charset="0"/>
                <a:ea typeface="맑은 고딕" pitchFamily="34" charset="-122"/>
                <a:cs typeface="맑은 고딕" pitchFamily="34" charset="-120"/>
              </a:rPr>
              <a:t>가치</a:t>
            </a:r>
            <a:endParaRPr lang="en-US" sz="1400" dirty="0"/>
          </a:p>
        </p:txBody>
      </p:sp>
      <p:sp>
        <p:nvSpPr>
          <p:cNvPr id="36" name="Text 30"/>
          <p:cNvSpPr txBox="1"/>
          <p:nvPr/>
        </p:nvSpPr>
        <p:spPr>
          <a:xfrm>
            <a:off x="7452360" y="1325880"/>
            <a:ext cx="4190695" cy="777240"/>
          </a:xfrm>
          <a:prstGeom prst="rect">
            <a:avLst/>
          </a:prstGeom>
          <a:noFill/>
          <a:ln/>
        </p:spPr>
        <p:txBody>
          <a:bodyPr wrap="square" lIns="0" tIns="0" rIns="0" bIns="0" rtlCol="0" anchor="ctr"/>
          <a:lstStyle/>
          <a:p>
            <a:pPr marL="0" indent="0">
              <a:buNone/>
            </a:pPr>
            <a:r>
              <a:rPr lang="en-US" sz="1300" dirty="0">
                <a:solidFill>
                  <a:srgbClr val="2B2D31"/>
                </a:solidFill>
                <a:latin typeface="맑은 고딕" pitchFamily="34" charset="0"/>
                <a:ea typeface="맑은 고딕" pitchFamily="34" charset="-122"/>
                <a:cs typeface="맑은 고딕" pitchFamily="34" charset="-120"/>
              </a:rPr>
              <a:t>드론 사전 스캔으로 위험도 선별 → 규제 주기 안에서 자원 배치 최적화, 잔여 수명(RUL) 예측</a:t>
            </a:r>
            <a:endParaRPr lang="en-US" sz="1300" dirty="0"/>
          </a:p>
        </p:txBody>
      </p:sp>
      <p:sp>
        <p:nvSpPr>
          <p:cNvPr id="37" name="Shape 31"/>
          <p:cNvSpPr/>
          <p:nvPr/>
        </p:nvSpPr>
        <p:spPr>
          <a:xfrm>
            <a:off x="6537960" y="2148840"/>
            <a:ext cx="5105095" cy="0"/>
          </a:xfrm>
          <a:prstGeom prst="line">
            <a:avLst/>
          </a:prstGeom>
          <a:noFill/>
          <a:ln w="12700">
            <a:solidFill>
              <a:srgbClr val="D9DCE0"/>
            </a:solidFill>
            <a:prstDash val="solid"/>
          </a:ln>
        </p:spPr>
      </p:sp>
      <p:sp>
        <p:nvSpPr>
          <p:cNvPr id="38" name="Text 32"/>
          <p:cNvSpPr txBox="1"/>
          <p:nvPr/>
        </p:nvSpPr>
        <p:spPr>
          <a:xfrm>
            <a:off x="6537960" y="2194560"/>
            <a:ext cx="868680" cy="777240"/>
          </a:xfrm>
          <a:prstGeom prst="rect">
            <a:avLst/>
          </a:prstGeom>
          <a:noFill/>
          <a:ln/>
        </p:spPr>
        <p:txBody>
          <a:bodyPr wrap="square" lIns="0" tIns="0" rIns="0" bIns="0" rtlCol="0" anchor="ctr"/>
          <a:lstStyle/>
          <a:p>
            <a:pPr marL="0" indent="0">
              <a:buNone/>
            </a:pPr>
            <a:r>
              <a:rPr lang="en-US" sz="1400" b="1" dirty="0">
                <a:solidFill>
                  <a:srgbClr val="B5501F"/>
                </a:solidFill>
                <a:latin typeface="맑은 고딕" pitchFamily="34" charset="0"/>
                <a:ea typeface="맑은 고딕" pitchFamily="34" charset="-122"/>
                <a:cs typeface="맑은 고딕" pitchFamily="34" charset="-120"/>
              </a:rPr>
              <a:t>수익</a:t>
            </a:r>
            <a:endParaRPr lang="en-US" sz="1400" dirty="0"/>
          </a:p>
        </p:txBody>
      </p:sp>
      <p:sp>
        <p:nvSpPr>
          <p:cNvPr id="39" name="Text 33"/>
          <p:cNvSpPr txBox="1"/>
          <p:nvPr/>
        </p:nvSpPr>
        <p:spPr>
          <a:xfrm>
            <a:off x="7452360" y="2194560"/>
            <a:ext cx="4190695" cy="777240"/>
          </a:xfrm>
          <a:prstGeom prst="rect">
            <a:avLst/>
          </a:prstGeom>
          <a:noFill/>
          <a:ln/>
        </p:spPr>
        <p:txBody>
          <a:bodyPr wrap="square" lIns="0" tIns="0" rIns="0" bIns="0" rtlCol="0" anchor="ctr"/>
          <a:lstStyle/>
          <a:p>
            <a:pPr marL="0" indent="0">
              <a:buNone/>
            </a:pPr>
            <a:r>
              <a:rPr lang="en-US" sz="1300" dirty="0">
                <a:solidFill>
                  <a:srgbClr val="2B2D31"/>
                </a:solidFill>
                <a:latin typeface="맑은 고딕" pitchFamily="34" charset="0"/>
                <a:ea typeface="맑은 고딕" pitchFamily="34" charset="-122"/>
                <a:cs typeface="맑은 고딕" pitchFamily="34" charset="-120"/>
              </a:rPr>
              <a:t>점검 건당 요금 또는 구독형 서비스 요금</a:t>
            </a:r>
            <a:endParaRPr lang="en-US" sz="1300" dirty="0"/>
          </a:p>
        </p:txBody>
      </p:sp>
      <p:sp>
        <p:nvSpPr>
          <p:cNvPr id="40" name="Shape 34"/>
          <p:cNvSpPr/>
          <p:nvPr/>
        </p:nvSpPr>
        <p:spPr>
          <a:xfrm>
            <a:off x="6537960" y="3017520"/>
            <a:ext cx="5105095" cy="0"/>
          </a:xfrm>
          <a:prstGeom prst="line">
            <a:avLst/>
          </a:prstGeom>
          <a:noFill/>
          <a:ln w="12700">
            <a:solidFill>
              <a:srgbClr val="D9DCE0"/>
            </a:solidFill>
            <a:prstDash val="solid"/>
          </a:ln>
        </p:spPr>
      </p:sp>
      <p:sp>
        <p:nvSpPr>
          <p:cNvPr id="41" name="Text 35"/>
          <p:cNvSpPr txBox="1"/>
          <p:nvPr/>
        </p:nvSpPr>
        <p:spPr>
          <a:xfrm>
            <a:off x="6537960" y="3063240"/>
            <a:ext cx="868680" cy="777240"/>
          </a:xfrm>
          <a:prstGeom prst="rect">
            <a:avLst/>
          </a:prstGeom>
          <a:noFill/>
          <a:ln/>
        </p:spPr>
        <p:txBody>
          <a:bodyPr wrap="square" lIns="0" tIns="0" rIns="0" bIns="0" rtlCol="0" anchor="ctr"/>
          <a:lstStyle/>
          <a:p>
            <a:pPr marL="0" indent="0">
              <a:buNone/>
            </a:pPr>
            <a:r>
              <a:rPr lang="en-US" sz="1400" b="1" dirty="0">
                <a:solidFill>
                  <a:srgbClr val="B5501F"/>
                </a:solidFill>
                <a:latin typeface="맑은 고딕" pitchFamily="34" charset="0"/>
                <a:ea typeface="맑은 고딕" pitchFamily="34" charset="-122"/>
                <a:cs typeface="맑은 고딕" pitchFamily="34" charset="-120"/>
              </a:rPr>
              <a:t>채널</a:t>
            </a:r>
            <a:endParaRPr lang="en-US" sz="1400" dirty="0"/>
          </a:p>
        </p:txBody>
      </p:sp>
      <p:sp>
        <p:nvSpPr>
          <p:cNvPr id="42" name="Text 36"/>
          <p:cNvSpPr txBox="1"/>
          <p:nvPr/>
        </p:nvSpPr>
        <p:spPr>
          <a:xfrm>
            <a:off x="7452360" y="3063240"/>
            <a:ext cx="4190695" cy="777240"/>
          </a:xfrm>
          <a:prstGeom prst="rect">
            <a:avLst/>
          </a:prstGeom>
          <a:noFill/>
          <a:ln/>
        </p:spPr>
        <p:txBody>
          <a:bodyPr wrap="square" lIns="0" tIns="0" rIns="0" bIns="0" rtlCol="0" anchor="ctr"/>
          <a:lstStyle/>
          <a:p>
            <a:pPr marL="0" indent="0">
              <a:buNone/>
            </a:pPr>
            <a:r>
              <a:rPr lang="en-US" sz="1300" dirty="0">
                <a:solidFill>
                  <a:srgbClr val="2B2D31"/>
                </a:solidFill>
                <a:latin typeface="맑은 고딕" pitchFamily="34" charset="0"/>
                <a:ea typeface="맑은 고딕" pitchFamily="34" charset="-122"/>
                <a:cs typeface="맑은 고딕" pitchFamily="34" charset="-120"/>
              </a:rPr>
              <a:t>점검 프로그램 매니저 직접 영업 · 방식 전문 업체 추천</a:t>
            </a:r>
            <a:endParaRPr lang="en-US" sz="1300" dirty="0"/>
          </a:p>
        </p:txBody>
      </p:sp>
      <p:sp>
        <p:nvSpPr>
          <p:cNvPr id="43" name="Shape 37"/>
          <p:cNvSpPr/>
          <p:nvPr/>
        </p:nvSpPr>
        <p:spPr>
          <a:xfrm>
            <a:off x="6537960" y="3886200"/>
            <a:ext cx="5105095" cy="0"/>
          </a:xfrm>
          <a:prstGeom prst="line">
            <a:avLst/>
          </a:prstGeom>
          <a:noFill/>
          <a:ln w="12700">
            <a:solidFill>
              <a:srgbClr val="D9DCE0"/>
            </a:solidFill>
            <a:prstDash val="solid"/>
          </a:ln>
        </p:spPr>
      </p:sp>
      <p:sp>
        <p:nvSpPr>
          <p:cNvPr id="44" name="Text 38"/>
          <p:cNvSpPr txBox="1"/>
          <p:nvPr/>
        </p:nvSpPr>
        <p:spPr>
          <a:xfrm>
            <a:off x="6537960" y="3931920"/>
            <a:ext cx="868680" cy="777240"/>
          </a:xfrm>
          <a:prstGeom prst="rect">
            <a:avLst/>
          </a:prstGeom>
          <a:noFill/>
          <a:ln/>
        </p:spPr>
        <p:txBody>
          <a:bodyPr wrap="square" lIns="0" tIns="0" rIns="0" bIns="0" rtlCol="0" anchor="ctr"/>
          <a:lstStyle/>
          <a:p>
            <a:pPr marL="0" indent="0">
              <a:buNone/>
            </a:pPr>
            <a:r>
              <a:rPr lang="en-US" sz="1400" b="1" dirty="0">
                <a:solidFill>
                  <a:srgbClr val="B5501F"/>
                </a:solidFill>
                <a:latin typeface="맑은 고딕" pitchFamily="34" charset="0"/>
                <a:ea typeface="맑은 고딕" pitchFamily="34" charset="-122"/>
                <a:cs typeface="맑은 고딕" pitchFamily="34" charset="-120"/>
              </a:rPr>
              <a:t>파트너</a:t>
            </a:r>
            <a:endParaRPr lang="en-US" sz="1400" dirty="0"/>
          </a:p>
        </p:txBody>
      </p:sp>
      <p:sp>
        <p:nvSpPr>
          <p:cNvPr id="45" name="Text 39"/>
          <p:cNvSpPr txBox="1"/>
          <p:nvPr/>
        </p:nvSpPr>
        <p:spPr>
          <a:xfrm>
            <a:off x="7452360" y="3931920"/>
            <a:ext cx="4190695" cy="777240"/>
          </a:xfrm>
          <a:prstGeom prst="rect">
            <a:avLst/>
          </a:prstGeom>
          <a:noFill/>
          <a:ln/>
        </p:spPr>
        <p:txBody>
          <a:bodyPr wrap="square" lIns="0" tIns="0" rIns="0" bIns="0" rtlCol="0" anchor="ctr"/>
          <a:lstStyle/>
          <a:p>
            <a:pPr marL="0" indent="0">
              <a:buNone/>
            </a:pPr>
            <a:r>
              <a:rPr lang="en-US" sz="1300" dirty="0">
                <a:solidFill>
                  <a:srgbClr val="2B2D31"/>
                </a:solidFill>
                <a:latin typeface="맑은 고딕" pitchFamily="34" charset="0"/>
                <a:ea typeface="맑은 고딕" pitchFamily="34" charset="-122"/>
                <a:cs typeface="맑은 고딕" pitchFamily="34" charset="-120"/>
              </a:rPr>
              <a:t>방식 전문 업체 (예: Farwest Corrosion Control) · 드론 하드웨어 업체</a:t>
            </a:r>
            <a:endParaRPr lang="en-US" sz="1300" dirty="0"/>
          </a:p>
        </p:txBody>
      </p:sp>
      <p:sp>
        <p:nvSpPr>
          <p:cNvPr id="46" name="Shape 40"/>
          <p:cNvSpPr/>
          <p:nvPr/>
        </p:nvSpPr>
        <p:spPr>
          <a:xfrm>
            <a:off x="6537960" y="4754880"/>
            <a:ext cx="5105095" cy="0"/>
          </a:xfrm>
          <a:prstGeom prst="line">
            <a:avLst/>
          </a:prstGeom>
          <a:noFill/>
          <a:ln w="12700">
            <a:solidFill>
              <a:srgbClr val="D9DCE0"/>
            </a:solidFill>
            <a:prstDash val="solid"/>
          </a:ln>
        </p:spPr>
      </p:sp>
      <p:sp>
        <p:nvSpPr>
          <p:cNvPr id="47" name="Shape 41"/>
          <p:cNvSpPr/>
          <p:nvPr/>
        </p:nvSpPr>
        <p:spPr>
          <a:xfrm>
            <a:off x="6537960" y="4937760"/>
            <a:ext cx="5105095" cy="868680"/>
          </a:xfrm>
          <a:prstGeom prst="roundRect">
            <a:avLst>
              <a:gd name="adj" fmla="val 6316"/>
            </a:avLst>
          </a:prstGeom>
          <a:solidFill>
            <a:srgbClr val="FFF6DB"/>
          </a:solidFill>
          <a:ln w="15875">
            <a:solidFill>
              <a:srgbClr val="E0B23C"/>
            </a:solidFill>
            <a:prstDash val="dash"/>
          </a:ln>
        </p:spPr>
      </p:sp>
      <p:sp>
        <p:nvSpPr>
          <p:cNvPr id="48" name="Text 42"/>
          <p:cNvSpPr txBox="1"/>
          <p:nvPr/>
        </p:nvSpPr>
        <p:spPr>
          <a:xfrm>
            <a:off x="6675120" y="4937760"/>
            <a:ext cx="4830775" cy="868680"/>
          </a:xfrm>
          <a:prstGeom prst="rect">
            <a:avLst/>
          </a:prstGeom>
          <a:noFill/>
          <a:ln/>
        </p:spPr>
        <p:txBody>
          <a:bodyPr wrap="square" lIns="0" tIns="0" rIns="0" bIns="0" rtlCol="0" anchor="ctr"/>
          <a:lstStyle/>
          <a:p>
            <a:pPr marL="0" indent="0">
              <a:buNone/>
            </a:pPr>
            <a:r>
              <a:rPr lang="en-US" sz="1250" dirty="0">
                <a:solidFill>
                  <a:srgbClr val="9A6A00"/>
                </a:solidFill>
                <a:latin typeface="맑은 고딕" pitchFamily="34" charset="0"/>
                <a:ea typeface="맑은 고딕" pitchFamily="34" charset="-122"/>
                <a:cs typeface="맑은 고딕" pitchFamily="34" charset="-120"/>
              </a:rPr>
              <a:t>✎  가격 가설 (예: 구조물 1기 스캔당 $○○ / 연 구독 $○○) — 수익 모델은 아직 검증 중</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100" kern="0" dirty="0">
                <a:solidFill>
                  <a:srgbClr val="B5501F"/>
                </a:solidFill>
                <a:latin typeface="맑은 고딕" pitchFamily="34" charset="0"/>
                <a:ea typeface="맑은 고딕" pitchFamily="34" charset="-122"/>
                <a:cs typeface="맑은 고딕" pitchFamily="34" charset="-120"/>
              </a:rPr>
              <a:t>MARKET</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2800" b="1" dirty="0">
                <a:solidFill>
                  <a:srgbClr val="2B2D31"/>
                </a:solidFill>
                <a:latin typeface="맑은 고딕" pitchFamily="34" charset="0"/>
                <a:ea typeface="맑은 고딕" pitchFamily="34" charset="-122"/>
                <a:cs typeface="맑은 고딕" pitchFamily="34" charset="-120"/>
              </a:rPr>
              <a:t>규제 기반 반복 수요</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indent="0" marL="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900" dirty="0">
                <a:solidFill>
                  <a:srgbClr val="A3A7AD"/>
                </a:solidFill>
                <a:latin typeface="맑은 고딕" pitchFamily="34" charset="0"/>
                <a:ea typeface="맑은 고딕" pitchFamily="34" charset="-122"/>
                <a:cs typeface="맑은 고딕" pitchFamily="34" charset="-120"/>
              </a:rPr>
              <a:t>9</a:t>
            </a:r>
            <a:endParaRPr lang="en-US" sz="900" dirty="0"/>
          </a:p>
        </p:txBody>
      </p:sp>
      <p:sp>
        <p:nvSpPr>
          <p:cNvPr id="6" name="Shape 4"/>
          <p:cNvSpPr/>
          <p:nvPr/>
        </p:nvSpPr>
        <p:spPr>
          <a:xfrm>
            <a:off x="548640" y="1371600"/>
            <a:ext cx="3545738" cy="1600200"/>
          </a:xfrm>
          <a:prstGeom prst="roundRect">
            <a:avLst>
              <a:gd name="adj" fmla="val 4571"/>
            </a:avLst>
          </a:prstGeom>
          <a:solidFill>
            <a:srgbClr val="F3F4F6"/>
          </a:solidFill>
          <a:ln w="12700">
            <a:solidFill>
              <a:srgbClr val="F3F4F6"/>
            </a:solidFill>
            <a:prstDash val="solid"/>
          </a:ln>
        </p:spPr>
      </p:sp>
      <p:sp>
        <p:nvSpPr>
          <p:cNvPr id="7" name="Text 5"/>
          <p:cNvSpPr txBox="1"/>
          <p:nvPr/>
        </p:nvSpPr>
        <p:spPr>
          <a:xfrm>
            <a:off x="822960" y="1536192"/>
            <a:ext cx="1828800" cy="320040"/>
          </a:xfrm>
          <a:prstGeom prst="rect">
            <a:avLst/>
          </a:prstGeom>
          <a:noFill/>
          <a:ln/>
        </p:spPr>
        <p:txBody>
          <a:bodyPr wrap="square" lIns="0" tIns="0" rIns="0" bIns="0" rtlCol="0" anchor="t"/>
          <a:lstStyle/>
          <a:p>
            <a:pPr indent="0" marL="0">
              <a:buNone/>
            </a:pPr>
            <a:r>
              <a:rPr lang="en-US" sz="1400" b="1" dirty="0">
                <a:solidFill>
                  <a:srgbClr val="B5501F"/>
                </a:solidFill>
                <a:latin typeface="맑은 고딕" pitchFamily="34" charset="0"/>
                <a:ea typeface="맑은 고딕" pitchFamily="34" charset="-122"/>
                <a:cs typeface="맑은 고딕" pitchFamily="34" charset="-120"/>
              </a:rPr>
              <a:t>Level I</a:t>
            </a:r>
            <a:endParaRPr lang="en-US" sz="1400" dirty="0"/>
          </a:p>
        </p:txBody>
      </p:sp>
      <p:sp>
        <p:nvSpPr>
          <p:cNvPr id="8" name="Text 6"/>
          <p:cNvSpPr txBox="1"/>
          <p:nvPr/>
        </p:nvSpPr>
        <p:spPr>
          <a:xfrm>
            <a:off x="2448458" y="1463040"/>
            <a:ext cx="1371600" cy="457200"/>
          </a:xfrm>
          <a:prstGeom prst="rect">
            <a:avLst/>
          </a:prstGeom>
          <a:noFill/>
          <a:ln/>
        </p:spPr>
        <p:txBody>
          <a:bodyPr wrap="square" lIns="0" tIns="0" rIns="0" bIns="0" rtlCol="0" anchor="t"/>
          <a:lstStyle/>
          <a:p>
            <a:pPr algn="r" indent="0" marL="0">
              <a:buNone/>
            </a:pPr>
            <a:r>
              <a:rPr lang="en-US" sz="2200" b="1" dirty="0">
                <a:solidFill>
                  <a:srgbClr val="B5501F"/>
                </a:solidFill>
                <a:latin typeface="맑은 고딕" pitchFamily="34" charset="0"/>
                <a:ea typeface="맑은 고딕" pitchFamily="34" charset="-122"/>
                <a:cs typeface="맑은 고딕" pitchFamily="34" charset="-120"/>
              </a:rPr>
              <a:t>매년</a:t>
            </a:r>
            <a:endParaRPr lang="en-US" sz="2200" dirty="0"/>
          </a:p>
        </p:txBody>
      </p:sp>
      <p:sp>
        <p:nvSpPr>
          <p:cNvPr id="9" name="Text 7"/>
          <p:cNvSpPr txBox="1"/>
          <p:nvPr/>
        </p:nvSpPr>
        <p:spPr>
          <a:xfrm>
            <a:off x="822960" y="1965960"/>
            <a:ext cx="2997098" cy="365760"/>
          </a:xfrm>
          <a:prstGeom prst="rect">
            <a:avLst/>
          </a:prstGeom>
          <a:noFill/>
          <a:ln/>
        </p:spPr>
        <p:txBody>
          <a:bodyPr wrap="square" lIns="0" tIns="0" rIns="0" bIns="0" rtlCol="0" anchor="t"/>
          <a:lstStyle/>
          <a:p>
            <a:pPr indent="0" marL="0">
              <a:buNone/>
            </a:pPr>
            <a:r>
              <a:rPr lang="en-US" sz="1600" b="1" dirty="0">
                <a:solidFill>
                  <a:srgbClr val="2B2D31"/>
                </a:solidFill>
                <a:latin typeface="맑은 고딕" pitchFamily="34" charset="0"/>
                <a:ea typeface="맑은 고딕" pitchFamily="34" charset="-122"/>
                <a:cs typeface="맑은 고딕" pitchFamily="34" charset="-120"/>
              </a:rPr>
              <a:t>수상 육안 점검</a:t>
            </a:r>
            <a:endParaRPr lang="en-US" sz="1600" dirty="0"/>
          </a:p>
        </p:txBody>
      </p:sp>
      <p:sp>
        <p:nvSpPr>
          <p:cNvPr id="10" name="Text 8"/>
          <p:cNvSpPr txBox="1"/>
          <p:nvPr/>
        </p:nvSpPr>
        <p:spPr>
          <a:xfrm>
            <a:off x="822960" y="2377440"/>
            <a:ext cx="2997098" cy="45720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도장 · 구조 · 비말대 육안 스캔</a:t>
            </a:r>
            <a:endParaRPr lang="en-US" sz="1250" dirty="0"/>
          </a:p>
        </p:txBody>
      </p:sp>
      <p:sp>
        <p:nvSpPr>
          <p:cNvPr id="11" name="Shape 9"/>
          <p:cNvSpPr/>
          <p:nvPr/>
        </p:nvSpPr>
        <p:spPr>
          <a:xfrm>
            <a:off x="4322978" y="1371600"/>
            <a:ext cx="3545738" cy="1600200"/>
          </a:xfrm>
          <a:prstGeom prst="roundRect">
            <a:avLst>
              <a:gd name="adj" fmla="val 4571"/>
            </a:avLst>
          </a:prstGeom>
          <a:solidFill>
            <a:srgbClr val="F3F4F6"/>
          </a:solidFill>
          <a:ln w="12700">
            <a:solidFill>
              <a:srgbClr val="F3F4F6"/>
            </a:solidFill>
            <a:prstDash val="solid"/>
          </a:ln>
        </p:spPr>
      </p:sp>
      <p:sp>
        <p:nvSpPr>
          <p:cNvPr id="12" name="Text 10"/>
          <p:cNvSpPr txBox="1"/>
          <p:nvPr/>
        </p:nvSpPr>
        <p:spPr>
          <a:xfrm>
            <a:off x="4597298" y="1536192"/>
            <a:ext cx="1828800" cy="320040"/>
          </a:xfrm>
          <a:prstGeom prst="rect">
            <a:avLst/>
          </a:prstGeom>
          <a:noFill/>
          <a:ln/>
        </p:spPr>
        <p:txBody>
          <a:bodyPr wrap="square" lIns="0" tIns="0" rIns="0" bIns="0" rtlCol="0" anchor="t"/>
          <a:lstStyle/>
          <a:p>
            <a:pPr indent="0" marL="0">
              <a:buNone/>
            </a:pPr>
            <a:r>
              <a:rPr lang="en-US" sz="1400" b="1" dirty="0">
                <a:solidFill>
                  <a:srgbClr val="1F5F7A"/>
                </a:solidFill>
                <a:latin typeface="맑은 고딕" pitchFamily="34" charset="0"/>
                <a:ea typeface="맑은 고딕" pitchFamily="34" charset="-122"/>
                <a:cs typeface="맑은 고딕" pitchFamily="34" charset="-120"/>
              </a:rPr>
              <a:t>Level II</a:t>
            </a:r>
            <a:endParaRPr lang="en-US" sz="1400" dirty="0"/>
          </a:p>
        </p:txBody>
      </p:sp>
      <p:sp>
        <p:nvSpPr>
          <p:cNvPr id="13" name="Text 11"/>
          <p:cNvSpPr txBox="1"/>
          <p:nvPr/>
        </p:nvSpPr>
        <p:spPr>
          <a:xfrm>
            <a:off x="6222797" y="1463040"/>
            <a:ext cx="1371600" cy="457200"/>
          </a:xfrm>
          <a:prstGeom prst="rect">
            <a:avLst/>
          </a:prstGeom>
          <a:noFill/>
          <a:ln/>
        </p:spPr>
        <p:txBody>
          <a:bodyPr wrap="square" lIns="0" tIns="0" rIns="0" bIns="0" rtlCol="0" anchor="t"/>
          <a:lstStyle/>
          <a:p>
            <a:pPr algn="r" indent="0" marL="0">
              <a:buNone/>
            </a:pPr>
            <a:r>
              <a:rPr lang="en-US" sz="2200" b="1" dirty="0">
                <a:solidFill>
                  <a:srgbClr val="1F5F7A"/>
                </a:solidFill>
                <a:latin typeface="맑은 고딕" pitchFamily="34" charset="0"/>
                <a:ea typeface="맑은 고딕" pitchFamily="34" charset="-122"/>
                <a:cs typeface="맑은 고딕" pitchFamily="34" charset="-120"/>
              </a:rPr>
              <a:t>3–5년</a:t>
            </a:r>
            <a:endParaRPr lang="en-US" sz="2200" dirty="0"/>
          </a:p>
        </p:txBody>
      </p:sp>
      <p:sp>
        <p:nvSpPr>
          <p:cNvPr id="14" name="Text 12"/>
          <p:cNvSpPr txBox="1"/>
          <p:nvPr/>
        </p:nvSpPr>
        <p:spPr>
          <a:xfrm>
            <a:off x="4597298" y="1965960"/>
            <a:ext cx="2997098" cy="365760"/>
          </a:xfrm>
          <a:prstGeom prst="rect">
            <a:avLst/>
          </a:prstGeom>
          <a:noFill/>
          <a:ln/>
        </p:spPr>
        <p:txBody>
          <a:bodyPr wrap="square" lIns="0" tIns="0" rIns="0" bIns="0" rtlCol="0" anchor="t"/>
          <a:lstStyle/>
          <a:p>
            <a:pPr indent="0" marL="0">
              <a:buNone/>
            </a:pPr>
            <a:r>
              <a:rPr lang="en-US" sz="1600" b="1" dirty="0">
                <a:solidFill>
                  <a:srgbClr val="2B2D31"/>
                </a:solidFill>
                <a:latin typeface="맑은 고딕" pitchFamily="34" charset="0"/>
                <a:ea typeface="맑은 고딕" pitchFamily="34" charset="-122"/>
                <a:cs typeface="맑은 고딕" pitchFamily="34" charset="-120"/>
              </a:rPr>
              <a:t>수중 일반 점검</a:t>
            </a:r>
            <a:endParaRPr lang="en-US" sz="1600" dirty="0"/>
          </a:p>
        </p:txBody>
      </p:sp>
      <p:sp>
        <p:nvSpPr>
          <p:cNvPr id="15" name="Text 13"/>
          <p:cNvSpPr txBox="1"/>
          <p:nvPr/>
        </p:nvSpPr>
        <p:spPr>
          <a:xfrm>
            <a:off x="4597298" y="2377440"/>
            <a:ext cx="2997098" cy="45720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잠수부 · ROV 조사</a:t>
            </a:r>
            <a:endParaRPr lang="en-US" sz="1250" dirty="0"/>
          </a:p>
        </p:txBody>
      </p:sp>
      <p:sp>
        <p:nvSpPr>
          <p:cNvPr id="16" name="Shape 14"/>
          <p:cNvSpPr/>
          <p:nvPr/>
        </p:nvSpPr>
        <p:spPr>
          <a:xfrm>
            <a:off x="8097317" y="1371600"/>
            <a:ext cx="3545738" cy="1600200"/>
          </a:xfrm>
          <a:prstGeom prst="roundRect">
            <a:avLst>
              <a:gd name="adj" fmla="val 4571"/>
            </a:avLst>
          </a:prstGeom>
          <a:solidFill>
            <a:srgbClr val="F3F4F6"/>
          </a:solidFill>
          <a:ln w="12700">
            <a:solidFill>
              <a:srgbClr val="F3F4F6"/>
            </a:solidFill>
            <a:prstDash val="solid"/>
          </a:ln>
        </p:spPr>
      </p:sp>
      <p:sp>
        <p:nvSpPr>
          <p:cNvPr id="17" name="Text 15"/>
          <p:cNvSpPr txBox="1"/>
          <p:nvPr/>
        </p:nvSpPr>
        <p:spPr>
          <a:xfrm>
            <a:off x="8371637" y="1536192"/>
            <a:ext cx="1828800" cy="320040"/>
          </a:xfrm>
          <a:prstGeom prst="rect">
            <a:avLst/>
          </a:prstGeom>
          <a:noFill/>
          <a:ln/>
        </p:spPr>
        <p:txBody>
          <a:bodyPr wrap="square" lIns="0" tIns="0" rIns="0" bIns="0" rtlCol="0" anchor="t"/>
          <a:lstStyle/>
          <a:p>
            <a:pPr indent="0" marL="0">
              <a:buNone/>
            </a:pPr>
            <a:r>
              <a:rPr lang="en-US" sz="1400" b="1" dirty="0">
                <a:solidFill>
                  <a:srgbClr val="2B2D31"/>
                </a:solidFill>
                <a:latin typeface="맑은 고딕" pitchFamily="34" charset="0"/>
                <a:ea typeface="맑은 고딕" pitchFamily="34" charset="-122"/>
                <a:cs typeface="맑은 고딕" pitchFamily="34" charset="-120"/>
              </a:rPr>
              <a:t>Level III</a:t>
            </a:r>
            <a:endParaRPr lang="en-US" sz="1400" dirty="0"/>
          </a:p>
        </p:txBody>
      </p:sp>
      <p:sp>
        <p:nvSpPr>
          <p:cNvPr id="18" name="Text 16"/>
          <p:cNvSpPr txBox="1"/>
          <p:nvPr/>
        </p:nvSpPr>
        <p:spPr>
          <a:xfrm>
            <a:off x="9997135" y="1463040"/>
            <a:ext cx="1371600" cy="457200"/>
          </a:xfrm>
          <a:prstGeom prst="rect">
            <a:avLst/>
          </a:prstGeom>
          <a:noFill/>
          <a:ln/>
        </p:spPr>
        <p:txBody>
          <a:bodyPr wrap="square" lIns="0" tIns="0" rIns="0" bIns="0" rtlCol="0" anchor="t"/>
          <a:lstStyle/>
          <a:p>
            <a:pPr algn="r" indent="0" marL="0">
              <a:buNone/>
            </a:pPr>
            <a:r>
              <a:rPr lang="en-US" sz="2200" b="1" dirty="0">
                <a:solidFill>
                  <a:srgbClr val="2B2D31"/>
                </a:solidFill>
                <a:latin typeface="맑은 고딕" pitchFamily="34" charset="0"/>
                <a:ea typeface="맑은 고딕" pitchFamily="34" charset="-122"/>
                <a:cs typeface="맑은 고딕" pitchFamily="34" charset="-120"/>
              </a:rPr>
              <a:t>6–10년</a:t>
            </a:r>
            <a:endParaRPr lang="en-US" sz="2200" dirty="0"/>
          </a:p>
        </p:txBody>
      </p:sp>
      <p:sp>
        <p:nvSpPr>
          <p:cNvPr id="19" name="Text 17"/>
          <p:cNvSpPr txBox="1"/>
          <p:nvPr/>
        </p:nvSpPr>
        <p:spPr>
          <a:xfrm>
            <a:off x="8371637" y="1965960"/>
            <a:ext cx="2997098" cy="365760"/>
          </a:xfrm>
          <a:prstGeom prst="rect">
            <a:avLst/>
          </a:prstGeom>
          <a:noFill/>
          <a:ln/>
        </p:spPr>
        <p:txBody>
          <a:bodyPr wrap="square" lIns="0" tIns="0" rIns="0" bIns="0" rtlCol="0" anchor="t"/>
          <a:lstStyle/>
          <a:p>
            <a:pPr indent="0" marL="0">
              <a:buNone/>
            </a:pPr>
            <a:r>
              <a:rPr lang="en-US" sz="1600" b="1" dirty="0">
                <a:solidFill>
                  <a:srgbClr val="2B2D31"/>
                </a:solidFill>
                <a:latin typeface="맑은 고딕" pitchFamily="34" charset="0"/>
                <a:ea typeface="맑은 고딕" pitchFamily="34" charset="-122"/>
                <a:cs typeface="맑은 고딕" pitchFamily="34" charset="-120"/>
              </a:rPr>
              <a:t>수중 정밀 점검</a:t>
            </a:r>
            <a:endParaRPr lang="en-US" sz="1600" dirty="0"/>
          </a:p>
        </p:txBody>
      </p:sp>
      <p:sp>
        <p:nvSpPr>
          <p:cNvPr id="20" name="Text 18"/>
          <p:cNvSpPr txBox="1"/>
          <p:nvPr/>
        </p:nvSpPr>
        <p:spPr>
          <a:xfrm>
            <a:off x="8371637" y="2377440"/>
            <a:ext cx="2997098" cy="45720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지정 부위 세척 후 근접 육안 · 피트 계측</a:t>
            </a:r>
            <a:endParaRPr lang="en-US" sz="1250" dirty="0"/>
          </a:p>
        </p:txBody>
      </p:sp>
      <p:sp>
        <p:nvSpPr>
          <p:cNvPr id="21" name="Text 19"/>
          <p:cNvSpPr txBox="1"/>
          <p:nvPr/>
        </p:nvSpPr>
        <p:spPr>
          <a:xfrm>
            <a:off x="548640" y="3127248"/>
            <a:ext cx="5486400" cy="274320"/>
          </a:xfrm>
          <a:prstGeom prst="rect">
            <a:avLst/>
          </a:prstGeom>
          <a:noFill/>
          <a:ln/>
        </p:spPr>
        <p:txBody>
          <a:bodyPr wrap="square" lIns="0" tIns="0" rIns="0" bIns="0" rtlCol="0" anchor="t"/>
          <a:lstStyle/>
          <a:p>
            <a:pPr indent="0" marL="0">
              <a:buNone/>
            </a:pPr>
            <a:r>
              <a:rPr lang="en-US" sz="1200" dirty="0">
                <a:solidFill>
                  <a:srgbClr val="6B6F76"/>
                </a:solidFill>
                <a:latin typeface="맑은 고딕" pitchFamily="34" charset="0"/>
                <a:ea typeface="맑은 고딕" pitchFamily="34" charset="-122"/>
                <a:cs typeface="맑은 고딕" pitchFamily="34" charset="-120"/>
              </a:rPr>
              <a:t>미국 해양 구조물 점검 체계 — 4개 기관이 겹쳐 규제</a:t>
            </a:r>
            <a:endParaRPr lang="en-US" sz="1200" dirty="0"/>
          </a:p>
        </p:txBody>
      </p:sp>
      <p:sp>
        <p:nvSpPr>
          <p:cNvPr id="22" name="Shape 20"/>
          <p:cNvSpPr/>
          <p:nvPr/>
        </p:nvSpPr>
        <p:spPr>
          <a:xfrm>
            <a:off x="5394960" y="3108960"/>
            <a:ext cx="868680" cy="310896"/>
          </a:xfrm>
          <a:prstGeom prst="roundRect">
            <a:avLst>
              <a:gd name="adj" fmla="val 50000"/>
            </a:avLst>
          </a:prstGeom>
          <a:solidFill>
            <a:srgbClr val="1F5F7A"/>
          </a:solidFill>
          <a:ln w="12700">
            <a:solidFill>
              <a:srgbClr val="1F5F7A"/>
            </a:solidFill>
            <a:prstDash val="solid"/>
          </a:ln>
        </p:spPr>
      </p:sp>
      <p:sp>
        <p:nvSpPr>
          <p:cNvPr id="23" name="Text 21"/>
          <p:cNvSpPr txBox="1"/>
          <p:nvPr/>
        </p:nvSpPr>
        <p:spPr>
          <a:xfrm>
            <a:off x="5394960" y="3108960"/>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BSEE</a:t>
            </a:r>
            <a:endParaRPr lang="en-US" sz="1100" dirty="0"/>
          </a:p>
        </p:txBody>
      </p:sp>
      <p:sp>
        <p:nvSpPr>
          <p:cNvPr id="24" name="Shape 22"/>
          <p:cNvSpPr/>
          <p:nvPr/>
        </p:nvSpPr>
        <p:spPr>
          <a:xfrm>
            <a:off x="6355080" y="3108960"/>
            <a:ext cx="868680" cy="310896"/>
          </a:xfrm>
          <a:prstGeom prst="roundRect">
            <a:avLst>
              <a:gd name="adj" fmla="val 50000"/>
            </a:avLst>
          </a:prstGeom>
          <a:solidFill>
            <a:srgbClr val="1F5F7A"/>
          </a:solidFill>
          <a:ln w="12700">
            <a:solidFill>
              <a:srgbClr val="1F5F7A"/>
            </a:solidFill>
            <a:prstDash val="solid"/>
          </a:ln>
        </p:spPr>
      </p:sp>
      <p:sp>
        <p:nvSpPr>
          <p:cNvPr id="25" name="Text 23"/>
          <p:cNvSpPr txBox="1"/>
          <p:nvPr/>
        </p:nvSpPr>
        <p:spPr>
          <a:xfrm>
            <a:off x="6355080" y="3108960"/>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PHMSA</a:t>
            </a:r>
            <a:endParaRPr lang="en-US" sz="1100" dirty="0"/>
          </a:p>
        </p:txBody>
      </p:sp>
      <p:sp>
        <p:nvSpPr>
          <p:cNvPr id="26" name="Shape 24"/>
          <p:cNvSpPr/>
          <p:nvPr/>
        </p:nvSpPr>
        <p:spPr>
          <a:xfrm>
            <a:off x="7315200" y="3108960"/>
            <a:ext cx="868680" cy="310896"/>
          </a:xfrm>
          <a:prstGeom prst="roundRect">
            <a:avLst>
              <a:gd name="adj" fmla="val 50000"/>
            </a:avLst>
          </a:prstGeom>
          <a:solidFill>
            <a:srgbClr val="1F5F7A"/>
          </a:solidFill>
          <a:ln w="12700">
            <a:solidFill>
              <a:srgbClr val="1F5F7A"/>
            </a:solidFill>
            <a:prstDash val="solid"/>
          </a:ln>
        </p:spPr>
      </p:sp>
      <p:sp>
        <p:nvSpPr>
          <p:cNvPr id="27" name="Text 25"/>
          <p:cNvSpPr txBox="1"/>
          <p:nvPr/>
        </p:nvSpPr>
        <p:spPr>
          <a:xfrm>
            <a:off x="7315200" y="3108960"/>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USCG</a:t>
            </a:r>
            <a:endParaRPr lang="en-US" sz="1100" dirty="0"/>
          </a:p>
        </p:txBody>
      </p:sp>
      <p:sp>
        <p:nvSpPr>
          <p:cNvPr id="28" name="Shape 26"/>
          <p:cNvSpPr/>
          <p:nvPr/>
        </p:nvSpPr>
        <p:spPr>
          <a:xfrm>
            <a:off x="8275320" y="3108960"/>
            <a:ext cx="868680" cy="310896"/>
          </a:xfrm>
          <a:prstGeom prst="roundRect">
            <a:avLst>
              <a:gd name="adj" fmla="val 50000"/>
            </a:avLst>
          </a:prstGeom>
          <a:solidFill>
            <a:srgbClr val="1F5F7A"/>
          </a:solidFill>
          <a:ln w="12700">
            <a:solidFill>
              <a:srgbClr val="1F5F7A"/>
            </a:solidFill>
            <a:prstDash val="solid"/>
          </a:ln>
        </p:spPr>
      </p:sp>
      <p:sp>
        <p:nvSpPr>
          <p:cNvPr id="29" name="Text 27"/>
          <p:cNvSpPr txBox="1"/>
          <p:nvPr/>
        </p:nvSpPr>
        <p:spPr>
          <a:xfrm>
            <a:off x="8275320" y="3108960"/>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ABS</a:t>
            </a:r>
            <a:endParaRPr lang="en-US" sz="1100" dirty="0"/>
          </a:p>
        </p:txBody>
      </p:sp>
      <p:sp>
        <p:nvSpPr>
          <p:cNvPr id="30" name="Shape 28"/>
          <p:cNvSpPr/>
          <p:nvPr/>
        </p:nvSpPr>
        <p:spPr>
          <a:xfrm>
            <a:off x="548640" y="3703320"/>
            <a:ext cx="3017520" cy="2377440"/>
          </a:xfrm>
          <a:prstGeom prst="roundRect">
            <a:avLst>
              <a:gd name="adj" fmla="val 3077"/>
            </a:avLst>
          </a:prstGeom>
          <a:solidFill>
            <a:srgbClr val="FBEDE4"/>
          </a:solidFill>
          <a:ln w="12700">
            <a:solidFill>
              <a:srgbClr val="FBEDE4"/>
            </a:solidFill>
            <a:prstDash val="solid"/>
          </a:ln>
        </p:spPr>
      </p:sp>
      <p:sp>
        <p:nvSpPr>
          <p:cNvPr id="31" name="Text 29"/>
          <p:cNvSpPr txBox="1"/>
          <p:nvPr/>
        </p:nvSpPr>
        <p:spPr>
          <a:xfrm>
            <a:off x="822960" y="3931920"/>
            <a:ext cx="2560320" cy="868680"/>
          </a:xfrm>
          <a:prstGeom prst="rect">
            <a:avLst/>
          </a:prstGeom>
          <a:noFill/>
          <a:ln/>
        </p:spPr>
        <p:txBody>
          <a:bodyPr wrap="square" lIns="0" tIns="0" rIns="0" bIns="0" rtlCol="0" anchor="ctr"/>
          <a:lstStyle/>
          <a:p>
            <a:pPr indent="0" marL="0">
              <a:buNone/>
            </a:pPr>
            <a:r>
              <a:rPr lang="en-US" sz="4400" b="1" dirty="0">
                <a:solidFill>
                  <a:srgbClr val="B5501F"/>
                </a:solidFill>
                <a:latin typeface="맑은 고딕" pitchFamily="34" charset="0"/>
                <a:ea typeface="맑은 고딕" pitchFamily="34" charset="-122"/>
                <a:cs typeface="맑은 고딕" pitchFamily="34" charset="-120"/>
              </a:rPr>
              <a:t>371곳</a:t>
            </a:r>
            <a:endParaRPr lang="en-US" sz="4400" dirty="0"/>
          </a:p>
        </p:txBody>
      </p:sp>
      <p:sp>
        <p:nvSpPr>
          <p:cNvPr id="32" name="Text 30"/>
          <p:cNvSpPr txBox="1"/>
          <p:nvPr/>
        </p:nvSpPr>
        <p:spPr>
          <a:xfrm>
            <a:off x="822960" y="4846320"/>
            <a:ext cx="2560320" cy="320040"/>
          </a:xfrm>
          <a:prstGeom prst="rect">
            <a:avLst/>
          </a:prstGeom>
          <a:noFill/>
          <a:ln/>
        </p:spPr>
        <p:txBody>
          <a:bodyPr wrap="square" lIns="0" tIns="0" rIns="0" bIns="0" rtlCol="0" anchor="t"/>
          <a:lstStyle/>
          <a:p>
            <a:pPr indent="0" marL="0">
              <a:buNone/>
            </a:pPr>
            <a:r>
              <a:rPr lang="en-US" sz="1450" b="1" dirty="0">
                <a:solidFill>
                  <a:srgbClr val="2B2D31"/>
                </a:solidFill>
                <a:latin typeface="맑은 고딕" pitchFamily="34" charset="0"/>
                <a:ea typeface="맑은 고딕" pitchFamily="34" charset="-122"/>
                <a:cs typeface="맑은 고딕" pitchFamily="34" charset="-120"/>
              </a:rPr>
              <a:t>멕시코만 유인 생산 플랫폼</a:t>
            </a:r>
            <a:endParaRPr lang="en-US" sz="1450" dirty="0"/>
          </a:p>
        </p:txBody>
      </p:sp>
      <p:sp>
        <p:nvSpPr>
          <p:cNvPr id="33" name="Text 31"/>
          <p:cNvSpPr txBox="1"/>
          <p:nvPr/>
        </p:nvSpPr>
        <p:spPr>
          <a:xfrm>
            <a:off x="822960" y="5184648"/>
            <a:ext cx="2560320" cy="54864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매년 Level I 점검이 돌아오는</a:t>
            </a:r>
            <a:endParaRPr lang="en-US" sz="1250" dirty="0"/>
          </a:p>
          <a:p>
            <a:pPr indent="0" marL="0">
              <a:buNone/>
            </a:pPr>
            <a:r>
              <a:rPr lang="en-US" sz="1250" dirty="0">
                <a:solidFill>
                  <a:srgbClr val="6B6F76"/>
                </a:solidFill>
                <a:latin typeface="맑은 고딕" pitchFamily="34" charset="0"/>
                <a:ea typeface="맑은 고딕" pitchFamily="34" charset="-122"/>
                <a:cs typeface="맑은 고딕" pitchFamily="34" charset="-120"/>
              </a:rPr>
              <a:t>첫 타깃 시장</a:t>
            </a:r>
            <a:endParaRPr lang="en-US" sz="1250" dirty="0"/>
          </a:p>
        </p:txBody>
      </p:sp>
      <p:sp>
        <p:nvSpPr>
          <p:cNvPr id="34" name="Text 32"/>
          <p:cNvSpPr txBox="1"/>
          <p:nvPr/>
        </p:nvSpPr>
        <p:spPr>
          <a:xfrm>
            <a:off x="822960" y="5733288"/>
            <a:ext cx="2560320" cy="228600"/>
          </a:xfrm>
          <a:prstGeom prst="rect">
            <a:avLst/>
          </a:prstGeom>
          <a:noFill/>
          <a:ln/>
        </p:spPr>
        <p:txBody>
          <a:bodyPr wrap="square" lIns="0" tIns="0" rIns="0" bIns="0" rtlCol="0" anchor="t"/>
          <a:lstStyle/>
          <a:p>
            <a:pPr indent="0" marL="0">
              <a:buNone/>
            </a:pPr>
            <a:r>
              <a:rPr lang="en-US" sz="1000" i="1" dirty="0">
                <a:solidFill>
                  <a:srgbClr val="A3A7AD"/>
                </a:solidFill>
                <a:latin typeface="맑은 고딕" pitchFamily="34" charset="0"/>
                <a:ea typeface="맑은 고딕" pitchFamily="34" charset="-122"/>
                <a:cs typeface="맑은 고딕" pitchFamily="34" charset="-120"/>
              </a:rPr>
              <a:t>BSEE, 2024.9</a:t>
            </a:r>
            <a:endParaRPr lang="en-US" sz="1000" dirty="0"/>
          </a:p>
        </p:txBody>
      </p:sp>
      <p:sp>
        <p:nvSpPr>
          <p:cNvPr id="35" name="Shape 33"/>
          <p:cNvSpPr/>
          <p:nvPr/>
        </p:nvSpPr>
        <p:spPr>
          <a:xfrm>
            <a:off x="3840480" y="3703320"/>
            <a:ext cx="3840480" cy="2377440"/>
          </a:xfrm>
          <a:prstGeom prst="roundRect">
            <a:avLst>
              <a:gd name="adj" fmla="val 3077"/>
            </a:avLst>
          </a:prstGeom>
          <a:solidFill>
            <a:srgbClr val="F3F4F6"/>
          </a:solidFill>
          <a:ln w="12700">
            <a:solidFill>
              <a:srgbClr val="F3F4F6"/>
            </a:solidFill>
            <a:prstDash val="solid"/>
          </a:ln>
        </p:spPr>
      </p:sp>
      <p:sp>
        <p:nvSpPr>
          <p:cNvPr id="36" name="Text 34"/>
          <p:cNvSpPr txBox="1"/>
          <p:nvPr/>
        </p:nvSpPr>
        <p:spPr>
          <a:xfrm>
            <a:off x="4114800" y="3886200"/>
            <a:ext cx="3383280" cy="292608"/>
          </a:xfrm>
          <a:prstGeom prst="rect">
            <a:avLst/>
          </a:prstGeom>
          <a:noFill/>
          <a:ln/>
        </p:spPr>
        <p:txBody>
          <a:bodyPr wrap="square" lIns="0" tIns="0" rIns="0" bIns="0" rtlCol="0" anchor="t"/>
          <a:lstStyle/>
          <a:p>
            <a:pPr indent="0" marL="0">
              <a:buNone/>
            </a:pPr>
            <a:r>
              <a:rPr lang="en-US" sz="1300" b="1" dirty="0">
                <a:solidFill>
                  <a:srgbClr val="1F5F7A"/>
                </a:solidFill>
                <a:latin typeface="맑은 고딕" pitchFamily="34" charset="0"/>
                <a:ea typeface="맑은 고딕" pitchFamily="34" charset="-122"/>
                <a:cs typeface="맑은 고딕" pitchFamily="34" charset="-120"/>
              </a:rPr>
              <a:t>구매를 움직이는 3가지 동기</a:t>
            </a:r>
            <a:endParaRPr lang="en-US" sz="1300" dirty="0"/>
          </a:p>
        </p:txBody>
      </p:sp>
      <p:sp>
        <p:nvSpPr>
          <p:cNvPr id="37" name="Shape 35"/>
          <p:cNvSpPr/>
          <p:nvPr/>
        </p:nvSpPr>
        <p:spPr>
          <a:xfrm>
            <a:off x="4114800" y="4297680"/>
            <a:ext cx="420624" cy="420624"/>
          </a:xfrm>
          <a:prstGeom prst="ellipse">
            <a:avLst/>
          </a:prstGeom>
          <a:solidFill>
            <a:srgbClr val="2B2D31"/>
          </a:solidFill>
          <a:ln w="12700">
            <a:solidFill>
              <a:srgbClr val="2B2D31"/>
            </a:solidFill>
            <a:prstDash val="solid"/>
          </a:ln>
        </p:spPr>
      </p:sp>
      <p:pic>
        <p:nvPicPr>
          <p:cNvPr id="38" name="Image 0" descr="preencoded.png">    </p:cNvPr>
          <p:cNvPicPr>
            <a:picLocks noChangeAspect="1"/>
          </p:cNvPicPr>
          <p:nvPr/>
        </p:nvPicPr>
        <p:blipFill>
          <a:blip r:embed="rId1"/>
          <a:stretch>
            <a:fillRect/>
          </a:stretch>
        </p:blipFill>
        <p:spPr>
          <a:xfrm>
            <a:off x="4224162" y="4407042"/>
            <a:ext cx="201900" cy="201900"/>
          </a:xfrm>
          <a:prstGeom prst="rect">
            <a:avLst/>
          </a:prstGeom>
        </p:spPr>
      </p:pic>
      <p:sp>
        <p:nvSpPr>
          <p:cNvPr id="39" name="Text 36"/>
          <p:cNvSpPr txBox="1"/>
          <p:nvPr/>
        </p:nvSpPr>
        <p:spPr>
          <a:xfrm>
            <a:off x="4663440" y="4297680"/>
            <a:ext cx="2834640" cy="420624"/>
          </a:xfrm>
          <a:prstGeom prst="rect">
            <a:avLst/>
          </a:prstGeom>
          <a:noFill/>
          <a:ln/>
        </p:spPr>
        <p:txBody>
          <a:bodyPr wrap="square" lIns="0" tIns="0" rIns="0" bIns="0" rtlCol="0" anchor="ctr"/>
          <a:lstStyle/>
          <a:p>
            <a:pPr indent="0" marL="0">
              <a:buNone/>
            </a:pPr>
            <a:r>
              <a:rPr lang="en-US" sz="1400" b="1" dirty="0">
                <a:solidFill>
                  <a:srgbClr val="2B2D31"/>
                </a:solidFill>
                <a:latin typeface="맑은 고딕" pitchFamily="34" charset="0"/>
                <a:ea typeface="맑은 고딕" pitchFamily="34" charset="-122"/>
                <a:cs typeface="맑은 고딕" pitchFamily="34" charset="-120"/>
              </a:rPr>
              <a:t>안전   </a:t>
            </a:r>
            <a:pPr indent="0" marL="0">
              <a:buNone/>
            </a:pPr>
            <a:r>
              <a:rPr lang="en-US" sz="1200" dirty="0">
                <a:solidFill>
                  <a:srgbClr val="6B6F76"/>
                </a:solidFill>
                <a:latin typeface="맑은 고딕" pitchFamily="34" charset="0"/>
                <a:ea typeface="맑은 고딕" pitchFamily="34" charset="-122"/>
                <a:cs typeface="맑은 고딕" pitchFamily="34" charset="-120"/>
              </a:rPr>
              <a:t>놓친 부식 → 사고</a:t>
            </a:r>
            <a:endParaRPr lang="en-US" sz="1400" dirty="0"/>
          </a:p>
        </p:txBody>
      </p:sp>
      <p:sp>
        <p:nvSpPr>
          <p:cNvPr id="40" name="Shape 37"/>
          <p:cNvSpPr/>
          <p:nvPr/>
        </p:nvSpPr>
        <p:spPr>
          <a:xfrm>
            <a:off x="4114800" y="4864608"/>
            <a:ext cx="420624" cy="420624"/>
          </a:xfrm>
          <a:prstGeom prst="ellipse">
            <a:avLst/>
          </a:prstGeom>
          <a:solidFill>
            <a:srgbClr val="2B2D31"/>
          </a:solidFill>
          <a:ln w="12700">
            <a:solidFill>
              <a:srgbClr val="2B2D31"/>
            </a:solidFill>
            <a:prstDash val="solid"/>
          </a:ln>
        </p:spPr>
      </p:sp>
      <p:pic>
        <p:nvPicPr>
          <p:cNvPr id="41" name="Image 1" descr="preencoded.png">    </p:cNvPr>
          <p:cNvPicPr>
            <a:picLocks noChangeAspect="1"/>
          </p:cNvPicPr>
          <p:nvPr/>
        </p:nvPicPr>
        <p:blipFill>
          <a:blip r:embed="rId2"/>
          <a:stretch>
            <a:fillRect/>
          </a:stretch>
        </p:blipFill>
        <p:spPr>
          <a:xfrm>
            <a:off x="4224162" y="4973970"/>
            <a:ext cx="201900" cy="201900"/>
          </a:xfrm>
          <a:prstGeom prst="rect">
            <a:avLst/>
          </a:prstGeom>
        </p:spPr>
      </p:pic>
      <p:sp>
        <p:nvSpPr>
          <p:cNvPr id="42" name="Text 38"/>
          <p:cNvSpPr txBox="1"/>
          <p:nvPr/>
        </p:nvSpPr>
        <p:spPr>
          <a:xfrm>
            <a:off x="4663440" y="4864608"/>
            <a:ext cx="2834640" cy="420624"/>
          </a:xfrm>
          <a:prstGeom prst="rect">
            <a:avLst/>
          </a:prstGeom>
          <a:noFill/>
          <a:ln/>
        </p:spPr>
        <p:txBody>
          <a:bodyPr wrap="square" lIns="0" tIns="0" rIns="0" bIns="0" rtlCol="0" anchor="ctr"/>
          <a:lstStyle/>
          <a:p>
            <a:pPr indent="0" marL="0">
              <a:buNone/>
            </a:pPr>
            <a:r>
              <a:rPr lang="en-US" sz="1400" b="1" dirty="0">
                <a:solidFill>
                  <a:srgbClr val="2B2D31"/>
                </a:solidFill>
                <a:latin typeface="맑은 고딕" pitchFamily="34" charset="0"/>
                <a:ea typeface="맑은 고딕" pitchFamily="34" charset="-122"/>
                <a:cs typeface="맑은 고딕" pitchFamily="34" charset="-120"/>
              </a:rPr>
              <a:t>비용   </a:t>
            </a:r>
            <a:pPr indent="0" marL="0">
              <a:buNone/>
            </a:pPr>
            <a:r>
              <a:rPr lang="en-US" sz="1200" dirty="0">
                <a:solidFill>
                  <a:srgbClr val="6B6F76"/>
                </a:solidFill>
                <a:latin typeface="맑은 고딕" pitchFamily="34" charset="0"/>
                <a:ea typeface="맑은 고딕" pitchFamily="34" charset="-122"/>
                <a:cs typeface="맑은 고딕" pitchFamily="34" charset="-120"/>
              </a:rPr>
              <a:t>선박 · 리프트 일수</a:t>
            </a:r>
            <a:endParaRPr lang="en-US" sz="1400" dirty="0"/>
          </a:p>
        </p:txBody>
      </p:sp>
      <p:sp>
        <p:nvSpPr>
          <p:cNvPr id="43" name="Shape 39"/>
          <p:cNvSpPr/>
          <p:nvPr/>
        </p:nvSpPr>
        <p:spPr>
          <a:xfrm>
            <a:off x="4114800" y="5431536"/>
            <a:ext cx="420624" cy="420624"/>
          </a:xfrm>
          <a:prstGeom prst="ellipse">
            <a:avLst/>
          </a:prstGeom>
          <a:solidFill>
            <a:srgbClr val="2B2D31"/>
          </a:solidFill>
          <a:ln w="12700">
            <a:solidFill>
              <a:srgbClr val="2B2D31"/>
            </a:solidFill>
            <a:prstDash val="solid"/>
          </a:ln>
        </p:spPr>
      </p:sp>
      <p:pic>
        <p:nvPicPr>
          <p:cNvPr id="44" name="Image 2" descr="preencoded.png">    </p:cNvPr>
          <p:cNvPicPr>
            <a:picLocks noChangeAspect="1"/>
          </p:cNvPicPr>
          <p:nvPr/>
        </p:nvPicPr>
        <p:blipFill>
          <a:blip r:embed="rId3"/>
          <a:stretch>
            <a:fillRect/>
          </a:stretch>
        </p:blipFill>
        <p:spPr>
          <a:xfrm>
            <a:off x="4224162" y="5540898"/>
            <a:ext cx="201900" cy="201900"/>
          </a:xfrm>
          <a:prstGeom prst="rect">
            <a:avLst/>
          </a:prstGeom>
        </p:spPr>
      </p:pic>
      <p:sp>
        <p:nvSpPr>
          <p:cNvPr id="45" name="Text 40"/>
          <p:cNvSpPr txBox="1"/>
          <p:nvPr/>
        </p:nvSpPr>
        <p:spPr>
          <a:xfrm>
            <a:off x="4663440" y="5431536"/>
            <a:ext cx="2834640" cy="420624"/>
          </a:xfrm>
          <a:prstGeom prst="rect">
            <a:avLst/>
          </a:prstGeom>
          <a:noFill/>
          <a:ln/>
        </p:spPr>
        <p:txBody>
          <a:bodyPr wrap="square" lIns="0" tIns="0" rIns="0" bIns="0" rtlCol="0" anchor="ctr"/>
          <a:lstStyle/>
          <a:p>
            <a:pPr indent="0" marL="0">
              <a:buNone/>
            </a:pPr>
            <a:r>
              <a:rPr lang="en-US" sz="1400" b="1" dirty="0">
                <a:solidFill>
                  <a:srgbClr val="2B2D31"/>
                </a:solidFill>
                <a:latin typeface="맑은 고딕" pitchFamily="34" charset="0"/>
                <a:ea typeface="맑은 고딕" pitchFamily="34" charset="-122"/>
                <a:cs typeface="맑은 고딕" pitchFamily="34" charset="-120"/>
              </a:rPr>
              <a:t>규제 · 보험   </a:t>
            </a:r>
            <a:pPr indent="0" marL="0">
              <a:buNone/>
            </a:pPr>
            <a:r>
              <a:rPr lang="en-US" sz="1200" dirty="0">
                <a:solidFill>
                  <a:srgbClr val="6B6F76"/>
                </a:solidFill>
                <a:latin typeface="맑은 고딕" pitchFamily="34" charset="0"/>
                <a:ea typeface="맑은 고딕" pitchFamily="34" charset="-122"/>
                <a:cs typeface="맑은 고딕" pitchFamily="34" charset="-120"/>
              </a:rPr>
              <a:t>기한 내 기록 제출</a:t>
            </a:r>
            <a:endParaRPr lang="en-US" sz="1400" dirty="0"/>
          </a:p>
        </p:txBody>
      </p:sp>
      <p:sp>
        <p:nvSpPr>
          <p:cNvPr id="46" name="Shape 41"/>
          <p:cNvSpPr/>
          <p:nvPr/>
        </p:nvSpPr>
        <p:spPr>
          <a:xfrm>
            <a:off x="7955280" y="3703320"/>
            <a:ext cx="3687775" cy="2377440"/>
          </a:xfrm>
          <a:prstGeom prst="roundRect">
            <a:avLst>
              <a:gd name="adj" fmla="val 3077"/>
            </a:avLst>
          </a:prstGeom>
          <a:solidFill>
            <a:srgbClr val="E3EFF4"/>
          </a:solidFill>
          <a:ln w="12700">
            <a:solidFill>
              <a:srgbClr val="E3EFF4"/>
            </a:solidFill>
            <a:prstDash val="solid"/>
          </a:ln>
        </p:spPr>
      </p:sp>
      <p:sp>
        <p:nvSpPr>
          <p:cNvPr id="47" name="Text 42"/>
          <p:cNvSpPr txBox="1"/>
          <p:nvPr/>
        </p:nvSpPr>
        <p:spPr>
          <a:xfrm>
            <a:off x="8229600" y="3886200"/>
            <a:ext cx="3230575" cy="292608"/>
          </a:xfrm>
          <a:prstGeom prst="rect">
            <a:avLst/>
          </a:prstGeom>
          <a:noFill/>
          <a:ln/>
        </p:spPr>
        <p:txBody>
          <a:bodyPr wrap="square" lIns="0" tIns="0" rIns="0" bIns="0" rtlCol="0" anchor="t"/>
          <a:lstStyle/>
          <a:p>
            <a:pPr indent="0" marL="0">
              <a:buNone/>
            </a:pPr>
            <a:r>
              <a:rPr lang="en-US" sz="1300" b="1" dirty="0">
                <a:solidFill>
                  <a:srgbClr val="1F5F7A"/>
                </a:solidFill>
                <a:latin typeface="맑은 고딕" pitchFamily="34" charset="0"/>
                <a:ea typeface="맑은 고딕" pitchFamily="34" charset="-122"/>
                <a:cs typeface="맑은 고딕" pitchFamily="34" charset="-120"/>
              </a:rPr>
              <a:t>진입 순서</a:t>
            </a:r>
            <a:endParaRPr lang="en-US" sz="1300" dirty="0"/>
          </a:p>
        </p:txBody>
      </p:sp>
      <p:sp>
        <p:nvSpPr>
          <p:cNvPr id="48" name="Text 43"/>
          <p:cNvSpPr txBox="1"/>
          <p:nvPr/>
        </p:nvSpPr>
        <p:spPr>
          <a:xfrm>
            <a:off x="8229600" y="4297680"/>
            <a:ext cx="274320" cy="420624"/>
          </a:xfrm>
          <a:prstGeom prst="rect">
            <a:avLst/>
          </a:prstGeom>
          <a:noFill/>
          <a:ln/>
        </p:spPr>
        <p:txBody>
          <a:bodyPr wrap="square" lIns="0" tIns="0" rIns="0" bIns="0" rtlCol="0" anchor="ctr"/>
          <a:lstStyle/>
          <a:p>
            <a:pPr indent="0" marL="0">
              <a:buNone/>
            </a:pPr>
            <a:r>
              <a:rPr lang="en-US" sz="1600" b="1" dirty="0">
                <a:solidFill>
                  <a:srgbClr val="1F5F7A"/>
                </a:solidFill>
                <a:latin typeface="맑은 고딕" pitchFamily="34" charset="0"/>
                <a:ea typeface="맑은 고딕" pitchFamily="34" charset="-122"/>
                <a:cs typeface="맑은 고딕" pitchFamily="34" charset="-120"/>
              </a:rPr>
              <a:t>1</a:t>
            </a:r>
            <a:endParaRPr lang="en-US" sz="1600" dirty="0"/>
          </a:p>
        </p:txBody>
      </p:sp>
      <p:sp>
        <p:nvSpPr>
          <p:cNvPr id="49" name="Shape 44"/>
          <p:cNvSpPr/>
          <p:nvPr/>
        </p:nvSpPr>
        <p:spPr>
          <a:xfrm>
            <a:off x="8549640" y="4297680"/>
            <a:ext cx="420624" cy="420624"/>
          </a:xfrm>
          <a:prstGeom prst="ellipse">
            <a:avLst/>
          </a:prstGeom>
          <a:solidFill>
            <a:srgbClr val="1F5F7A"/>
          </a:solidFill>
          <a:ln w="12700">
            <a:solidFill>
              <a:srgbClr val="1F5F7A"/>
            </a:solidFill>
            <a:prstDash val="solid"/>
          </a:ln>
        </p:spPr>
      </p:sp>
      <p:pic>
        <p:nvPicPr>
          <p:cNvPr id="50" name="Image 3" descr="preencoded.png">    </p:cNvPr>
          <p:cNvPicPr>
            <a:picLocks noChangeAspect="1"/>
          </p:cNvPicPr>
          <p:nvPr/>
        </p:nvPicPr>
        <p:blipFill>
          <a:blip r:embed="rId4"/>
          <a:stretch>
            <a:fillRect/>
          </a:stretch>
        </p:blipFill>
        <p:spPr>
          <a:xfrm>
            <a:off x="8659002" y="4407042"/>
            <a:ext cx="201900" cy="201900"/>
          </a:xfrm>
          <a:prstGeom prst="rect">
            <a:avLst/>
          </a:prstGeom>
        </p:spPr>
      </p:pic>
      <p:sp>
        <p:nvSpPr>
          <p:cNvPr id="51" name="Text 45"/>
          <p:cNvSpPr txBox="1"/>
          <p:nvPr/>
        </p:nvSpPr>
        <p:spPr>
          <a:xfrm>
            <a:off x="9098280" y="4297680"/>
            <a:ext cx="2407615" cy="420624"/>
          </a:xfrm>
          <a:prstGeom prst="rect">
            <a:avLst/>
          </a:prstGeom>
          <a:noFill/>
          <a:ln/>
        </p:spPr>
        <p:txBody>
          <a:bodyPr wrap="square" lIns="0" tIns="0" rIns="0" bIns="0" rtlCol="0" anchor="ctr"/>
          <a:lstStyle/>
          <a:p>
            <a:pPr indent="0" marL="0">
              <a:buNone/>
            </a:pPr>
            <a:r>
              <a:rPr lang="en-US" sz="1350" dirty="0">
                <a:solidFill>
                  <a:srgbClr val="2B2D31"/>
                </a:solidFill>
                <a:latin typeface="맑은 고딕" pitchFamily="34" charset="0"/>
                <a:ea typeface="맑은 고딕" pitchFamily="34" charset="-122"/>
                <a:cs typeface="맑은 고딕" pitchFamily="34" charset="-120"/>
              </a:rPr>
              <a:t>멕시코만 해양 플랫폼</a:t>
            </a:r>
            <a:endParaRPr lang="en-US" sz="1350" dirty="0"/>
          </a:p>
        </p:txBody>
      </p:sp>
      <p:sp>
        <p:nvSpPr>
          <p:cNvPr id="52" name="Text 46"/>
          <p:cNvSpPr txBox="1"/>
          <p:nvPr/>
        </p:nvSpPr>
        <p:spPr>
          <a:xfrm>
            <a:off x="8229600" y="4864608"/>
            <a:ext cx="274320" cy="420624"/>
          </a:xfrm>
          <a:prstGeom prst="rect">
            <a:avLst/>
          </a:prstGeom>
          <a:noFill/>
          <a:ln/>
        </p:spPr>
        <p:txBody>
          <a:bodyPr wrap="square" lIns="0" tIns="0" rIns="0" bIns="0" rtlCol="0" anchor="ctr"/>
          <a:lstStyle/>
          <a:p>
            <a:pPr indent="0" marL="0">
              <a:buNone/>
            </a:pPr>
            <a:r>
              <a:rPr lang="en-US" sz="1600" b="1" dirty="0">
                <a:solidFill>
                  <a:srgbClr val="1F5F7A"/>
                </a:solidFill>
                <a:latin typeface="맑은 고딕" pitchFamily="34" charset="0"/>
                <a:ea typeface="맑은 고딕" pitchFamily="34" charset="-122"/>
                <a:cs typeface="맑은 고딕" pitchFamily="34" charset="-120"/>
              </a:rPr>
              <a:t>2</a:t>
            </a:r>
            <a:endParaRPr lang="en-US" sz="1600" dirty="0"/>
          </a:p>
        </p:txBody>
      </p:sp>
      <p:sp>
        <p:nvSpPr>
          <p:cNvPr id="53" name="Shape 47"/>
          <p:cNvSpPr/>
          <p:nvPr/>
        </p:nvSpPr>
        <p:spPr>
          <a:xfrm>
            <a:off x="8549640" y="4864608"/>
            <a:ext cx="420624" cy="420624"/>
          </a:xfrm>
          <a:prstGeom prst="ellipse">
            <a:avLst/>
          </a:prstGeom>
          <a:solidFill>
            <a:srgbClr val="1F5F7A"/>
          </a:solidFill>
          <a:ln w="12700">
            <a:solidFill>
              <a:srgbClr val="1F5F7A"/>
            </a:solidFill>
            <a:prstDash val="solid"/>
          </a:ln>
        </p:spPr>
      </p:sp>
      <p:pic>
        <p:nvPicPr>
          <p:cNvPr id="54" name="Image 4" descr="preencoded.png">    </p:cNvPr>
          <p:cNvPicPr>
            <a:picLocks noChangeAspect="1"/>
          </p:cNvPicPr>
          <p:nvPr/>
        </p:nvPicPr>
        <p:blipFill>
          <a:blip r:embed="rId5"/>
          <a:stretch>
            <a:fillRect/>
          </a:stretch>
        </p:blipFill>
        <p:spPr>
          <a:xfrm>
            <a:off x="8659002" y="4973970"/>
            <a:ext cx="201900" cy="201900"/>
          </a:xfrm>
          <a:prstGeom prst="rect">
            <a:avLst/>
          </a:prstGeom>
        </p:spPr>
      </p:pic>
      <p:sp>
        <p:nvSpPr>
          <p:cNvPr id="55" name="Text 48"/>
          <p:cNvSpPr txBox="1"/>
          <p:nvPr/>
        </p:nvSpPr>
        <p:spPr>
          <a:xfrm>
            <a:off x="9098280" y="4864608"/>
            <a:ext cx="2407615" cy="420624"/>
          </a:xfrm>
          <a:prstGeom prst="rect">
            <a:avLst/>
          </a:prstGeom>
          <a:noFill/>
          <a:ln/>
        </p:spPr>
        <p:txBody>
          <a:bodyPr wrap="square" lIns="0" tIns="0" rIns="0" bIns="0" rtlCol="0" anchor="ctr"/>
          <a:lstStyle/>
          <a:p>
            <a:pPr indent="0" marL="0">
              <a:buNone/>
            </a:pPr>
            <a:r>
              <a:rPr lang="en-US" sz="1350" dirty="0">
                <a:solidFill>
                  <a:srgbClr val="2B2D31"/>
                </a:solidFill>
                <a:latin typeface="맑은 고딕" pitchFamily="34" charset="0"/>
                <a:ea typeface="맑은 고딕" pitchFamily="34" charset="-122"/>
                <a:cs typeface="맑은 고딕" pitchFamily="34" charset="-120"/>
              </a:rPr>
              <a:t>미드스트림 가스 압축 기지</a:t>
            </a:r>
            <a:endParaRPr lang="en-US" sz="1350" dirty="0"/>
          </a:p>
        </p:txBody>
      </p:sp>
      <p:sp>
        <p:nvSpPr>
          <p:cNvPr id="56" name="Text 49"/>
          <p:cNvSpPr txBox="1"/>
          <p:nvPr/>
        </p:nvSpPr>
        <p:spPr>
          <a:xfrm>
            <a:off x="8229600" y="5431536"/>
            <a:ext cx="274320" cy="420624"/>
          </a:xfrm>
          <a:prstGeom prst="rect">
            <a:avLst/>
          </a:prstGeom>
          <a:noFill/>
          <a:ln/>
        </p:spPr>
        <p:txBody>
          <a:bodyPr wrap="square" lIns="0" tIns="0" rIns="0" bIns="0" rtlCol="0" anchor="ctr"/>
          <a:lstStyle/>
          <a:p>
            <a:pPr indent="0" marL="0">
              <a:buNone/>
            </a:pPr>
            <a:r>
              <a:rPr lang="en-US" sz="1600" b="1" dirty="0">
                <a:solidFill>
                  <a:srgbClr val="1F5F7A"/>
                </a:solidFill>
                <a:latin typeface="맑은 고딕" pitchFamily="34" charset="0"/>
                <a:ea typeface="맑은 고딕" pitchFamily="34" charset="-122"/>
                <a:cs typeface="맑은 고딕" pitchFamily="34" charset="-120"/>
              </a:rPr>
              <a:t>3</a:t>
            </a:r>
            <a:endParaRPr lang="en-US" sz="1600" dirty="0"/>
          </a:p>
        </p:txBody>
      </p:sp>
      <p:sp>
        <p:nvSpPr>
          <p:cNvPr id="57" name="Shape 50"/>
          <p:cNvSpPr/>
          <p:nvPr/>
        </p:nvSpPr>
        <p:spPr>
          <a:xfrm>
            <a:off x="8549640" y="5431536"/>
            <a:ext cx="420624" cy="420624"/>
          </a:xfrm>
          <a:prstGeom prst="ellipse">
            <a:avLst/>
          </a:prstGeom>
          <a:solidFill>
            <a:srgbClr val="1F5F7A"/>
          </a:solidFill>
          <a:ln w="12700">
            <a:solidFill>
              <a:srgbClr val="1F5F7A"/>
            </a:solidFill>
            <a:prstDash val="solid"/>
          </a:ln>
        </p:spPr>
      </p:sp>
      <p:pic>
        <p:nvPicPr>
          <p:cNvPr id="58" name="Image 5" descr="preencoded.png">    </p:cNvPr>
          <p:cNvPicPr>
            <a:picLocks noChangeAspect="1"/>
          </p:cNvPicPr>
          <p:nvPr/>
        </p:nvPicPr>
        <p:blipFill>
          <a:blip r:embed="rId6"/>
          <a:stretch>
            <a:fillRect/>
          </a:stretch>
        </p:blipFill>
        <p:spPr>
          <a:xfrm>
            <a:off x="8659002" y="5540898"/>
            <a:ext cx="201900" cy="201900"/>
          </a:xfrm>
          <a:prstGeom prst="rect">
            <a:avLst/>
          </a:prstGeom>
        </p:spPr>
      </p:pic>
      <p:sp>
        <p:nvSpPr>
          <p:cNvPr id="59" name="Text 51"/>
          <p:cNvSpPr txBox="1"/>
          <p:nvPr/>
        </p:nvSpPr>
        <p:spPr>
          <a:xfrm>
            <a:off x="9098280" y="5431536"/>
            <a:ext cx="2407615" cy="420624"/>
          </a:xfrm>
          <a:prstGeom prst="rect">
            <a:avLst/>
          </a:prstGeom>
          <a:noFill/>
          <a:ln/>
        </p:spPr>
        <p:txBody>
          <a:bodyPr wrap="square" lIns="0" tIns="0" rIns="0" bIns="0" rtlCol="0" anchor="ctr"/>
          <a:lstStyle/>
          <a:p>
            <a:pPr indent="0" marL="0">
              <a:buNone/>
            </a:pPr>
            <a:r>
              <a:rPr lang="en-US" sz="1350" dirty="0">
                <a:solidFill>
                  <a:srgbClr val="2B2D31"/>
                </a:solidFill>
                <a:latin typeface="맑은 고딕" pitchFamily="34" charset="0"/>
                <a:ea typeface="맑은 고딕" pitchFamily="34" charset="-122"/>
                <a:cs typeface="맑은 고딕" pitchFamily="34" charset="-120"/>
              </a:rPr>
              <a:t>국내 해상풍력 · 해양 플랜트</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TRACTION  ·  ROADMAP</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성과와 다음 단계</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a:t>
            </a:r>
            <a:r>
              <a:rPr lang="en-US" sz="900" dirty="0" err="1">
                <a:solidFill>
                  <a:srgbClr val="A3A7AD"/>
                </a:solidFill>
                <a:latin typeface="맑은 고딕" pitchFamily="34" charset="0"/>
                <a:ea typeface="맑은 고딕" pitchFamily="34" charset="-122"/>
                <a:cs typeface="맑은 고딕" pitchFamily="34" charset="-120"/>
              </a:rPr>
              <a:t>제주</a:t>
            </a:r>
            <a:r>
              <a:rPr lang="en-US" sz="900" dirty="0">
                <a:solidFill>
                  <a:srgbClr val="A3A7AD"/>
                </a:solidFill>
                <a:latin typeface="맑은 고딕" pitchFamily="34" charset="0"/>
                <a:ea typeface="맑은 고딕" pitchFamily="34" charset="-122"/>
                <a:cs typeface="맑은 고딕" pitchFamily="34" charset="-120"/>
              </a:rPr>
              <a:t>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cs typeface="맑은 고딕" pitchFamily="34" charset="-120"/>
              </a:rPr>
              <a:t>10</a:t>
            </a:r>
            <a:endParaRPr lang="en-US" sz="900" dirty="0"/>
          </a:p>
        </p:txBody>
      </p:sp>
      <p:sp>
        <p:nvSpPr>
          <p:cNvPr id="6" name="Text 4"/>
          <p:cNvSpPr txBox="1"/>
          <p:nvPr/>
        </p:nvSpPr>
        <p:spPr>
          <a:xfrm>
            <a:off x="548640" y="1371600"/>
            <a:ext cx="4206240" cy="320040"/>
          </a:xfrm>
          <a:prstGeom prst="rect">
            <a:avLst/>
          </a:prstGeom>
          <a:noFill/>
          <a:ln/>
        </p:spPr>
        <p:txBody>
          <a:bodyPr wrap="square" lIns="0" tIns="0" rIns="0" bIns="0" rtlCol="0" anchor="t"/>
          <a:lstStyle/>
          <a:p>
            <a:pPr marL="0" indent="0">
              <a:buNone/>
            </a:pPr>
            <a:r>
              <a:rPr lang="en-US" sz="1600" b="1" dirty="0">
                <a:solidFill>
                  <a:srgbClr val="B5501F"/>
                </a:solidFill>
                <a:latin typeface="맑은 고딕" pitchFamily="34" charset="0"/>
                <a:ea typeface="맑은 고딕" pitchFamily="34" charset="-122"/>
                <a:cs typeface="맑은 고딕" pitchFamily="34" charset="-120"/>
              </a:rPr>
              <a:t>지금까지</a:t>
            </a:r>
            <a:endParaRPr lang="en-US" sz="1600" dirty="0"/>
          </a:p>
        </p:txBody>
      </p:sp>
      <p:sp>
        <p:nvSpPr>
          <p:cNvPr id="7" name="Shape 5"/>
          <p:cNvSpPr/>
          <p:nvPr/>
        </p:nvSpPr>
        <p:spPr>
          <a:xfrm>
            <a:off x="548640" y="1874520"/>
            <a:ext cx="457200" cy="457200"/>
          </a:xfrm>
          <a:prstGeom prst="ellipse">
            <a:avLst/>
          </a:prstGeom>
          <a:solidFill>
            <a:srgbClr val="3C8D5A"/>
          </a:solidFill>
          <a:ln w="12700">
            <a:solidFill>
              <a:srgbClr val="3C8D5A"/>
            </a:solidFill>
            <a:prstDash val="solid"/>
          </a:ln>
        </p:spPr>
      </p:sp>
      <p:pic>
        <p:nvPicPr>
          <p:cNvPr id="8" name="Image 0" descr="preencoded.png"/>
          <p:cNvPicPr>
            <a:picLocks noChangeAspect="1"/>
          </p:cNvPicPr>
          <p:nvPr/>
        </p:nvPicPr>
        <p:blipFill>
          <a:blip r:embed="rId3"/>
          <a:stretch>
            <a:fillRect/>
          </a:stretch>
        </p:blipFill>
        <p:spPr>
          <a:xfrm>
            <a:off x="667512" y="1993392"/>
            <a:ext cx="219456" cy="219456"/>
          </a:xfrm>
          <a:prstGeom prst="rect">
            <a:avLst/>
          </a:prstGeom>
        </p:spPr>
      </p:pic>
      <p:sp>
        <p:nvSpPr>
          <p:cNvPr id="9" name="Text 6"/>
          <p:cNvSpPr txBox="1"/>
          <p:nvPr/>
        </p:nvSpPr>
        <p:spPr>
          <a:xfrm>
            <a:off x="1188720" y="1828800"/>
            <a:ext cx="3566160" cy="320040"/>
          </a:xfrm>
          <a:prstGeom prst="rect">
            <a:avLst/>
          </a:prstGeom>
          <a:noFill/>
          <a:ln/>
        </p:spPr>
        <p:txBody>
          <a:bodyPr wrap="square" lIns="0" tIns="0" rIns="0" bIns="0" rtlCol="0" anchor="t"/>
          <a:lstStyle/>
          <a:p>
            <a:pPr marL="0" indent="0">
              <a:buNone/>
            </a:pPr>
            <a:r>
              <a:rPr lang="en-US" sz="1500" b="1" dirty="0">
                <a:solidFill>
                  <a:srgbClr val="2B2D31"/>
                </a:solidFill>
                <a:latin typeface="맑은 고딕" pitchFamily="34" charset="0"/>
                <a:ea typeface="맑은 고딕" pitchFamily="34" charset="-122"/>
                <a:cs typeface="맑은 고딕" pitchFamily="34" charset="-120"/>
              </a:rPr>
              <a:t>실험실 기술 검증</a:t>
            </a:r>
            <a:endParaRPr lang="en-US" sz="1500" dirty="0"/>
          </a:p>
        </p:txBody>
      </p:sp>
      <p:sp>
        <p:nvSpPr>
          <p:cNvPr id="10" name="Text 7"/>
          <p:cNvSpPr txBox="1"/>
          <p:nvPr/>
        </p:nvSpPr>
        <p:spPr>
          <a:xfrm>
            <a:off x="1188720" y="2176272"/>
            <a:ext cx="3566160" cy="502920"/>
          </a:xfrm>
          <a:prstGeom prst="rect">
            <a:avLst/>
          </a:prstGeom>
          <a:noFill/>
          <a:ln/>
        </p:spPr>
        <p:txBody>
          <a:bodyPr wrap="square" lIns="0" tIns="0" rIns="0" bIns="0" rtlCol="0" anchor="t"/>
          <a:lstStyle/>
          <a:p>
            <a:pPr marL="0" indent="0">
              <a:buNone/>
            </a:pPr>
            <a:r>
              <a:rPr lang="en-US" sz="1200" dirty="0">
                <a:solidFill>
                  <a:srgbClr val="6B6F76"/>
                </a:solidFill>
                <a:latin typeface="맑은 고딕" pitchFamily="34" charset="0"/>
                <a:ea typeface="맑은 고딕" pitchFamily="34" charset="-122"/>
                <a:cs typeface="맑은 고딕" pitchFamily="34" charset="-120"/>
              </a:rPr>
              <a:t>240시간 촉진부식, 6가지 분석 교차 검증</a:t>
            </a:r>
            <a:endParaRPr lang="en-US" sz="1200" dirty="0"/>
          </a:p>
        </p:txBody>
      </p:sp>
      <p:sp>
        <p:nvSpPr>
          <p:cNvPr id="11" name="Shape 8"/>
          <p:cNvSpPr/>
          <p:nvPr/>
        </p:nvSpPr>
        <p:spPr>
          <a:xfrm>
            <a:off x="548640" y="2788920"/>
            <a:ext cx="457200" cy="457200"/>
          </a:xfrm>
          <a:prstGeom prst="ellipse">
            <a:avLst/>
          </a:prstGeom>
          <a:solidFill>
            <a:srgbClr val="3C8D5A"/>
          </a:solidFill>
          <a:ln w="12700">
            <a:solidFill>
              <a:srgbClr val="3C8D5A"/>
            </a:solidFill>
            <a:prstDash val="solid"/>
          </a:ln>
        </p:spPr>
      </p:sp>
      <p:pic>
        <p:nvPicPr>
          <p:cNvPr id="12" name="Image 1" descr="preencoded.png"/>
          <p:cNvPicPr>
            <a:picLocks noChangeAspect="1"/>
          </p:cNvPicPr>
          <p:nvPr/>
        </p:nvPicPr>
        <p:blipFill>
          <a:blip r:embed="rId3"/>
          <a:stretch>
            <a:fillRect/>
          </a:stretch>
        </p:blipFill>
        <p:spPr>
          <a:xfrm>
            <a:off x="667512" y="2907792"/>
            <a:ext cx="219456" cy="219456"/>
          </a:xfrm>
          <a:prstGeom prst="rect">
            <a:avLst/>
          </a:prstGeom>
        </p:spPr>
      </p:pic>
      <p:sp>
        <p:nvSpPr>
          <p:cNvPr id="13" name="Text 9"/>
          <p:cNvSpPr txBox="1"/>
          <p:nvPr/>
        </p:nvSpPr>
        <p:spPr>
          <a:xfrm>
            <a:off x="1188720" y="2743200"/>
            <a:ext cx="3566160" cy="320040"/>
          </a:xfrm>
          <a:prstGeom prst="rect">
            <a:avLst/>
          </a:prstGeom>
          <a:noFill/>
          <a:ln/>
        </p:spPr>
        <p:txBody>
          <a:bodyPr wrap="square" lIns="0" tIns="0" rIns="0" bIns="0" rtlCol="0" anchor="t"/>
          <a:lstStyle/>
          <a:p>
            <a:pPr marL="0" indent="0">
              <a:buNone/>
            </a:pPr>
            <a:r>
              <a:rPr lang="en-US" sz="1500" b="1" dirty="0">
                <a:solidFill>
                  <a:srgbClr val="2B2D31"/>
                </a:solidFill>
                <a:latin typeface="맑은 고딕" pitchFamily="34" charset="0"/>
                <a:ea typeface="맑은 고딕" pitchFamily="34" charset="-122"/>
                <a:cs typeface="맑은 고딕" pitchFamily="34" charset="-120"/>
              </a:rPr>
              <a:t>미국 고객 인터뷰 35건</a:t>
            </a:r>
            <a:endParaRPr lang="en-US" sz="1500" dirty="0"/>
          </a:p>
        </p:txBody>
      </p:sp>
      <p:sp>
        <p:nvSpPr>
          <p:cNvPr id="14" name="Text 10"/>
          <p:cNvSpPr txBox="1"/>
          <p:nvPr/>
        </p:nvSpPr>
        <p:spPr>
          <a:xfrm>
            <a:off x="1188720" y="3090672"/>
            <a:ext cx="3566160" cy="502920"/>
          </a:xfrm>
          <a:prstGeom prst="rect">
            <a:avLst/>
          </a:prstGeom>
          <a:noFill/>
          <a:ln/>
        </p:spPr>
        <p:txBody>
          <a:bodyPr wrap="square" lIns="0" tIns="0" rIns="0" bIns="0" rtlCol="0" anchor="t"/>
          <a:lstStyle/>
          <a:p>
            <a:pPr marL="0" indent="0">
              <a:buNone/>
            </a:pPr>
            <a:r>
              <a:rPr lang="en-US" sz="1200" dirty="0">
                <a:solidFill>
                  <a:srgbClr val="6B6F76"/>
                </a:solidFill>
                <a:latin typeface="맑은 고딕" pitchFamily="34" charset="0"/>
                <a:ea typeface="맑은 고딕" pitchFamily="34" charset="-122"/>
                <a:cs typeface="맑은 고딕" pitchFamily="34" charset="-120"/>
              </a:rPr>
              <a:t>Tex-Corps · 2026년 7월 · 타깃 확정</a:t>
            </a:r>
            <a:endParaRPr lang="en-US" sz="1200" dirty="0"/>
          </a:p>
        </p:txBody>
      </p:sp>
      <p:sp>
        <p:nvSpPr>
          <p:cNvPr id="21" name="Text 16"/>
          <p:cNvSpPr txBox="1"/>
          <p:nvPr/>
        </p:nvSpPr>
        <p:spPr>
          <a:xfrm>
            <a:off x="5212080" y="1371600"/>
            <a:ext cx="6430975" cy="320040"/>
          </a:xfrm>
          <a:prstGeom prst="rect">
            <a:avLst/>
          </a:prstGeom>
          <a:noFill/>
          <a:ln/>
        </p:spPr>
        <p:txBody>
          <a:bodyPr wrap="square" lIns="0" tIns="0" rIns="0" bIns="0" rtlCol="0" anchor="t"/>
          <a:lstStyle/>
          <a:p>
            <a:pPr marL="0" indent="0">
              <a:buNone/>
            </a:pPr>
            <a:r>
              <a:rPr lang="en-US" sz="1600" b="1" dirty="0">
                <a:solidFill>
                  <a:srgbClr val="B5501F"/>
                </a:solidFill>
                <a:latin typeface="맑은 고딕" pitchFamily="34" charset="0"/>
                <a:ea typeface="맑은 고딕" pitchFamily="34" charset="-122"/>
                <a:cs typeface="맑은 고딕" pitchFamily="34" charset="-120"/>
              </a:rPr>
              <a:t>다음 단계</a:t>
            </a:r>
            <a:endParaRPr lang="en-US" sz="1600" dirty="0"/>
          </a:p>
        </p:txBody>
      </p:sp>
      <p:sp>
        <p:nvSpPr>
          <p:cNvPr id="22" name="Shape 17"/>
          <p:cNvSpPr/>
          <p:nvPr/>
        </p:nvSpPr>
        <p:spPr>
          <a:xfrm>
            <a:off x="5212080" y="1810512"/>
            <a:ext cx="6430975" cy="786384"/>
          </a:xfrm>
          <a:prstGeom prst="roundRect">
            <a:avLst>
              <a:gd name="adj" fmla="val 9302"/>
            </a:avLst>
          </a:prstGeom>
          <a:solidFill>
            <a:srgbClr val="F3F4F6"/>
          </a:solidFill>
          <a:ln w="6350">
            <a:solidFill>
              <a:srgbClr val="F3F4F6"/>
            </a:solidFill>
            <a:prstDash val="solid"/>
          </a:ln>
        </p:spPr>
      </p:sp>
      <p:sp>
        <p:nvSpPr>
          <p:cNvPr id="23" name="Shape 18"/>
          <p:cNvSpPr/>
          <p:nvPr/>
        </p:nvSpPr>
        <p:spPr>
          <a:xfrm>
            <a:off x="5376672" y="1947672"/>
            <a:ext cx="512064" cy="512064"/>
          </a:xfrm>
          <a:prstGeom prst="ellipse">
            <a:avLst/>
          </a:prstGeom>
          <a:solidFill>
            <a:srgbClr val="2B2D31"/>
          </a:solidFill>
          <a:ln w="12700">
            <a:solidFill>
              <a:srgbClr val="2B2D31"/>
            </a:solidFill>
            <a:prstDash val="solid"/>
          </a:ln>
        </p:spPr>
      </p:sp>
      <p:pic>
        <p:nvPicPr>
          <p:cNvPr id="24" name="Image 3" descr="preencoded.png"/>
          <p:cNvPicPr>
            <a:picLocks noChangeAspect="1"/>
          </p:cNvPicPr>
          <p:nvPr/>
        </p:nvPicPr>
        <p:blipFill>
          <a:blip r:embed="rId4"/>
          <a:stretch>
            <a:fillRect/>
          </a:stretch>
        </p:blipFill>
        <p:spPr>
          <a:xfrm>
            <a:off x="5509809" y="2080809"/>
            <a:ext cx="245791" cy="245791"/>
          </a:xfrm>
          <a:prstGeom prst="rect">
            <a:avLst/>
          </a:prstGeom>
        </p:spPr>
      </p:pic>
      <p:sp>
        <p:nvSpPr>
          <p:cNvPr id="25" name="Text 19"/>
          <p:cNvSpPr txBox="1"/>
          <p:nvPr/>
        </p:nvSpPr>
        <p:spPr>
          <a:xfrm>
            <a:off x="6080760" y="1883664"/>
            <a:ext cx="5425135" cy="320040"/>
          </a:xfrm>
          <a:prstGeom prst="rect">
            <a:avLst/>
          </a:prstGeom>
          <a:noFill/>
          <a:ln/>
        </p:spPr>
        <p:txBody>
          <a:bodyPr wrap="square" lIns="0" tIns="0" rIns="0" bIns="0" rtlCol="0" anchor="t"/>
          <a:lstStyle/>
          <a:p>
            <a:pPr marL="0" indent="0">
              <a:buNone/>
            </a:pPr>
            <a:r>
              <a:rPr lang="en-US" sz="1450" b="1" dirty="0">
                <a:solidFill>
                  <a:srgbClr val="2B2D31"/>
                </a:solidFill>
                <a:latin typeface="맑은 고딕" pitchFamily="34" charset="0"/>
                <a:ea typeface="맑은 고딕" pitchFamily="34" charset="-122"/>
                <a:cs typeface="맑은 고딕" pitchFamily="34" charset="-120"/>
              </a:rPr>
              <a:t>비용 절감 근거 정량화</a:t>
            </a:r>
            <a:endParaRPr lang="en-US" sz="1450" dirty="0"/>
          </a:p>
        </p:txBody>
      </p:sp>
      <p:sp>
        <p:nvSpPr>
          <p:cNvPr id="26" name="Text 20"/>
          <p:cNvSpPr txBox="1"/>
          <p:nvPr/>
        </p:nvSpPr>
        <p:spPr>
          <a:xfrm>
            <a:off x="6080760" y="2212848"/>
            <a:ext cx="5425135" cy="320040"/>
          </a:xfrm>
          <a:prstGeom prst="rect">
            <a:avLst/>
          </a:prstGeom>
          <a:noFill/>
          <a:ln/>
        </p:spPr>
        <p:txBody>
          <a:bodyPr wrap="square" lIns="0" tIns="0" rIns="0" bIns="0" rtlCol="0" anchor="t"/>
          <a:lstStyle/>
          <a:p>
            <a:pPr marL="0" indent="0">
              <a:buNone/>
            </a:pPr>
            <a:r>
              <a:rPr lang="en-US" sz="1200" dirty="0">
                <a:solidFill>
                  <a:srgbClr val="6B6F76"/>
                </a:solidFill>
                <a:latin typeface="맑은 고딕" pitchFamily="34" charset="0"/>
                <a:ea typeface="맑은 고딕" pitchFamily="34" charset="-122"/>
                <a:cs typeface="맑은 고딕" pitchFamily="34" charset="-120"/>
              </a:rPr>
              <a:t>선박 일수 · 리프트/로프 액세스 임대 · 문서 작업 시간 절감액으로 ROI 산출</a:t>
            </a:r>
            <a:endParaRPr lang="en-US" sz="1200" dirty="0"/>
          </a:p>
        </p:txBody>
      </p:sp>
      <p:sp>
        <p:nvSpPr>
          <p:cNvPr id="27" name="Shape 21"/>
          <p:cNvSpPr/>
          <p:nvPr/>
        </p:nvSpPr>
        <p:spPr>
          <a:xfrm>
            <a:off x="5212080" y="2706624"/>
            <a:ext cx="6430975" cy="786384"/>
          </a:xfrm>
          <a:prstGeom prst="roundRect">
            <a:avLst>
              <a:gd name="adj" fmla="val 9302"/>
            </a:avLst>
          </a:prstGeom>
          <a:solidFill>
            <a:srgbClr val="F3F4F6"/>
          </a:solidFill>
          <a:ln w="6350">
            <a:solidFill>
              <a:srgbClr val="F3F4F6"/>
            </a:solidFill>
            <a:prstDash val="solid"/>
          </a:ln>
        </p:spPr>
      </p:sp>
      <p:sp>
        <p:nvSpPr>
          <p:cNvPr id="28" name="Shape 22"/>
          <p:cNvSpPr/>
          <p:nvPr/>
        </p:nvSpPr>
        <p:spPr>
          <a:xfrm>
            <a:off x="5376672" y="2843784"/>
            <a:ext cx="512064" cy="512064"/>
          </a:xfrm>
          <a:prstGeom prst="ellipse">
            <a:avLst/>
          </a:prstGeom>
          <a:solidFill>
            <a:srgbClr val="2B2D31"/>
          </a:solidFill>
          <a:ln w="12700">
            <a:solidFill>
              <a:srgbClr val="2B2D31"/>
            </a:solidFill>
            <a:prstDash val="solid"/>
          </a:ln>
        </p:spPr>
      </p:sp>
      <p:pic>
        <p:nvPicPr>
          <p:cNvPr id="29" name="Image 4" descr="preencoded.png"/>
          <p:cNvPicPr>
            <a:picLocks noChangeAspect="1"/>
          </p:cNvPicPr>
          <p:nvPr/>
        </p:nvPicPr>
        <p:blipFill>
          <a:blip r:embed="rId5"/>
          <a:stretch>
            <a:fillRect/>
          </a:stretch>
        </p:blipFill>
        <p:spPr>
          <a:xfrm>
            <a:off x="5509809" y="2976921"/>
            <a:ext cx="245791" cy="245791"/>
          </a:xfrm>
          <a:prstGeom prst="rect">
            <a:avLst/>
          </a:prstGeom>
        </p:spPr>
      </p:pic>
      <p:sp>
        <p:nvSpPr>
          <p:cNvPr id="30" name="Text 23"/>
          <p:cNvSpPr txBox="1"/>
          <p:nvPr/>
        </p:nvSpPr>
        <p:spPr>
          <a:xfrm>
            <a:off x="6080760" y="2779776"/>
            <a:ext cx="5425135" cy="320040"/>
          </a:xfrm>
          <a:prstGeom prst="rect">
            <a:avLst/>
          </a:prstGeom>
          <a:noFill/>
          <a:ln/>
        </p:spPr>
        <p:txBody>
          <a:bodyPr wrap="square" lIns="0" tIns="0" rIns="0" bIns="0" rtlCol="0" anchor="t"/>
          <a:lstStyle/>
          <a:p>
            <a:pPr marL="0" indent="0">
              <a:buNone/>
            </a:pPr>
            <a:r>
              <a:rPr lang="en-US" sz="1450" b="1" dirty="0">
                <a:solidFill>
                  <a:srgbClr val="2B2D31"/>
                </a:solidFill>
                <a:latin typeface="맑은 고딕" pitchFamily="34" charset="0"/>
                <a:ea typeface="맑은 고딕" pitchFamily="34" charset="-122"/>
                <a:cs typeface="맑은 고딕" pitchFamily="34" charset="-120"/>
              </a:rPr>
              <a:t>두께 측정 데이터 결합</a:t>
            </a:r>
            <a:endParaRPr lang="en-US" sz="1450" dirty="0"/>
          </a:p>
        </p:txBody>
      </p:sp>
      <p:sp>
        <p:nvSpPr>
          <p:cNvPr id="31" name="Text 24"/>
          <p:cNvSpPr txBox="1"/>
          <p:nvPr/>
        </p:nvSpPr>
        <p:spPr>
          <a:xfrm>
            <a:off x="6080760" y="3108960"/>
            <a:ext cx="5425135" cy="320040"/>
          </a:xfrm>
          <a:prstGeom prst="rect">
            <a:avLst/>
          </a:prstGeom>
          <a:noFill/>
          <a:ln/>
        </p:spPr>
        <p:txBody>
          <a:bodyPr wrap="square" lIns="0" tIns="0" rIns="0" bIns="0" rtlCol="0" anchor="t"/>
          <a:lstStyle/>
          <a:p>
            <a:pPr marL="0" indent="0">
              <a:buNone/>
            </a:pPr>
            <a:r>
              <a:rPr lang="en-US" sz="1200" dirty="0">
                <a:solidFill>
                  <a:srgbClr val="6B6F76"/>
                </a:solidFill>
                <a:latin typeface="맑은 고딕" pitchFamily="34" charset="0"/>
                <a:ea typeface="맑은 고딕" pitchFamily="34" charset="-122"/>
                <a:cs typeface="맑은 고딕" pitchFamily="34" charset="-120"/>
              </a:rPr>
              <a:t>사진이 못 보는 두께 감소를 보정해 예측 정확도 향상</a:t>
            </a:r>
            <a:endParaRPr lang="en-US" sz="1200" dirty="0"/>
          </a:p>
        </p:txBody>
      </p:sp>
      <p:sp>
        <p:nvSpPr>
          <p:cNvPr id="32" name="Shape 25"/>
          <p:cNvSpPr/>
          <p:nvPr/>
        </p:nvSpPr>
        <p:spPr>
          <a:xfrm>
            <a:off x="5212080" y="3602736"/>
            <a:ext cx="6430975" cy="786384"/>
          </a:xfrm>
          <a:prstGeom prst="roundRect">
            <a:avLst>
              <a:gd name="adj" fmla="val 9302"/>
            </a:avLst>
          </a:prstGeom>
          <a:solidFill>
            <a:srgbClr val="F3F4F6"/>
          </a:solidFill>
          <a:ln w="6350">
            <a:solidFill>
              <a:srgbClr val="F3F4F6"/>
            </a:solidFill>
            <a:prstDash val="solid"/>
          </a:ln>
        </p:spPr>
      </p:sp>
      <p:sp>
        <p:nvSpPr>
          <p:cNvPr id="33" name="Shape 26"/>
          <p:cNvSpPr/>
          <p:nvPr/>
        </p:nvSpPr>
        <p:spPr>
          <a:xfrm>
            <a:off x="5376672" y="3739896"/>
            <a:ext cx="512064" cy="512064"/>
          </a:xfrm>
          <a:prstGeom prst="ellipse">
            <a:avLst/>
          </a:prstGeom>
          <a:solidFill>
            <a:srgbClr val="2B2D31"/>
          </a:solidFill>
          <a:ln w="12700">
            <a:solidFill>
              <a:srgbClr val="2B2D31"/>
            </a:solidFill>
            <a:prstDash val="solid"/>
          </a:ln>
        </p:spPr>
      </p:sp>
      <p:pic>
        <p:nvPicPr>
          <p:cNvPr id="34" name="Image 5" descr="preencoded.png"/>
          <p:cNvPicPr>
            <a:picLocks noChangeAspect="1"/>
          </p:cNvPicPr>
          <p:nvPr/>
        </p:nvPicPr>
        <p:blipFill>
          <a:blip r:embed="rId6"/>
          <a:stretch>
            <a:fillRect/>
          </a:stretch>
        </p:blipFill>
        <p:spPr>
          <a:xfrm>
            <a:off x="5509809" y="3873033"/>
            <a:ext cx="245791" cy="245791"/>
          </a:xfrm>
          <a:prstGeom prst="rect">
            <a:avLst/>
          </a:prstGeom>
        </p:spPr>
      </p:pic>
      <p:sp>
        <p:nvSpPr>
          <p:cNvPr id="35" name="Text 27"/>
          <p:cNvSpPr txBox="1"/>
          <p:nvPr/>
        </p:nvSpPr>
        <p:spPr>
          <a:xfrm>
            <a:off x="6080760" y="3675888"/>
            <a:ext cx="5425135" cy="320040"/>
          </a:xfrm>
          <a:prstGeom prst="rect">
            <a:avLst/>
          </a:prstGeom>
          <a:noFill/>
          <a:ln/>
        </p:spPr>
        <p:txBody>
          <a:bodyPr wrap="square" lIns="0" tIns="0" rIns="0" bIns="0" rtlCol="0" anchor="t"/>
          <a:lstStyle/>
          <a:p>
            <a:pPr marL="0" indent="0">
              <a:buNone/>
            </a:pPr>
            <a:r>
              <a:rPr lang="en-US" sz="1450" b="1" dirty="0">
                <a:solidFill>
                  <a:srgbClr val="2B2D31"/>
                </a:solidFill>
                <a:latin typeface="맑은 고딕" pitchFamily="34" charset="0"/>
                <a:ea typeface="맑은 고딕" pitchFamily="34" charset="-122"/>
                <a:cs typeface="맑은 고딕" pitchFamily="34" charset="-120"/>
              </a:rPr>
              <a:t>유망 현장 심화</a:t>
            </a:r>
            <a:endParaRPr lang="en-US" sz="1450" dirty="0"/>
          </a:p>
        </p:txBody>
      </p:sp>
      <p:sp>
        <p:nvSpPr>
          <p:cNvPr id="36" name="Text 28"/>
          <p:cNvSpPr txBox="1"/>
          <p:nvPr/>
        </p:nvSpPr>
        <p:spPr>
          <a:xfrm>
            <a:off x="6080760" y="4005072"/>
            <a:ext cx="5425135" cy="320040"/>
          </a:xfrm>
          <a:prstGeom prst="rect">
            <a:avLst/>
          </a:prstGeom>
          <a:noFill/>
          <a:ln/>
        </p:spPr>
        <p:txBody>
          <a:bodyPr wrap="square" lIns="0" tIns="0" rIns="0" bIns="0" rtlCol="0" anchor="t"/>
          <a:lstStyle/>
          <a:p>
            <a:pPr marL="0" indent="0">
              <a:buNone/>
            </a:pPr>
            <a:r>
              <a:rPr lang="en-US" sz="1200" dirty="0">
                <a:solidFill>
                  <a:srgbClr val="6B6F76"/>
                </a:solidFill>
                <a:latin typeface="맑은 고딕" pitchFamily="34" charset="0"/>
                <a:ea typeface="맑은 고딕" pitchFamily="34" charset="-122"/>
                <a:cs typeface="맑은 고딕" pitchFamily="34" charset="-120"/>
              </a:rPr>
              <a:t>미드스트림 압축 기지 · 비말대, 라이저 지지 프레임이 있는 해양 플랫폼</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1F2226"/>
        </a:solidFill>
      </p:bgPr>
    </p:bg>
    <p:spTree>
      <p:nvGrpSpPr>
        <p:cNvPr id="1" name=""/>
        <p:cNvGrpSpPr/>
        <p:nvPr/>
      </p:nvGrpSpPr>
      <p:grpSpPr>
        <a:xfrm>
          <a:off x="0" y="0"/>
          <a:ext cx="0" cy="0"/>
          <a:chOff x="0" y="0"/>
          <a:chExt cx="0" cy="0"/>
        </a:xfrm>
      </p:grpSpPr>
      <p:sp>
        <p:nvSpPr>
          <p:cNvPr id="2" name="Text 0"/>
          <p:cNvSpPr txBox="1"/>
          <p:nvPr/>
        </p:nvSpPr>
        <p:spPr>
          <a:xfrm>
            <a:off x="0" y="1600200"/>
            <a:ext cx="12191695" cy="457200"/>
          </a:xfrm>
          <a:prstGeom prst="rect">
            <a:avLst/>
          </a:prstGeom>
          <a:noFill/>
          <a:ln/>
        </p:spPr>
        <p:txBody>
          <a:bodyPr wrap="square" lIns="0" tIns="0" rIns="0" bIns="0" rtlCol="0" anchor="t"/>
          <a:lstStyle/>
          <a:p>
            <a:pPr algn="ctr" indent="0" marL="0">
              <a:buNone/>
            </a:pPr>
            <a:r>
              <a:rPr lang="en-US" sz="2200" b="1" spc="600" kern="0" dirty="0">
                <a:solidFill>
                  <a:srgbClr val="E8A87C"/>
                </a:solidFill>
                <a:latin typeface="맑은 고딕" pitchFamily="34" charset="0"/>
                <a:ea typeface="맑은 고딕" pitchFamily="34" charset="-122"/>
                <a:cs typeface="맑은 고딕" pitchFamily="34" charset="-120"/>
              </a:rPr>
              <a:t>MLC</a:t>
            </a:r>
            <a:endParaRPr lang="en-US" sz="2200" dirty="0"/>
          </a:p>
        </p:txBody>
      </p:sp>
      <p:sp>
        <p:nvSpPr>
          <p:cNvPr id="3" name="Text 1"/>
          <p:cNvSpPr txBox="1"/>
          <p:nvPr/>
        </p:nvSpPr>
        <p:spPr>
          <a:xfrm>
            <a:off x="0" y="2148840"/>
            <a:ext cx="12191695"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맑은 고딕" pitchFamily="34" charset="0"/>
                <a:ea typeface="맑은 고딕" pitchFamily="34" charset="-122"/>
                <a:cs typeface="맑은 고딕" pitchFamily="34" charset="-120"/>
              </a:rPr>
              <a:t>감사합니다</a:t>
            </a:r>
            <a:endParaRPr lang="en-US" sz="5400" dirty="0"/>
          </a:p>
        </p:txBody>
      </p:sp>
      <p:sp>
        <p:nvSpPr>
          <p:cNvPr id="4" name="Text 2"/>
          <p:cNvSpPr txBox="1"/>
          <p:nvPr/>
        </p:nvSpPr>
        <p:spPr>
          <a:xfrm>
            <a:off x="0" y="3337560"/>
            <a:ext cx="12191695" cy="457200"/>
          </a:xfrm>
          <a:prstGeom prst="rect">
            <a:avLst/>
          </a:prstGeom>
          <a:noFill/>
          <a:ln/>
        </p:spPr>
        <p:txBody>
          <a:bodyPr wrap="square" lIns="0" tIns="0" rIns="0" bIns="0" rtlCol="0" anchor="t"/>
          <a:lstStyle/>
          <a:p>
            <a:pPr algn="ctr" indent="0" marL="0">
              <a:buNone/>
            </a:pPr>
            <a:r>
              <a:rPr lang="en-US" sz="2000" dirty="0">
                <a:solidFill>
                  <a:srgbClr val="E8A87C"/>
                </a:solidFill>
                <a:latin typeface="맑은 고딕" pitchFamily="34" charset="0"/>
                <a:ea typeface="맑은 고딕" pitchFamily="34" charset="-122"/>
                <a:cs typeface="맑은 고딕" pitchFamily="34" charset="-120"/>
              </a:rPr>
              <a:t>어디부터 점검할지, 녹의 색이 먼저 알려드립니다</a:t>
            </a:r>
            <a:endParaRPr lang="en-US" sz="2000" dirty="0"/>
          </a:p>
        </p:txBody>
      </p:sp>
      <p:sp>
        <p:nvSpPr>
          <p:cNvPr id="5" name="Shape 3"/>
          <p:cNvSpPr/>
          <p:nvPr/>
        </p:nvSpPr>
        <p:spPr>
          <a:xfrm>
            <a:off x="4075024" y="4206240"/>
            <a:ext cx="384048" cy="384048"/>
          </a:xfrm>
          <a:prstGeom prst="rect">
            <a:avLst/>
          </a:prstGeom>
          <a:solidFill>
            <a:srgbClr val="4F4F50"/>
          </a:solidFill>
          <a:ln w="9525">
            <a:solidFill>
              <a:srgbClr val="3A3D42"/>
            </a:solidFill>
            <a:prstDash val="solid"/>
          </a:ln>
        </p:spPr>
      </p:sp>
      <p:sp>
        <p:nvSpPr>
          <p:cNvPr id="6" name="Shape 4"/>
          <p:cNvSpPr/>
          <p:nvPr/>
        </p:nvSpPr>
        <p:spPr>
          <a:xfrm>
            <a:off x="4532224" y="4206240"/>
            <a:ext cx="384048" cy="384048"/>
          </a:xfrm>
          <a:prstGeom prst="rect">
            <a:avLst/>
          </a:prstGeom>
          <a:solidFill>
            <a:srgbClr val="484744"/>
          </a:solidFill>
          <a:ln w="9525">
            <a:solidFill>
              <a:srgbClr val="3A3D42"/>
            </a:solidFill>
            <a:prstDash val="solid"/>
          </a:ln>
        </p:spPr>
      </p:sp>
      <p:sp>
        <p:nvSpPr>
          <p:cNvPr id="7" name="Shape 5"/>
          <p:cNvSpPr/>
          <p:nvPr/>
        </p:nvSpPr>
        <p:spPr>
          <a:xfrm>
            <a:off x="4989424" y="4206240"/>
            <a:ext cx="384048" cy="384048"/>
          </a:xfrm>
          <a:prstGeom prst="rect">
            <a:avLst/>
          </a:prstGeom>
          <a:solidFill>
            <a:srgbClr val="4C4B47"/>
          </a:solidFill>
          <a:ln w="9525">
            <a:solidFill>
              <a:srgbClr val="3A3D42"/>
            </a:solidFill>
            <a:prstDash val="solid"/>
          </a:ln>
        </p:spPr>
      </p:sp>
      <p:sp>
        <p:nvSpPr>
          <p:cNvPr id="8" name="Shape 6"/>
          <p:cNvSpPr/>
          <p:nvPr/>
        </p:nvSpPr>
        <p:spPr>
          <a:xfrm>
            <a:off x="5446624" y="4206240"/>
            <a:ext cx="384048" cy="384048"/>
          </a:xfrm>
          <a:prstGeom prst="rect">
            <a:avLst/>
          </a:prstGeom>
          <a:solidFill>
            <a:srgbClr val="484744"/>
          </a:solidFill>
          <a:ln w="9525">
            <a:solidFill>
              <a:srgbClr val="3A3D42"/>
            </a:solidFill>
            <a:prstDash val="solid"/>
          </a:ln>
        </p:spPr>
      </p:sp>
      <p:sp>
        <p:nvSpPr>
          <p:cNvPr id="9" name="Shape 7"/>
          <p:cNvSpPr/>
          <p:nvPr/>
        </p:nvSpPr>
        <p:spPr>
          <a:xfrm>
            <a:off x="5903824" y="4206240"/>
            <a:ext cx="384048" cy="384048"/>
          </a:xfrm>
          <a:prstGeom prst="rect">
            <a:avLst/>
          </a:prstGeom>
          <a:solidFill>
            <a:srgbClr val="484138"/>
          </a:solidFill>
          <a:ln w="9525">
            <a:solidFill>
              <a:srgbClr val="3A3D42"/>
            </a:solidFill>
            <a:prstDash val="solid"/>
          </a:ln>
        </p:spPr>
      </p:sp>
      <p:sp>
        <p:nvSpPr>
          <p:cNvPr id="10" name="Shape 8"/>
          <p:cNvSpPr/>
          <p:nvPr/>
        </p:nvSpPr>
        <p:spPr>
          <a:xfrm>
            <a:off x="6361024" y="4206240"/>
            <a:ext cx="384048" cy="384048"/>
          </a:xfrm>
          <a:prstGeom prst="rect">
            <a:avLst/>
          </a:prstGeom>
          <a:solidFill>
            <a:srgbClr val="4E3F2F"/>
          </a:solidFill>
          <a:ln w="9525">
            <a:solidFill>
              <a:srgbClr val="3A3D42"/>
            </a:solidFill>
            <a:prstDash val="solid"/>
          </a:ln>
        </p:spPr>
      </p:sp>
      <p:sp>
        <p:nvSpPr>
          <p:cNvPr id="11" name="Shape 9"/>
          <p:cNvSpPr/>
          <p:nvPr/>
        </p:nvSpPr>
        <p:spPr>
          <a:xfrm>
            <a:off x="6818224" y="4206240"/>
            <a:ext cx="384048" cy="384048"/>
          </a:xfrm>
          <a:prstGeom prst="rect">
            <a:avLst/>
          </a:prstGeom>
          <a:solidFill>
            <a:srgbClr val="4E3C2C"/>
          </a:solidFill>
          <a:ln w="9525">
            <a:solidFill>
              <a:srgbClr val="3A3D42"/>
            </a:solidFill>
            <a:prstDash val="solid"/>
          </a:ln>
        </p:spPr>
      </p:sp>
      <p:sp>
        <p:nvSpPr>
          <p:cNvPr id="12" name="Shape 10"/>
          <p:cNvSpPr/>
          <p:nvPr/>
        </p:nvSpPr>
        <p:spPr>
          <a:xfrm>
            <a:off x="7275424" y="4206240"/>
            <a:ext cx="384048" cy="384048"/>
          </a:xfrm>
          <a:prstGeom prst="rect">
            <a:avLst/>
          </a:prstGeom>
          <a:solidFill>
            <a:srgbClr val="4E3C2B"/>
          </a:solidFill>
          <a:ln w="9525">
            <a:solidFill>
              <a:srgbClr val="3A3D42"/>
            </a:solidFill>
            <a:prstDash val="solid"/>
          </a:ln>
        </p:spPr>
      </p:sp>
      <p:sp>
        <p:nvSpPr>
          <p:cNvPr id="13" name="Shape 11"/>
          <p:cNvSpPr/>
          <p:nvPr/>
        </p:nvSpPr>
        <p:spPr>
          <a:xfrm>
            <a:off x="7732624" y="4206240"/>
            <a:ext cx="384048" cy="384048"/>
          </a:xfrm>
          <a:prstGeom prst="rect">
            <a:avLst/>
          </a:prstGeom>
          <a:solidFill>
            <a:srgbClr val="493C2C"/>
          </a:solidFill>
          <a:ln w="9525">
            <a:solidFill>
              <a:srgbClr val="3A3D42"/>
            </a:solidFill>
            <a:prstDash val="solid"/>
          </a:ln>
        </p:spPr>
      </p:sp>
      <p:sp>
        <p:nvSpPr>
          <p:cNvPr id="14" name="Text 12"/>
          <p:cNvSpPr txBox="1"/>
          <p:nvPr/>
        </p:nvSpPr>
        <p:spPr>
          <a:xfrm>
            <a:off x="0" y="5074920"/>
            <a:ext cx="12191695" cy="365760"/>
          </a:xfrm>
          <a:prstGeom prst="rect">
            <a:avLst/>
          </a:prstGeom>
          <a:noFill/>
          <a:ln/>
        </p:spPr>
        <p:txBody>
          <a:bodyPr wrap="square" lIns="0" tIns="0" rIns="0" bIns="0" rtlCol="0" anchor="ctr"/>
          <a:lstStyle/>
          <a:p>
            <a:pPr algn="ctr" indent="0" marL="0">
              <a:buNone/>
            </a:pPr>
            <a:r>
              <a:rPr lang="en-US" sz="1300" dirty="0">
                <a:solidFill>
                  <a:srgbClr val="A3A7AD"/>
                </a:solidFill>
                <a:latin typeface="맑은 고딕" pitchFamily="34" charset="0"/>
                <a:ea typeface="맑은 고딕" pitchFamily="34" charset="-122"/>
                <a:cs typeface="맑은 고딕" pitchFamily="34" charset="-120"/>
              </a:rPr>
              <a:t>우성훈 · 박준범   |   경상국립대학교 기계시스템공학과   |   zscfvgbb@naver.com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100" kern="0" dirty="0">
                <a:solidFill>
                  <a:srgbClr val="B5501F"/>
                </a:solidFill>
                <a:latin typeface="맑은 고딕" pitchFamily="34" charset="0"/>
                <a:ea typeface="맑은 고딕" pitchFamily="34" charset="-122"/>
                <a:cs typeface="맑은 고딕" pitchFamily="34" charset="-120"/>
              </a:rPr>
              <a:t>WHY CORROSION</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2800" b="1" dirty="0">
                <a:solidFill>
                  <a:srgbClr val="2B2D31"/>
                </a:solidFill>
                <a:latin typeface="맑은 고딕" pitchFamily="34" charset="0"/>
                <a:ea typeface="맑은 고딕" pitchFamily="34" charset="-122"/>
                <a:cs typeface="맑은 고딕" pitchFamily="34" charset="-120"/>
              </a:rPr>
              <a:t>부식의 경제적 · 환경적 비용</a:t>
            </a:r>
            <a:endParaRPr lang="en-US" sz="2800" dirty="0"/>
          </a:p>
        </p:txBody>
      </p:sp>
      <p:sp>
        <p:nvSpPr>
          <p:cNvPr id="4" name="Shape 2"/>
          <p:cNvSpPr/>
          <p:nvPr/>
        </p:nvSpPr>
        <p:spPr>
          <a:xfrm>
            <a:off x="548640" y="1463040"/>
            <a:ext cx="3515258" cy="3383280"/>
          </a:xfrm>
          <a:prstGeom prst="roundRect">
            <a:avLst>
              <a:gd name="adj" fmla="val 2162"/>
            </a:avLst>
          </a:prstGeom>
          <a:solidFill>
            <a:srgbClr val="FBEDE4"/>
          </a:solidFill>
          <a:ln w="12700">
            <a:solidFill>
              <a:srgbClr val="FBEDE4"/>
            </a:solidFill>
            <a:prstDash val="solid"/>
          </a:ln>
        </p:spPr>
      </p:sp>
      <p:sp>
        <p:nvSpPr>
          <p:cNvPr id="5" name="Shape 3"/>
          <p:cNvSpPr/>
          <p:nvPr/>
        </p:nvSpPr>
        <p:spPr>
          <a:xfrm>
            <a:off x="868680" y="1783080"/>
            <a:ext cx="685800" cy="685800"/>
          </a:xfrm>
          <a:prstGeom prst="ellipse">
            <a:avLst/>
          </a:prstGeom>
          <a:solidFill>
            <a:srgbClr val="B5501F"/>
          </a:solidFill>
          <a:ln w="12700">
            <a:solidFill>
              <a:srgbClr val="B5501F"/>
            </a:solidFill>
            <a:prstDash val="solid"/>
          </a:ln>
        </p:spPr>
      </p:sp>
      <p:pic>
        <p:nvPicPr>
          <p:cNvPr id="6" name="Image 0" descr="preencoded.png">    </p:cNvPr>
          <p:cNvPicPr>
            <a:picLocks noChangeAspect="1"/>
          </p:cNvPicPr>
          <p:nvPr/>
        </p:nvPicPr>
        <p:blipFill>
          <a:blip r:embed="rId1"/>
          <a:stretch>
            <a:fillRect/>
          </a:stretch>
        </p:blipFill>
        <p:spPr>
          <a:xfrm>
            <a:off x="1046988" y="1961388"/>
            <a:ext cx="329184" cy="329184"/>
          </a:xfrm>
          <a:prstGeom prst="rect">
            <a:avLst/>
          </a:prstGeom>
        </p:spPr>
      </p:pic>
      <p:sp>
        <p:nvSpPr>
          <p:cNvPr id="7" name="Text 4"/>
          <p:cNvSpPr txBox="1"/>
          <p:nvPr/>
        </p:nvSpPr>
        <p:spPr>
          <a:xfrm>
            <a:off x="868680" y="2606040"/>
            <a:ext cx="2966618" cy="822960"/>
          </a:xfrm>
          <a:prstGeom prst="rect">
            <a:avLst/>
          </a:prstGeom>
          <a:noFill/>
          <a:ln/>
        </p:spPr>
        <p:txBody>
          <a:bodyPr wrap="square" lIns="0" tIns="0" rIns="0" bIns="0" rtlCol="0" anchor="ctr"/>
          <a:lstStyle/>
          <a:p>
            <a:pPr indent="0" marL="0">
              <a:buNone/>
            </a:pPr>
            <a:r>
              <a:rPr lang="en-US" sz="4000" b="1" dirty="0">
                <a:solidFill>
                  <a:srgbClr val="B5501F"/>
                </a:solidFill>
                <a:latin typeface="맑은 고딕" pitchFamily="34" charset="0"/>
                <a:ea typeface="맑은 고딕" pitchFamily="34" charset="-122"/>
                <a:cs typeface="맑은 고딕" pitchFamily="34" charset="-120"/>
              </a:rPr>
              <a:t>US$ 2.5조</a:t>
            </a:r>
            <a:endParaRPr lang="en-US" sz="4000" dirty="0"/>
          </a:p>
        </p:txBody>
      </p:sp>
      <p:sp>
        <p:nvSpPr>
          <p:cNvPr id="8" name="Text 5"/>
          <p:cNvSpPr txBox="1"/>
          <p:nvPr/>
        </p:nvSpPr>
        <p:spPr>
          <a:xfrm>
            <a:off x="868680" y="3474720"/>
            <a:ext cx="2966618" cy="685800"/>
          </a:xfrm>
          <a:prstGeom prst="rect">
            <a:avLst/>
          </a:prstGeom>
          <a:noFill/>
          <a:ln/>
        </p:spPr>
        <p:txBody>
          <a:bodyPr wrap="square" lIns="0" tIns="0" rIns="0" bIns="0" rtlCol="0" anchor="t"/>
          <a:lstStyle/>
          <a:p>
            <a:pPr indent="0" marL="0">
              <a:buNone/>
            </a:pPr>
            <a:r>
              <a:rPr lang="en-US" sz="1450" b="1" dirty="0">
                <a:solidFill>
                  <a:srgbClr val="2B2D31"/>
                </a:solidFill>
                <a:latin typeface="맑은 고딕" pitchFamily="34" charset="0"/>
                <a:ea typeface="맑은 고딕" pitchFamily="34" charset="-122"/>
                <a:cs typeface="맑은 고딕" pitchFamily="34" charset="-120"/>
              </a:rPr>
              <a:t>연간 전 세계 부식 비용</a:t>
            </a:r>
            <a:endParaRPr lang="en-US" sz="1450" dirty="0"/>
          </a:p>
        </p:txBody>
      </p:sp>
      <p:sp>
        <p:nvSpPr>
          <p:cNvPr id="9" name="Text 6"/>
          <p:cNvSpPr txBox="1"/>
          <p:nvPr/>
        </p:nvSpPr>
        <p:spPr>
          <a:xfrm>
            <a:off x="868680" y="4160520"/>
            <a:ext cx="2966618" cy="32004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세계 GDP의 약 3.4%</a:t>
            </a:r>
            <a:endParaRPr lang="en-US" sz="1250" dirty="0"/>
          </a:p>
        </p:txBody>
      </p:sp>
      <p:sp>
        <p:nvSpPr>
          <p:cNvPr id="10" name="Text 7"/>
          <p:cNvSpPr txBox="1"/>
          <p:nvPr/>
        </p:nvSpPr>
        <p:spPr>
          <a:xfrm>
            <a:off x="868680" y="4462272"/>
            <a:ext cx="2966618" cy="274320"/>
          </a:xfrm>
          <a:prstGeom prst="rect">
            <a:avLst/>
          </a:prstGeom>
          <a:noFill/>
          <a:ln/>
        </p:spPr>
        <p:txBody>
          <a:bodyPr wrap="square" lIns="0" tIns="0" rIns="0" bIns="0" rtlCol="0" anchor="t"/>
          <a:lstStyle/>
          <a:p>
            <a:pPr indent="0" marL="0">
              <a:buNone/>
            </a:pPr>
            <a:r>
              <a:rPr lang="en-US" sz="1000" i="1" dirty="0">
                <a:solidFill>
                  <a:srgbClr val="A3A7AD"/>
                </a:solidFill>
                <a:latin typeface="맑은 고딕" pitchFamily="34" charset="0"/>
                <a:ea typeface="맑은 고딕" pitchFamily="34" charset="-122"/>
                <a:cs typeface="맑은 고딕" pitchFamily="34" charset="-120"/>
              </a:rPr>
              <a:t>NACE IMPACT (2016) · AMPP 2025 인용</a:t>
            </a:r>
            <a:endParaRPr lang="en-US" sz="1000" dirty="0"/>
          </a:p>
        </p:txBody>
      </p:sp>
      <p:sp>
        <p:nvSpPr>
          <p:cNvPr id="11" name="Shape 8"/>
          <p:cNvSpPr/>
          <p:nvPr/>
        </p:nvSpPr>
        <p:spPr>
          <a:xfrm>
            <a:off x="4338218" y="1463040"/>
            <a:ext cx="3515258" cy="3383280"/>
          </a:xfrm>
          <a:prstGeom prst="roundRect">
            <a:avLst>
              <a:gd name="adj" fmla="val 2162"/>
            </a:avLst>
          </a:prstGeom>
          <a:solidFill>
            <a:srgbClr val="F3F4F6"/>
          </a:solidFill>
          <a:ln w="12700">
            <a:solidFill>
              <a:srgbClr val="F3F4F6"/>
            </a:solidFill>
            <a:prstDash val="solid"/>
          </a:ln>
        </p:spPr>
      </p:sp>
      <p:sp>
        <p:nvSpPr>
          <p:cNvPr id="12" name="Shape 9"/>
          <p:cNvSpPr/>
          <p:nvPr/>
        </p:nvSpPr>
        <p:spPr>
          <a:xfrm>
            <a:off x="4658258" y="1783080"/>
            <a:ext cx="685800" cy="685800"/>
          </a:xfrm>
          <a:prstGeom prst="ellipse">
            <a:avLst/>
          </a:prstGeom>
          <a:solidFill>
            <a:srgbClr val="2B2D31"/>
          </a:solidFill>
          <a:ln w="12700">
            <a:solidFill>
              <a:srgbClr val="2B2D31"/>
            </a:solidFill>
            <a:prstDash val="solid"/>
          </a:ln>
        </p:spPr>
      </p:sp>
      <p:pic>
        <p:nvPicPr>
          <p:cNvPr id="13" name="Image 1" descr="preencoded.png">    </p:cNvPr>
          <p:cNvPicPr>
            <a:picLocks noChangeAspect="1"/>
          </p:cNvPicPr>
          <p:nvPr/>
        </p:nvPicPr>
        <p:blipFill>
          <a:blip r:embed="rId2"/>
          <a:stretch>
            <a:fillRect/>
          </a:stretch>
        </p:blipFill>
        <p:spPr>
          <a:xfrm>
            <a:off x="4836566" y="1961388"/>
            <a:ext cx="329184" cy="329184"/>
          </a:xfrm>
          <a:prstGeom prst="rect">
            <a:avLst/>
          </a:prstGeom>
        </p:spPr>
      </p:pic>
      <p:sp>
        <p:nvSpPr>
          <p:cNvPr id="14" name="Text 10"/>
          <p:cNvSpPr txBox="1"/>
          <p:nvPr/>
        </p:nvSpPr>
        <p:spPr>
          <a:xfrm>
            <a:off x="4658258" y="2606040"/>
            <a:ext cx="2966618" cy="822960"/>
          </a:xfrm>
          <a:prstGeom prst="rect">
            <a:avLst/>
          </a:prstGeom>
          <a:noFill/>
          <a:ln/>
        </p:spPr>
        <p:txBody>
          <a:bodyPr wrap="square" lIns="0" tIns="0" rIns="0" bIns="0" rtlCol="0" anchor="ctr"/>
          <a:lstStyle/>
          <a:p>
            <a:pPr indent="0" marL="0">
              <a:buNone/>
            </a:pPr>
            <a:r>
              <a:rPr lang="en-US" sz="4000" b="1" dirty="0">
                <a:solidFill>
                  <a:srgbClr val="B5501F"/>
                </a:solidFill>
                <a:latin typeface="맑은 고딕" pitchFamily="34" charset="0"/>
                <a:ea typeface="맑은 고딕" pitchFamily="34" charset="-122"/>
                <a:cs typeface="맑은 고딕" pitchFamily="34" charset="-120"/>
              </a:rPr>
              <a:t>1.6–3.4%</a:t>
            </a:r>
            <a:endParaRPr lang="en-US" sz="4000" dirty="0"/>
          </a:p>
        </p:txBody>
      </p:sp>
      <p:sp>
        <p:nvSpPr>
          <p:cNvPr id="15" name="Text 11"/>
          <p:cNvSpPr txBox="1"/>
          <p:nvPr/>
        </p:nvSpPr>
        <p:spPr>
          <a:xfrm>
            <a:off x="4658258" y="3474720"/>
            <a:ext cx="2966618" cy="685800"/>
          </a:xfrm>
          <a:prstGeom prst="rect">
            <a:avLst/>
          </a:prstGeom>
          <a:noFill/>
          <a:ln/>
        </p:spPr>
        <p:txBody>
          <a:bodyPr wrap="square" lIns="0" tIns="0" rIns="0" bIns="0" rtlCol="0" anchor="t"/>
          <a:lstStyle/>
          <a:p>
            <a:pPr indent="0" marL="0">
              <a:buNone/>
            </a:pPr>
            <a:r>
              <a:rPr lang="en-US" sz="1450" b="1" dirty="0">
                <a:solidFill>
                  <a:srgbClr val="2B2D31"/>
                </a:solidFill>
                <a:latin typeface="맑은 고딕" pitchFamily="34" charset="0"/>
                <a:ea typeface="맑은 고딕" pitchFamily="34" charset="-122"/>
                <a:cs typeface="맑은 고딕" pitchFamily="34" charset="-120"/>
              </a:rPr>
              <a:t>전 세계 CO₂ 배출 중</a:t>
            </a:r>
            <a:endParaRPr lang="en-US" sz="1450" dirty="0"/>
          </a:p>
          <a:p>
            <a:pPr indent="0" marL="0">
              <a:buNone/>
            </a:pPr>
            <a:r>
              <a:rPr lang="en-US" sz="1450" b="1" dirty="0">
                <a:solidFill>
                  <a:srgbClr val="2B2D31"/>
                </a:solidFill>
                <a:latin typeface="맑은 고딕" pitchFamily="34" charset="0"/>
                <a:ea typeface="맑은 고딕" pitchFamily="34" charset="-122"/>
                <a:cs typeface="맑은 고딕" pitchFamily="34" charset="-120"/>
              </a:rPr>
              <a:t>부식 강재 교체용 제강의 비중</a:t>
            </a:r>
            <a:endParaRPr lang="en-US" sz="1450" dirty="0"/>
          </a:p>
        </p:txBody>
      </p:sp>
      <p:sp>
        <p:nvSpPr>
          <p:cNvPr id="16" name="Text 12"/>
          <p:cNvSpPr txBox="1"/>
          <p:nvPr/>
        </p:nvSpPr>
        <p:spPr>
          <a:xfrm>
            <a:off x="4658258" y="4160520"/>
            <a:ext cx="2966618" cy="32004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감축 목표 반영 시 2030년 4.1–9.1%</a:t>
            </a:r>
            <a:endParaRPr lang="en-US" sz="1250" dirty="0"/>
          </a:p>
        </p:txBody>
      </p:sp>
      <p:sp>
        <p:nvSpPr>
          <p:cNvPr id="17" name="Text 13"/>
          <p:cNvSpPr txBox="1"/>
          <p:nvPr/>
        </p:nvSpPr>
        <p:spPr>
          <a:xfrm>
            <a:off x="4658258" y="4462272"/>
            <a:ext cx="2966618" cy="274320"/>
          </a:xfrm>
          <a:prstGeom prst="rect">
            <a:avLst/>
          </a:prstGeom>
          <a:noFill/>
          <a:ln/>
        </p:spPr>
        <p:txBody>
          <a:bodyPr wrap="square" lIns="0" tIns="0" rIns="0" bIns="0" rtlCol="0" anchor="t"/>
          <a:lstStyle/>
          <a:p>
            <a:pPr indent="0" marL="0">
              <a:buNone/>
            </a:pPr>
            <a:r>
              <a:rPr lang="en-US" sz="1000" i="1" dirty="0">
                <a:solidFill>
                  <a:srgbClr val="A3A7AD"/>
                </a:solidFill>
                <a:latin typeface="맑은 고딕" pitchFamily="34" charset="0"/>
                <a:ea typeface="맑은 고딕" pitchFamily="34" charset="-122"/>
                <a:cs typeface="맑은 고딕" pitchFamily="34" charset="-120"/>
              </a:rPr>
              <a:t>Iannuzzi &amp; Frankel (2022)</a:t>
            </a:r>
            <a:endParaRPr lang="en-US" sz="1000" dirty="0"/>
          </a:p>
        </p:txBody>
      </p:sp>
      <p:sp>
        <p:nvSpPr>
          <p:cNvPr id="18" name="Shape 14"/>
          <p:cNvSpPr/>
          <p:nvPr/>
        </p:nvSpPr>
        <p:spPr>
          <a:xfrm>
            <a:off x="8127797" y="1463040"/>
            <a:ext cx="3515258" cy="3383280"/>
          </a:xfrm>
          <a:prstGeom prst="roundRect">
            <a:avLst>
              <a:gd name="adj" fmla="val 2162"/>
            </a:avLst>
          </a:prstGeom>
          <a:solidFill>
            <a:srgbClr val="F3F4F6"/>
          </a:solidFill>
          <a:ln w="12700">
            <a:solidFill>
              <a:srgbClr val="F3F4F6"/>
            </a:solidFill>
            <a:prstDash val="solid"/>
          </a:ln>
        </p:spPr>
      </p:sp>
      <p:sp>
        <p:nvSpPr>
          <p:cNvPr id="19" name="Shape 15"/>
          <p:cNvSpPr/>
          <p:nvPr/>
        </p:nvSpPr>
        <p:spPr>
          <a:xfrm>
            <a:off x="8447837" y="1783080"/>
            <a:ext cx="685800" cy="685800"/>
          </a:xfrm>
          <a:prstGeom prst="ellipse">
            <a:avLst/>
          </a:prstGeom>
          <a:solidFill>
            <a:srgbClr val="2B2D31"/>
          </a:solidFill>
          <a:ln w="12700">
            <a:solidFill>
              <a:srgbClr val="2B2D31"/>
            </a:solidFill>
            <a:prstDash val="solid"/>
          </a:ln>
        </p:spPr>
      </p:sp>
      <p:pic>
        <p:nvPicPr>
          <p:cNvPr id="20" name="Image 2" descr="preencoded.png">    </p:cNvPr>
          <p:cNvPicPr>
            <a:picLocks noChangeAspect="1"/>
          </p:cNvPicPr>
          <p:nvPr/>
        </p:nvPicPr>
        <p:blipFill>
          <a:blip r:embed="rId3"/>
          <a:stretch>
            <a:fillRect/>
          </a:stretch>
        </p:blipFill>
        <p:spPr>
          <a:xfrm>
            <a:off x="8626145" y="1961388"/>
            <a:ext cx="329184" cy="329184"/>
          </a:xfrm>
          <a:prstGeom prst="rect">
            <a:avLst/>
          </a:prstGeom>
        </p:spPr>
      </p:pic>
      <p:sp>
        <p:nvSpPr>
          <p:cNvPr id="21" name="Text 16"/>
          <p:cNvSpPr txBox="1"/>
          <p:nvPr/>
        </p:nvSpPr>
        <p:spPr>
          <a:xfrm>
            <a:off x="8447837" y="2606040"/>
            <a:ext cx="2966618" cy="822960"/>
          </a:xfrm>
          <a:prstGeom prst="rect">
            <a:avLst/>
          </a:prstGeom>
          <a:noFill/>
          <a:ln/>
        </p:spPr>
        <p:txBody>
          <a:bodyPr wrap="square" lIns="0" tIns="0" rIns="0" bIns="0" rtlCol="0" anchor="ctr"/>
          <a:lstStyle/>
          <a:p>
            <a:pPr indent="0" marL="0">
              <a:buNone/>
            </a:pPr>
            <a:r>
              <a:rPr lang="en-US" sz="4000" b="1" dirty="0">
                <a:solidFill>
                  <a:srgbClr val="B5501F"/>
                </a:solidFill>
                <a:latin typeface="맑은 고딕" pitchFamily="34" charset="0"/>
                <a:ea typeface="맑은 고딕" pitchFamily="34" charset="-122"/>
                <a:cs typeface="맑은 고딕" pitchFamily="34" charset="-120"/>
              </a:rPr>
              <a:t>25–33%</a:t>
            </a:r>
            <a:endParaRPr lang="en-US" sz="4000" dirty="0"/>
          </a:p>
        </p:txBody>
      </p:sp>
      <p:sp>
        <p:nvSpPr>
          <p:cNvPr id="22" name="Text 17"/>
          <p:cNvSpPr txBox="1"/>
          <p:nvPr/>
        </p:nvSpPr>
        <p:spPr>
          <a:xfrm>
            <a:off x="8447837" y="3474720"/>
            <a:ext cx="2966618" cy="685800"/>
          </a:xfrm>
          <a:prstGeom prst="rect">
            <a:avLst/>
          </a:prstGeom>
          <a:noFill/>
          <a:ln/>
        </p:spPr>
        <p:txBody>
          <a:bodyPr wrap="square" lIns="0" tIns="0" rIns="0" bIns="0" rtlCol="0" anchor="t"/>
          <a:lstStyle/>
          <a:p>
            <a:pPr indent="0" marL="0">
              <a:buNone/>
            </a:pPr>
            <a:r>
              <a:rPr lang="en-US" sz="1450" b="1" dirty="0">
                <a:solidFill>
                  <a:srgbClr val="2B2D31"/>
                </a:solidFill>
                <a:latin typeface="맑은 고딕" pitchFamily="34" charset="0"/>
                <a:ea typeface="맑은 고딕" pitchFamily="34" charset="-122"/>
                <a:cs typeface="맑은 고딕" pitchFamily="34" charset="-120"/>
              </a:rPr>
              <a:t>매년 생산되는 철강 중</a:t>
            </a:r>
            <a:endParaRPr lang="en-US" sz="1450" dirty="0"/>
          </a:p>
          <a:p>
            <a:pPr indent="0" marL="0">
              <a:buNone/>
            </a:pPr>
            <a:r>
              <a:rPr lang="en-US" sz="1450" b="1" dirty="0">
                <a:solidFill>
                  <a:srgbClr val="2B2D31"/>
                </a:solidFill>
                <a:latin typeface="맑은 고딕" pitchFamily="34" charset="0"/>
                <a:ea typeface="맑은 고딕" pitchFamily="34" charset="-122"/>
                <a:cs typeface="맑은 고딕" pitchFamily="34" charset="-120"/>
              </a:rPr>
              <a:t>부식 손실을 메우는 데 쓰이는 비율</a:t>
            </a:r>
            <a:endParaRPr lang="en-US" sz="1450" dirty="0"/>
          </a:p>
        </p:txBody>
      </p:sp>
      <p:sp>
        <p:nvSpPr>
          <p:cNvPr id="23" name="Text 18"/>
          <p:cNvSpPr txBox="1"/>
          <p:nvPr/>
        </p:nvSpPr>
        <p:spPr>
          <a:xfrm>
            <a:off x="8447837" y="4160520"/>
            <a:ext cx="2966618" cy="32004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강재 교체 = 비용 + 탄소</a:t>
            </a:r>
            <a:endParaRPr lang="en-US" sz="1250" dirty="0"/>
          </a:p>
        </p:txBody>
      </p:sp>
      <p:sp>
        <p:nvSpPr>
          <p:cNvPr id="24" name="Text 19"/>
          <p:cNvSpPr txBox="1"/>
          <p:nvPr/>
        </p:nvSpPr>
        <p:spPr>
          <a:xfrm>
            <a:off x="8447837" y="4462272"/>
            <a:ext cx="2966618" cy="274320"/>
          </a:xfrm>
          <a:prstGeom prst="rect">
            <a:avLst/>
          </a:prstGeom>
          <a:noFill/>
          <a:ln/>
        </p:spPr>
        <p:txBody>
          <a:bodyPr wrap="square" lIns="0" tIns="0" rIns="0" bIns="0" rtlCol="0" anchor="t"/>
          <a:lstStyle/>
          <a:p>
            <a:pPr indent="0" marL="0">
              <a:buNone/>
            </a:pPr>
            <a:r>
              <a:rPr lang="en-US" sz="1000" i="1" dirty="0">
                <a:solidFill>
                  <a:srgbClr val="A3A7AD"/>
                </a:solidFill>
                <a:latin typeface="맑은 고딕" pitchFamily="34" charset="0"/>
                <a:ea typeface="맑은 고딕" pitchFamily="34" charset="-122"/>
                <a:cs typeface="맑은 고딕" pitchFamily="34" charset="-120"/>
              </a:rPr>
              <a:t>Iannuzzi &amp; Frankel (2022)</a:t>
            </a:r>
            <a:endParaRPr lang="en-US" sz="1000" dirty="0"/>
          </a:p>
        </p:txBody>
      </p:sp>
      <p:sp>
        <p:nvSpPr>
          <p:cNvPr id="25" name="Shape 20"/>
          <p:cNvSpPr/>
          <p:nvPr/>
        </p:nvSpPr>
        <p:spPr>
          <a:xfrm>
            <a:off x="548640" y="5120640"/>
            <a:ext cx="11094415" cy="914400"/>
          </a:xfrm>
          <a:prstGeom prst="roundRect">
            <a:avLst>
              <a:gd name="adj" fmla="val 8000"/>
            </a:avLst>
          </a:prstGeom>
          <a:solidFill>
            <a:srgbClr val="1F2226"/>
          </a:solidFill>
          <a:ln w="12700">
            <a:solidFill>
              <a:srgbClr val="1F2226"/>
            </a:solidFill>
            <a:prstDash val="solid"/>
          </a:ln>
        </p:spPr>
      </p:sp>
      <p:sp>
        <p:nvSpPr>
          <p:cNvPr id="26" name="Text 21"/>
          <p:cNvSpPr txBox="1"/>
          <p:nvPr/>
        </p:nvSpPr>
        <p:spPr>
          <a:xfrm>
            <a:off x="914400" y="5120640"/>
            <a:ext cx="10362895" cy="914400"/>
          </a:xfrm>
          <a:prstGeom prst="rect">
            <a:avLst/>
          </a:prstGeom>
          <a:noFill/>
          <a:ln/>
        </p:spPr>
        <p:txBody>
          <a:bodyPr wrap="square" lIns="0" tIns="0" rIns="0" bIns="0" rtlCol="0" anchor="ctr"/>
          <a:lstStyle/>
          <a:p>
            <a:pPr indent="0" marL="0">
              <a:buNone/>
            </a:pPr>
            <a:r>
              <a:rPr lang="en-US" sz="1900" dirty="0">
                <a:solidFill>
                  <a:srgbClr val="D5D7DA"/>
                </a:solidFill>
                <a:latin typeface="맑은 고딕" pitchFamily="34" charset="0"/>
                <a:ea typeface="맑은 고딕" pitchFamily="34" charset="-122"/>
                <a:cs typeface="맑은 고딕" pitchFamily="34" charset="-120"/>
              </a:rPr>
              <a:t>제때 찾아 관리하면 </a:t>
            </a:r>
            <a:pPr indent="0" marL="0">
              <a:buNone/>
            </a:pPr>
            <a:r>
              <a:rPr lang="en-US" sz="1900" b="1" dirty="0">
                <a:solidFill>
                  <a:srgbClr val="E8A87C"/>
                </a:solidFill>
                <a:latin typeface="맑은 고딕" pitchFamily="34" charset="0"/>
                <a:ea typeface="맑은 고딕" pitchFamily="34" charset="-122"/>
                <a:cs typeface="맑은 고딕" pitchFamily="34" charset="-120"/>
              </a:rPr>
              <a:t>부식 비용의 15–35%</a:t>
            </a:r>
            <a:pPr indent="0" marL="0">
              <a:buNone/>
            </a:pPr>
            <a:r>
              <a:rPr lang="en-US" sz="1900" b="1" dirty="0">
                <a:solidFill>
                  <a:srgbClr val="FFFFFF"/>
                </a:solidFill>
                <a:latin typeface="맑은 고딕" pitchFamily="34" charset="0"/>
                <a:ea typeface="맑은 고딕" pitchFamily="34" charset="-122"/>
                <a:cs typeface="맑은 고딕" pitchFamily="34" charset="-120"/>
              </a:rPr>
              <a:t> (연 US$ 3,750–8,750억)를 줄일 수 있습니다</a:t>
            </a:r>
            <a:endParaRPr lang="en-US" sz="1900" dirty="0"/>
          </a:p>
        </p:txBody>
      </p:sp>
      <p:sp>
        <p:nvSpPr>
          <p:cNvPr id="27" name="Text 22"/>
          <p:cNvSpPr txBox="1"/>
          <p:nvPr/>
        </p:nvSpPr>
        <p:spPr>
          <a:xfrm>
            <a:off x="548640" y="6446520"/>
            <a:ext cx="6400800" cy="274320"/>
          </a:xfrm>
          <a:prstGeom prst="rect">
            <a:avLst/>
          </a:prstGeom>
          <a:noFill/>
          <a:ln/>
        </p:spPr>
        <p:txBody>
          <a:bodyPr wrap="square" lIns="0" tIns="0" rIns="0" bIns="0" rtlCol="0" anchor="t"/>
          <a:lstStyle/>
          <a:p>
            <a:pPr indent="0" marL="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28" name="Text 23"/>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900" dirty="0">
                <a:solidFill>
                  <a:srgbClr val="A3A7AD"/>
                </a:solidFill>
                <a:latin typeface="맑은 고딕" pitchFamily="34" charset="0"/>
                <a:ea typeface="맑은 고딕" pitchFamily="34" charset="-122"/>
                <a:cs typeface="맑은 고딕" pitchFamily="34" charset="-120"/>
              </a:rPr>
              <a:t>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1067</TotalTime>
  <Words>1661</Words>
  <Application>Microsoft Office PowerPoint</Application>
  <PresentationFormat>와이드스크린</PresentationFormat>
  <Paragraphs>230</Paragraphs>
  <Slides>11</Slides>
  <Notes>11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11</vt:i4>
      </vt:variant>
    </vt:vector>
  </HeadingPairs>
  <TitlesOfParts>
    <vt:vector size="15"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MLC — A-STREAM 2026 IR Pitch</dc:title>
  <dc:subject>PptxGenJS Presentation</dc:subject>
  <dc:creator>MLC (우성훈, 박준범)</dc:creator>
  <cp:lastModifiedBy>우성훈</cp:lastModifiedBy>
  <cp:revision>4</cp:revision>
  <dcterms:created xsi:type="dcterms:W3CDTF">2026-10-06T01:17:14Z</dcterms:created>
  <dcterms:modified xsi:type="dcterms:W3CDTF">2026-10-07T00:08:11Z</dcterms:modified>
</cp:coreProperties>
</file>