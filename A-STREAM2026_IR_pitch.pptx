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1"/>
          <c:y val="0.04"/>
          <c:w val="0.85"/>
          <c:h val="0.82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Incubation</c:v>
                </c:pt>
              </c:strCache>
            </c:strRef>
          </c:tx>
          <c:spPr>
            <a:solidFill>
              <a:srgbClr val="3A6EA5"/>
            </a:solidFill>
            <a:ln>
              <a:noFill/>
            </a:ln>
            <a:effectLst/>
          </c:spPr>
          <c:marker>
            <c:symbol val="circle"/>
            <c:size val="13"/>
            <c:spPr>
              <a:solidFill>
                <a:srgbClr val="3A6EA5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xVal>
            <c:numRef>
              <c:f>Sheet1!$A$2:$A$10</c:f>
              <c:numCache>
                <c:formatCode>General</c:formatCode>
                <c:ptCount val="9"/>
                <c:pt idx="0">
                  <c:v>-0.2</c:v>
                </c:pt>
                <c:pt idx="1">
                  <c:v>2.1</c:v>
                </c:pt>
                <c:pt idx="2">
                  <c:v>2.7</c:v>
                </c:pt>
                <c:pt idx="3">
                  <c:v>2.3</c:v>
                </c:pt>
                <c:pt idx="4">
                  <c:v>6.6</c:v>
                </c:pt>
                <c:pt idx="5">
                  <c:v>12.2</c:v>
                </c:pt>
                <c:pt idx="6">
                  <c:v>13.2</c:v>
                </c:pt>
                <c:pt idx="7">
                  <c:v>13.9</c:v>
                </c:pt>
                <c:pt idx="8">
                  <c:v>12.1</c:v>
                </c:pt>
              </c:numCache>
            </c:numRef>
          </c:xVal>
          <c:yVal>
            <c:numRef>
              <c:f>Sheet1!$B$2:$B$10</c:f>
              <c:numCache>
                <c:formatCode>General</c:formatCode>
                <c:ptCount val="9"/>
                <c:pt idx="0">
                  <c:v>0.324</c:v>
                </c:pt>
                <c:pt idx="1">
                  <c:v>0.193</c:v>
                </c:pt>
                <c:pt idx="2">
                  <c:v>0.447</c:v>
                </c:pt>
                <c:pt idx="3">
                  <c:v>0.406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Propagation</c:v>
                </c:pt>
              </c:strCache>
            </c:strRef>
          </c:tx>
          <c:spPr>
            <a:solidFill>
              <a:srgbClr val="3C8D5A"/>
            </a:solidFill>
            <a:ln>
              <a:noFill/>
            </a:ln>
            <a:effectLst/>
          </c:spPr>
          <c:marker>
            <c:symbol val="circle"/>
            <c:size val="13"/>
            <c:spPr>
              <a:solidFill>
                <a:srgbClr val="3C8D5A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xVal>
            <c:numRef>
              <c:f>Sheet1!$A$2:$A$10</c:f>
              <c:numCache>
                <c:formatCode>General</c:formatCode>
                <c:ptCount val="9"/>
                <c:pt idx="0">
                  <c:v>-0.2</c:v>
                </c:pt>
                <c:pt idx="1">
                  <c:v>2.1</c:v>
                </c:pt>
                <c:pt idx="2">
                  <c:v>2.7</c:v>
                </c:pt>
                <c:pt idx="3">
                  <c:v>2.3</c:v>
                </c:pt>
                <c:pt idx="4">
                  <c:v>6.6</c:v>
                </c:pt>
                <c:pt idx="5">
                  <c:v>12.2</c:v>
                </c:pt>
                <c:pt idx="6">
                  <c:v>13.2</c:v>
                </c:pt>
                <c:pt idx="7">
                  <c:v>13.9</c:v>
                </c:pt>
                <c:pt idx="8">
                  <c:v>12.1</c:v>
                </c:pt>
              </c:numCache>
            </c:numRef>
          </c:xVal>
          <c:yVal>
            <c:numRef>
              <c:f>Sheet1!$C$2:$C$10</c:f>
              <c:numCache>
                <c:formatCode>General</c:formatCode>
                <c:ptCount val="9"/>
                <c:pt idx="4">
                  <c:v>0.524</c:v>
                </c:pt>
                <c:pt idx="5">
                  <c:v>0.838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Maturation</c:v>
                </c:pt>
              </c:strCache>
            </c:strRef>
          </c:tx>
          <c:spPr>
            <a:solidFill>
              <a:srgbClr val="B23A2E"/>
            </a:solidFill>
            <a:ln>
              <a:noFill/>
            </a:ln>
            <a:effectLst/>
          </c:spPr>
          <c:marker>
            <c:symbol val="circle"/>
            <c:size val="13"/>
            <c:spPr>
              <a:solidFill>
                <a:srgbClr val="B23A2E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xVal>
            <c:numRef>
              <c:f>Sheet1!$A$2:$A$10</c:f>
              <c:numCache>
                <c:formatCode>General</c:formatCode>
                <c:ptCount val="9"/>
                <c:pt idx="0">
                  <c:v>-0.2</c:v>
                </c:pt>
                <c:pt idx="1">
                  <c:v>2.1</c:v>
                </c:pt>
                <c:pt idx="2">
                  <c:v>2.7</c:v>
                </c:pt>
                <c:pt idx="3">
                  <c:v>2.3</c:v>
                </c:pt>
                <c:pt idx="4">
                  <c:v>6.6</c:v>
                </c:pt>
                <c:pt idx="5">
                  <c:v>12.2</c:v>
                </c:pt>
                <c:pt idx="6">
                  <c:v>13.2</c:v>
                </c:pt>
                <c:pt idx="7">
                  <c:v>13.9</c:v>
                </c:pt>
                <c:pt idx="8">
                  <c:v>12.1</c:v>
                </c:pt>
              </c:numCache>
            </c:numRef>
          </c:xVal>
          <c:yVal>
            <c:numRef>
              <c:f>Sheet1!$D$2:$D$10</c:f>
              <c:numCache>
                <c:formatCode>General</c:formatCode>
                <c:ptCount val="9"/>
                <c:pt idx="6">
                  <c:v>1.176</c:v>
                </c:pt>
                <c:pt idx="7">
                  <c:v>1.414</c:v>
                </c:pt>
                <c:pt idx="8">
                  <c:v>1.745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6"/>
          <c:min val="-2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6B6F76"/>
                    </a:solidFill>
                    <a:latin typeface="맑은 고딕"/>
                  </a:defRPr>
                </a:pPr>
                <a:r>
                  <a:rPr sz="1200" b="0" i="0" u="none" strike="noStrike">
                    <a:solidFill>
                      <a:srgbClr val="6B6F76"/>
                    </a:solidFill>
                    <a:latin typeface="맑은 고딕"/>
                  </a:rPr>
                  <a:t>b*  (노란 정도)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A3A7AD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F76"/>
                </a:solidFill>
                <a:latin typeface="맑은 고딕"/>
              </a:defRPr>
            </a:pPr>
            <a:endParaRPr lang="en-US"/>
          </a:p>
        </c:txPr>
        <c:crossAx val="2094734552"/>
        <c:crosses val="autoZero"/>
        <c:majorUnit val="2"/>
      </c:valAx>
      <c:valAx>
        <c:axId val="2094734552"/>
        <c:scaling>
          <c:orientation val="minMax"/>
          <c:max val="2"/>
          <c:min val="0"/>
        </c:scaling>
        <c:delete val="0"/>
        <c:axPos val="l"/>
        <c:majorGridlines>
          <c:spPr>
            <a:ln w="9525" cap="flat">
              <a:solidFill>
                <a:srgbClr val="E6E8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6B6F76"/>
                    </a:solidFill>
                    <a:latin typeface="맑은 고딕"/>
                  </a:defRPr>
                </a:pPr>
                <a:r>
                  <a:rPr sz="1200" b="0" i="0" u="none" strike="noStrike">
                    <a:solidFill>
                      <a:srgbClr val="6B6F76"/>
                    </a:solidFill>
                    <a:latin typeface="맑은 고딕"/>
                  </a:rPr>
                  <a:t>부식 속도 (mm/년)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F76"/>
                </a:solidFill>
                <a:latin typeface="맑은 고딕"/>
              </a:defRPr>
            </a:pPr>
            <a:endParaRPr lang="en-US"/>
          </a:p>
        </c:txPr>
        <c:crossAx val="2094734554"/>
        <c:crossesAt val="-2"/>
        <c:crossBetween val="midCat"/>
        <c:majorUnit val="0.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[약 20초]
안녕하십니까, 경상국립대학교 우성훈입니다. 아래 사진은 같은 강재가 240시간 동안 녹슬어 가는 모습입니다. 저희는 이 녹의 '색'만 보고, 그 아래 강재가 얼마나 빠르게 부식되고 있는지를 알아내는 기술을 만들었습니다.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[약 35초]
부식으로 인한 손실은 전 세계 GDP의 약 3.4%, 2.5조 달러에 이릅니다. 그런데 현장에서 쓸 수 있는 방법은 두 가지뿐입니다. 육안 점검은 빠르지만 사람마다 판단이 다르고, 녹이 얼마나 넓은지는 봐도 얼마나 빠르게 진행 중인지는 모릅니다. 실험실 분석은 정확하지만 시편을 잘라 가야 하고 비용과 시간이 듭니다. [인터뷰 인용을 여기서 읽어 주세요.] 즉, 싸고 빠르면서도 정량적인 진단 수단이 비어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[약 30초]
저희 방법은 네 단계입니다. 표면을 촬영하고, 녹이 있는 픽셀만 자동으로 골라낸 뒤, 그 녹의 색을 국제 표준 색 좌표로 바꿉니다. 그리고 그중 노란 정도를 나타내는 b* 값으로 지금 강재가 초기·진행·성숙 중 어느 단계에 있는지, 부식 속도가 어느 구간인지를 판정합니다. 시편을 자를 필요도, 고가 장비도 필요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[약 40초]
이게 실제로 되는지 실험실에서 검증했습니다. 탄소강을 240시간 촉진부식 시키면서 아홉 시점에 측정했습니다. 가로축이 녹의 노란 정도 b*, 세로축이 전기화학으로 잰 실제 부식 속도입니다. 보시는 것처럼 세 단계가 서로 다른 구역에 깔끔하게 나뉩니다. b*와 부식 속도의 순위 상관계수는 0.88이었습니다. 이 결과를 전자현미경, X선 회절, 3D 표면 측정까지 여섯 가지 분석으로 교차 확인했습니다. 노란색 녹인 레피도크로사이트가 다공성이라 부식을 더 빠르게 만들기 때문에, 색과 속도가 함께 움직이는 물리적 근거도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[약 30초]
기존 방법과 비교하면, 육안 점검은 넓게 볼 수 있지만 숫자가 없고, 실험실 분석과 부착형 센서는 숫자는 주지만 시편을 자르거나 센서를 설치한 한 지점만 봅니다. 저희 기술은 카메라 한 대로 넓은 면적을 비파괴로 보면서 부식 속도 구간이라는 숫자로 답합니다. [특허 현황을 한 문장으로 언급해 주세요.]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[약 30초]
전체 시장은 글로벌 부식 모니터링 시장으로, [확정한 금액과 출처]입니다. 저희는 그중 국내 강구조물 부식 점검, 특히 경상국립대 통영캠퍼스가 가까운 조선·해양 현장을 첫 고객으로 봅니다. [SAM / SOM 금액과 근거를 한 문장씩.] Tex-Corps 인터뷰에서 [가장 반응이 좋았던 고객군]이 가장 큰 관심을 보였습니다.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[약 25초]
[확정한 모델 기준으로 수정하세요.] 처음에는 구조물 단위 진단 서비스로 시작해 현장 데이터를 모으고, 그 데이터로 정확도를 높인 뒤 현장 담당자가 직접 쓰는 앱 구독으로 확장하겠습니다. 장기적으로는 드론·점검 로봇 업체에 분석 엔진을 라이선스할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[약 35초]
지금까지 실험실 검증을 마쳤고, 다음 달 ICIMC 국제학회에서 결과를 발표합니다. Tex-Corps를 통해 [○○명]의 현장 담당자를 인터뷰했고, [핵심 발견]을 확인했습니다. 다음 과제는 분명합니다. 지금 결과는 염화물이 없는 실험실 조건이라, 올해 안에 해양 환경과 조명 변화 조건으로 검증을 넓히고, 내년 상반기에 현장 앱으로 첫 실증을 하겠습니다.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[약 20초]
저희 팀은 [팀 소개 — 각자 맡은 역할을 한 문장으로]. 부식·재료 분야 연구실의 측정 인프라와 [지도교수/멘토]의 지원을 받고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[약 25초]
저희가 지금 가장 필요한 것은 첫 현장입니다. [실증 파트너 / 투자 금액과 용도 / 필요한 도움을 구체적으로.] 사진 한 장으로 강재의 부식 속도를 읽는 기술, 현장에서 함께 증명할 파트너를 찾고 있습니다. 감사합니다.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3A7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Tex-Corps  ·  제주 A-STREAM IR 피칭  ·  2026. 10. 21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9265615" y="347472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FFF6DB"/>
          </a:solidFill>
          <a:ln w="15875">
            <a:solidFill>
              <a:srgbClr val="E0B23C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9402775" y="34747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6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✎  팀명 / 로고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0972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 한 장으로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강재의 부식 속도를 읽습니다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432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8A8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녹 색상 기반 비파괴 부식 수명 예측 기술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918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우성훈</a:t>
            </a:r>
            <a:r>
              <a:rPr lang="en-US" sz="1500" dirty="0">
                <a:solidFill>
                  <a:srgbClr val="D5D7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경상국립대학교 기계시스템공학과</a:t>
            </a:r>
            <a:endParaRPr lang="en-US" sz="1500" dirty="0"/>
          </a:p>
        </p:txBody>
      </p:sp>
      <p:pic>
        <p:nvPicPr>
          <p:cNvPr id="8" name="Image 0" descr="/home/user/PPT/src/img/photo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343400"/>
            <a:ext cx="1135177" cy="113517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5551729"/>
            <a:ext cx="113517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A7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 h</a:t>
            </a:r>
            <a:endParaRPr lang="en-US" sz="1100" dirty="0"/>
          </a:p>
        </p:txBody>
      </p:sp>
      <p:pic>
        <p:nvPicPr>
          <p:cNvPr id="10" name="Image 1" descr="/home/user/PPT/src/img/photo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3545" y="4343400"/>
            <a:ext cx="1135177" cy="113517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793545" y="5551729"/>
            <a:ext cx="113517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A7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h</a:t>
            </a:r>
            <a:endParaRPr lang="en-US" sz="1100" dirty="0"/>
          </a:p>
        </p:txBody>
      </p:sp>
      <p:pic>
        <p:nvPicPr>
          <p:cNvPr id="12" name="Image 2" descr="/home/user/PPT/src/img/photo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8450" y="4343400"/>
            <a:ext cx="1135177" cy="113517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038450" y="5551729"/>
            <a:ext cx="113517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A7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 h</a:t>
            </a:r>
            <a:endParaRPr lang="en-US" sz="1100" dirty="0"/>
          </a:p>
        </p:txBody>
      </p:sp>
      <p:pic>
        <p:nvPicPr>
          <p:cNvPr id="14" name="Image 3" descr="/home/user/PPT/src/img/photo_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3354" y="4343400"/>
            <a:ext cx="1135177" cy="1135177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4283354" y="5551729"/>
            <a:ext cx="113517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A7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 h</a:t>
            </a:r>
            <a:endParaRPr lang="en-US" sz="1100" dirty="0"/>
          </a:p>
        </p:txBody>
      </p:sp>
      <p:pic>
        <p:nvPicPr>
          <p:cNvPr id="16" name="Image 4" descr="/home/user/PPT/src/img/photo_1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8259" y="4343400"/>
            <a:ext cx="1135177" cy="1135177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5528259" y="5551729"/>
            <a:ext cx="113517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A7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 h</a:t>
            </a:r>
            <a:endParaRPr lang="en-US" sz="1100" dirty="0"/>
          </a:p>
        </p:txBody>
      </p:sp>
      <p:pic>
        <p:nvPicPr>
          <p:cNvPr id="18" name="Image 5" descr="/home/user/PPT/src/img/photo_15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3164" y="4343400"/>
            <a:ext cx="1135177" cy="1135177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6773164" y="5551729"/>
            <a:ext cx="113517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A7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120 h</a:t>
            </a:r>
            <a:endParaRPr lang="en-US" sz="1100" dirty="0"/>
          </a:p>
        </p:txBody>
      </p:sp>
      <p:pic>
        <p:nvPicPr>
          <p:cNvPr id="20" name="Image 6" descr="/home/user/PPT/src/img/photo_20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18069" y="4343400"/>
            <a:ext cx="1135177" cy="1135177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8018069" y="5551729"/>
            <a:ext cx="113517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A7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160 h</a:t>
            </a:r>
            <a:endParaRPr lang="en-US" sz="1100" dirty="0"/>
          </a:p>
        </p:txBody>
      </p:sp>
      <p:pic>
        <p:nvPicPr>
          <p:cNvPr id="22" name="Image 7" descr="/home/user/PPT/src/img/photo_25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62974" y="4343400"/>
            <a:ext cx="1135177" cy="1135177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9262974" y="5551729"/>
            <a:ext cx="113517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A7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 h</a:t>
            </a:r>
            <a:endParaRPr lang="en-US" sz="1100" dirty="0"/>
          </a:p>
        </p:txBody>
      </p:sp>
      <p:pic>
        <p:nvPicPr>
          <p:cNvPr id="24" name="Image 8" descr="/home/user/PPT/src/img/photo_30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07878" y="4343400"/>
            <a:ext cx="1135177" cy="1135177"/>
          </a:xfrm>
          <a:prstGeom prst="rect">
            <a:avLst/>
          </a:prstGeom>
        </p:spPr>
      </p:pic>
      <p:sp>
        <p:nvSpPr>
          <p:cNvPr id="25" name="Text 14"/>
          <p:cNvSpPr txBox="1"/>
          <p:nvPr/>
        </p:nvSpPr>
        <p:spPr>
          <a:xfrm>
            <a:off x="10507878" y="5551729"/>
            <a:ext cx="113517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A7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240 h</a:t>
            </a:r>
            <a:endParaRPr lang="en-US" sz="1100" dirty="0"/>
          </a:p>
        </p:txBody>
      </p:sp>
      <p:sp>
        <p:nvSpPr>
          <p:cNvPr id="26" name="Text 15"/>
          <p:cNvSpPr txBox="1"/>
          <p:nvPr/>
        </p:nvSpPr>
        <p:spPr>
          <a:xfrm>
            <a:off x="548640" y="40050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3A7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강재 표면, 촉진부식 0 → 240시간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550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녹은 보이지만, 얼마나 빠른지는 모릅니다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3A7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Tex-Corps  ·  제주 A-STREAM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3A7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B550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3.4%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5603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세계 GDP 대비 연간 부식 비용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2.5조 달러 (NACE IMPACT, 2016)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120640" y="1371600"/>
            <a:ext cx="6522415" cy="1024128"/>
          </a:xfrm>
          <a:prstGeom prst="roundRect">
            <a:avLst>
              <a:gd name="adj" fmla="val 7143"/>
            </a:avLst>
          </a:prstGeom>
          <a:solidFill>
            <a:srgbClr val="F3F4F6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49240" y="1554480"/>
            <a:ext cx="658368" cy="658368"/>
          </a:xfrm>
          <a:prstGeom prst="ellipse">
            <a:avLst/>
          </a:prstGeom>
          <a:solidFill>
            <a:srgbClr val="2B2D31"/>
          </a:solidFill>
          <a:ln w="12700">
            <a:solidFill>
              <a:srgbClr val="2B2D31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0416" y="1725656"/>
            <a:ext cx="316017" cy="316017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6217920" y="150876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B2D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육안 점검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217920" y="185623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빠르고 싸지만 사람마다 판단이 다르고, 녹의 '양'만 볼 뿐 부식 '속도'는 알 수 없음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120640" y="2560320"/>
            <a:ext cx="6522415" cy="1024128"/>
          </a:xfrm>
          <a:prstGeom prst="roundRect">
            <a:avLst>
              <a:gd name="adj" fmla="val 7143"/>
            </a:avLst>
          </a:prstGeom>
          <a:solidFill>
            <a:srgbClr val="F3F4F6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349240" y="2743200"/>
            <a:ext cx="658368" cy="658368"/>
          </a:xfrm>
          <a:prstGeom prst="ellipse">
            <a:avLst/>
          </a:prstGeom>
          <a:solidFill>
            <a:srgbClr val="2B2D31"/>
          </a:solidFill>
          <a:ln w="12700">
            <a:solidFill>
              <a:srgbClr val="2B2D31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0416" y="2914376"/>
            <a:ext cx="316017" cy="316017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6217920" y="269748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B2D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실험실 분석 (XRD · SEM · 전기화학)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6217920" y="304495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정확하지만 시편을 잘라 실험실로 가져가야 하고, 고가 장비·전문 인력·수일이 필요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48640" y="3977640"/>
            <a:ext cx="11094415" cy="960120"/>
          </a:xfrm>
          <a:prstGeom prst="roundRect">
            <a:avLst>
              <a:gd name="adj" fmla="val 7619"/>
            </a:avLst>
          </a:prstGeom>
          <a:solidFill>
            <a:srgbClr val="1F2226"/>
          </a:solidFill>
          <a:ln w="12700">
            <a:solidFill>
              <a:srgbClr val="1F2226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914400" y="3977640"/>
            <a:ext cx="103628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D5D7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현장에는 </a:t>
            </a:r>
            <a:r>
              <a:rPr lang="en-US" sz="2100" b="1" dirty="0">
                <a:solidFill>
                  <a:srgbClr val="E8A8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'싸고 빠른데 정량적인'</a:t>
            </a:r>
            <a:r>
              <a:rPr lang="en-US" sz="2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부식 진단 수단이 없습니다</a:t>
            </a:r>
            <a:endParaRPr lang="en-US" sz="2100" dirty="0"/>
          </a:p>
        </p:txBody>
      </p:sp>
      <p:sp>
        <p:nvSpPr>
          <p:cNvPr id="20" name="Shape 16"/>
          <p:cNvSpPr/>
          <p:nvPr/>
        </p:nvSpPr>
        <p:spPr>
          <a:xfrm>
            <a:off x="548640" y="5166360"/>
            <a:ext cx="11094415" cy="868680"/>
          </a:xfrm>
          <a:prstGeom prst="roundRect">
            <a:avLst>
              <a:gd name="adj" fmla="val 6316"/>
            </a:avLst>
          </a:prstGeom>
          <a:solidFill>
            <a:srgbClr val="FFF6DB"/>
          </a:solidFill>
          <a:ln w="15875">
            <a:solidFill>
              <a:srgbClr val="E0B23C"/>
            </a:solidFill>
            <a:prstDash val="dash"/>
          </a:ln>
        </p:spPr>
      </p:sp>
      <p:sp>
        <p:nvSpPr>
          <p:cNvPr id="21" name="Text 17"/>
          <p:cNvSpPr txBox="1"/>
          <p:nvPr/>
        </p:nvSpPr>
        <p:spPr>
          <a:xfrm>
            <a:off x="685800" y="5166360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6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✎  Tex-Corps 고객 인터뷰에서 들은 현장 목소리 한 줄  (예: "…" — ○○조선 품질팀 과장)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550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촬영 → 녹 추출 → 색 분석 → 부식 단계 판정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3A7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Tex-Corps  ·  제주 A-STREAM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3A7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pic>
        <p:nvPicPr>
          <p:cNvPr id="6" name="Image 0" descr="/home/user/PPT/src/img/photo_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2331720" cy="2331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84048" y="1298448"/>
            <a:ext cx="457200" cy="457200"/>
          </a:xfrm>
          <a:prstGeom prst="ellipse">
            <a:avLst/>
          </a:prstGeom>
          <a:solidFill>
            <a:srgbClr val="B5501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84048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9319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B2D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촬영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325112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일정한 조명에서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카메라로 표면 촬영</a:t>
            </a:r>
            <a:endParaRPr lang="en-US" sz="12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6077" y="2510028"/>
            <a:ext cx="237744" cy="237744"/>
          </a:xfrm>
          <a:prstGeom prst="rect">
            <a:avLst/>
          </a:prstGeom>
        </p:spPr>
      </p:pic>
      <p:pic>
        <p:nvPicPr>
          <p:cNvPr id="12" name="Image 2" descr="/home/user/PPT/src/img/mask_1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9538" y="1463040"/>
            <a:ext cx="2331720" cy="233172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3304946" y="1298448"/>
            <a:ext cx="457200" cy="457200"/>
          </a:xfrm>
          <a:prstGeom prst="ellipse">
            <a:avLst/>
          </a:prstGeom>
          <a:solidFill>
            <a:srgbClr val="B5501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3304946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3469538" y="39319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B2D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녹 영역 자동 추출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3469538" y="4325112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녹 픽셀만 골라내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맨 강재의 간섭 제거</a:t>
            </a:r>
            <a:endParaRPr lang="en-US" sz="12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6976" y="2510028"/>
            <a:ext cx="237744" cy="237744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390437" y="1463040"/>
            <a:ext cx="2331720" cy="2331720"/>
          </a:xfrm>
          <a:prstGeom prst="rect">
            <a:avLst/>
          </a:prstGeom>
          <a:solidFill>
            <a:srgbClr val="4E3F2F"/>
          </a:solidFill>
          <a:ln w="12700">
            <a:solidFill>
              <a:srgbClr val="D9DCE0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6390437" y="1463040"/>
            <a:ext cx="2331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L* 28.0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a* 4.4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b* 12.2</a:t>
            </a:r>
            <a:endParaRPr lang="en-US" sz="2200" dirty="0"/>
          </a:p>
        </p:txBody>
      </p:sp>
      <p:sp>
        <p:nvSpPr>
          <p:cNvPr id="20" name="Shape 14"/>
          <p:cNvSpPr/>
          <p:nvPr/>
        </p:nvSpPr>
        <p:spPr>
          <a:xfrm>
            <a:off x="6225845" y="1298448"/>
            <a:ext cx="457200" cy="457200"/>
          </a:xfrm>
          <a:prstGeom prst="ellipse">
            <a:avLst/>
          </a:prstGeom>
          <a:solidFill>
            <a:srgbClr val="B5501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6225845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6390437" y="39319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B2D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 좌표 계산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6390437" y="4325112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녹 영역 평균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CIE L*a*b*</a:t>
            </a:r>
            <a:endParaRPr lang="en-US" sz="125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7874" y="2510028"/>
            <a:ext cx="237744" cy="237744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9311335" y="1463040"/>
            <a:ext cx="2331720" cy="2331720"/>
          </a:xfrm>
          <a:prstGeom prst="roundRect">
            <a:avLst>
              <a:gd name="adj" fmla="val 3137"/>
            </a:avLst>
          </a:prstGeom>
          <a:solidFill>
            <a:srgbClr val="F3F4F6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9494215" y="1737360"/>
            <a:ext cx="1965960" cy="530352"/>
          </a:xfrm>
          <a:prstGeom prst="roundRect">
            <a:avLst>
              <a:gd name="adj" fmla="val 10345"/>
            </a:avLst>
          </a:prstGeom>
          <a:solidFill>
            <a:srgbClr val="E6EEF7"/>
          </a:solidFill>
          <a:ln w="12700">
            <a:solidFill>
              <a:srgbClr val="3A6EA5"/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9585655" y="1737360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6E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초기  </a:t>
            </a:r>
            <a:r>
              <a:rPr lang="en-US" sz="1100" dirty="0">
                <a:solidFill>
                  <a:srgbClr val="6B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0.19–0.45 mm/년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9494215" y="2395728"/>
            <a:ext cx="1965960" cy="530352"/>
          </a:xfrm>
          <a:prstGeom prst="roundRect">
            <a:avLst>
              <a:gd name="adj" fmla="val 10345"/>
            </a:avLst>
          </a:prstGeom>
          <a:solidFill>
            <a:srgbClr val="3C8D5A"/>
          </a:solidFill>
          <a:ln w="12700">
            <a:solidFill>
              <a:srgbClr val="3C8D5A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9585655" y="2395728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  </a:t>
            </a: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0.52–0.84 mm/년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9494215" y="3054096"/>
            <a:ext cx="1965960" cy="530352"/>
          </a:xfrm>
          <a:prstGeom prst="roundRect">
            <a:avLst>
              <a:gd name="adj" fmla="val 10345"/>
            </a:avLst>
          </a:prstGeom>
          <a:solidFill>
            <a:srgbClr val="F8E4E2"/>
          </a:solidFill>
          <a:ln w="12700">
            <a:solidFill>
              <a:srgbClr val="B23A2E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9585655" y="3054096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23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성숙  </a:t>
            </a:r>
            <a:r>
              <a:rPr lang="en-US" sz="1100" dirty="0">
                <a:solidFill>
                  <a:srgbClr val="6B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1.18–1.75 mm/년</a:t>
            </a:r>
            <a:endParaRPr lang="en-US" sz="1400" dirty="0"/>
          </a:p>
        </p:txBody>
      </p:sp>
      <p:sp>
        <p:nvSpPr>
          <p:cNvPr id="32" name="Shape 25"/>
          <p:cNvSpPr/>
          <p:nvPr/>
        </p:nvSpPr>
        <p:spPr>
          <a:xfrm>
            <a:off x="9146743" y="1298448"/>
            <a:ext cx="457200" cy="457200"/>
          </a:xfrm>
          <a:prstGeom prst="ellipse">
            <a:avLst/>
          </a:prstGeom>
          <a:solidFill>
            <a:srgbClr val="B5501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9146743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500" dirty="0"/>
          </a:p>
        </p:txBody>
      </p:sp>
      <p:sp>
        <p:nvSpPr>
          <p:cNvPr id="34" name="Text 27"/>
          <p:cNvSpPr txBox="1"/>
          <p:nvPr/>
        </p:nvSpPr>
        <p:spPr>
          <a:xfrm>
            <a:off x="9311335" y="39319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B2D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부식 단계 · 속도</a:t>
            </a:r>
            <a:endParaRPr lang="en-US" sz="1700" dirty="0"/>
          </a:p>
        </p:txBody>
      </p:sp>
      <p:sp>
        <p:nvSpPr>
          <p:cNvPr id="35" name="Text 28"/>
          <p:cNvSpPr txBox="1"/>
          <p:nvPr/>
        </p:nvSpPr>
        <p:spPr>
          <a:xfrm>
            <a:off x="9311335" y="4325112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b* 값으로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3단계 속도 구간 판정</a:t>
            </a:r>
            <a:endParaRPr lang="en-US" sz="1250" dirty="0"/>
          </a:p>
        </p:txBody>
      </p:sp>
      <p:sp>
        <p:nvSpPr>
          <p:cNvPr id="36" name="Shape 29"/>
          <p:cNvSpPr/>
          <p:nvPr/>
        </p:nvSpPr>
        <p:spPr>
          <a:xfrm>
            <a:off x="548640" y="5623560"/>
            <a:ext cx="2670734" cy="457200"/>
          </a:xfrm>
          <a:prstGeom prst="roundRect">
            <a:avLst>
              <a:gd name="adj" fmla="val 50000"/>
            </a:avLst>
          </a:prstGeom>
          <a:solidFill>
            <a:srgbClr val="2B2D31"/>
          </a:solidFill>
          <a:ln w="12700">
            <a:solidFill>
              <a:srgbClr val="2B2D31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548640" y="5623560"/>
            <a:ext cx="26707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시편 절단 없음</a:t>
            </a:r>
            <a:endParaRPr lang="en-US" sz="1400" dirty="0"/>
          </a:p>
        </p:txBody>
      </p:sp>
      <p:sp>
        <p:nvSpPr>
          <p:cNvPr id="38" name="Shape 31"/>
          <p:cNvSpPr/>
          <p:nvPr/>
        </p:nvSpPr>
        <p:spPr>
          <a:xfrm>
            <a:off x="3356534" y="5623560"/>
            <a:ext cx="2670734" cy="457200"/>
          </a:xfrm>
          <a:prstGeom prst="roundRect">
            <a:avLst>
              <a:gd name="adj" fmla="val 50000"/>
            </a:avLst>
          </a:prstGeom>
          <a:solidFill>
            <a:srgbClr val="2B2D31"/>
          </a:solidFill>
          <a:ln w="12700">
            <a:solidFill>
              <a:srgbClr val="2B2D31"/>
            </a:solidFill>
            <a:prstDash val="solid"/>
          </a:ln>
        </p:spPr>
      </p:sp>
      <p:sp>
        <p:nvSpPr>
          <p:cNvPr id="39" name="Text 32"/>
          <p:cNvSpPr txBox="1"/>
          <p:nvPr/>
        </p:nvSpPr>
        <p:spPr>
          <a:xfrm>
            <a:off x="3356534" y="5623560"/>
            <a:ext cx="26707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카메라 한 대</a:t>
            </a:r>
            <a:endParaRPr lang="en-US" sz="1400" dirty="0"/>
          </a:p>
        </p:txBody>
      </p:sp>
      <p:sp>
        <p:nvSpPr>
          <p:cNvPr id="40" name="Shape 33"/>
          <p:cNvSpPr/>
          <p:nvPr/>
        </p:nvSpPr>
        <p:spPr>
          <a:xfrm>
            <a:off x="6164428" y="5623560"/>
            <a:ext cx="2670734" cy="457200"/>
          </a:xfrm>
          <a:prstGeom prst="roundRect">
            <a:avLst>
              <a:gd name="adj" fmla="val 50000"/>
            </a:avLst>
          </a:prstGeom>
          <a:solidFill>
            <a:srgbClr val="2B2D31"/>
          </a:solidFill>
          <a:ln w="12700">
            <a:solidFill>
              <a:srgbClr val="2B2D31"/>
            </a:solidFill>
            <a:prstDash val="solid"/>
          </a:ln>
        </p:spPr>
      </p:sp>
      <p:sp>
        <p:nvSpPr>
          <p:cNvPr id="41" name="Text 34"/>
          <p:cNvSpPr txBox="1"/>
          <p:nvPr/>
        </p:nvSpPr>
        <p:spPr>
          <a:xfrm>
            <a:off x="6164428" y="5623560"/>
            <a:ext cx="26707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넓은 면적을 한 번에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72321" y="5623560"/>
            <a:ext cx="2670734" cy="457200"/>
          </a:xfrm>
          <a:prstGeom prst="roundRect">
            <a:avLst>
              <a:gd name="adj" fmla="val 50000"/>
            </a:avLst>
          </a:prstGeom>
          <a:solidFill>
            <a:srgbClr val="2B2D31"/>
          </a:solidFill>
          <a:ln w="12700">
            <a:solidFill>
              <a:srgbClr val="2B2D31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72321" y="5623560"/>
            <a:ext cx="26707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정량 결과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550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TECHNOLOGY  ·  실험실 검증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녹의 '노란 정도'가 부식 속도를 따라갑니다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3A7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Tex-Corps  ·  제주 A-STREAM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3A7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737982" y="4526050"/>
            <a:ext cx="1042365" cy="663655"/>
          </a:xfrm>
          <a:prstGeom prst="roundRect">
            <a:avLst>
              <a:gd name="adj" fmla="val 8267"/>
            </a:avLst>
          </a:prstGeom>
          <a:solidFill>
            <a:srgbClr val="E6EEF7"/>
          </a:solidFill>
          <a:ln w="12700">
            <a:solidFill>
              <a:srgbClr val="3A6EA5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3822713" y="3749137"/>
            <a:ext cx="1870126" cy="782875"/>
          </a:xfrm>
          <a:prstGeom prst="roundRect">
            <a:avLst>
              <a:gd name="adj" fmla="val 7008"/>
            </a:avLst>
          </a:prstGeom>
          <a:solidFill>
            <a:srgbClr val="E5F2EA"/>
          </a:solidFill>
          <a:ln w="12700">
            <a:solidFill>
              <a:srgbClr val="3C8D5A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5508892" y="1946936"/>
            <a:ext cx="705129" cy="1289557"/>
          </a:xfrm>
          <a:prstGeom prst="roundRect">
            <a:avLst>
              <a:gd name="adj" fmla="val 7781"/>
            </a:avLst>
          </a:prstGeom>
          <a:solidFill>
            <a:srgbClr val="F8E4E2"/>
          </a:solidFill>
          <a:ln w="12700">
            <a:solidFill>
              <a:srgbClr val="B23A2E"/>
            </a:solidFill>
            <a:prstDash val="dash"/>
          </a:ln>
        </p:spPr>
      </p:sp>
      <p:graphicFrame>
        <p:nvGraphicFramePr>
          <p:cNvPr id="9" name="Chart 0" descr=""/>
          <p:cNvGraphicFramePr/>
          <p:nvPr/>
        </p:nvGraphicFramePr>
        <p:xfrm>
          <a:off x="548640" y="1325880"/>
          <a:ext cx="64922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1768907" y="422148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A6E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초기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3853637" y="3444569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C8D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396816" y="198069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23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성숙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452360" y="1417320"/>
            <a:ext cx="4190695" cy="1051560"/>
          </a:xfrm>
          <a:prstGeom prst="roundRect">
            <a:avLst>
              <a:gd name="adj" fmla="val 6957"/>
            </a:avLst>
          </a:prstGeom>
          <a:solidFill>
            <a:srgbClr val="FBEDE4"/>
          </a:solidFill>
          <a:ln w="6350">
            <a:solidFill>
              <a:srgbClr val="FBEDE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26680" y="1508760"/>
            <a:ext cx="36420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550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ρ = 0.88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7726680" y="1993392"/>
            <a:ext cx="37334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b*와 부식 속도의 순위 상관 (p &lt; 0.002)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452360" y="2606040"/>
            <a:ext cx="4190695" cy="1051560"/>
          </a:xfrm>
          <a:prstGeom prst="roundRect">
            <a:avLst>
              <a:gd name="adj" fmla="val 6957"/>
            </a:avLst>
          </a:prstGeom>
          <a:solidFill>
            <a:srgbClr val="F3F4F6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726680" y="2697480"/>
            <a:ext cx="36420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550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3개 구간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7726680" y="3182112"/>
            <a:ext cx="37334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단계별 부식 속도 구간이 서로 겹치지 않음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452360" y="3794760"/>
            <a:ext cx="4190695" cy="1051560"/>
          </a:xfrm>
          <a:prstGeom prst="roundRect">
            <a:avLst>
              <a:gd name="adj" fmla="val 6957"/>
            </a:avLst>
          </a:prstGeom>
          <a:solidFill>
            <a:srgbClr val="F3F4F6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726680" y="3886200"/>
            <a:ext cx="36420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550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6가지 분석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7726680" y="4370832"/>
            <a:ext cx="37334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SEM/EDS · XRD · 전기화학 · 3D 표면 · 녹 면적 · 색으로 교차 검증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7452360" y="5074920"/>
            <a:ext cx="4190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탄소강 · 240시간 촉진부식 · 9개 시점 × 시편 2개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7452360" y="5394960"/>
            <a:ext cx="4190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ICIMC 2026 국제학회(11월, 서울) 발표 예정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550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WHY US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현장에서 쓸 수 있으면서, 숫자로 답합니다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3A7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Tex-Corps  ·  제주 A-STREAM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3A7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9669551" y="1417320"/>
            <a:ext cx="1927784" cy="3822192"/>
          </a:xfrm>
          <a:prstGeom prst="roundRect">
            <a:avLst>
              <a:gd name="adj" fmla="val 3795"/>
            </a:avLst>
          </a:prstGeom>
          <a:solidFill>
            <a:srgbClr val="FBEDE4"/>
          </a:solidFill>
          <a:ln w="19050">
            <a:solidFill>
              <a:srgbClr val="B5501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66160" y="1463040"/>
            <a:ext cx="2019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D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육안 점검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585384" y="1463040"/>
            <a:ext cx="2019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D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실험실 분석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604608" y="1463040"/>
            <a:ext cx="2019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D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부착형 부식 센서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9623831" y="1463040"/>
            <a:ext cx="2019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550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기술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084832"/>
            <a:ext cx="11094415" cy="0"/>
          </a:xfrm>
          <a:prstGeom prst="line">
            <a:avLst/>
          </a:prstGeom>
          <a:noFill/>
          <a:ln w="12700">
            <a:solidFill>
              <a:srgbClr val="D9DC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084832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비파괴 (시편 절단 없음)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2084832"/>
            <a:ext cx="2019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C8D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5585384" y="2084832"/>
            <a:ext cx="2019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3A7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7604608" y="2084832"/>
            <a:ext cx="2019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C8D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9623831" y="2084832"/>
            <a:ext cx="2019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50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48640" y="2706624"/>
            <a:ext cx="11094415" cy="0"/>
          </a:xfrm>
          <a:prstGeom prst="line">
            <a:avLst/>
          </a:prstGeom>
          <a:noFill/>
          <a:ln w="12700">
            <a:solidFill>
              <a:srgbClr val="D9DC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2706624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정량 결과 (부식 속도 구간)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566160" y="2706624"/>
            <a:ext cx="2019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3A7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5585384" y="2706624"/>
            <a:ext cx="2019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C8D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7604608" y="2706624"/>
            <a:ext cx="2019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C8D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9623831" y="2706624"/>
            <a:ext cx="2019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50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548640" y="3328416"/>
            <a:ext cx="11094415" cy="0"/>
          </a:xfrm>
          <a:prstGeom prst="line">
            <a:avLst/>
          </a:prstGeom>
          <a:noFill/>
          <a:ln w="12700">
            <a:solidFill>
              <a:srgbClr val="D9DCE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3328416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넓은 면적을 한 번에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3566160" y="3328416"/>
            <a:ext cx="2019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C8D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5585384" y="3328416"/>
            <a:ext cx="2019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3A7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7604608" y="3328416"/>
            <a:ext cx="2019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3A7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9623831" y="3328416"/>
            <a:ext cx="2019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50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548640" y="3950208"/>
            <a:ext cx="11094415" cy="0"/>
          </a:xfrm>
          <a:prstGeom prst="line">
            <a:avLst/>
          </a:prstGeom>
          <a:noFill/>
          <a:ln w="12700">
            <a:solidFill>
              <a:srgbClr val="D9DCE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0080" y="395020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 · 장비 부담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3566160" y="3950208"/>
            <a:ext cx="2019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낮음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585384" y="3950208"/>
            <a:ext cx="2019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높음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7604608" y="3950208"/>
            <a:ext cx="2019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센서 설치 필요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9623831" y="3950208"/>
            <a:ext cx="2019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550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카메라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48640" y="4572000"/>
            <a:ext cx="11094415" cy="0"/>
          </a:xfrm>
          <a:prstGeom prst="line">
            <a:avLst/>
          </a:prstGeom>
          <a:noFill/>
          <a:ln w="12700">
            <a:solidFill>
              <a:srgbClr val="D9DCE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0080" y="4572000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녹의 성분 정보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3566160" y="4572000"/>
            <a:ext cx="2019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3A7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en-US" sz="2200" dirty="0"/>
          </a:p>
        </p:txBody>
      </p:sp>
      <p:sp>
        <p:nvSpPr>
          <p:cNvPr id="38" name="Text 36"/>
          <p:cNvSpPr txBox="1"/>
          <p:nvPr/>
        </p:nvSpPr>
        <p:spPr>
          <a:xfrm>
            <a:off x="5585384" y="4572000"/>
            <a:ext cx="2019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C8D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en-US" sz="2200" dirty="0"/>
          </a:p>
        </p:txBody>
      </p:sp>
      <p:sp>
        <p:nvSpPr>
          <p:cNvPr id="39" name="Text 37"/>
          <p:cNvSpPr txBox="1"/>
          <p:nvPr/>
        </p:nvSpPr>
        <p:spPr>
          <a:xfrm>
            <a:off x="7604608" y="4572000"/>
            <a:ext cx="2019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3A7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en-US" sz="2200" dirty="0"/>
          </a:p>
        </p:txBody>
      </p:sp>
      <p:sp>
        <p:nvSpPr>
          <p:cNvPr id="40" name="Text 38"/>
          <p:cNvSpPr txBox="1"/>
          <p:nvPr/>
        </p:nvSpPr>
        <p:spPr>
          <a:xfrm>
            <a:off x="9623831" y="4572000"/>
            <a:ext cx="2019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550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△ (색으로 간접)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48640" y="5440680"/>
            <a:ext cx="6766560" cy="640080"/>
          </a:xfrm>
          <a:prstGeom prst="roundRect">
            <a:avLst>
              <a:gd name="adj" fmla="val 8571"/>
            </a:avLst>
          </a:prstGeom>
          <a:solidFill>
            <a:srgbClr val="FFF6DB"/>
          </a:solidFill>
          <a:ln w="15875">
            <a:solidFill>
              <a:srgbClr val="E0B23C"/>
            </a:solidFill>
            <a:prstDash val="dash"/>
          </a:ln>
        </p:spPr>
      </p:sp>
      <p:sp>
        <p:nvSpPr>
          <p:cNvPr id="42" name="Text 40"/>
          <p:cNvSpPr txBox="1"/>
          <p:nvPr/>
        </p:nvSpPr>
        <p:spPr>
          <a:xfrm>
            <a:off x="685800" y="544068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6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✎  특허 현황 (예: 녹 색상 기반 부식 단계 판정 방법 — 출원번호 / 출원일)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7498080" y="5440680"/>
            <a:ext cx="4144975" cy="640080"/>
          </a:xfrm>
          <a:prstGeom prst="roundRect">
            <a:avLst>
              <a:gd name="adj" fmla="val 8571"/>
            </a:avLst>
          </a:prstGeom>
          <a:solidFill>
            <a:srgbClr val="FFF6DB"/>
          </a:solidFill>
          <a:ln w="15875">
            <a:solidFill>
              <a:srgbClr val="E0B23C"/>
            </a:solidFill>
            <a:prstDash val="dash"/>
          </a:ln>
        </p:spPr>
      </p:sp>
      <p:sp>
        <p:nvSpPr>
          <p:cNvPr id="44" name="Text 42"/>
          <p:cNvSpPr txBox="1"/>
          <p:nvPr/>
        </p:nvSpPr>
        <p:spPr>
          <a:xfrm>
            <a:off x="7635240" y="5440680"/>
            <a:ext cx="38706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6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✎  경쟁 업체 · 제품명 (인터뷰에서 들은 것)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550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MARKET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고객은 해양 강구조물 점검 현장입니다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3A7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Tex-Corps  ·  제주 A-STREAM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3A7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77240" y="1463040"/>
            <a:ext cx="4663440" cy="4663440"/>
          </a:xfrm>
          <a:prstGeom prst="ellipse">
            <a:avLst/>
          </a:prstGeom>
          <a:solidFill>
            <a:srgbClr val="F6E3D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08760" y="2194560"/>
            <a:ext cx="3200400" cy="3200400"/>
          </a:xfrm>
          <a:prstGeom prst="ellipse">
            <a:avLst/>
          </a:prstGeom>
          <a:solidFill>
            <a:srgbClr val="EFC9B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40280" y="2926080"/>
            <a:ext cx="1737360" cy="1737360"/>
          </a:xfrm>
          <a:prstGeom prst="ellipse">
            <a:avLst/>
          </a:prstGeom>
          <a:solidFill>
            <a:srgbClr val="B5501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60320" y="1645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550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TAM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2377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550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3474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SOM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560320" y="3749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₩ ?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035040" y="1417320"/>
            <a:ext cx="5608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2D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TAM  글로벌 부식 모니터링 시장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035040" y="1764792"/>
            <a:ext cx="5608015" cy="566928"/>
          </a:xfrm>
          <a:prstGeom prst="roundRect">
            <a:avLst>
              <a:gd name="adj" fmla="val 9677"/>
            </a:avLst>
          </a:prstGeom>
          <a:solidFill>
            <a:srgbClr val="FFF6DB"/>
          </a:solidFill>
          <a:ln w="15875">
            <a:solidFill>
              <a:srgbClr val="E0B23C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6172200" y="1764792"/>
            <a:ext cx="53336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6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✎  보고서별 약 USD 1.1–2.9B (2025), 연 7–11% 성장 — 사용할 수치 1개를 골라 출처와 함께 확정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035040" y="2404872"/>
            <a:ext cx="5608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2D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  국내 강구조물 부식 점검 시장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035040" y="2752344"/>
            <a:ext cx="5608015" cy="566928"/>
          </a:xfrm>
          <a:prstGeom prst="roundRect">
            <a:avLst>
              <a:gd name="adj" fmla="val 9677"/>
            </a:avLst>
          </a:prstGeom>
          <a:solidFill>
            <a:srgbClr val="FFF6DB"/>
          </a:solidFill>
          <a:ln w="15875">
            <a:solidFill>
              <a:srgbClr val="E0B23C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6172200" y="2752344"/>
            <a:ext cx="53336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6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✎  대상(조선·교량·항만·플랜트) 범위와 금액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035040" y="3392424"/>
            <a:ext cx="5608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2D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SOM  3년 내 확보 가능한 시장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035040" y="3739896"/>
            <a:ext cx="5608015" cy="566928"/>
          </a:xfrm>
          <a:prstGeom prst="roundRect">
            <a:avLst>
              <a:gd name="adj" fmla="val 9677"/>
            </a:avLst>
          </a:prstGeom>
          <a:solidFill>
            <a:srgbClr val="FFF6DB"/>
          </a:solidFill>
          <a:ln w="15875">
            <a:solidFill>
              <a:srgbClr val="E0B23C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6172200" y="3739896"/>
            <a:ext cx="53336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6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✎  첫 타깃 고객 수 × 연간 점검 횟수 × 단가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035040" y="4434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타깃 고객 후보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035040" y="4754880"/>
            <a:ext cx="1333424" cy="1325880"/>
          </a:xfrm>
          <a:prstGeom prst="roundRect">
            <a:avLst>
              <a:gd name="adj" fmla="val 5517"/>
            </a:avLst>
          </a:prstGeom>
          <a:solidFill>
            <a:srgbClr val="FBEDE4"/>
          </a:solidFill>
          <a:ln w="6350">
            <a:solidFill>
              <a:srgbClr val="FBEDE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000" y="4892040"/>
            <a:ext cx="603504" cy="603504"/>
          </a:xfrm>
          <a:prstGeom prst="ellipse">
            <a:avLst/>
          </a:prstGeom>
          <a:solidFill>
            <a:srgbClr val="B5501F"/>
          </a:solidFill>
          <a:ln w="12700">
            <a:solidFill>
              <a:srgbClr val="B5501F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6911" y="5048951"/>
            <a:ext cx="289682" cy="289682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6080760" y="5577840"/>
            <a:ext cx="1241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조선·선박 수리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7459904" y="4754880"/>
            <a:ext cx="1333424" cy="1325880"/>
          </a:xfrm>
          <a:prstGeom prst="roundRect">
            <a:avLst>
              <a:gd name="adj" fmla="val 5517"/>
            </a:avLst>
          </a:prstGeom>
          <a:solidFill>
            <a:srgbClr val="F3F4F6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824864" y="4892040"/>
            <a:ext cx="603504" cy="603504"/>
          </a:xfrm>
          <a:prstGeom prst="ellipse">
            <a:avLst/>
          </a:prstGeom>
          <a:solidFill>
            <a:srgbClr val="2B2D31"/>
          </a:solidFill>
          <a:ln w="12700">
            <a:solidFill>
              <a:srgbClr val="2B2D31"/>
            </a:solidFill>
            <a:prstDash val="solid"/>
          </a:ln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1775" y="5048951"/>
            <a:ext cx="289682" cy="289682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7505624" y="5577840"/>
            <a:ext cx="1241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교량·강구조물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8884768" y="4754880"/>
            <a:ext cx="1333424" cy="1325880"/>
          </a:xfrm>
          <a:prstGeom prst="roundRect">
            <a:avLst>
              <a:gd name="adj" fmla="val 5517"/>
            </a:avLst>
          </a:prstGeom>
          <a:solidFill>
            <a:srgbClr val="F3F4F6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9249728" y="4892040"/>
            <a:ext cx="603504" cy="603504"/>
          </a:xfrm>
          <a:prstGeom prst="ellipse">
            <a:avLst/>
          </a:prstGeom>
          <a:solidFill>
            <a:srgbClr val="2B2D31"/>
          </a:solidFill>
          <a:ln w="12700">
            <a:solidFill>
              <a:srgbClr val="2B2D31"/>
            </a:solidFill>
            <a:prstDash val="solid"/>
          </a:ln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6639" y="5048951"/>
            <a:ext cx="289682" cy="289682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8930488" y="5577840"/>
            <a:ext cx="1241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항만·해양 설비</a:t>
            </a:r>
            <a:endParaRPr lang="en-US" sz="1200" dirty="0"/>
          </a:p>
        </p:txBody>
      </p:sp>
      <p:sp>
        <p:nvSpPr>
          <p:cNvPr id="35" name="Shape 30"/>
          <p:cNvSpPr/>
          <p:nvPr/>
        </p:nvSpPr>
        <p:spPr>
          <a:xfrm>
            <a:off x="10309631" y="4754880"/>
            <a:ext cx="1333424" cy="1325880"/>
          </a:xfrm>
          <a:prstGeom prst="roundRect">
            <a:avLst>
              <a:gd name="adj" fmla="val 5517"/>
            </a:avLst>
          </a:prstGeom>
          <a:solidFill>
            <a:srgbClr val="F3F4F6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10674591" y="4892040"/>
            <a:ext cx="603504" cy="603504"/>
          </a:xfrm>
          <a:prstGeom prst="ellipse">
            <a:avLst/>
          </a:prstGeom>
          <a:solidFill>
            <a:srgbClr val="2B2D31"/>
          </a:solidFill>
          <a:ln w="12700">
            <a:solidFill>
              <a:srgbClr val="2B2D31"/>
            </a:solidFill>
            <a:prstDash val="solid"/>
          </a:ln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1502" y="5048951"/>
            <a:ext cx="289682" cy="289682"/>
          </a:xfrm>
          <a:prstGeom prst="rect">
            <a:avLst/>
          </a:prstGeom>
        </p:spPr>
      </p:pic>
      <p:sp>
        <p:nvSpPr>
          <p:cNvPr id="38" name="Text 32"/>
          <p:cNvSpPr txBox="1"/>
          <p:nvPr/>
        </p:nvSpPr>
        <p:spPr>
          <a:xfrm>
            <a:off x="10355351" y="5577840"/>
            <a:ext cx="1241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노후 산업설비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550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 모델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3A7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Tex-Corps  ·  제주 A-STREAM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3A7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15258" cy="3246120"/>
          </a:xfrm>
          <a:prstGeom prst="roundRect">
            <a:avLst>
              <a:gd name="adj" fmla="val 2254"/>
            </a:avLst>
          </a:prstGeom>
          <a:solidFill>
            <a:srgbClr val="F3F4F6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783080"/>
            <a:ext cx="731520" cy="731520"/>
          </a:xfrm>
          <a:prstGeom prst="ellipse">
            <a:avLst/>
          </a:prstGeom>
          <a:solidFill>
            <a:srgbClr val="2B2D31"/>
          </a:solidFill>
          <a:ln w="12700">
            <a:solidFill>
              <a:srgbClr val="2B2D3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875" y="1973275"/>
            <a:ext cx="351130" cy="35113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68680" y="269748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B2D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 앱 구독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3154680"/>
            <a:ext cx="28751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담당자가 스마트폰으로 촬영 → 부식 단계·속도 리포트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68680" y="4114800"/>
            <a:ext cx="2875178" cy="347472"/>
          </a:xfrm>
          <a:prstGeom prst="roundRect">
            <a:avLst>
              <a:gd name="adj" fmla="val 50000"/>
            </a:avLst>
          </a:prstGeom>
          <a:solidFill>
            <a:srgbClr val="B5501F"/>
          </a:solidFill>
          <a:ln w="12700">
            <a:solidFill>
              <a:srgbClr val="B5501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68680" y="4114800"/>
            <a:ext cx="287517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월/연 구독료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338218" y="1463040"/>
            <a:ext cx="3515258" cy="3246120"/>
          </a:xfrm>
          <a:prstGeom prst="roundRect">
            <a:avLst>
              <a:gd name="adj" fmla="val 2254"/>
            </a:avLst>
          </a:prstGeom>
          <a:solidFill>
            <a:srgbClr val="F3F4F6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58258" y="1783080"/>
            <a:ext cx="731520" cy="731520"/>
          </a:xfrm>
          <a:prstGeom prst="ellipse">
            <a:avLst/>
          </a:prstGeom>
          <a:solidFill>
            <a:srgbClr val="2B2D31"/>
          </a:solidFill>
          <a:ln w="12700">
            <a:solidFill>
              <a:srgbClr val="2B2D31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8454" y="1973275"/>
            <a:ext cx="351130" cy="35113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658258" y="269748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B2D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진단 서비스</a:t>
            </a:r>
            <a:endParaRPr lang="en-US" sz="1900" dirty="0"/>
          </a:p>
        </p:txBody>
      </p:sp>
      <p:sp>
        <p:nvSpPr>
          <p:cNvPr id="17" name="Text 13"/>
          <p:cNvSpPr txBox="1"/>
          <p:nvPr/>
        </p:nvSpPr>
        <p:spPr>
          <a:xfrm>
            <a:off x="4658258" y="3154680"/>
            <a:ext cx="28751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구조물 단위 촬영·분석 후 유지보수 우선순위 리포트 제공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4658258" y="4114800"/>
            <a:ext cx="2875178" cy="347472"/>
          </a:xfrm>
          <a:prstGeom prst="roundRect">
            <a:avLst>
              <a:gd name="adj" fmla="val 50000"/>
            </a:avLst>
          </a:prstGeom>
          <a:solidFill>
            <a:srgbClr val="B5501F"/>
          </a:solidFill>
          <a:ln w="12700">
            <a:solidFill>
              <a:srgbClr val="B5501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658258" y="4114800"/>
            <a:ext cx="287517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건당 진단비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8127797" y="1463040"/>
            <a:ext cx="3515258" cy="3246120"/>
          </a:xfrm>
          <a:prstGeom prst="roundRect">
            <a:avLst>
              <a:gd name="adj" fmla="val 2254"/>
            </a:avLst>
          </a:prstGeom>
          <a:solidFill>
            <a:srgbClr val="F3F4F6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447837" y="1783080"/>
            <a:ext cx="731520" cy="731520"/>
          </a:xfrm>
          <a:prstGeom prst="ellipse">
            <a:avLst/>
          </a:prstGeom>
          <a:solidFill>
            <a:srgbClr val="2B2D31"/>
          </a:solidFill>
          <a:ln w="12700">
            <a:solidFill>
              <a:srgbClr val="2B2D31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8032" y="1973275"/>
            <a:ext cx="351130" cy="35113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8447837" y="269748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B2D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라이선스</a:t>
            </a:r>
            <a:endParaRPr lang="en-US" sz="1900" dirty="0"/>
          </a:p>
        </p:txBody>
      </p:sp>
      <p:sp>
        <p:nvSpPr>
          <p:cNvPr id="24" name="Text 19"/>
          <p:cNvSpPr txBox="1"/>
          <p:nvPr/>
        </p:nvSpPr>
        <p:spPr>
          <a:xfrm>
            <a:off x="8447837" y="3154680"/>
            <a:ext cx="28751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드론·점검 로봇·안전진단 업체의 소프트웨어에 분석 엔진 탑재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8447837" y="4114800"/>
            <a:ext cx="2875178" cy="347472"/>
          </a:xfrm>
          <a:prstGeom prst="roundRect">
            <a:avLst>
              <a:gd name="adj" fmla="val 50000"/>
            </a:avLst>
          </a:prstGeom>
          <a:solidFill>
            <a:srgbClr val="B5501F"/>
          </a:solidFill>
          <a:ln w="12700">
            <a:solidFill>
              <a:srgbClr val="B5501F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8447837" y="4114800"/>
            <a:ext cx="287517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라이선스 · 로열티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548640" y="4983480"/>
            <a:ext cx="11094415" cy="1051560"/>
          </a:xfrm>
          <a:prstGeom prst="roundRect">
            <a:avLst>
              <a:gd name="adj" fmla="val 5217"/>
            </a:avLst>
          </a:prstGeom>
          <a:solidFill>
            <a:srgbClr val="FFF6DB"/>
          </a:solidFill>
          <a:ln w="15875">
            <a:solidFill>
              <a:srgbClr val="E0B23C"/>
            </a:solidFill>
            <a:prstDash val="dash"/>
          </a:ln>
        </p:spPr>
      </p:sp>
      <p:sp>
        <p:nvSpPr>
          <p:cNvPr id="28" name="Text 23"/>
          <p:cNvSpPr txBox="1"/>
          <p:nvPr/>
        </p:nvSpPr>
        <p:spPr>
          <a:xfrm>
            <a:off x="685800" y="4983480"/>
            <a:ext cx="108200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6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✎  실제 계획에 맞는 모델만 남기고 가격을 넣어 주세요  (예: 첫 해는 진단 서비스로 데이터 확보 → 이후 앱 구독 전환, 구조물 1기당 ○○만 원)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550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TRACTION  ·  ROADMAP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지금까지 한 것, 앞으로 할 것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3A7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Tex-Corps  ·  제주 A-STREAM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3A7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550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지금까지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457200" cy="457200"/>
          </a:xfrm>
          <a:prstGeom prst="ellipse">
            <a:avLst/>
          </a:prstGeom>
          <a:solidFill>
            <a:srgbClr val="3C8D5A"/>
          </a:solidFill>
          <a:ln w="12700">
            <a:solidFill>
              <a:srgbClr val="3C8D5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993392"/>
            <a:ext cx="219456" cy="21945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88720" y="18288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2D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실험실 검증 완료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188720" y="217627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240시간 촉진부식, 6가지 분석 교차 검증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2788920"/>
            <a:ext cx="457200" cy="457200"/>
          </a:xfrm>
          <a:prstGeom prst="ellipse">
            <a:avLst/>
          </a:prstGeom>
          <a:solidFill>
            <a:srgbClr val="3C8D5A"/>
          </a:solidFill>
          <a:ln w="12700">
            <a:solidFill>
              <a:srgbClr val="3C8D5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2907792"/>
            <a:ext cx="219456" cy="21945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188720" y="27432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2D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국제학회 발표 확정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1188720" y="309067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ICIMC 2026 구두 발표 (2026.11, 서울)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3703320"/>
            <a:ext cx="4846320" cy="685800"/>
          </a:xfrm>
          <a:prstGeom prst="roundRect">
            <a:avLst>
              <a:gd name="adj" fmla="val 8000"/>
            </a:avLst>
          </a:prstGeom>
          <a:solidFill>
            <a:srgbClr val="FFF6DB"/>
          </a:solidFill>
          <a:ln w="15875">
            <a:solidFill>
              <a:srgbClr val="E0B23C"/>
            </a:solidFill>
            <a:prstDash val="dash"/>
          </a:ln>
        </p:spPr>
      </p:sp>
      <p:sp>
        <p:nvSpPr>
          <p:cNvPr id="16" name="Text 12"/>
          <p:cNvSpPr txBox="1"/>
          <p:nvPr/>
        </p:nvSpPr>
        <p:spPr>
          <a:xfrm>
            <a:off x="685800" y="370332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6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✎  Tex-Corps 고객 인터뷰 ○○건 — 핵심 발견 1줄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548640" y="4526280"/>
            <a:ext cx="4846320" cy="685800"/>
          </a:xfrm>
          <a:prstGeom prst="roundRect">
            <a:avLst>
              <a:gd name="adj" fmla="val 8000"/>
            </a:avLst>
          </a:prstGeom>
          <a:solidFill>
            <a:srgbClr val="FFF6DB"/>
          </a:solidFill>
          <a:ln w="15875">
            <a:solidFill>
              <a:srgbClr val="E0B23C"/>
            </a:solidFill>
            <a:prstDash val="dash"/>
          </a:ln>
        </p:spPr>
      </p:sp>
      <p:sp>
        <p:nvSpPr>
          <p:cNvPr id="18" name="Text 14"/>
          <p:cNvSpPr txBox="1"/>
          <p:nvPr/>
        </p:nvSpPr>
        <p:spPr>
          <a:xfrm>
            <a:off x="685800" y="45262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6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✎  MOU · 실증 협의 · 수상 · 특허 출원 등</a:t>
            </a:r>
            <a:endParaRPr lang="en-US" sz="1250" dirty="0"/>
          </a:p>
        </p:txBody>
      </p:sp>
      <p:sp>
        <p:nvSpPr>
          <p:cNvPr id="19" name="Text 15"/>
          <p:cNvSpPr txBox="1"/>
          <p:nvPr/>
        </p:nvSpPr>
        <p:spPr>
          <a:xfrm>
            <a:off x="5943600" y="1371600"/>
            <a:ext cx="56994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550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로드맵 (안)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6236208" y="1984248"/>
            <a:ext cx="0" cy="3099816"/>
          </a:xfrm>
          <a:prstGeom prst="line">
            <a:avLst/>
          </a:prstGeom>
          <a:noFill/>
          <a:ln w="25400">
            <a:solidFill>
              <a:srgbClr val="D9DCE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126480" y="1874520"/>
            <a:ext cx="219456" cy="219456"/>
          </a:xfrm>
          <a:prstGeom prst="ellipse">
            <a:avLst/>
          </a:prstGeom>
          <a:solidFill>
            <a:srgbClr val="B5501F"/>
          </a:solidFill>
          <a:ln w="25400">
            <a:solidFill>
              <a:srgbClr val="B5501F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537960" y="181965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550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하반기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8092440" y="1819656"/>
            <a:ext cx="3550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D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해양(염화물) 환경 · 조명 변화 조건으로 검증 확대</a:t>
            </a:r>
            <a:endParaRPr lang="en-US" sz="1350" dirty="0"/>
          </a:p>
        </p:txBody>
      </p:sp>
      <p:sp>
        <p:nvSpPr>
          <p:cNvPr id="24" name="Shape 20"/>
          <p:cNvSpPr/>
          <p:nvPr/>
        </p:nvSpPr>
        <p:spPr>
          <a:xfrm>
            <a:off x="6126480" y="2907792"/>
            <a:ext cx="219456" cy="2194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5501F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537960" y="285292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550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2027 상반기</a:t>
            </a:r>
            <a:endParaRPr lang="en-US" sz="1400" dirty="0"/>
          </a:p>
        </p:txBody>
      </p:sp>
      <p:sp>
        <p:nvSpPr>
          <p:cNvPr id="26" name="Text 22"/>
          <p:cNvSpPr txBox="1"/>
          <p:nvPr/>
        </p:nvSpPr>
        <p:spPr>
          <a:xfrm>
            <a:off x="8092440" y="2852928"/>
            <a:ext cx="3550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D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촬영 앱 MVP · 첫 현장 실증 (PoC)</a:t>
            </a:r>
            <a:endParaRPr lang="en-US" sz="1350" dirty="0"/>
          </a:p>
        </p:txBody>
      </p:sp>
      <p:sp>
        <p:nvSpPr>
          <p:cNvPr id="27" name="Shape 23"/>
          <p:cNvSpPr/>
          <p:nvPr/>
        </p:nvSpPr>
        <p:spPr>
          <a:xfrm>
            <a:off x="6126480" y="3941064"/>
            <a:ext cx="219456" cy="2194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5501F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6537960" y="3886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550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2027 하반기</a:t>
            </a:r>
            <a:endParaRPr lang="en-US" sz="1400" dirty="0"/>
          </a:p>
        </p:txBody>
      </p:sp>
      <p:sp>
        <p:nvSpPr>
          <p:cNvPr id="29" name="Shape 25"/>
          <p:cNvSpPr/>
          <p:nvPr/>
        </p:nvSpPr>
        <p:spPr>
          <a:xfrm>
            <a:off x="8092440" y="3831336"/>
            <a:ext cx="3550615" cy="548640"/>
          </a:xfrm>
          <a:prstGeom prst="roundRect">
            <a:avLst>
              <a:gd name="adj" fmla="val 10000"/>
            </a:avLst>
          </a:prstGeom>
          <a:solidFill>
            <a:srgbClr val="FFF6DB"/>
          </a:solidFill>
          <a:ln w="15875">
            <a:solidFill>
              <a:srgbClr val="E0B23C"/>
            </a:solidFill>
            <a:prstDash val="dash"/>
          </a:ln>
        </p:spPr>
      </p:sp>
      <p:sp>
        <p:nvSpPr>
          <p:cNvPr id="30" name="Text 26"/>
          <p:cNvSpPr txBox="1"/>
          <p:nvPr/>
        </p:nvSpPr>
        <p:spPr>
          <a:xfrm>
            <a:off x="8229600" y="3831336"/>
            <a:ext cx="3276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6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✎  법인 설립 · 첫 유료 고객  — 일정 확인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6126480" y="4974336"/>
            <a:ext cx="219456" cy="2194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5501F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6537960" y="491947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550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2028</a:t>
            </a:r>
            <a:endParaRPr lang="en-US" sz="1400" dirty="0"/>
          </a:p>
        </p:txBody>
      </p:sp>
      <p:sp>
        <p:nvSpPr>
          <p:cNvPr id="33" name="Shape 29"/>
          <p:cNvSpPr/>
          <p:nvPr/>
        </p:nvSpPr>
        <p:spPr>
          <a:xfrm>
            <a:off x="8092440" y="4864608"/>
            <a:ext cx="3550615" cy="548640"/>
          </a:xfrm>
          <a:prstGeom prst="roundRect">
            <a:avLst>
              <a:gd name="adj" fmla="val 10000"/>
            </a:avLst>
          </a:prstGeom>
          <a:solidFill>
            <a:srgbClr val="FFF6DB"/>
          </a:solidFill>
          <a:ln w="15875">
            <a:solidFill>
              <a:srgbClr val="E0B23C"/>
            </a:solidFill>
            <a:prstDash val="dash"/>
          </a:ln>
        </p:spPr>
      </p:sp>
      <p:sp>
        <p:nvSpPr>
          <p:cNvPr id="34" name="Text 30"/>
          <p:cNvSpPr txBox="1"/>
          <p:nvPr/>
        </p:nvSpPr>
        <p:spPr>
          <a:xfrm>
            <a:off x="8229600" y="4864608"/>
            <a:ext cx="3276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6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✎  드론 · 점검 로봇 연계, 데이터 기반 수명 예측  — 일정 확인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550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3A7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Tex-Corps  ·  제주 A-STREAM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3A7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2567864" cy="3017520"/>
          </a:xfrm>
          <a:prstGeom prst="roundRect">
            <a:avLst>
              <a:gd name="adj" fmla="val 2849"/>
            </a:avLst>
          </a:prstGeom>
          <a:solidFill>
            <a:srgbClr val="FBEDE4"/>
          </a:solidFill>
          <a:ln w="6350">
            <a:solidFill>
              <a:srgbClr val="FBED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5372" y="1828800"/>
            <a:ext cx="914400" cy="914400"/>
          </a:xfrm>
          <a:prstGeom prst="ellipse">
            <a:avLst/>
          </a:prstGeom>
          <a:solidFill>
            <a:srgbClr val="B5501F"/>
          </a:solidFill>
          <a:ln w="12700">
            <a:solidFill>
              <a:srgbClr val="B5501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3116" y="2066544"/>
            <a:ext cx="438912" cy="43891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31520" y="2926080"/>
            <a:ext cx="2202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D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우성훈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383280"/>
            <a:ext cx="2202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550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 · 기술 개발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731520" y="3794760"/>
            <a:ext cx="2202104" cy="548640"/>
          </a:xfrm>
          <a:prstGeom prst="roundRect">
            <a:avLst>
              <a:gd name="adj" fmla="val 10000"/>
            </a:avLst>
          </a:prstGeom>
          <a:solidFill>
            <a:srgbClr val="FFF6DB"/>
          </a:solidFill>
          <a:ln w="15875">
            <a:solidFill>
              <a:srgbClr val="E0B23C"/>
            </a:solidFill>
            <a:prstDash val="dash"/>
          </a:ln>
        </p:spPr>
      </p:sp>
      <p:sp>
        <p:nvSpPr>
          <p:cNvPr id="12" name="Text 9"/>
          <p:cNvSpPr txBox="1"/>
          <p:nvPr/>
        </p:nvSpPr>
        <p:spPr>
          <a:xfrm>
            <a:off x="868680" y="3794760"/>
            <a:ext cx="1927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6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✎  핵심 경력 · 역할 1줄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390824" y="1508760"/>
            <a:ext cx="2567864" cy="3017520"/>
          </a:xfrm>
          <a:prstGeom prst="roundRect">
            <a:avLst>
              <a:gd name="adj" fmla="val 2849"/>
            </a:avLst>
          </a:prstGeom>
          <a:solidFill>
            <a:srgbClr val="F3F4F6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217556" y="1828800"/>
            <a:ext cx="914400" cy="914400"/>
          </a:xfrm>
          <a:prstGeom prst="ellipse">
            <a:avLst/>
          </a:prstGeom>
          <a:solidFill>
            <a:srgbClr val="A3A7AD"/>
          </a:solidFill>
          <a:ln w="12700">
            <a:solidFill>
              <a:srgbClr val="A3A7AD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5300" y="2066544"/>
            <a:ext cx="438912" cy="438912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3573704" y="2971800"/>
            <a:ext cx="2202104" cy="1325880"/>
          </a:xfrm>
          <a:prstGeom prst="roundRect">
            <a:avLst>
              <a:gd name="adj" fmla="val 4138"/>
            </a:avLst>
          </a:prstGeom>
          <a:solidFill>
            <a:srgbClr val="FFF6DB"/>
          </a:solidFill>
          <a:ln w="15875">
            <a:solidFill>
              <a:srgbClr val="E0B23C"/>
            </a:solidFill>
            <a:prstDash val="dash"/>
          </a:ln>
        </p:spPr>
      </p:sp>
      <p:sp>
        <p:nvSpPr>
          <p:cNvPr id="17" name="Text 13"/>
          <p:cNvSpPr txBox="1"/>
          <p:nvPr/>
        </p:nvSpPr>
        <p:spPr>
          <a:xfrm>
            <a:off x="3710864" y="2971800"/>
            <a:ext cx="19277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6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✎  팀원 1 이름 / 역할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A6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소속 · 핵심 경력 1줄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233008" y="1508760"/>
            <a:ext cx="2567864" cy="3017520"/>
          </a:xfrm>
          <a:prstGeom prst="roundRect">
            <a:avLst>
              <a:gd name="adj" fmla="val 2849"/>
            </a:avLst>
          </a:prstGeom>
          <a:solidFill>
            <a:srgbClr val="F3F4F6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059740" y="1828800"/>
            <a:ext cx="914400" cy="914400"/>
          </a:xfrm>
          <a:prstGeom prst="ellipse">
            <a:avLst/>
          </a:prstGeom>
          <a:solidFill>
            <a:srgbClr val="A3A7AD"/>
          </a:solidFill>
          <a:ln w="12700">
            <a:solidFill>
              <a:srgbClr val="A3A7AD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7484" y="2066544"/>
            <a:ext cx="438912" cy="438912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6415888" y="2971800"/>
            <a:ext cx="2202104" cy="1325880"/>
          </a:xfrm>
          <a:prstGeom prst="roundRect">
            <a:avLst>
              <a:gd name="adj" fmla="val 4138"/>
            </a:avLst>
          </a:prstGeom>
          <a:solidFill>
            <a:srgbClr val="FFF6DB"/>
          </a:solidFill>
          <a:ln w="15875">
            <a:solidFill>
              <a:srgbClr val="E0B23C"/>
            </a:solidFill>
            <a:prstDash val="dash"/>
          </a:ln>
        </p:spPr>
      </p:sp>
      <p:sp>
        <p:nvSpPr>
          <p:cNvPr id="22" name="Text 17"/>
          <p:cNvSpPr txBox="1"/>
          <p:nvPr/>
        </p:nvSpPr>
        <p:spPr>
          <a:xfrm>
            <a:off x="6553048" y="2971800"/>
            <a:ext cx="19277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6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✎  팀원 2 이름 / 역할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A6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소속 · 핵심 경력 1줄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9075191" y="1508760"/>
            <a:ext cx="2567864" cy="3017520"/>
          </a:xfrm>
          <a:prstGeom prst="roundRect">
            <a:avLst>
              <a:gd name="adj" fmla="val 2849"/>
            </a:avLst>
          </a:prstGeom>
          <a:solidFill>
            <a:srgbClr val="F3F4F6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9901923" y="1828800"/>
            <a:ext cx="914400" cy="914400"/>
          </a:xfrm>
          <a:prstGeom prst="ellipse">
            <a:avLst/>
          </a:prstGeom>
          <a:solidFill>
            <a:srgbClr val="A3A7AD"/>
          </a:solidFill>
          <a:ln w="12700">
            <a:solidFill>
              <a:srgbClr val="A3A7AD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9667" y="2066544"/>
            <a:ext cx="438912" cy="438912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9258071" y="2971800"/>
            <a:ext cx="2202104" cy="1325880"/>
          </a:xfrm>
          <a:prstGeom prst="roundRect">
            <a:avLst>
              <a:gd name="adj" fmla="val 4138"/>
            </a:avLst>
          </a:prstGeom>
          <a:solidFill>
            <a:srgbClr val="FFF6DB"/>
          </a:solidFill>
          <a:ln w="15875">
            <a:solidFill>
              <a:srgbClr val="E0B23C"/>
            </a:solidFill>
            <a:prstDash val="dash"/>
          </a:ln>
        </p:spPr>
      </p:sp>
      <p:sp>
        <p:nvSpPr>
          <p:cNvPr id="27" name="Text 21"/>
          <p:cNvSpPr txBox="1"/>
          <p:nvPr/>
        </p:nvSpPr>
        <p:spPr>
          <a:xfrm>
            <a:off x="9395231" y="2971800"/>
            <a:ext cx="19277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6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✎  팀원 3 이름 / 역할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A6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소속 · 핵심 경력 1줄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548640" y="4800600"/>
            <a:ext cx="11094415" cy="594360"/>
          </a:xfrm>
          <a:prstGeom prst="roundRect">
            <a:avLst>
              <a:gd name="adj" fmla="val 9231"/>
            </a:avLst>
          </a:prstGeom>
          <a:solidFill>
            <a:srgbClr val="FFF6DB"/>
          </a:solidFill>
          <a:ln w="15875">
            <a:solidFill>
              <a:srgbClr val="E0B23C"/>
            </a:solidFill>
            <a:prstDash val="dash"/>
          </a:ln>
        </p:spPr>
      </p:sp>
      <p:sp>
        <p:nvSpPr>
          <p:cNvPr id="29" name="Text 23"/>
          <p:cNvSpPr txBox="1"/>
          <p:nvPr/>
        </p:nvSpPr>
        <p:spPr>
          <a:xfrm>
            <a:off x="685800" y="4800600"/>
            <a:ext cx="108200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6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✎  지도교수 · 멘토 · 자문 (예: 부식/재료 분야 지도교수, Tex-Corps 멘토)</a:t>
            </a:r>
            <a:endParaRPr lang="en-US" sz="1300" dirty="0"/>
          </a:p>
        </p:txBody>
      </p:sp>
      <p:sp>
        <p:nvSpPr>
          <p:cNvPr id="30" name="Text 24"/>
          <p:cNvSpPr txBox="1"/>
          <p:nvPr/>
        </p:nvSpPr>
        <p:spPr>
          <a:xfrm>
            <a:off x="548640" y="56235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F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 기반: 해양수산부 「친환경 선박 블루테크 리더 양성」 사업 (RS-2025-02220459)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2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8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현장을 찾고 있습니다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15258" cy="2331720"/>
          </a:xfrm>
          <a:prstGeom prst="roundRect">
            <a:avLst>
              <a:gd name="adj" fmla="val 3137"/>
            </a:avLst>
          </a:prstGeom>
          <a:solidFill>
            <a:srgbClr val="2B2F35"/>
          </a:solidFill>
          <a:ln w="12700">
            <a:solidFill>
              <a:srgbClr val="3A3D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03120"/>
            <a:ext cx="685800" cy="685800"/>
          </a:xfrm>
          <a:prstGeom prst="ellipse">
            <a:avLst/>
          </a:prstGeom>
          <a:solidFill>
            <a:srgbClr val="B5501F"/>
          </a:solidFill>
          <a:ln w="12700">
            <a:solidFill>
              <a:srgbClr val="B5501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" y="22814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2103120"/>
            <a:ext cx="21436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실증 파트너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822960" y="3017520"/>
            <a:ext cx="2966618" cy="914400"/>
          </a:xfrm>
          <a:prstGeom prst="roundRect">
            <a:avLst>
              <a:gd name="adj" fmla="val 6000"/>
            </a:avLst>
          </a:prstGeom>
          <a:solidFill>
            <a:srgbClr val="FFF6DB"/>
          </a:solidFill>
          <a:ln w="15875">
            <a:solidFill>
              <a:srgbClr val="E0B23C"/>
            </a:solidFill>
            <a:prstDash val="dash"/>
          </a:ln>
        </p:spPr>
      </p:sp>
      <p:sp>
        <p:nvSpPr>
          <p:cNvPr id="9" name="Text 6"/>
          <p:cNvSpPr txBox="1"/>
          <p:nvPr/>
        </p:nvSpPr>
        <p:spPr>
          <a:xfrm>
            <a:off x="960120" y="3017520"/>
            <a:ext cx="26922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6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✎  조선소 · 지자체 · 안전진단 업체 등 현장 실증 대상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38218" y="1828800"/>
            <a:ext cx="3515258" cy="2331720"/>
          </a:xfrm>
          <a:prstGeom prst="roundRect">
            <a:avLst>
              <a:gd name="adj" fmla="val 3137"/>
            </a:avLst>
          </a:prstGeom>
          <a:solidFill>
            <a:srgbClr val="2B2F35"/>
          </a:solidFill>
          <a:ln w="12700">
            <a:solidFill>
              <a:srgbClr val="3A3D4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12538" y="2103120"/>
            <a:ext cx="685800" cy="685800"/>
          </a:xfrm>
          <a:prstGeom prst="ellipse">
            <a:avLst/>
          </a:prstGeom>
          <a:solidFill>
            <a:srgbClr val="B5501F"/>
          </a:solidFill>
          <a:ln w="12700">
            <a:solidFill>
              <a:srgbClr val="B5501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846" y="228142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481218" y="2103120"/>
            <a:ext cx="21436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 · 지원</a:t>
            </a:r>
            <a:endParaRPr lang="en-US" sz="1900" dirty="0"/>
          </a:p>
        </p:txBody>
      </p:sp>
      <p:sp>
        <p:nvSpPr>
          <p:cNvPr id="14" name="Shape 10"/>
          <p:cNvSpPr/>
          <p:nvPr/>
        </p:nvSpPr>
        <p:spPr>
          <a:xfrm>
            <a:off x="4612538" y="3017520"/>
            <a:ext cx="2966618" cy="914400"/>
          </a:xfrm>
          <a:prstGeom prst="roundRect">
            <a:avLst>
              <a:gd name="adj" fmla="val 6000"/>
            </a:avLst>
          </a:prstGeom>
          <a:solidFill>
            <a:srgbClr val="FFF6DB"/>
          </a:solidFill>
          <a:ln w="15875">
            <a:solidFill>
              <a:srgbClr val="E0B23C"/>
            </a:solidFill>
            <a:prstDash val="dash"/>
          </a:ln>
        </p:spPr>
      </p:sp>
      <p:sp>
        <p:nvSpPr>
          <p:cNvPr id="15" name="Text 11"/>
          <p:cNvSpPr txBox="1"/>
          <p:nvPr/>
        </p:nvSpPr>
        <p:spPr>
          <a:xfrm>
            <a:off x="4749698" y="3017520"/>
            <a:ext cx="26922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6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✎  금액과 사용처 (예: 현장 실증 ○○%, 앱 개발 ○○%)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127797" y="1828800"/>
            <a:ext cx="3515258" cy="2331720"/>
          </a:xfrm>
          <a:prstGeom prst="roundRect">
            <a:avLst>
              <a:gd name="adj" fmla="val 3137"/>
            </a:avLst>
          </a:prstGeom>
          <a:solidFill>
            <a:srgbClr val="2B2F35"/>
          </a:solidFill>
          <a:ln w="12700">
            <a:solidFill>
              <a:srgbClr val="3A3D4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402117" y="2103120"/>
            <a:ext cx="685800" cy="685800"/>
          </a:xfrm>
          <a:prstGeom prst="ellipse">
            <a:avLst/>
          </a:prstGeom>
          <a:solidFill>
            <a:srgbClr val="B5501F"/>
          </a:solidFill>
          <a:ln w="12700">
            <a:solidFill>
              <a:srgbClr val="B5501F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0425" y="2281428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270797" y="2103120"/>
            <a:ext cx="21436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멘토링 · 네트워크</a:t>
            </a:r>
            <a:endParaRPr lang="en-US" sz="1900" dirty="0"/>
          </a:p>
        </p:txBody>
      </p:sp>
      <p:sp>
        <p:nvSpPr>
          <p:cNvPr id="20" name="Shape 15"/>
          <p:cNvSpPr/>
          <p:nvPr/>
        </p:nvSpPr>
        <p:spPr>
          <a:xfrm>
            <a:off x="8402117" y="3017520"/>
            <a:ext cx="2966618" cy="914400"/>
          </a:xfrm>
          <a:prstGeom prst="roundRect">
            <a:avLst>
              <a:gd name="adj" fmla="val 6000"/>
            </a:avLst>
          </a:prstGeom>
          <a:solidFill>
            <a:srgbClr val="FFF6DB"/>
          </a:solidFill>
          <a:ln w="15875">
            <a:solidFill>
              <a:srgbClr val="E0B23C"/>
            </a:solidFill>
            <a:prstDash val="dash"/>
          </a:ln>
        </p:spPr>
      </p:sp>
      <p:sp>
        <p:nvSpPr>
          <p:cNvPr id="21" name="Text 16"/>
          <p:cNvSpPr txBox="1"/>
          <p:nvPr/>
        </p:nvSpPr>
        <p:spPr>
          <a:xfrm>
            <a:off x="8539277" y="3017520"/>
            <a:ext cx="26922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6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✎  필요한 도움 1줄</a:t>
            </a:r>
            <a:endParaRPr lang="en-US" sz="1250" dirty="0"/>
          </a:p>
        </p:txBody>
      </p:sp>
      <p:sp>
        <p:nvSpPr>
          <p:cNvPr id="22" name="Text 17"/>
          <p:cNvSpPr txBox="1"/>
          <p:nvPr/>
        </p:nvSpPr>
        <p:spPr>
          <a:xfrm>
            <a:off x="548640" y="45720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8A8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 한 장으로 강재의 부식 속도를 읽습니다</a:t>
            </a:r>
            <a:endParaRPr lang="en-US" sz="22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285232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60120" y="52303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우성훈  ·  zscfvgbb@naver.com</a:t>
            </a:r>
            <a:endParaRPr lang="en-US" sz="1500" dirty="0"/>
          </a:p>
        </p:txBody>
      </p:sp>
      <p:sp>
        <p:nvSpPr>
          <p:cNvPr id="25" name="Shape 19"/>
          <p:cNvSpPr/>
          <p:nvPr/>
        </p:nvSpPr>
        <p:spPr>
          <a:xfrm>
            <a:off x="8869680" y="4343400"/>
            <a:ext cx="777240" cy="457200"/>
          </a:xfrm>
          <a:prstGeom prst="rect">
            <a:avLst/>
          </a:prstGeom>
          <a:solidFill>
            <a:srgbClr val="4F4F50"/>
          </a:solidFill>
          <a:ln w="12700">
            <a:solidFill>
              <a:srgbClr val="3A3D42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9738360" y="4343400"/>
            <a:ext cx="777240" cy="457200"/>
          </a:xfrm>
          <a:prstGeom prst="rect">
            <a:avLst/>
          </a:prstGeom>
          <a:solidFill>
            <a:srgbClr val="484744"/>
          </a:solidFill>
          <a:ln w="12700">
            <a:solidFill>
              <a:srgbClr val="3A3D42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10607040" y="4343400"/>
            <a:ext cx="777240" cy="457200"/>
          </a:xfrm>
          <a:prstGeom prst="rect">
            <a:avLst/>
          </a:prstGeom>
          <a:solidFill>
            <a:srgbClr val="4C4B47"/>
          </a:solidFill>
          <a:ln w="12700">
            <a:solidFill>
              <a:srgbClr val="3A3D42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8869680" y="4892040"/>
            <a:ext cx="777240" cy="457200"/>
          </a:xfrm>
          <a:prstGeom prst="rect">
            <a:avLst/>
          </a:prstGeom>
          <a:solidFill>
            <a:srgbClr val="484744"/>
          </a:solidFill>
          <a:ln w="12700">
            <a:solidFill>
              <a:srgbClr val="3A3D42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9738360" y="4892040"/>
            <a:ext cx="777240" cy="457200"/>
          </a:xfrm>
          <a:prstGeom prst="rect">
            <a:avLst/>
          </a:prstGeom>
          <a:solidFill>
            <a:srgbClr val="484138"/>
          </a:solidFill>
          <a:ln w="12700">
            <a:solidFill>
              <a:srgbClr val="3A3D42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10607040" y="4892040"/>
            <a:ext cx="777240" cy="457200"/>
          </a:xfrm>
          <a:prstGeom prst="rect">
            <a:avLst/>
          </a:prstGeom>
          <a:solidFill>
            <a:srgbClr val="4E3F2F"/>
          </a:solidFill>
          <a:ln w="12700">
            <a:solidFill>
              <a:srgbClr val="3A3D42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8869680" y="5440680"/>
            <a:ext cx="777240" cy="457200"/>
          </a:xfrm>
          <a:prstGeom prst="rect">
            <a:avLst/>
          </a:prstGeom>
          <a:solidFill>
            <a:srgbClr val="4E3C2C"/>
          </a:solidFill>
          <a:ln w="12700">
            <a:solidFill>
              <a:srgbClr val="3A3D42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9738360" y="5440680"/>
            <a:ext cx="777240" cy="457200"/>
          </a:xfrm>
          <a:prstGeom prst="rect">
            <a:avLst/>
          </a:prstGeom>
          <a:solidFill>
            <a:srgbClr val="4E3C2B"/>
          </a:solidFill>
          <a:ln w="12700">
            <a:solidFill>
              <a:srgbClr val="3A3D42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10607040" y="5440680"/>
            <a:ext cx="777240" cy="457200"/>
          </a:xfrm>
          <a:prstGeom prst="rect">
            <a:avLst/>
          </a:prstGeom>
          <a:solidFill>
            <a:srgbClr val="493C2C"/>
          </a:solidFill>
          <a:ln w="12700">
            <a:solidFill>
              <a:srgbClr val="3A3D42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548640" y="58521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감사합니다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A-STREAM 2026 IR Pitch — 녹 색상 기반 부식 수명 예측</dc:title>
  <dc:subject>PptxGenJS Presentation</dc:subject>
  <dc:creator>우성훈</dc:creator>
  <cp:lastModifiedBy>우성훈</cp:lastModifiedBy>
  <cp:revision>1</cp:revision>
  <dcterms:created xsi:type="dcterms:W3CDTF">2026-10-06T00:48:35Z</dcterms:created>
  <dcterms:modified xsi:type="dcterms:W3CDTF">2026-10-06T00:48:35Z</dcterms:modified>
</cp:coreProperties>
</file>