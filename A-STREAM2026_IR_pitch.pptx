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1"/>
          <c:y val="0.04"/>
          <c:w val="0.85"/>
          <c:h val="0.82"/>
        </c:manualLayout>
      </c:layout>
      <c:scatterChart>
        <c:scatterStyle val="lineMarker"/>
        <c:varyColors val="0"/>
        <c:ser>
          <c:idx val="0"/>
          <c:order val="0"/>
          <c:tx>
            <c:strRef>
              <c:f>Sheet1!$B$1</c:f>
              <c:strCache>
                <c:ptCount val="1"/>
                <c:pt idx="0">
                  <c:v>Incubation</c:v>
                </c:pt>
              </c:strCache>
            </c:strRef>
          </c:tx>
          <c:spPr>
            <a:solidFill>
              <a:srgbClr val="3A6EA5"/>
            </a:solidFill>
            <a:ln>
              <a:noFill/>
            </a:ln>
            <a:effectLst/>
          </c:spPr>
          <c:marker>
            <c:symbol val="circle"/>
            <c:size val="13"/>
            <c:spPr>
              <a:solidFill>
                <a:srgbClr val="3A6EA5"/>
              </a:solidFill>
              <a:ln w="19050" cap="flat">
                <a:solidFill>
                  <a:srgbClr val="FFFFFF"/>
                </a:solidFill>
                <a:prstDash val="solid"/>
                <a:round/>
              </a:ln>
              <a:effectLst/>
            </c:spPr>
          </c:marker>
          <c:xVal>
            <c:numRef>
              <c:f>Sheet1!$A$2:$A$10</c:f>
              <c:numCache>
                <c:formatCode>General</c:formatCode>
                <c:ptCount val="9"/>
                <c:pt idx="0">
                  <c:v>-0.2</c:v>
                </c:pt>
                <c:pt idx="1">
                  <c:v>2.1</c:v>
                </c:pt>
                <c:pt idx="2">
                  <c:v>2.7</c:v>
                </c:pt>
                <c:pt idx="3">
                  <c:v>2.3</c:v>
                </c:pt>
                <c:pt idx="4">
                  <c:v>6.6</c:v>
                </c:pt>
                <c:pt idx="5">
                  <c:v>12.2</c:v>
                </c:pt>
                <c:pt idx="6">
                  <c:v>13.2</c:v>
                </c:pt>
                <c:pt idx="7">
                  <c:v>13.9</c:v>
                </c:pt>
                <c:pt idx="8">
                  <c:v>12.1</c:v>
                </c:pt>
              </c:numCache>
            </c:numRef>
          </c:xVal>
          <c:yVal>
            <c:numRef>
              <c:f>Sheet1!$B$2:$B$10</c:f>
              <c:numCache>
                <c:formatCode>General</c:formatCode>
                <c:ptCount val="9"/>
                <c:pt idx="0">
                  <c:v>0.324</c:v>
                </c:pt>
                <c:pt idx="1">
                  <c:v>0.193</c:v>
                </c:pt>
                <c:pt idx="2">
                  <c:v>0.447</c:v>
                </c:pt>
                <c:pt idx="3">
                  <c:v>0.406</c:v>
                </c:pt>
              </c:numCache>
            </c:numRef>
          </c:yVal>
          <c:smooth val="0"/>
        </c:ser>
        <c:ser>
          <c:idx val="1"/>
          <c:order val="1"/>
          <c:tx>
            <c:strRef>
              <c:f>Sheet1!$C$1</c:f>
              <c:strCache>
                <c:ptCount val="1"/>
                <c:pt idx="0">
                  <c:v>Propagation</c:v>
                </c:pt>
              </c:strCache>
            </c:strRef>
          </c:tx>
          <c:spPr>
            <a:solidFill>
              <a:srgbClr val="3C8D5A"/>
            </a:solidFill>
            <a:ln>
              <a:noFill/>
            </a:ln>
            <a:effectLst/>
          </c:spPr>
          <c:marker>
            <c:symbol val="circle"/>
            <c:size val="13"/>
            <c:spPr>
              <a:solidFill>
                <a:srgbClr val="3C8D5A"/>
              </a:solidFill>
              <a:ln w="19050" cap="flat">
                <a:solidFill>
                  <a:srgbClr val="FFFFFF"/>
                </a:solidFill>
                <a:prstDash val="solid"/>
                <a:round/>
              </a:ln>
              <a:effectLst/>
            </c:spPr>
          </c:marker>
          <c:xVal>
            <c:numRef>
              <c:f>Sheet1!$A$2:$A$10</c:f>
              <c:numCache>
                <c:formatCode>General</c:formatCode>
                <c:ptCount val="9"/>
                <c:pt idx="0">
                  <c:v>-0.2</c:v>
                </c:pt>
                <c:pt idx="1">
                  <c:v>2.1</c:v>
                </c:pt>
                <c:pt idx="2">
                  <c:v>2.7</c:v>
                </c:pt>
                <c:pt idx="3">
                  <c:v>2.3</c:v>
                </c:pt>
                <c:pt idx="4">
                  <c:v>6.6</c:v>
                </c:pt>
                <c:pt idx="5">
                  <c:v>12.2</c:v>
                </c:pt>
                <c:pt idx="6">
                  <c:v>13.2</c:v>
                </c:pt>
                <c:pt idx="7">
                  <c:v>13.9</c:v>
                </c:pt>
                <c:pt idx="8">
                  <c:v>12.1</c:v>
                </c:pt>
              </c:numCache>
            </c:numRef>
          </c:xVal>
          <c:yVal>
            <c:numRef>
              <c:f>Sheet1!$C$2:$C$10</c:f>
              <c:numCache>
                <c:formatCode>General</c:formatCode>
                <c:ptCount val="9"/>
                <c:pt idx="4">
                  <c:v>0.524</c:v>
                </c:pt>
                <c:pt idx="5">
                  <c:v>0.838</c:v>
                </c:pt>
              </c:numCache>
            </c:numRef>
          </c:yVal>
          <c:smooth val="0"/>
        </c:ser>
        <c:ser>
          <c:idx val="2"/>
          <c:order val="2"/>
          <c:tx>
            <c:strRef>
              <c:f>Sheet1!$D$1</c:f>
              <c:strCache>
                <c:ptCount val="1"/>
                <c:pt idx="0">
                  <c:v>Maturation</c:v>
                </c:pt>
              </c:strCache>
            </c:strRef>
          </c:tx>
          <c:spPr>
            <a:solidFill>
              <a:srgbClr val="B23A2E"/>
            </a:solidFill>
            <a:ln>
              <a:noFill/>
            </a:ln>
            <a:effectLst/>
          </c:spPr>
          <c:marker>
            <c:symbol val="circle"/>
            <c:size val="13"/>
            <c:spPr>
              <a:solidFill>
                <a:srgbClr val="B23A2E"/>
              </a:solidFill>
              <a:ln w="19050" cap="flat">
                <a:solidFill>
                  <a:srgbClr val="FFFFFF"/>
                </a:solidFill>
                <a:prstDash val="solid"/>
                <a:round/>
              </a:ln>
              <a:effectLst/>
            </c:spPr>
          </c:marker>
          <c:xVal>
            <c:numRef>
              <c:f>Sheet1!$A$2:$A$10</c:f>
              <c:numCache>
                <c:formatCode>General</c:formatCode>
                <c:ptCount val="9"/>
                <c:pt idx="0">
                  <c:v>-0.2</c:v>
                </c:pt>
                <c:pt idx="1">
                  <c:v>2.1</c:v>
                </c:pt>
                <c:pt idx="2">
                  <c:v>2.7</c:v>
                </c:pt>
                <c:pt idx="3">
                  <c:v>2.3</c:v>
                </c:pt>
                <c:pt idx="4">
                  <c:v>6.6</c:v>
                </c:pt>
                <c:pt idx="5">
                  <c:v>12.2</c:v>
                </c:pt>
                <c:pt idx="6">
                  <c:v>13.2</c:v>
                </c:pt>
                <c:pt idx="7">
                  <c:v>13.9</c:v>
                </c:pt>
                <c:pt idx="8">
                  <c:v>12.1</c:v>
                </c:pt>
              </c:numCache>
            </c:numRef>
          </c:xVal>
          <c:yVal>
            <c:numRef>
              <c:f>Sheet1!$D$2:$D$10</c:f>
              <c:numCache>
                <c:formatCode>General</c:formatCode>
                <c:ptCount val="9"/>
                <c:pt idx="6">
                  <c:v>1.176</c:v>
                </c:pt>
                <c:pt idx="7">
                  <c:v>1.414</c:v>
                </c:pt>
                <c:pt idx="8">
                  <c:v>1.745</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
          <c:min val="-2"/>
        </c:scaling>
        <c:delete val="0"/>
        <c:axPos val="b"/>
        <c:title>
          <c:tx>
            <c:rich>
              <a:bodyPr/>
              <a:lstStyle/>
              <a:p>
                <a:pPr>
                  <a:defRPr sz="1200" b="0" i="0" u="none" strike="noStrike">
                    <a:solidFill>
                      <a:srgbClr val="6B6F76"/>
                    </a:solidFill>
                    <a:latin typeface="맑은 고딕"/>
                  </a:defRPr>
                </a:pPr>
                <a:r>
                  <a:rPr sz="1200" b="0" i="0" u="none" strike="noStrike">
                    <a:solidFill>
                      <a:srgbClr val="6B6F76"/>
                    </a:solidFill>
                    <a:latin typeface="맑은 고딕"/>
                  </a:rPr>
                  <a:t>b*  (노란 정도)</a:t>
                </a:r>
              </a:p>
            </c:rich>
          </c:tx>
          <c:layout/>
          <c:overlay val="0"/>
        </c:title>
        <c:numFmt formatCode="General" sourceLinked="1"/>
        <c:majorTickMark val="none"/>
        <c:minorTickMark val="none"/>
        <c:tickLblPos val="nextTo"/>
        <c:spPr>
          <a:ln w="12700" cap="flat">
            <a:solidFill>
              <a:srgbClr val="A3A7AD"/>
            </a:solidFill>
            <a:prstDash val="solid"/>
            <a:round/>
          </a:ln>
        </c:spPr>
        <c:txPr>
          <a:bodyPr/>
          <a:lstStyle/>
          <a:p>
            <a:pPr>
              <a:defRPr sz="1100" b="0" i="0" u="none" strike="noStrike">
                <a:solidFill>
                  <a:srgbClr val="6B6F76"/>
                </a:solidFill>
                <a:latin typeface="맑은 고딕"/>
              </a:defRPr>
            </a:pPr>
            <a:endParaRPr lang="en-US"/>
          </a:p>
        </c:txPr>
        <c:crossAx val="2094734552"/>
        <c:crosses val="autoZero"/>
        <c:majorUnit val="2"/>
      </c:valAx>
      <c:valAx>
        <c:axId val="2094734552"/>
        <c:scaling>
          <c:orientation val="minMax"/>
          <c:max val="2"/>
          <c:min val="0"/>
        </c:scaling>
        <c:delete val="0"/>
        <c:axPos val="l"/>
        <c:majorGridlines>
          <c:spPr>
            <a:ln w="9525" cap="flat">
              <a:solidFill>
                <a:srgbClr val="E6E8EB"/>
              </a:solidFill>
              <a:prstDash val="solid"/>
              <a:round/>
            </a:ln>
          </c:spPr>
        </c:majorGridlines>
        <c:title>
          <c:tx>
            <c:rich>
              <a:bodyPr/>
              <a:lstStyle/>
              <a:p>
                <a:pPr>
                  <a:defRPr sz="1200" b="0" i="0" u="none" strike="noStrike">
                    <a:solidFill>
                      <a:srgbClr val="6B6F76"/>
                    </a:solidFill>
                    <a:latin typeface="맑은 고딕"/>
                  </a:defRPr>
                </a:pPr>
                <a:r>
                  <a:rPr sz="1200" b="0" i="0" u="none" strike="noStrike">
                    <a:solidFill>
                      <a:srgbClr val="6B6F76"/>
                    </a:solidFill>
                    <a:latin typeface="맑은 고딕"/>
                  </a:rPr>
                  <a:t>부식 속도 (mm/년)</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6B6F76"/>
                </a:solidFill>
                <a:latin typeface="맑은 고딕"/>
              </a:defRPr>
            </a:pPr>
            <a:endParaRPr lang="en-US"/>
          </a:p>
        </c:txPr>
        <c:crossAx val="2094734554"/>
        <c:crossesAt val="-2"/>
        <c:crossBetween val="midCat"/>
        <c:majorUnit val="0.5"/>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20초]
안녕하십니까, MLC 우성훈입니다. 해양 구조물을 점검할 때 가장 어려운 질문은 '어디부터 봐야 하나'입니다. 저희는 녹의 색을 읽어서 그 답을 먼저 드리는 기술을 만들고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30초]
해양 플랫폼의 하부, 특히 파도가 치는 비말대는 부식이 가장 빠른 곳인데, 로프 액세스나 잠수, ROV 없이는 볼 수가 없습니다. 미국 현장에서 들은 이야기는 일관됐습니다. 지금은 상태와 상관없이 모든 지점을 똑같이 돌고, 비용의 대부분은 검사 자체가 아니라 배를 빌리고 날씨를 기다리고 리프트를 빌리는 데서 나옵니다. 점검 주기는 규제로 정해져 있어서 줄일 수 없습니다. 결국 문제는 그 주기 안에서 어디에 사람과 배를 먼저 보낼지입니다.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30초]
올해 7월, Tex-Corps 프로그램으로 미국에서 35명을 인터뷰했습니다. 24명은 직접 만났고 11명은 화상으로 만났습니다. 처음에는 자동차, 배터리, 반도체도 만났지만, 스테인리스를 쓰는 공정에서는 부식이 현장의 문제가 아니었습니다. 그래서 부식이 실제로 돈과 안전 문제가 되는 해양 석유·가스와 파이프라인으로 좁혔고, MISTRAS, Williams 같은 회사의 현장 검사원과 대표들을 만났습니다.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35초]
저희의 처음 가설은 '검사원마다 판단이 달라서 보정 도구가 필요하다'였습니다. 그런데 현장 인력 11명 모두 아니라고 했습니다. 매뉴얼과 인증 시험으로 이미 해결된 문제였습니다. 대신 Williams의 한 관리자가 방향을 제시했습니다. '접근하기 어려운 곳을 드론으로 먼저 훑어서, 정말 가까이 봐야 할 곳만 알려 주면 시간과 비용이 줄어든다.' 이후 인터뷰에서 현장 인력 11명 중 10명이 여기에 공감했고, 의사결정권자 5명 모두 관심을 보이며 파일럿 조건까지 이야기했습니다.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30초]
그래서 MLC는 이렇게 작동합니다. 드론이나 카메라로 접근이 어려운 구간을 먼저 찍습니다. 녹이 있는 부분만 자동으로 골라내고, 그 녹이 얼마나 노란지로 부식 속도 구간을 매깁니다. 마지막으로 어느 지점부터 가까이 봐야 하는지 순서를 정한 리포트를 드립니다. 규제 주기는 그대로 지키면서, 사람과 배와 리프트를 위험한 곳에 먼저 보내는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30초]
핵심 기술은 실험실에서 검증했습니다. 탄소강을 240시간 촉진부식 시키며 아홉 시점에서 측정했는데, 녹의 노란 정도 b*가 높아질수록 실제 부식 속도도 올라갔고 순위 상관계수는 0.88이었습니다. 위험도 세 구간이 서로 겹치지 않게 나뉩니다. 노란 녹인 레피도크로사이트가 다공성이라 부식을 빠르게 만들기 때문에, 색과 속도가 함께 움직이는 물리적 근거도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25초]
고객은 해양 석유·가스 운영사입니다. 현장 검사원이 리포트를 쓰고, 부식 엔지니어링 매니저가 추천하고, 대표가 결정합니다. 대표마다 결정 동기가 달랐는데, 안전, 비용, 규제와 보험 대응 세 가지였습니다. 수익은 점검 건당 요금이나 구독형으로 생각하고 있고, 방식 전문 업체와 드론 업체를 파트너이자 소개 채널로 봅니다. 가격은 다음 단계에서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25초]
이 시장의 특징은 규제가 반복 수요를 만든다는 점입니다. 미국 해양 플랫폼은 매년 수상 육안 점검, 3년에서 5년마다 수중 점검, 6년에서 10년마다 정밀 점검을 해야 하고, 네 개 기관이 이를 겹쳐서 규제합니다. [TAM·SAM·SOM 수치를 한 문장으로.] 미국에서 먼저 검증한 뒤, 국내 해상풍력과 해양 플랜트로 넓힐 계획입니다.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30초]
지금까지 실험실 검증을 마쳤고, 미국에서 35명을 만나 타깃을 해양 석유·가스로 좁혔으며, 다음 달 국제학회에서 발표합니다. 다음 단계는 네 가지입니다. 선박 일수와 리프트 임대처럼 실제 절감액을 숫자로 만들고, 사진이 볼 수 없는 두께 감소를 보완하기 위해 두께 측정 데이터와 결합하고, 반응이 가장 좋았던 현장을 깊이 파고, 의사결정권자들이 말한 조건대로 범위와 기간을 정한 단일 현장 파일럿을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15초]
팀 MLC는 경상국립대 기계시스템공학과의 우성훈, 박준범입니다. 저희 두 사람이 부식 연구를 직접 했고, 미국 인터뷰 35건도 함께 진행했습니다.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20초]
저희에게 지금 가장 필요한 것은 첫 파일럿 현장입니다. 범위와 기간을 정하고 성공 지표를 미리 합의하는 작은 파일럿을 함께할 운영사, 그리고 드론 파트너를 찾고 있습니다. [투자·지원 요청을 한 문장으로.] 어디부터 점검할지, 녹의 색이 먼저 알려드리겠습니다.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226"/>
        </a:solidFill>
      </p:bgPr>
    </p:bg>
    <p:spTree>
      <p:nvGrpSpPr>
        <p:cNvPr id="1" name=""/>
        <p:cNvGrpSpPr/>
        <p:nvPr/>
      </p:nvGrpSpPr>
      <p:grpSpPr>
        <a:xfrm>
          <a:off x="0" y="0"/>
          <a:ext cx="0" cy="0"/>
          <a:chOff x="0" y="0"/>
          <a:chExt cx="0" cy="0"/>
        </a:xfrm>
      </p:grpSpPr>
      <p:sp>
        <p:nvSpPr>
          <p:cNvPr id="2" name="Text 0"/>
          <p:cNvSpPr txBox="1"/>
          <p:nvPr/>
        </p:nvSpPr>
        <p:spPr>
          <a:xfrm>
            <a:off x="548640" y="457200"/>
            <a:ext cx="8229600" cy="274320"/>
          </a:xfrm>
          <a:prstGeom prst="rect">
            <a:avLst/>
          </a:prstGeom>
          <a:noFill/>
          <a:ln/>
        </p:spPr>
        <p:txBody>
          <a:bodyPr wrap="square" lIns="0" tIns="0" rIns="0" bIns="0" rtlCol="0" anchor="t"/>
          <a:lstStyle/>
          <a:p>
            <a:pPr indent="0" marL="0">
              <a:buNone/>
            </a:pPr>
            <a:r>
              <a:rPr lang="en-US" sz="1200" dirty="0">
                <a:solidFill>
                  <a:srgbClr val="A3A7AD"/>
                </a:solidFill>
                <a:latin typeface="맑은 고딕" pitchFamily="34" charset="0"/>
                <a:ea typeface="맑은 고딕" pitchFamily="34" charset="-122"/>
                <a:cs typeface="맑은 고딕" pitchFamily="34" charset="-120"/>
              </a:rPr>
              <a:t>Tex-Corps  ·  제주 A-STREAM IR 피칭  ·  2026. 10. 21</a:t>
            </a:r>
            <a:endParaRPr lang="en-US" sz="1200" dirty="0"/>
          </a:p>
        </p:txBody>
      </p:sp>
      <p:sp>
        <p:nvSpPr>
          <p:cNvPr id="3" name="Text 1"/>
          <p:cNvSpPr txBox="1"/>
          <p:nvPr/>
        </p:nvSpPr>
        <p:spPr>
          <a:xfrm>
            <a:off x="548640" y="1143000"/>
            <a:ext cx="2743200" cy="548640"/>
          </a:xfrm>
          <a:prstGeom prst="rect">
            <a:avLst/>
          </a:prstGeom>
          <a:noFill/>
          <a:ln/>
        </p:spPr>
        <p:txBody>
          <a:bodyPr wrap="square" lIns="0" tIns="0" rIns="0" bIns="0" rtlCol="0" anchor="t"/>
          <a:lstStyle/>
          <a:p>
            <a:pPr indent="0" marL="0">
              <a:buNone/>
            </a:pPr>
            <a:r>
              <a:rPr lang="en-US" sz="3000" b="1" spc="400" kern="0" dirty="0">
                <a:solidFill>
                  <a:srgbClr val="E8A87C"/>
                </a:solidFill>
                <a:latin typeface="맑은 고딕" pitchFamily="34" charset="0"/>
                <a:ea typeface="맑은 고딕" pitchFamily="34" charset="-122"/>
                <a:cs typeface="맑은 고딕" pitchFamily="34" charset="-120"/>
              </a:rPr>
              <a:t>MLC</a:t>
            </a:r>
            <a:endParaRPr lang="en-US" sz="3000" dirty="0"/>
          </a:p>
        </p:txBody>
      </p:sp>
      <p:sp>
        <p:nvSpPr>
          <p:cNvPr id="4" name="Text 2"/>
          <p:cNvSpPr txBox="1"/>
          <p:nvPr/>
        </p:nvSpPr>
        <p:spPr>
          <a:xfrm>
            <a:off x="548640" y="1783080"/>
            <a:ext cx="6035040" cy="2286000"/>
          </a:xfrm>
          <a:prstGeom prst="rect">
            <a:avLst/>
          </a:prstGeom>
          <a:noFill/>
          <a:ln/>
        </p:spPr>
        <p:txBody>
          <a:bodyPr wrap="square" lIns="0" tIns="0" rIns="0" bIns="0" rtlCol="0" anchor="ctr"/>
          <a:lstStyle/>
          <a:p>
            <a:pPr indent="0" marL="0">
              <a:lnSpc>
                <a:spcPct val="105000"/>
              </a:lnSpc>
              <a:buNone/>
            </a:pPr>
            <a:r>
              <a:rPr lang="en-US" sz="3800" b="1" dirty="0">
                <a:solidFill>
                  <a:srgbClr val="FFFFFF"/>
                </a:solidFill>
                <a:latin typeface="맑은 고딕" pitchFamily="34" charset="0"/>
                <a:ea typeface="맑은 고딕" pitchFamily="34" charset="-122"/>
                <a:cs typeface="맑은 고딕" pitchFamily="34" charset="-120"/>
              </a:rPr>
              <a:t>어디부터 점검할지,</a:t>
            </a:r>
            <a:endParaRPr lang="en-US" sz="3800" dirty="0"/>
          </a:p>
          <a:p>
            <a:pPr indent="0" marL="0">
              <a:lnSpc>
                <a:spcPct val="105000"/>
              </a:lnSpc>
              <a:buNone/>
            </a:pPr>
            <a:r>
              <a:rPr lang="en-US" sz="3800" b="1" dirty="0">
                <a:solidFill>
                  <a:srgbClr val="FFFFFF"/>
                </a:solidFill>
                <a:latin typeface="맑은 고딕" pitchFamily="34" charset="0"/>
                <a:ea typeface="맑은 고딕" pitchFamily="34" charset="-122"/>
                <a:cs typeface="맑은 고딕" pitchFamily="34" charset="-120"/>
              </a:rPr>
              <a:t>녹의 색이 먼저</a:t>
            </a:r>
            <a:endParaRPr lang="en-US" sz="3800" dirty="0"/>
          </a:p>
          <a:p>
            <a:pPr indent="0" marL="0">
              <a:lnSpc>
                <a:spcPct val="105000"/>
              </a:lnSpc>
              <a:buNone/>
            </a:pPr>
            <a:r>
              <a:rPr lang="en-US" sz="3800" b="1" dirty="0">
                <a:solidFill>
                  <a:srgbClr val="FFFFFF"/>
                </a:solidFill>
                <a:latin typeface="맑은 고딕" pitchFamily="34" charset="0"/>
                <a:ea typeface="맑은 고딕" pitchFamily="34" charset="-122"/>
                <a:cs typeface="맑은 고딕" pitchFamily="34" charset="-120"/>
              </a:rPr>
              <a:t>알려드립니다</a:t>
            </a:r>
            <a:endParaRPr lang="en-US" sz="3800" dirty="0"/>
          </a:p>
        </p:txBody>
      </p:sp>
      <p:sp>
        <p:nvSpPr>
          <p:cNvPr id="5" name="Text 3"/>
          <p:cNvSpPr txBox="1"/>
          <p:nvPr/>
        </p:nvSpPr>
        <p:spPr>
          <a:xfrm>
            <a:off x="548640" y="4206240"/>
            <a:ext cx="6035040" cy="411480"/>
          </a:xfrm>
          <a:prstGeom prst="rect">
            <a:avLst/>
          </a:prstGeom>
          <a:noFill/>
          <a:ln/>
        </p:spPr>
        <p:txBody>
          <a:bodyPr wrap="square" lIns="0" tIns="0" rIns="0" bIns="0" rtlCol="0" anchor="t"/>
          <a:lstStyle/>
          <a:p>
            <a:pPr indent="0" marL="0">
              <a:buNone/>
            </a:pPr>
            <a:r>
              <a:rPr lang="en-US" sz="1900" dirty="0">
                <a:solidFill>
                  <a:srgbClr val="E8A87C"/>
                </a:solidFill>
                <a:latin typeface="맑은 고딕" pitchFamily="34" charset="0"/>
                <a:ea typeface="맑은 고딕" pitchFamily="34" charset="-122"/>
                <a:cs typeface="맑은 고딕" pitchFamily="34" charset="-120"/>
              </a:rPr>
              <a:t>녹 색상 기반 AI 금속 열화 예측 플랫폼</a:t>
            </a:r>
            <a:endParaRPr lang="en-US" sz="1900" dirty="0"/>
          </a:p>
        </p:txBody>
      </p:sp>
      <p:sp>
        <p:nvSpPr>
          <p:cNvPr id="6" name="Text 4"/>
          <p:cNvSpPr txBox="1"/>
          <p:nvPr/>
        </p:nvSpPr>
        <p:spPr>
          <a:xfrm>
            <a:off x="548640" y="4846320"/>
            <a:ext cx="6400800" cy="320040"/>
          </a:xfrm>
          <a:prstGeom prst="rect">
            <a:avLst/>
          </a:prstGeom>
          <a:noFill/>
          <a:ln/>
        </p:spPr>
        <p:txBody>
          <a:bodyPr wrap="square" lIns="0" tIns="0" rIns="0" bIns="0" rtlCol="0" anchor="t"/>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우성훈 · 박준범</a:t>
            </a:r>
            <a:r>
              <a:rPr lang="en-US" sz="1500" dirty="0">
                <a:solidFill>
                  <a:srgbClr val="D5D7DA"/>
                </a:solidFill>
                <a:latin typeface="맑은 고딕" pitchFamily="34" charset="0"/>
                <a:ea typeface="맑은 고딕" pitchFamily="34" charset="-122"/>
                <a:cs typeface="맑은 고딕" pitchFamily="34" charset="-120"/>
              </a:rPr>
              <a:t>   경상국립대학교 기계시스템공학과</a:t>
            </a:r>
            <a:endParaRPr lang="en-US" sz="1500" dirty="0"/>
          </a:p>
        </p:txBody>
      </p:sp>
      <p:pic>
        <p:nvPicPr>
          <p:cNvPr id="7" name="Image 0" descr="/home/user/PPT/src/img/offshore_legs.png">    </p:cNvPr>
          <p:cNvPicPr>
            <a:picLocks noChangeAspect="1"/>
          </p:cNvPicPr>
          <p:nvPr/>
        </p:nvPicPr>
        <p:blipFill>
          <a:blip r:embed="rId1"/>
          <a:stretch>
            <a:fillRect/>
          </a:stretch>
        </p:blipFill>
        <p:spPr>
          <a:xfrm>
            <a:off x="6522415" y="1188720"/>
            <a:ext cx="5120640" cy="3767518"/>
          </a:xfrm>
          <a:prstGeom prst="rect">
            <a:avLst/>
          </a:prstGeom>
        </p:spPr>
      </p:pic>
      <p:sp>
        <p:nvSpPr>
          <p:cNvPr id="8" name="Text 5"/>
          <p:cNvSpPr txBox="1"/>
          <p:nvPr/>
        </p:nvSpPr>
        <p:spPr>
          <a:xfrm>
            <a:off x="6522415" y="5047678"/>
            <a:ext cx="5120640" cy="274320"/>
          </a:xfrm>
          <a:prstGeom prst="rect">
            <a:avLst/>
          </a:prstGeom>
          <a:noFill/>
          <a:ln/>
        </p:spPr>
        <p:txBody>
          <a:bodyPr wrap="square" lIns="0" tIns="0" rIns="0" bIns="0" rtlCol="0" anchor="t"/>
          <a:lstStyle/>
          <a:p>
            <a:pPr algn="r" indent="0" marL="0">
              <a:buNone/>
            </a:pPr>
            <a:r>
              <a:rPr lang="en-US" sz="1100" dirty="0">
                <a:solidFill>
                  <a:srgbClr val="A3A7AD"/>
                </a:solidFill>
                <a:latin typeface="맑은 고딕" pitchFamily="34" charset="0"/>
                <a:ea typeface="맑은 고딕" pitchFamily="34" charset="-122"/>
                <a:cs typeface="맑은 고딕" pitchFamily="34" charset="-120"/>
              </a:rPr>
              <a:t>해양 플랫폼 하부 구조의 비말대(splash zone) 부식</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indent="0" marL="0">
              <a:buNone/>
            </a:pPr>
            <a:r>
              <a:rPr lang="en-US" sz="1200" b="1" spc="100" kern="0" dirty="0">
                <a:solidFill>
                  <a:srgbClr val="B5501F"/>
                </a:solidFill>
                <a:latin typeface="맑은 고딕" pitchFamily="34" charset="0"/>
                <a:ea typeface="맑은 고딕" pitchFamily="34" charset="-122"/>
                <a:cs typeface="맑은 고딕" pitchFamily="34" charset="-120"/>
              </a:rPr>
              <a:t>PROBLEM</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indent="0" marL="0">
              <a:buNone/>
            </a:pPr>
            <a:r>
              <a:rPr lang="en-US" sz="2800" b="1" dirty="0">
                <a:solidFill>
                  <a:srgbClr val="2B2D31"/>
                </a:solidFill>
                <a:latin typeface="맑은 고딕" pitchFamily="34" charset="0"/>
                <a:ea typeface="맑은 고딕" pitchFamily="34" charset="-122"/>
                <a:cs typeface="맑은 고딕" pitchFamily="34" charset="-120"/>
              </a:rPr>
              <a:t>해양 구조물 점검, 가장 비싼 건 '접근'입니다</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indent="0" marL="0">
              <a:buNone/>
            </a:pPr>
            <a:r>
              <a:rPr lang="en-US" sz="900" dirty="0">
                <a:solidFill>
                  <a:srgbClr val="A3A7AD"/>
                </a:solidFill>
                <a:latin typeface="맑은 고딕" pitchFamily="34" charset="0"/>
                <a:ea typeface="맑은 고딕" pitchFamily="34" charset="-122"/>
                <a:cs typeface="맑은 고딕" pitchFamily="34" charset="-120"/>
              </a:rPr>
              <a:t>MLC  ·  Tex-Corps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900" dirty="0">
                <a:solidFill>
                  <a:srgbClr val="A3A7AD"/>
                </a:solidFill>
                <a:latin typeface="맑은 고딕" pitchFamily="34" charset="0"/>
                <a:ea typeface="맑은 고딕" pitchFamily="34" charset="-122"/>
                <a:cs typeface="맑은 고딕" pitchFamily="34" charset="-120"/>
              </a:rPr>
              <a:t>2</a:t>
            </a:r>
            <a:endParaRPr lang="en-US" sz="900" dirty="0"/>
          </a:p>
        </p:txBody>
      </p:sp>
      <p:pic>
        <p:nvPicPr>
          <p:cNvPr id="6" name="Image 0" descr="/home/user/PPT/src/img/offshore_zones.png">    </p:cNvPr>
          <p:cNvPicPr>
            <a:picLocks noChangeAspect="1"/>
          </p:cNvPicPr>
          <p:nvPr/>
        </p:nvPicPr>
        <p:blipFill>
          <a:blip r:embed="rId1"/>
          <a:stretch>
            <a:fillRect/>
          </a:stretch>
        </p:blipFill>
        <p:spPr>
          <a:xfrm>
            <a:off x="548640" y="1371600"/>
            <a:ext cx="4160520" cy="4142192"/>
          </a:xfrm>
          <a:prstGeom prst="rect">
            <a:avLst/>
          </a:prstGeom>
        </p:spPr>
      </p:pic>
      <p:sp>
        <p:nvSpPr>
          <p:cNvPr id="7" name="Shape 4"/>
          <p:cNvSpPr/>
          <p:nvPr/>
        </p:nvSpPr>
        <p:spPr>
          <a:xfrm>
            <a:off x="5120640" y="1371600"/>
            <a:ext cx="6522415" cy="987552"/>
          </a:xfrm>
          <a:prstGeom prst="roundRect">
            <a:avLst>
              <a:gd name="adj" fmla="val 7407"/>
            </a:avLst>
          </a:prstGeom>
          <a:solidFill>
            <a:srgbClr val="F3F4F6"/>
          </a:solidFill>
          <a:ln w="6350">
            <a:solidFill>
              <a:srgbClr val="F3F4F6"/>
            </a:solidFill>
            <a:prstDash val="solid"/>
          </a:ln>
        </p:spPr>
      </p:sp>
      <p:sp>
        <p:nvSpPr>
          <p:cNvPr id="8" name="Shape 5"/>
          <p:cNvSpPr/>
          <p:nvPr/>
        </p:nvSpPr>
        <p:spPr>
          <a:xfrm>
            <a:off x="5321808" y="1536192"/>
            <a:ext cx="658368" cy="658368"/>
          </a:xfrm>
          <a:prstGeom prst="ellipse">
            <a:avLst/>
          </a:prstGeom>
          <a:solidFill>
            <a:srgbClr val="2B2D31"/>
          </a:solidFill>
          <a:ln w="12700">
            <a:solidFill>
              <a:srgbClr val="2B2D31"/>
            </a:solidFill>
            <a:prstDash val="solid"/>
          </a:ln>
        </p:spPr>
      </p:sp>
      <p:pic>
        <p:nvPicPr>
          <p:cNvPr id="9" name="Image 1" descr="preencoded.png">    </p:cNvPr>
          <p:cNvPicPr>
            <a:picLocks noChangeAspect="1"/>
          </p:cNvPicPr>
          <p:nvPr/>
        </p:nvPicPr>
        <p:blipFill>
          <a:blip r:embed="rId2"/>
          <a:stretch>
            <a:fillRect/>
          </a:stretch>
        </p:blipFill>
        <p:spPr>
          <a:xfrm>
            <a:off x="5492984" y="1707368"/>
            <a:ext cx="316017" cy="316017"/>
          </a:xfrm>
          <a:prstGeom prst="rect">
            <a:avLst/>
          </a:prstGeom>
        </p:spPr>
      </p:pic>
      <p:sp>
        <p:nvSpPr>
          <p:cNvPr id="10" name="Text 6"/>
          <p:cNvSpPr txBox="1"/>
          <p:nvPr/>
        </p:nvSpPr>
        <p:spPr>
          <a:xfrm>
            <a:off x="6172200" y="1481328"/>
            <a:ext cx="5333695" cy="329184"/>
          </a:xfrm>
          <a:prstGeom prst="rect">
            <a:avLst/>
          </a:prstGeom>
          <a:noFill/>
          <a:ln/>
        </p:spPr>
        <p:txBody>
          <a:bodyPr wrap="square" lIns="0" tIns="0" rIns="0" bIns="0" rtlCol="0" anchor="t"/>
          <a:lstStyle/>
          <a:p>
            <a:pPr indent="0" marL="0">
              <a:buNone/>
            </a:pPr>
            <a:r>
              <a:rPr lang="en-US" sz="1550" b="1" dirty="0">
                <a:solidFill>
                  <a:srgbClr val="2B2D31"/>
                </a:solidFill>
                <a:latin typeface="맑은 고딕" pitchFamily="34" charset="0"/>
                <a:ea typeface="맑은 고딕" pitchFamily="34" charset="-122"/>
                <a:cs typeface="맑은 고딕" pitchFamily="34" charset="-120"/>
              </a:rPr>
              <a:t>모든 지점을 똑같이 순회</a:t>
            </a:r>
            <a:endParaRPr lang="en-US" sz="1550" dirty="0"/>
          </a:p>
        </p:txBody>
      </p:sp>
      <p:sp>
        <p:nvSpPr>
          <p:cNvPr id="11" name="Text 7"/>
          <p:cNvSpPr txBox="1"/>
          <p:nvPr/>
        </p:nvSpPr>
        <p:spPr>
          <a:xfrm>
            <a:off x="6172200" y="1810512"/>
            <a:ext cx="5333695" cy="274320"/>
          </a:xfrm>
          <a:prstGeom prst="rect">
            <a:avLst/>
          </a:prstGeom>
          <a:noFill/>
          <a:ln/>
        </p:spPr>
        <p:txBody>
          <a:bodyPr wrap="square" lIns="0" tIns="0" rIns="0" bIns="0" rtlCol="0" anchor="t"/>
          <a:lstStyle/>
          <a:p>
            <a:pPr indent="0" marL="0">
              <a:buNone/>
            </a:pPr>
            <a:r>
              <a:rPr lang="en-US" sz="1250" dirty="0">
                <a:solidFill>
                  <a:srgbClr val="6B6F76"/>
                </a:solidFill>
                <a:latin typeface="맑은 고딕" pitchFamily="34" charset="0"/>
                <a:ea typeface="맑은 고딕" pitchFamily="34" charset="-122"/>
                <a:cs typeface="맑은 고딕" pitchFamily="34" charset="-120"/>
              </a:rPr>
              <a:t>상태와 관계없이 정해진 목록을 전부 방문</a:t>
            </a:r>
            <a:endParaRPr lang="en-US" sz="1250" dirty="0"/>
          </a:p>
        </p:txBody>
      </p:sp>
      <p:sp>
        <p:nvSpPr>
          <p:cNvPr id="12" name="Text 8"/>
          <p:cNvSpPr txBox="1"/>
          <p:nvPr/>
        </p:nvSpPr>
        <p:spPr>
          <a:xfrm>
            <a:off x="6172200" y="2066544"/>
            <a:ext cx="5333695" cy="228600"/>
          </a:xfrm>
          <a:prstGeom prst="rect">
            <a:avLst/>
          </a:prstGeom>
          <a:noFill/>
          <a:ln/>
        </p:spPr>
        <p:txBody>
          <a:bodyPr wrap="square" lIns="0" tIns="0" rIns="0" bIns="0" rtlCol="0" anchor="t"/>
          <a:lstStyle/>
          <a:p>
            <a:pPr indent="0" marL="0">
              <a:buNone/>
            </a:pPr>
            <a:r>
              <a:rPr lang="en-US" sz="1050" i="1" dirty="0">
                <a:solidFill>
                  <a:srgbClr val="A3A7AD"/>
                </a:solidFill>
                <a:latin typeface="맑은 고딕" pitchFamily="34" charset="0"/>
                <a:ea typeface="맑은 고딕" pitchFamily="34" charset="-122"/>
                <a:cs typeface="맑은 고딕" pitchFamily="34" charset="-120"/>
              </a:rPr>
              <a:t>— Williams · 점검 관리자</a:t>
            </a:r>
            <a:endParaRPr lang="en-US" sz="1050" dirty="0"/>
          </a:p>
        </p:txBody>
      </p:sp>
      <p:sp>
        <p:nvSpPr>
          <p:cNvPr id="13" name="Shape 9"/>
          <p:cNvSpPr/>
          <p:nvPr/>
        </p:nvSpPr>
        <p:spPr>
          <a:xfrm>
            <a:off x="5120640" y="2487168"/>
            <a:ext cx="6522415" cy="987552"/>
          </a:xfrm>
          <a:prstGeom prst="roundRect">
            <a:avLst>
              <a:gd name="adj" fmla="val 7407"/>
            </a:avLst>
          </a:prstGeom>
          <a:solidFill>
            <a:srgbClr val="F3F4F6"/>
          </a:solidFill>
          <a:ln w="6350">
            <a:solidFill>
              <a:srgbClr val="F3F4F6"/>
            </a:solidFill>
            <a:prstDash val="solid"/>
          </a:ln>
        </p:spPr>
      </p:sp>
      <p:sp>
        <p:nvSpPr>
          <p:cNvPr id="14" name="Shape 10"/>
          <p:cNvSpPr/>
          <p:nvPr/>
        </p:nvSpPr>
        <p:spPr>
          <a:xfrm>
            <a:off x="5321808" y="2651760"/>
            <a:ext cx="658368" cy="658368"/>
          </a:xfrm>
          <a:prstGeom prst="ellipse">
            <a:avLst/>
          </a:prstGeom>
          <a:solidFill>
            <a:srgbClr val="2B2D31"/>
          </a:solidFill>
          <a:ln w="12700">
            <a:solidFill>
              <a:srgbClr val="2B2D31"/>
            </a:solidFill>
            <a:prstDash val="solid"/>
          </a:ln>
        </p:spPr>
      </p:sp>
      <p:pic>
        <p:nvPicPr>
          <p:cNvPr id="15" name="Image 2" descr="preencoded.png">    </p:cNvPr>
          <p:cNvPicPr>
            <a:picLocks noChangeAspect="1"/>
          </p:cNvPicPr>
          <p:nvPr/>
        </p:nvPicPr>
        <p:blipFill>
          <a:blip r:embed="rId3"/>
          <a:stretch>
            <a:fillRect/>
          </a:stretch>
        </p:blipFill>
        <p:spPr>
          <a:xfrm>
            <a:off x="5492984" y="2822936"/>
            <a:ext cx="316017" cy="316017"/>
          </a:xfrm>
          <a:prstGeom prst="rect">
            <a:avLst/>
          </a:prstGeom>
        </p:spPr>
      </p:pic>
      <p:sp>
        <p:nvSpPr>
          <p:cNvPr id="16" name="Text 11"/>
          <p:cNvSpPr txBox="1"/>
          <p:nvPr/>
        </p:nvSpPr>
        <p:spPr>
          <a:xfrm>
            <a:off x="6172200" y="2596896"/>
            <a:ext cx="5333695" cy="329184"/>
          </a:xfrm>
          <a:prstGeom prst="rect">
            <a:avLst/>
          </a:prstGeom>
          <a:noFill/>
          <a:ln/>
        </p:spPr>
        <p:txBody>
          <a:bodyPr wrap="square" lIns="0" tIns="0" rIns="0" bIns="0" rtlCol="0" anchor="t"/>
          <a:lstStyle/>
          <a:p>
            <a:pPr indent="0" marL="0">
              <a:buNone/>
            </a:pPr>
            <a:r>
              <a:rPr lang="en-US" sz="1550" b="1" dirty="0">
                <a:solidFill>
                  <a:srgbClr val="2B2D31"/>
                </a:solidFill>
                <a:latin typeface="맑은 고딕" pitchFamily="34" charset="0"/>
                <a:ea typeface="맑은 고딕" pitchFamily="34" charset="-122"/>
                <a:cs typeface="맑은 고딕" pitchFamily="34" charset="-120"/>
              </a:rPr>
              <a:t>비말대 · 해저 구간은 접근 자체가 어려움</a:t>
            </a:r>
            <a:endParaRPr lang="en-US" sz="1550" dirty="0"/>
          </a:p>
        </p:txBody>
      </p:sp>
      <p:sp>
        <p:nvSpPr>
          <p:cNvPr id="17" name="Text 12"/>
          <p:cNvSpPr txBox="1"/>
          <p:nvPr/>
        </p:nvSpPr>
        <p:spPr>
          <a:xfrm>
            <a:off x="6172200" y="2926080"/>
            <a:ext cx="5333695" cy="274320"/>
          </a:xfrm>
          <a:prstGeom prst="rect">
            <a:avLst/>
          </a:prstGeom>
          <a:noFill/>
          <a:ln/>
        </p:spPr>
        <p:txBody>
          <a:bodyPr wrap="square" lIns="0" tIns="0" rIns="0" bIns="0" rtlCol="0" anchor="t"/>
          <a:lstStyle/>
          <a:p>
            <a:pPr indent="0" marL="0">
              <a:buNone/>
            </a:pPr>
            <a:r>
              <a:rPr lang="en-US" sz="1250" dirty="0">
                <a:solidFill>
                  <a:srgbClr val="6B6F76"/>
                </a:solidFill>
                <a:latin typeface="맑은 고딕" pitchFamily="34" charset="0"/>
                <a:ea typeface="맑은 고딕" pitchFamily="34" charset="-122"/>
                <a:cs typeface="맑은 고딕" pitchFamily="34" charset="-120"/>
              </a:rPr>
              <a:t>로프 액세스 · 잠수 · ROV를 미리 일정 잡아야만 확인 가능</a:t>
            </a:r>
            <a:endParaRPr lang="en-US" sz="1250" dirty="0"/>
          </a:p>
        </p:txBody>
      </p:sp>
      <p:sp>
        <p:nvSpPr>
          <p:cNvPr id="18" name="Text 13"/>
          <p:cNvSpPr txBox="1"/>
          <p:nvPr/>
        </p:nvSpPr>
        <p:spPr>
          <a:xfrm>
            <a:off x="6172200" y="3182112"/>
            <a:ext cx="5333695" cy="228600"/>
          </a:xfrm>
          <a:prstGeom prst="rect">
            <a:avLst/>
          </a:prstGeom>
          <a:noFill/>
          <a:ln/>
        </p:spPr>
        <p:txBody>
          <a:bodyPr wrap="square" lIns="0" tIns="0" rIns="0" bIns="0" rtlCol="0" anchor="t"/>
          <a:lstStyle/>
          <a:p>
            <a:pPr indent="0" marL="0">
              <a:buNone/>
            </a:pPr>
            <a:r>
              <a:rPr lang="en-US" sz="1050" i="1" dirty="0">
                <a:solidFill>
                  <a:srgbClr val="A3A7AD"/>
                </a:solidFill>
                <a:latin typeface="맑은 고딕" pitchFamily="34" charset="0"/>
                <a:ea typeface="맑은 고딕" pitchFamily="34" charset="-122"/>
                <a:cs typeface="맑은 고딕" pitchFamily="34" charset="-120"/>
              </a:rPr>
              <a:t>— Deepwater Corrosion Services · CTO</a:t>
            </a:r>
            <a:endParaRPr lang="en-US" sz="1050" dirty="0"/>
          </a:p>
        </p:txBody>
      </p:sp>
      <p:sp>
        <p:nvSpPr>
          <p:cNvPr id="19" name="Shape 14"/>
          <p:cNvSpPr/>
          <p:nvPr/>
        </p:nvSpPr>
        <p:spPr>
          <a:xfrm>
            <a:off x="5120640" y="3602736"/>
            <a:ext cx="6522415" cy="987552"/>
          </a:xfrm>
          <a:prstGeom prst="roundRect">
            <a:avLst>
              <a:gd name="adj" fmla="val 7407"/>
            </a:avLst>
          </a:prstGeom>
          <a:solidFill>
            <a:srgbClr val="F3F4F6"/>
          </a:solidFill>
          <a:ln w="6350">
            <a:solidFill>
              <a:srgbClr val="F3F4F6"/>
            </a:solidFill>
            <a:prstDash val="solid"/>
          </a:ln>
        </p:spPr>
      </p:sp>
      <p:sp>
        <p:nvSpPr>
          <p:cNvPr id="20" name="Shape 15"/>
          <p:cNvSpPr/>
          <p:nvPr/>
        </p:nvSpPr>
        <p:spPr>
          <a:xfrm>
            <a:off x="5321808" y="3767328"/>
            <a:ext cx="658368" cy="658368"/>
          </a:xfrm>
          <a:prstGeom prst="ellipse">
            <a:avLst/>
          </a:prstGeom>
          <a:solidFill>
            <a:srgbClr val="2B2D31"/>
          </a:solidFill>
          <a:ln w="12700">
            <a:solidFill>
              <a:srgbClr val="2B2D31"/>
            </a:solidFill>
            <a:prstDash val="solid"/>
          </a:ln>
        </p:spPr>
      </p:sp>
      <p:pic>
        <p:nvPicPr>
          <p:cNvPr id="21" name="Image 3" descr="preencoded.png">    </p:cNvPr>
          <p:cNvPicPr>
            <a:picLocks noChangeAspect="1"/>
          </p:cNvPicPr>
          <p:nvPr/>
        </p:nvPicPr>
        <p:blipFill>
          <a:blip r:embed="rId4"/>
          <a:stretch>
            <a:fillRect/>
          </a:stretch>
        </p:blipFill>
        <p:spPr>
          <a:xfrm>
            <a:off x="5492984" y="3938504"/>
            <a:ext cx="316017" cy="316017"/>
          </a:xfrm>
          <a:prstGeom prst="rect">
            <a:avLst/>
          </a:prstGeom>
        </p:spPr>
      </p:pic>
      <p:sp>
        <p:nvSpPr>
          <p:cNvPr id="22" name="Text 16"/>
          <p:cNvSpPr txBox="1"/>
          <p:nvPr/>
        </p:nvSpPr>
        <p:spPr>
          <a:xfrm>
            <a:off x="6172200" y="3712464"/>
            <a:ext cx="5333695" cy="329184"/>
          </a:xfrm>
          <a:prstGeom prst="rect">
            <a:avLst/>
          </a:prstGeom>
          <a:noFill/>
          <a:ln/>
        </p:spPr>
        <p:txBody>
          <a:bodyPr wrap="square" lIns="0" tIns="0" rIns="0" bIns="0" rtlCol="0" anchor="t"/>
          <a:lstStyle/>
          <a:p>
            <a:pPr indent="0" marL="0">
              <a:buNone/>
            </a:pPr>
            <a:r>
              <a:rPr lang="en-US" sz="1550" b="1" dirty="0">
                <a:solidFill>
                  <a:srgbClr val="2B2D31"/>
                </a:solidFill>
                <a:latin typeface="맑은 고딕" pitchFamily="34" charset="0"/>
                <a:ea typeface="맑은 고딕" pitchFamily="34" charset="-122"/>
                <a:cs typeface="맑은 고딕" pitchFamily="34" charset="-120"/>
              </a:rPr>
              <a:t>비용은 '검사'가 아니라 '이동·대기'</a:t>
            </a:r>
            <a:endParaRPr lang="en-US" sz="1550" dirty="0"/>
          </a:p>
        </p:txBody>
      </p:sp>
      <p:sp>
        <p:nvSpPr>
          <p:cNvPr id="23" name="Text 17"/>
          <p:cNvSpPr txBox="1"/>
          <p:nvPr/>
        </p:nvSpPr>
        <p:spPr>
          <a:xfrm>
            <a:off x="6172200" y="4041648"/>
            <a:ext cx="5333695" cy="274320"/>
          </a:xfrm>
          <a:prstGeom prst="rect">
            <a:avLst/>
          </a:prstGeom>
          <a:noFill/>
          <a:ln/>
        </p:spPr>
        <p:txBody>
          <a:bodyPr wrap="square" lIns="0" tIns="0" rIns="0" bIns="0" rtlCol="0" anchor="t"/>
          <a:lstStyle/>
          <a:p>
            <a:pPr indent="0" marL="0">
              <a:buNone/>
            </a:pPr>
            <a:r>
              <a:rPr lang="en-US" sz="1250" dirty="0">
                <a:solidFill>
                  <a:srgbClr val="6B6F76"/>
                </a:solidFill>
                <a:latin typeface="맑은 고딕" pitchFamily="34" charset="0"/>
                <a:ea typeface="맑은 고딕" pitchFamily="34" charset="-122"/>
                <a:cs typeface="맑은 고딕" pitchFamily="34" charset="-120"/>
              </a:rPr>
              <a:t>선박 용선일 · 기상 대기 · 리프트 · 비계 임대가 실제 비용</a:t>
            </a:r>
            <a:endParaRPr lang="en-US" sz="1250" dirty="0"/>
          </a:p>
        </p:txBody>
      </p:sp>
      <p:sp>
        <p:nvSpPr>
          <p:cNvPr id="24" name="Text 18"/>
          <p:cNvSpPr txBox="1"/>
          <p:nvPr/>
        </p:nvSpPr>
        <p:spPr>
          <a:xfrm>
            <a:off x="6172200" y="4297680"/>
            <a:ext cx="5333695" cy="228600"/>
          </a:xfrm>
          <a:prstGeom prst="rect">
            <a:avLst/>
          </a:prstGeom>
          <a:noFill/>
          <a:ln/>
        </p:spPr>
        <p:txBody>
          <a:bodyPr wrap="square" lIns="0" tIns="0" rIns="0" bIns="0" rtlCol="0" anchor="t"/>
          <a:lstStyle/>
          <a:p>
            <a:pPr indent="0" marL="0">
              <a:buNone/>
            </a:pPr>
            <a:r>
              <a:rPr lang="en-US" sz="1050" i="1" dirty="0">
                <a:solidFill>
                  <a:srgbClr val="A3A7AD"/>
                </a:solidFill>
                <a:latin typeface="맑은 고딕" pitchFamily="34" charset="0"/>
                <a:ea typeface="맑은 고딕" pitchFamily="34" charset="-122"/>
                <a:cs typeface="맑은 고딕" pitchFamily="34" charset="-120"/>
              </a:rPr>
              <a:t>— Deepwater · Brown Corrosion · MISTRAS</a:t>
            </a:r>
            <a:endParaRPr lang="en-US" sz="1050" dirty="0"/>
          </a:p>
        </p:txBody>
      </p:sp>
      <p:sp>
        <p:nvSpPr>
          <p:cNvPr id="25" name="Shape 19"/>
          <p:cNvSpPr/>
          <p:nvPr/>
        </p:nvSpPr>
        <p:spPr>
          <a:xfrm>
            <a:off x="5120640" y="4846320"/>
            <a:ext cx="6522415" cy="1188720"/>
          </a:xfrm>
          <a:prstGeom prst="roundRect">
            <a:avLst>
              <a:gd name="adj" fmla="val 6154"/>
            </a:avLst>
          </a:prstGeom>
          <a:solidFill>
            <a:srgbClr val="1F2226"/>
          </a:solidFill>
          <a:ln w="12700">
            <a:solidFill>
              <a:srgbClr val="1F2226"/>
            </a:solidFill>
            <a:prstDash val="solid"/>
          </a:ln>
        </p:spPr>
      </p:sp>
      <p:sp>
        <p:nvSpPr>
          <p:cNvPr id="26" name="Text 20"/>
          <p:cNvSpPr txBox="1"/>
          <p:nvPr/>
        </p:nvSpPr>
        <p:spPr>
          <a:xfrm>
            <a:off x="5440680" y="4846320"/>
            <a:ext cx="5973775" cy="1188720"/>
          </a:xfrm>
          <a:prstGeom prst="rect">
            <a:avLst/>
          </a:prstGeom>
          <a:noFill/>
          <a:ln/>
        </p:spPr>
        <p:txBody>
          <a:bodyPr wrap="square" lIns="0" tIns="0" rIns="0" bIns="0" rtlCol="0" anchor="ctr"/>
          <a:lstStyle/>
          <a:p>
            <a:pPr indent="0" marL="0">
              <a:spcAft>
                <a:spcPts val="400"/>
              </a:spcAft>
              <a:buNone/>
            </a:pPr>
            <a:r>
              <a:rPr lang="en-US" sz="1700" dirty="0">
                <a:solidFill>
                  <a:srgbClr val="D5D7DA"/>
                </a:solidFill>
                <a:latin typeface="맑은 고딕" pitchFamily="34" charset="0"/>
                <a:ea typeface="맑은 고딕" pitchFamily="34" charset="-122"/>
                <a:cs typeface="맑은 고딕" pitchFamily="34" charset="-120"/>
              </a:rPr>
              <a:t>점검 주기는 규제로 정해져 줄일 수 없습니다.</a:t>
            </a:r>
            <a:endParaRPr lang="en-US" sz="1700" dirty="0"/>
          </a:p>
          <a:p>
            <a:pPr indent="0" marL="0">
              <a:spcAft>
                <a:spcPts val="400"/>
              </a:spcAft>
              <a:buNone/>
            </a:pPr>
            <a:r>
              <a:rPr lang="en-US" sz="1700" b="1" dirty="0">
                <a:solidFill>
                  <a:srgbClr val="FFFFFF"/>
                </a:solidFill>
                <a:latin typeface="맑은 고딕" pitchFamily="34" charset="0"/>
                <a:ea typeface="맑은 고딕" pitchFamily="34" charset="-122"/>
                <a:cs typeface="맑은 고딕" pitchFamily="34" charset="-120"/>
              </a:rPr>
              <a:t>문제는 그 주기 안에서 </a:t>
            </a:r>
            <a:r>
              <a:rPr lang="en-US" sz="1700" b="1" dirty="0">
                <a:solidFill>
                  <a:srgbClr val="E8A87C"/>
                </a:solidFill>
                <a:latin typeface="맑은 고딕" pitchFamily="34" charset="0"/>
                <a:ea typeface="맑은 고딕" pitchFamily="34" charset="-122"/>
                <a:cs typeface="맑은 고딕" pitchFamily="34" charset="-120"/>
              </a:rPr>
              <a:t>어디에 사람과 배를 보낼지</a:t>
            </a:r>
            <a:r>
              <a:rPr lang="en-US" sz="1700" b="1" dirty="0">
                <a:solidFill>
                  <a:srgbClr val="FFFFFF"/>
                </a:solidFill>
                <a:latin typeface="맑은 고딕" pitchFamily="34" charset="0"/>
                <a:ea typeface="맑은 고딕" pitchFamily="34" charset="-122"/>
                <a:cs typeface="맑은 고딕" pitchFamily="34" charset="-120"/>
              </a:rPr>
              <a:t>입니다.</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indent="0" marL="0">
              <a:buNone/>
            </a:pPr>
            <a:r>
              <a:rPr lang="en-US" sz="1200" b="1" spc="100" kern="0" dirty="0">
                <a:solidFill>
                  <a:srgbClr val="B5501F"/>
                </a:solidFill>
                <a:latin typeface="맑은 고딕" pitchFamily="34" charset="0"/>
                <a:ea typeface="맑은 고딕" pitchFamily="34" charset="-122"/>
                <a:cs typeface="맑은 고딕" pitchFamily="34" charset="-120"/>
              </a:rPr>
              <a:t>CUSTOMER DISCOVERY</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indent="0" marL="0">
              <a:buNone/>
            </a:pPr>
            <a:r>
              <a:rPr lang="en-US" sz="2800" b="1" dirty="0">
                <a:solidFill>
                  <a:srgbClr val="2B2D31"/>
                </a:solidFill>
                <a:latin typeface="맑은 고딕" pitchFamily="34" charset="0"/>
                <a:ea typeface="맑은 고딕" pitchFamily="34" charset="-122"/>
                <a:cs typeface="맑은 고딕" pitchFamily="34" charset="-120"/>
              </a:rPr>
              <a:t>미국 현장에서 35명을 만났습니다</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indent="0" marL="0">
              <a:buNone/>
            </a:pPr>
            <a:r>
              <a:rPr lang="en-US" sz="900" dirty="0">
                <a:solidFill>
                  <a:srgbClr val="A3A7AD"/>
                </a:solidFill>
                <a:latin typeface="맑은 고딕" pitchFamily="34" charset="0"/>
                <a:ea typeface="맑은 고딕" pitchFamily="34" charset="-122"/>
                <a:cs typeface="맑은 고딕" pitchFamily="34" charset="-120"/>
              </a:rPr>
              <a:t>MLC  ·  Tex-Corps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900" dirty="0">
                <a:solidFill>
                  <a:srgbClr val="A3A7AD"/>
                </a:solidFill>
                <a:latin typeface="맑은 고딕" pitchFamily="34" charset="0"/>
                <a:ea typeface="맑은 고딕" pitchFamily="34" charset="-122"/>
                <a:cs typeface="맑은 고딕" pitchFamily="34" charset="-120"/>
              </a:rPr>
              <a:t>3</a:t>
            </a:r>
            <a:endParaRPr lang="en-US" sz="900" dirty="0"/>
          </a:p>
        </p:txBody>
      </p:sp>
      <p:sp>
        <p:nvSpPr>
          <p:cNvPr id="6" name="Text 4"/>
          <p:cNvSpPr txBox="1"/>
          <p:nvPr/>
        </p:nvSpPr>
        <p:spPr>
          <a:xfrm>
            <a:off x="548640" y="1325880"/>
            <a:ext cx="2377440" cy="1188720"/>
          </a:xfrm>
          <a:prstGeom prst="rect">
            <a:avLst/>
          </a:prstGeom>
          <a:noFill/>
          <a:ln/>
        </p:spPr>
        <p:txBody>
          <a:bodyPr wrap="square" lIns="0" tIns="0" rIns="0" bIns="0" rtlCol="0" anchor="ctr"/>
          <a:lstStyle/>
          <a:p>
            <a:pPr indent="0" marL="0">
              <a:buNone/>
            </a:pPr>
            <a:r>
              <a:rPr lang="en-US" sz="8400" b="1" dirty="0">
                <a:solidFill>
                  <a:srgbClr val="B5501F"/>
                </a:solidFill>
                <a:latin typeface="맑은 고딕" pitchFamily="34" charset="0"/>
                <a:ea typeface="맑은 고딕" pitchFamily="34" charset="-122"/>
                <a:cs typeface="맑은 고딕" pitchFamily="34" charset="-120"/>
              </a:rPr>
              <a:t>35</a:t>
            </a:r>
            <a:endParaRPr lang="en-US" sz="8400" dirty="0"/>
          </a:p>
        </p:txBody>
      </p:sp>
      <p:sp>
        <p:nvSpPr>
          <p:cNvPr id="7" name="Text 5"/>
          <p:cNvSpPr txBox="1"/>
          <p:nvPr/>
        </p:nvSpPr>
        <p:spPr>
          <a:xfrm>
            <a:off x="2834640" y="1481328"/>
            <a:ext cx="2377440" cy="960120"/>
          </a:xfrm>
          <a:prstGeom prst="rect">
            <a:avLst/>
          </a:prstGeom>
          <a:noFill/>
          <a:ln/>
        </p:spPr>
        <p:txBody>
          <a:bodyPr wrap="square" lIns="0" tIns="0" rIns="0" bIns="0" rtlCol="0" anchor="t"/>
          <a:lstStyle/>
          <a:p>
            <a:pPr indent="0" marL="0">
              <a:buNone/>
            </a:pPr>
            <a:r>
              <a:rPr lang="en-US" sz="1400" dirty="0">
                <a:solidFill>
                  <a:srgbClr val="6B6F76"/>
                </a:solidFill>
                <a:latin typeface="맑은 고딕" pitchFamily="34" charset="0"/>
                <a:ea typeface="맑은 고딕" pitchFamily="34" charset="-122"/>
                <a:cs typeface="맑은 고딕" pitchFamily="34" charset="-120"/>
              </a:rPr>
              <a:t>고객 인터뷰</a:t>
            </a:r>
            <a:endParaRPr lang="en-US" sz="1400" dirty="0"/>
          </a:p>
          <a:p>
            <a:pPr indent="0" marL="0">
              <a:buNone/>
            </a:pPr>
            <a:r>
              <a:rPr lang="en-US" sz="1400" dirty="0">
                <a:solidFill>
                  <a:srgbClr val="6B6F76"/>
                </a:solidFill>
                <a:latin typeface="맑은 고딕" pitchFamily="34" charset="0"/>
                <a:ea typeface="맑은 고딕" pitchFamily="34" charset="-122"/>
                <a:cs typeface="맑은 고딕" pitchFamily="34" charset="-120"/>
              </a:rPr>
              <a:t>대면 24 · 화상 11</a:t>
            </a:r>
            <a:endParaRPr lang="en-US" sz="1400" dirty="0"/>
          </a:p>
          <a:p>
            <a:pPr indent="0" marL="0">
              <a:buNone/>
            </a:pPr>
            <a:r>
              <a:rPr lang="en-US" sz="1400" dirty="0">
                <a:solidFill>
                  <a:srgbClr val="6B6F76"/>
                </a:solidFill>
                <a:latin typeface="맑은 고딕" pitchFamily="34" charset="0"/>
                <a:ea typeface="맑은 고딕" pitchFamily="34" charset="-122"/>
                <a:cs typeface="맑은 고딕" pitchFamily="34" charset="-120"/>
              </a:rPr>
              <a:t>2026. 7. 6 – 7. 23</a:t>
            </a:r>
            <a:endParaRPr lang="en-US" sz="1400" dirty="0"/>
          </a:p>
        </p:txBody>
      </p:sp>
      <p:sp>
        <p:nvSpPr>
          <p:cNvPr id="8" name="Text 6"/>
          <p:cNvSpPr txBox="1"/>
          <p:nvPr/>
        </p:nvSpPr>
        <p:spPr>
          <a:xfrm>
            <a:off x="548640" y="2788920"/>
            <a:ext cx="3657600" cy="274320"/>
          </a:xfrm>
          <a:prstGeom prst="rect">
            <a:avLst/>
          </a:prstGeom>
          <a:noFill/>
          <a:ln/>
        </p:spPr>
        <p:txBody>
          <a:bodyPr wrap="square" lIns="0" tIns="0" rIns="0" bIns="0" rtlCol="0" anchor="t"/>
          <a:lstStyle/>
          <a:p>
            <a:pPr indent="0" marL="0">
              <a:buNone/>
            </a:pPr>
            <a:r>
              <a:rPr lang="en-US" sz="1200" b="1" dirty="0">
                <a:solidFill>
                  <a:srgbClr val="6B6F76"/>
                </a:solidFill>
                <a:latin typeface="맑은 고딕" pitchFamily="34" charset="0"/>
                <a:ea typeface="맑은 고딕" pitchFamily="34" charset="-122"/>
                <a:cs typeface="맑은 고딕" pitchFamily="34" charset="-120"/>
              </a:rPr>
              <a:t>인터뷰 대상 산업</a:t>
            </a:r>
            <a:endParaRPr lang="en-US" sz="1200" dirty="0"/>
          </a:p>
        </p:txBody>
      </p:sp>
      <p:sp>
        <p:nvSpPr>
          <p:cNvPr id="9" name="Text 7"/>
          <p:cNvSpPr txBox="1"/>
          <p:nvPr/>
        </p:nvSpPr>
        <p:spPr>
          <a:xfrm>
            <a:off x="548640" y="3200400"/>
            <a:ext cx="2743200" cy="347472"/>
          </a:xfrm>
          <a:prstGeom prst="rect">
            <a:avLst/>
          </a:prstGeom>
          <a:noFill/>
          <a:ln/>
        </p:spPr>
        <p:txBody>
          <a:bodyPr wrap="square" lIns="0" tIns="0" rIns="0" bIns="0" rtlCol="0" anchor="ctr"/>
          <a:lstStyle/>
          <a:p>
            <a:pPr indent="0" marL="0">
              <a:buNone/>
            </a:pPr>
            <a:r>
              <a:rPr lang="en-US" sz="1250" dirty="0">
                <a:solidFill>
                  <a:srgbClr val="2B2D31"/>
                </a:solidFill>
                <a:latin typeface="맑은 고딕" pitchFamily="34" charset="0"/>
                <a:ea typeface="맑은 고딕" pitchFamily="34" charset="-122"/>
                <a:cs typeface="맑은 고딕" pitchFamily="34" charset="-120"/>
              </a:rPr>
              <a:t>해양 석유·가스 플랫폼</a:t>
            </a:r>
            <a:endParaRPr lang="en-US" sz="1250" dirty="0"/>
          </a:p>
        </p:txBody>
      </p:sp>
      <p:sp>
        <p:nvSpPr>
          <p:cNvPr id="10" name="Shape 8"/>
          <p:cNvSpPr/>
          <p:nvPr/>
        </p:nvSpPr>
        <p:spPr>
          <a:xfrm>
            <a:off x="3383280" y="3246120"/>
            <a:ext cx="2743200" cy="256032"/>
          </a:xfrm>
          <a:prstGeom prst="rect">
            <a:avLst/>
          </a:prstGeom>
          <a:solidFill>
            <a:srgbClr val="1F5F7A"/>
          </a:solidFill>
          <a:ln w="12700">
            <a:solidFill>
              <a:srgbClr val="1F5F7A"/>
            </a:solidFill>
            <a:prstDash val="solid"/>
          </a:ln>
        </p:spPr>
      </p:sp>
      <p:sp>
        <p:nvSpPr>
          <p:cNvPr id="11" name="Text 9"/>
          <p:cNvSpPr txBox="1"/>
          <p:nvPr/>
        </p:nvSpPr>
        <p:spPr>
          <a:xfrm>
            <a:off x="6217920" y="3200400"/>
            <a:ext cx="457200" cy="347472"/>
          </a:xfrm>
          <a:prstGeom prst="rect">
            <a:avLst/>
          </a:prstGeom>
          <a:noFill/>
          <a:ln/>
        </p:spPr>
        <p:txBody>
          <a:bodyPr wrap="square" lIns="0" tIns="0" rIns="0" bIns="0" rtlCol="0" anchor="ctr"/>
          <a:lstStyle/>
          <a:p>
            <a:pPr indent="0" marL="0">
              <a:buNone/>
            </a:pPr>
            <a:r>
              <a:rPr lang="en-US" sz="1300" b="1" dirty="0">
                <a:solidFill>
                  <a:srgbClr val="1F5F7A"/>
                </a:solidFill>
                <a:latin typeface="맑은 고딕" pitchFamily="34" charset="0"/>
                <a:ea typeface="맑은 고딕" pitchFamily="34" charset="-122"/>
                <a:cs typeface="맑은 고딕" pitchFamily="34" charset="-120"/>
              </a:rPr>
              <a:t>19</a:t>
            </a:r>
            <a:endParaRPr lang="en-US" sz="1300" dirty="0"/>
          </a:p>
        </p:txBody>
      </p:sp>
      <p:sp>
        <p:nvSpPr>
          <p:cNvPr id="12" name="Text 10"/>
          <p:cNvSpPr txBox="1"/>
          <p:nvPr/>
        </p:nvSpPr>
        <p:spPr>
          <a:xfrm>
            <a:off x="548640" y="3703320"/>
            <a:ext cx="2743200" cy="347472"/>
          </a:xfrm>
          <a:prstGeom prst="rect">
            <a:avLst/>
          </a:prstGeom>
          <a:noFill/>
          <a:ln/>
        </p:spPr>
        <p:txBody>
          <a:bodyPr wrap="square" lIns="0" tIns="0" rIns="0" bIns="0" rtlCol="0" anchor="ctr"/>
          <a:lstStyle/>
          <a:p>
            <a:pPr indent="0" marL="0">
              <a:buNone/>
            </a:pPr>
            <a:r>
              <a:rPr lang="en-US" sz="1250" dirty="0">
                <a:solidFill>
                  <a:srgbClr val="2B2D31"/>
                </a:solidFill>
                <a:latin typeface="맑은 고딕" pitchFamily="34" charset="0"/>
                <a:ea typeface="맑은 고딕" pitchFamily="34" charset="-122"/>
                <a:cs typeface="맑은 고딕" pitchFamily="34" charset="-120"/>
              </a:rPr>
              <a:t>미드스트림 가스 파이프라인</a:t>
            </a:r>
            <a:endParaRPr lang="en-US" sz="1250" dirty="0"/>
          </a:p>
        </p:txBody>
      </p:sp>
      <p:sp>
        <p:nvSpPr>
          <p:cNvPr id="13" name="Shape 11"/>
          <p:cNvSpPr/>
          <p:nvPr/>
        </p:nvSpPr>
        <p:spPr>
          <a:xfrm>
            <a:off x="3383280" y="3749040"/>
            <a:ext cx="721895" cy="256032"/>
          </a:xfrm>
          <a:prstGeom prst="rect">
            <a:avLst/>
          </a:prstGeom>
          <a:solidFill>
            <a:srgbClr val="1F5F7A"/>
          </a:solidFill>
          <a:ln w="12700">
            <a:solidFill>
              <a:srgbClr val="1F5F7A"/>
            </a:solidFill>
            <a:prstDash val="solid"/>
          </a:ln>
        </p:spPr>
      </p:sp>
      <p:sp>
        <p:nvSpPr>
          <p:cNvPr id="14" name="Text 12"/>
          <p:cNvSpPr txBox="1"/>
          <p:nvPr/>
        </p:nvSpPr>
        <p:spPr>
          <a:xfrm>
            <a:off x="4196615" y="3703320"/>
            <a:ext cx="457200" cy="347472"/>
          </a:xfrm>
          <a:prstGeom prst="rect">
            <a:avLst/>
          </a:prstGeom>
          <a:noFill/>
          <a:ln/>
        </p:spPr>
        <p:txBody>
          <a:bodyPr wrap="square" lIns="0" tIns="0" rIns="0" bIns="0" rtlCol="0" anchor="ctr"/>
          <a:lstStyle/>
          <a:p>
            <a:pPr indent="0" marL="0">
              <a:buNone/>
            </a:pPr>
            <a:r>
              <a:rPr lang="en-US" sz="1300" b="1" dirty="0">
                <a:solidFill>
                  <a:srgbClr val="1F5F7A"/>
                </a:solidFill>
                <a:latin typeface="맑은 고딕" pitchFamily="34" charset="0"/>
                <a:ea typeface="맑은 고딕" pitchFamily="34" charset="-122"/>
                <a:cs typeface="맑은 고딕" pitchFamily="34" charset="-120"/>
              </a:rPr>
              <a:t>5</a:t>
            </a:r>
            <a:endParaRPr lang="en-US" sz="1300" dirty="0"/>
          </a:p>
        </p:txBody>
      </p:sp>
      <p:sp>
        <p:nvSpPr>
          <p:cNvPr id="15" name="Text 13"/>
          <p:cNvSpPr txBox="1"/>
          <p:nvPr/>
        </p:nvSpPr>
        <p:spPr>
          <a:xfrm>
            <a:off x="548640" y="4206240"/>
            <a:ext cx="2743200" cy="347472"/>
          </a:xfrm>
          <a:prstGeom prst="rect">
            <a:avLst/>
          </a:prstGeom>
          <a:noFill/>
          <a:ln/>
        </p:spPr>
        <p:txBody>
          <a:bodyPr wrap="square" lIns="0" tIns="0" rIns="0" bIns="0" rtlCol="0" anchor="ctr"/>
          <a:lstStyle/>
          <a:p>
            <a:pPr indent="0" marL="0">
              <a:buNone/>
            </a:pPr>
            <a:r>
              <a:rPr lang="en-US" sz="1250" dirty="0">
                <a:solidFill>
                  <a:srgbClr val="2B2D31"/>
                </a:solidFill>
                <a:latin typeface="맑은 고딕" pitchFamily="34" charset="0"/>
                <a:ea typeface="맑은 고딕" pitchFamily="34" charset="-122"/>
                <a:cs typeface="맑은 고딕" pitchFamily="34" charset="-120"/>
              </a:rPr>
              <a:t>석유·가스 일반 (검사·재료)</a:t>
            </a:r>
            <a:endParaRPr lang="en-US" sz="1250" dirty="0"/>
          </a:p>
        </p:txBody>
      </p:sp>
      <p:sp>
        <p:nvSpPr>
          <p:cNvPr id="16" name="Shape 14"/>
          <p:cNvSpPr/>
          <p:nvPr/>
        </p:nvSpPr>
        <p:spPr>
          <a:xfrm>
            <a:off x="3383280" y="4251960"/>
            <a:ext cx="288758" cy="256032"/>
          </a:xfrm>
          <a:prstGeom prst="rect">
            <a:avLst/>
          </a:prstGeom>
          <a:solidFill>
            <a:srgbClr val="1F5F7A"/>
          </a:solidFill>
          <a:ln w="12700">
            <a:solidFill>
              <a:srgbClr val="1F5F7A"/>
            </a:solidFill>
            <a:prstDash val="solid"/>
          </a:ln>
        </p:spPr>
      </p:sp>
      <p:sp>
        <p:nvSpPr>
          <p:cNvPr id="17" name="Text 15"/>
          <p:cNvSpPr txBox="1"/>
          <p:nvPr/>
        </p:nvSpPr>
        <p:spPr>
          <a:xfrm>
            <a:off x="3763478" y="4206240"/>
            <a:ext cx="457200" cy="347472"/>
          </a:xfrm>
          <a:prstGeom prst="rect">
            <a:avLst/>
          </a:prstGeom>
          <a:noFill/>
          <a:ln/>
        </p:spPr>
        <p:txBody>
          <a:bodyPr wrap="square" lIns="0" tIns="0" rIns="0" bIns="0" rtlCol="0" anchor="ctr"/>
          <a:lstStyle/>
          <a:p>
            <a:pPr indent="0" marL="0">
              <a:buNone/>
            </a:pPr>
            <a:r>
              <a:rPr lang="en-US" sz="1300" b="1" dirty="0">
                <a:solidFill>
                  <a:srgbClr val="1F5F7A"/>
                </a:solidFill>
                <a:latin typeface="맑은 고딕" pitchFamily="34" charset="0"/>
                <a:ea typeface="맑은 고딕" pitchFamily="34" charset="-122"/>
                <a:cs typeface="맑은 고딕" pitchFamily="34" charset="-120"/>
              </a:rPr>
              <a:t>2</a:t>
            </a:r>
            <a:endParaRPr lang="en-US" sz="1300" dirty="0"/>
          </a:p>
        </p:txBody>
      </p:sp>
      <p:sp>
        <p:nvSpPr>
          <p:cNvPr id="18" name="Text 16"/>
          <p:cNvSpPr txBox="1"/>
          <p:nvPr/>
        </p:nvSpPr>
        <p:spPr>
          <a:xfrm>
            <a:off x="548640" y="4709160"/>
            <a:ext cx="2743200" cy="347472"/>
          </a:xfrm>
          <a:prstGeom prst="rect">
            <a:avLst/>
          </a:prstGeom>
          <a:noFill/>
          <a:ln/>
        </p:spPr>
        <p:txBody>
          <a:bodyPr wrap="square" lIns="0" tIns="0" rIns="0" bIns="0" rtlCol="0" anchor="ctr"/>
          <a:lstStyle/>
          <a:p>
            <a:pPr indent="0" marL="0">
              <a:buNone/>
            </a:pPr>
            <a:r>
              <a:rPr lang="en-US" sz="1250" dirty="0">
                <a:solidFill>
                  <a:srgbClr val="2B2D31"/>
                </a:solidFill>
                <a:latin typeface="맑은 고딕" pitchFamily="34" charset="0"/>
                <a:ea typeface="맑은 고딕" pitchFamily="34" charset="-122"/>
                <a:cs typeface="맑은 고딕" pitchFamily="34" charset="-120"/>
              </a:rPr>
              <a:t>자동차 · 배터리 · 반도체 등</a:t>
            </a:r>
            <a:endParaRPr lang="en-US" sz="1250" dirty="0"/>
          </a:p>
        </p:txBody>
      </p:sp>
      <p:sp>
        <p:nvSpPr>
          <p:cNvPr id="19" name="Shape 17"/>
          <p:cNvSpPr/>
          <p:nvPr/>
        </p:nvSpPr>
        <p:spPr>
          <a:xfrm>
            <a:off x="3383280" y="4754880"/>
            <a:ext cx="1299411" cy="256032"/>
          </a:xfrm>
          <a:prstGeom prst="rect">
            <a:avLst/>
          </a:prstGeom>
          <a:solidFill>
            <a:srgbClr val="A3A7AD"/>
          </a:solidFill>
          <a:ln w="12700">
            <a:solidFill>
              <a:srgbClr val="A3A7AD"/>
            </a:solidFill>
            <a:prstDash val="solid"/>
          </a:ln>
        </p:spPr>
      </p:sp>
      <p:sp>
        <p:nvSpPr>
          <p:cNvPr id="20" name="Text 18"/>
          <p:cNvSpPr txBox="1"/>
          <p:nvPr/>
        </p:nvSpPr>
        <p:spPr>
          <a:xfrm>
            <a:off x="4774131" y="4709160"/>
            <a:ext cx="457200" cy="347472"/>
          </a:xfrm>
          <a:prstGeom prst="rect">
            <a:avLst/>
          </a:prstGeom>
          <a:noFill/>
          <a:ln/>
        </p:spPr>
        <p:txBody>
          <a:bodyPr wrap="square" lIns="0" tIns="0" rIns="0" bIns="0" rtlCol="0" anchor="ctr"/>
          <a:lstStyle/>
          <a:p>
            <a:pPr indent="0" marL="0">
              <a:buNone/>
            </a:pPr>
            <a:r>
              <a:rPr lang="en-US" sz="1300" b="1" dirty="0">
                <a:solidFill>
                  <a:srgbClr val="6B6F76"/>
                </a:solidFill>
                <a:latin typeface="맑은 고딕" pitchFamily="34" charset="0"/>
                <a:ea typeface="맑은 고딕" pitchFamily="34" charset="-122"/>
                <a:cs typeface="맑은 고딕" pitchFamily="34" charset="-120"/>
              </a:rPr>
              <a:t>9</a:t>
            </a:r>
            <a:endParaRPr lang="en-US" sz="1300" dirty="0"/>
          </a:p>
        </p:txBody>
      </p:sp>
      <p:sp>
        <p:nvSpPr>
          <p:cNvPr id="21" name="Text 19"/>
          <p:cNvSpPr txBox="1"/>
          <p:nvPr/>
        </p:nvSpPr>
        <p:spPr>
          <a:xfrm>
            <a:off x="548640" y="5257800"/>
            <a:ext cx="5852160" cy="548640"/>
          </a:xfrm>
          <a:prstGeom prst="rect">
            <a:avLst/>
          </a:prstGeom>
          <a:noFill/>
          <a:ln/>
        </p:spPr>
        <p:txBody>
          <a:bodyPr wrap="square" lIns="0" tIns="0" rIns="0" bIns="0" rtlCol="0" anchor="t"/>
          <a:lstStyle/>
          <a:p>
            <a:pPr indent="0" marL="0">
              <a:buNone/>
            </a:pPr>
            <a:r>
              <a:rPr lang="en-US" sz="1200" dirty="0">
                <a:solidFill>
                  <a:srgbClr val="6B6F76"/>
                </a:solidFill>
                <a:latin typeface="맑은 고딕" pitchFamily="34" charset="0"/>
                <a:ea typeface="맑은 고딕" pitchFamily="34" charset="-122"/>
                <a:cs typeface="맑은 고딕" pitchFamily="34" charset="-120"/>
              </a:rPr>
              <a:t>스테인리스 위주의 자동차 · 배터리 공정에서는 부식이 현장 문제가 아니었음 → 타깃에서 제외</a:t>
            </a:r>
            <a:endParaRPr lang="en-US" sz="1200" dirty="0"/>
          </a:p>
        </p:txBody>
      </p:sp>
      <p:sp>
        <p:nvSpPr>
          <p:cNvPr id="22" name="Shape 20"/>
          <p:cNvSpPr/>
          <p:nvPr/>
        </p:nvSpPr>
        <p:spPr>
          <a:xfrm>
            <a:off x="6720840" y="1371600"/>
            <a:ext cx="4922215" cy="4434840"/>
          </a:xfrm>
          <a:prstGeom prst="roundRect">
            <a:avLst>
              <a:gd name="adj" fmla="val 1649"/>
            </a:avLst>
          </a:prstGeom>
          <a:solidFill>
            <a:srgbClr val="E3EFF4"/>
          </a:solidFill>
          <a:ln w="6350">
            <a:solidFill>
              <a:srgbClr val="E3EFF4"/>
            </a:solidFill>
            <a:prstDash val="solid"/>
          </a:ln>
        </p:spPr>
      </p:sp>
      <p:sp>
        <p:nvSpPr>
          <p:cNvPr id="23" name="Text 21"/>
          <p:cNvSpPr txBox="1"/>
          <p:nvPr/>
        </p:nvSpPr>
        <p:spPr>
          <a:xfrm>
            <a:off x="6995160" y="1536192"/>
            <a:ext cx="4373575" cy="274320"/>
          </a:xfrm>
          <a:prstGeom prst="rect">
            <a:avLst/>
          </a:prstGeom>
          <a:noFill/>
          <a:ln/>
        </p:spPr>
        <p:txBody>
          <a:bodyPr wrap="square" lIns="0" tIns="0" rIns="0" bIns="0" rtlCol="0" anchor="t"/>
          <a:lstStyle/>
          <a:p>
            <a:pPr indent="0" marL="0">
              <a:buNone/>
            </a:pPr>
            <a:r>
              <a:rPr lang="en-US" sz="1200" b="1" dirty="0">
                <a:solidFill>
                  <a:srgbClr val="1F5F7A"/>
                </a:solidFill>
                <a:latin typeface="맑은 고딕" pitchFamily="34" charset="0"/>
                <a:ea typeface="맑은 고딕" pitchFamily="34" charset="-122"/>
                <a:cs typeface="맑은 고딕" pitchFamily="34" charset="-120"/>
              </a:rPr>
              <a:t>만난 조직 (일부)</a:t>
            </a:r>
            <a:endParaRPr lang="en-US" sz="1200" dirty="0"/>
          </a:p>
        </p:txBody>
      </p:sp>
      <p:sp>
        <p:nvSpPr>
          <p:cNvPr id="24" name="Shape 22"/>
          <p:cNvSpPr/>
          <p:nvPr/>
        </p:nvSpPr>
        <p:spPr>
          <a:xfrm>
            <a:off x="6995160" y="1938528"/>
            <a:ext cx="1320394" cy="347472"/>
          </a:xfrm>
          <a:prstGeom prst="roundRect">
            <a:avLst>
              <a:gd name="adj" fmla="val 50000"/>
            </a:avLst>
          </a:prstGeom>
          <a:solidFill>
            <a:srgbClr val="FFFFFF"/>
          </a:solidFill>
          <a:ln w="12700">
            <a:solidFill>
              <a:srgbClr val="D9DCE0"/>
            </a:solidFill>
            <a:prstDash val="solid"/>
          </a:ln>
        </p:spPr>
      </p:sp>
      <p:sp>
        <p:nvSpPr>
          <p:cNvPr id="25" name="Text 23"/>
          <p:cNvSpPr txBox="1"/>
          <p:nvPr/>
        </p:nvSpPr>
        <p:spPr>
          <a:xfrm>
            <a:off x="6995160" y="1938528"/>
            <a:ext cx="1320394" cy="347472"/>
          </a:xfrm>
          <a:prstGeom prst="rect">
            <a:avLst/>
          </a:prstGeom>
          <a:noFill/>
          <a:ln/>
        </p:spPr>
        <p:txBody>
          <a:bodyPr wrap="square" lIns="0" tIns="0" rIns="0" bIns="0" rtlCol="0" anchor="ctr"/>
          <a:lstStyle/>
          <a:p>
            <a:pPr algn="ctr" indent="0" marL="0">
              <a:buNone/>
            </a:pPr>
            <a:r>
              <a:rPr lang="en-US" sz="1150" dirty="0">
                <a:solidFill>
                  <a:srgbClr val="2B2D31"/>
                </a:solidFill>
                <a:latin typeface="맑은 고딕" pitchFamily="34" charset="0"/>
                <a:ea typeface="맑은 고딕" pitchFamily="34" charset="-122"/>
                <a:cs typeface="맑은 고딕" pitchFamily="34" charset="-120"/>
              </a:rPr>
              <a:t>MISTRAS Group</a:t>
            </a:r>
            <a:endParaRPr lang="en-US" sz="1150" dirty="0"/>
          </a:p>
        </p:txBody>
      </p:sp>
      <p:sp>
        <p:nvSpPr>
          <p:cNvPr id="26" name="Shape 24"/>
          <p:cNvSpPr/>
          <p:nvPr/>
        </p:nvSpPr>
        <p:spPr>
          <a:xfrm>
            <a:off x="8425282" y="1938528"/>
            <a:ext cx="918058" cy="347472"/>
          </a:xfrm>
          <a:prstGeom prst="roundRect">
            <a:avLst>
              <a:gd name="adj" fmla="val 50000"/>
            </a:avLst>
          </a:prstGeom>
          <a:solidFill>
            <a:srgbClr val="FFFFFF"/>
          </a:solidFill>
          <a:ln w="12700">
            <a:solidFill>
              <a:srgbClr val="D9DCE0"/>
            </a:solidFill>
            <a:prstDash val="solid"/>
          </a:ln>
        </p:spPr>
      </p:sp>
      <p:sp>
        <p:nvSpPr>
          <p:cNvPr id="27" name="Text 25"/>
          <p:cNvSpPr txBox="1"/>
          <p:nvPr/>
        </p:nvSpPr>
        <p:spPr>
          <a:xfrm>
            <a:off x="8425282" y="1938528"/>
            <a:ext cx="918058" cy="347472"/>
          </a:xfrm>
          <a:prstGeom prst="rect">
            <a:avLst/>
          </a:prstGeom>
          <a:noFill/>
          <a:ln/>
        </p:spPr>
        <p:txBody>
          <a:bodyPr wrap="square" lIns="0" tIns="0" rIns="0" bIns="0" rtlCol="0" anchor="ctr"/>
          <a:lstStyle/>
          <a:p>
            <a:pPr algn="ctr" indent="0" marL="0">
              <a:buNone/>
            </a:pPr>
            <a:r>
              <a:rPr lang="en-US" sz="1150" dirty="0">
                <a:solidFill>
                  <a:srgbClr val="2B2D31"/>
                </a:solidFill>
                <a:latin typeface="맑은 고딕" pitchFamily="34" charset="0"/>
                <a:ea typeface="맑은 고딕" pitchFamily="34" charset="-122"/>
                <a:cs typeface="맑은 고딕" pitchFamily="34" charset="-120"/>
              </a:rPr>
              <a:t>Williams</a:t>
            </a:r>
            <a:endParaRPr lang="en-US" sz="1150" dirty="0"/>
          </a:p>
        </p:txBody>
      </p:sp>
      <p:sp>
        <p:nvSpPr>
          <p:cNvPr id="28" name="Shape 26"/>
          <p:cNvSpPr/>
          <p:nvPr/>
        </p:nvSpPr>
        <p:spPr>
          <a:xfrm>
            <a:off x="6995160" y="2359152"/>
            <a:ext cx="2527402" cy="347472"/>
          </a:xfrm>
          <a:prstGeom prst="roundRect">
            <a:avLst>
              <a:gd name="adj" fmla="val 50000"/>
            </a:avLst>
          </a:prstGeom>
          <a:solidFill>
            <a:srgbClr val="FFFFFF"/>
          </a:solidFill>
          <a:ln w="12700">
            <a:solidFill>
              <a:srgbClr val="D9DCE0"/>
            </a:solidFill>
            <a:prstDash val="solid"/>
          </a:ln>
        </p:spPr>
      </p:sp>
      <p:sp>
        <p:nvSpPr>
          <p:cNvPr id="29" name="Text 27"/>
          <p:cNvSpPr txBox="1"/>
          <p:nvPr/>
        </p:nvSpPr>
        <p:spPr>
          <a:xfrm>
            <a:off x="6995160" y="2359152"/>
            <a:ext cx="2527402" cy="347472"/>
          </a:xfrm>
          <a:prstGeom prst="rect">
            <a:avLst/>
          </a:prstGeom>
          <a:noFill/>
          <a:ln/>
        </p:spPr>
        <p:txBody>
          <a:bodyPr wrap="square" lIns="0" tIns="0" rIns="0" bIns="0" rtlCol="0" anchor="ctr"/>
          <a:lstStyle/>
          <a:p>
            <a:pPr algn="ctr" indent="0" marL="0">
              <a:buNone/>
            </a:pPr>
            <a:r>
              <a:rPr lang="en-US" sz="1150" dirty="0">
                <a:solidFill>
                  <a:srgbClr val="2B2D31"/>
                </a:solidFill>
                <a:latin typeface="맑은 고딕" pitchFamily="34" charset="0"/>
                <a:ea typeface="맑은 고딕" pitchFamily="34" charset="-122"/>
                <a:cs typeface="맑은 고딕" pitchFamily="34" charset="-120"/>
              </a:rPr>
              <a:t>Deepwater Corrosion Services</a:t>
            </a:r>
            <a:endParaRPr lang="en-US" sz="1150" dirty="0"/>
          </a:p>
        </p:txBody>
      </p:sp>
      <p:sp>
        <p:nvSpPr>
          <p:cNvPr id="30" name="Shape 28"/>
          <p:cNvSpPr/>
          <p:nvPr/>
        </p:nvSpPr>
        <p:spPr>
          <a:xfrm>
            <a:off x="6995160" y="2779776"/>
            <a:ext cx="2286000" cy="347472"/>
          </a:xfrm>
          <a:prstGeom prst="roundRect">
            <a:avLst>
              <a:gd name="adj" fmla="val 50000"/>
            </a:avLst>
          </a:prstGeom>
          <a:solidFill>
            <a:srgbClr val="FFFFFF"/>
          </a:solidFill>
          <a:ln w="12700">
            <a:solidFill>
              <a:srgbClr val="D9DCE0"/>
            </a:solidFill>
            <a:prstDash val="solid"/>
          </a:ln>
        </p:spPr>
      </p:sp>
      <p:sp>
        <p:nvSpPr>
          <p:cNvPr id="31" name="Text 29"/>
          <p:cNvSpPr txBox="1"/>
          <p:nvPr/>
        </p:nvSpPr>
        <p:spPr>
          <a:xfrm>
            <a:off x="6995160" y="2779776"/>
            <a:ext cx="2286000" cy="347472"/>
          </a:xfrm>
          <a:prstGeom prst="rect">
            <a:avLst/>
          </a:prstGeom>
          <a:noFill/>
          <a:ln/>
        </p:spPr>
        <p:txBody>
          <a:bodyPr wrap="square" lIns="0" tIns="0" rIns="0" bIns="0" rtlCol="0" anchor="ctr"/>
          <a:lstStyle/>
          <a:p>
            <a:pPr algn="ctr" indent="0" marL="0">
              <a:buNone/>
            </a:pPr>
            <a:r>
              <a:rPr lang="en-US" sz="1150" dirty="0">
                <a:solidFill>
                  <a:srgbClr val="2B2D31"/>
                </a:solidFill>
                <a:latin typeface="맑은 고딕" pitchFamily="34" charset="0"/>
                <a:ea typeface="맑은 고딕" pitchFamily="34" charset="-122"/>
                <a:cs typeface="맑은 고딕" pitchFamily="34" charset="-120"/>
              </a:rPr>
              <a:t>Farwest Corrosion Control</a:t>
            </a:r>
            <a:endParaRPr lang="en-US" sz="1150" dirty="0"/>
          </a:p>
        </p:txBody>
      </p:sp>
      <p:sp>
        <p:nvSpPr>
          <p:cNvPr id="32" name="Shape 30"/>
          <p:cNvSpPr/>
          <p:nvPr/>
        </p:nvSpPr>
        <p:spPr>
          <a:xfrm>
            <a:off x="9390888" y="2779776"/>
            <a:ext cx="1883664" cy="347472"/>
          </a:xfrm>
          <a:prstGeom prst="roundRect">
            <a:avLst>
              <a:gd name="adj" fmla="val 50000"/>
            </a:avLst>
          </a:prstGeom>
          <a:solidFill>
            <a:srgbClr val="FFFFFF"/>
          </a:solidFill>
          <a:ln w="12700">
            <a:solidFill>
              <a:srgbClr val="D9DCE0"/>
            </a:solidFill>
            <a:prstDash val="solid"/>
          </a:ln>
        </p:spPr>
      </p:sp>
      <p:sp>
        <p:nvSpPr>
          <p:cNvPr id="33" name="Text 31"/>
          <p:cNvSpPr txBox="1"/>
          <p:nvPr/>
        </p:nvSpPr>
        <p:spPr>
          <a:xfrm>
            <a:off x="9390888" y="2779776"/>
            <a:ext cx="1883664" cy="347472"/>
          </a:xfrm>
          <a:prstGeom prst="rect">
            <a:avLst/>
          </a:prstGeom>
          <a:noFill/>
          <a:ln/>
        </p:spPr>
        <p:txBody>
          <a:bodyPr wrap="square" lIns="0" tIns="0" rIns="0" bIns="0" rtlCol="0" anchor="ctr"/>
          <a:lstStyle/>
          <a:p>
            <a:pPr algn="ctr" indent="0" marL="0">
              <a:buNone/>
            </a:pPr>
            <a:r>
              <a:rPr lang="en-US" sz="1150" dirty="0">
                <a:solidFill>
                  <a:srgbClr val="2B2D31"/>
                </a:solidFill>
                <a:latin typeface="맑은 고딕" pitchFamily="34" charset="0"/>
                <a:ea typeface="맑은 고딕" pitchFamily="34" charset="-122"/>
                <a:cs typeface="맑은 고딕" pitchFamily="34" charset="-120"/>
              </a:rPr>
              <a:t>American Innovations</a:t>
            </a:r>
            <a:endParaRPr lang="en-US" sz="1150" dirty="0"/>
          </a:p>
        </p:txBody>
      </p:sp>
      <p:sp>
        <p:nvSpPr>
          <p:cNvPr id="34" name="Shape 32"/>
          <p:cNvSpPr/>
          <p:nvPr/>
        </p:nvSpPr>
        <p:spPr>
          <a:xfrm>
            <a:off x="6995160" y="3200400"/>
            <a:ext cx="2205533" cy="347472"/>
          </a:xfrm>
          <a:prstGeom prst="roundRect">
            <a:avLst>
              <a:gd name="adj" fmla="val 50000"/>
            </a:avLst>
          </a:prstGeom>
          <a:solidFill>
            <a:srgbClr val="FFFFFF"/>
          </a:solidFill>
          <a:ln w="12700">
            <a:solidFill>
              <a:srgbClr val="D9DCE0"/>
            </a:solidFill>
            <a:prstDash val="solid"/>
          </a:ln>
        </p:spPr>
      </p:sp>
      <p:sp>
        <p:nvSpPr>
          <p:cNvPr id="35" name="Text 33"/>
          <p:cNvSpPr txBox="1"/>
          <p:nvPr/>
        </p:nvSpPr>
        <p:spPr>
          <a:xfrm>
            <a:off x="6995160" y="3200400"/>
            <a:ext cx="2205533" cy="347472"/>
          </a:xfrm>
          <a:prstGeom prst="rect">
            <a:avLst/>
          </a:prstGeom>
          <a:noFill/>
          <a:ln/>
        </p:spPr>
        <p:txBody>
          <a:bodyPr wrap="square" lIns="0" tIns="0" rIns="0" bIns="0" rtlCol="0" anchor="ctr"/>
          <a:lstStyle/>
          <a:p>
            <a:pPr algn="ctr" indent="0" marL="0">
              <a:buNone/>
            </a:pPr>
            <a:r>
              <a:rPr lang="en-US" sz="1150" dirty="0">
                <a:solidFill>
                  <a:srgbClr val="2B2D31"/>
                </a:solidFill>
                <a:latin typeface="맑은 고딕" pitchFamily="34" charset="0"/>
                <a:ea typeface="맑은 고딕" pitchFamily="34" charset="-122"/>
                <a:cs typeface="맑은 고딕" pitchFamily="34" charset="-120"/>
              </a:rPr>
              <a:t>Brown Corrosion Services</a:t>
            </a:r>
            <a:endParaRPr lang="en-US" sz="1150" dirty="0"/>
          </a:p>
        </p:txBody>
      </p:sp>
      <p:sp>
        <p:nvSpPr>
          <p:cNvPr id="36" name="Shape 34"/>
          <p:cNvSpPr/>
          <p:nvPr/>
        </p:nvSpPr>
        <p:spPr>
          <a:xfrm>
            <a:off x="9310421" y="3200400"/>
            <a:ext cx="1159459" cy="347472"/>
          </a:xfrm>
          <a:prstGeom prst="roundRect">
            <a:avLst>
              <a:gd name="adj" fmla="val 50000"/>
            </a:avLst>
          </a:prstGeom>
          <a:solidFill>
            <a:srgbClr val="FFFFFF"/>
          </a:solidFill>
          <a:ln w="12700">
            <a:solidFill>
              <a:srgbClr val="D9DCE0"/>
            </a:solidFill>
            <a:prstDash val="solid"/>
          </a:ln>
        </p:spPr>
      </p:sp>
      <p:sp>
        <p:nvSpPr>
          <p:cNvPr id="37" name="Text 35"/>
          <p:cNvSpPr txBox="1"/>
          <p:nvPr/>
        </p:nvSpPr>
        <p:spPr>
          <a:xfrm>
            <a:off x="9310421" y="3200400"/>
            <a:ext cx="1159459" cy="347472"/>
          </a:xfrm>
          <a:prstGeom prst="rect">
            <a:avLst/>
          </a:prstGeom>
          <a:noFill/>
          <a:ln/>
        </p:spPr>
        <p:txBody>
          <a:bodyPr wrap="square" lIns="0" tIns="0" rIns="0" bIns="0" rtlCol="0" anchor="ctr"/>
          <a:lstStyle/>
          <a:p>
            <a:pPr algn="ctr" indent="0" marL="0">
              <a:buNone/>
            </a:pPr>
            <a:r>
              <a:rPr lang="en-US" sz="1150" dirty="0">
                <a:solidFill>
                  <a:srgbClr val="2B2D31"/>
                </a:solidFill>
                <a:latin typeface="맑은 고딕" pitchFamily="34" charset="0"/>
                <a:ea typeface="맑은 고딕" pitchFamily="34" charset="-122"/>
                <a:cs typeface="맑은 고딕" pitchFamily="34" charset="-120"/>
              </a:rPr>
              <a:t>HF Sinclair</a:t>
            </a:r>
            <a:endParaRPr lang="en-US" sz="1150" dirty="0"/>
          </a:p>
        </p:txBody>
      </p:sp>
      <p:sp>
        <p:nvSpPr>
          <p:cNvPr id="38" name="Shape 36"/>
          <p:cNvSpPr/>
          <p:nvPr/>
        </p:nvSpPr>
        <p:spPr>
          <a:xfrm>
            <a:off x="6995160" y="3621024"/>
            <a:ext cx="1400861" cy="347472"/>
          </a:xfrm>
          <a:prstGeom prst="roundRect">
            <a:avLst>
              <a:gd name="adj" fmla="val 50000"/>
            </a:avLst>
          </a:prstGeom>
          <a:solidFill>
            <a:srgbClr val="FFFFFF"/>
          </a:solidFill>
          <a:ln w="12700">
            <a:solidFill>
              <a:srgbClr val="D9DCE0"/>
            </a:solidFill>
            <a:prstDash val="solid"/>
          </a:ln>
        </p:spPr>
      </p:sp>
      <p:sp>
        <p:nvSpPr>
          <p:cNvPr id="39" name="Text 37"/>
          <p:cNvSpPr txBox="1"/>
          <p:nvPr/>
        </p:nvSpPr>
        <p:spPr>
          <a:xfrm>
            <a:off x="6995160" y="3621024"/>
            <a:ext cx="1400861" cy="347472"/>
          </a:xfrm>
          <a:prstGeom prst="rect">
            <a:avLst/>
          </a:prstGeom>
          <a:noFill/>
          <a:ln/>
        </p:spPr>
        <p:txBody>
          <a:bodyPr wrap="square" lIns="0" tIns="0" rIns="0" bIns="0" rtlCol="0" anchor="ctr"/>
          <a:lstStyle/>
          <a:p>
            <a:pPr algn="ctr" indent="0" marL="0">
              <a:buNone/>
            </a:pPr>
            <a:r>
              <a:rPr lang="en-US" sz="1150" dirty="0">
                <a:solidFill>
                  <a:srgbClr val="2B2D31"/>
                </a:solidFill>
                <a:latin typeface="맑은 고딕" pitchFamily="34" charset="0"/>
                <a:ea typeface="맑은 고딕" pitchFamily="34" charset="-122"/>
                <a:cs typeface="맑은 고딕" pitchFamily="34" charset="-120"/>
              </a:rPr>
              <a:t>Tinker &amp; Rasor</a:t>
            </a:r>
            <a:endParaRPr lang="en-US" sz="1150" dirty="0"/>
          </a:p>
        </p:txBody>
      </p:sp>
      <p:sp>
        <p:nvSpPr>
          <p:cNvPr id="40" name="Text 38"/>
          <p:cNvSpPr txBox="1"/>
          <p:nvPr/>
        </p:nvSpPr>
        <p:spPr>
          <a:xfrm>
            <a:off x="6995160" y="4206240"/>
            <a:ext cx="640080" cy="411480"/>
          </a:xfrm>
          <a:prstGeom prst="rect">
            <a:avLst/>
          </a:prstGeom>
          <a:noFill/>
          <a:ln/>
        </p:spPr>
        <p:txBody>
          <a:bodyPr wrap="square" lIns="0" tIns="0" rIns="0" bIns="0" rtlCol="0" anchor="ctr"/>
          <a:lstStyle/>
          <a:p>
            <a:pPr indent="0" marL="0">
              <a:buNone/>
            </a:pPr>
            <a:r>
              <a:rPr lang="en-US" sz="2200" b="1" dirty="0">
                <a:solidFill>
                  <a:srgbClr val="1F5F7A"/>
                </a:solidFill>
                <a:latin typeface="맑은 고딕" pitchFamily="34" charset="0"/>
                <a:ea typeface="맑은 고딕" pitchFamily="34" charset="-122"/>
                <a:cs typeface="맑은 고딕" pitchFamily="34" charset="-120"/>
              </a:rPr>
              <a:t>5</a:t>
            </a:r>
            <a:endParaRPr lang="en-US" sz="2200" dirty="0"/>
          </a:p>
        </p:txBody>
      </p:sp>
      <p:sp>
        <p:nvSpPr>
          <p:cNvPr id="41" name="Text 39"/>
          <p:cNvSpPr txBox="1"/>
          <p:nvPr/>
        </p:nvSpPr>
        <p:spPr>
          <a:xfrm>
            <a:off x="7635240" y="4206240"/>
            <a:ext cx="3824935" cy="411480"/>
          </a:xfrm>
          <a:prstGeom prst="rect">
            <a:avLst/>
          </a:prstGeom>
          <a:noFill/>
          <a:ln/>
        </p:spPr>
        <p:txBody>
          <a:bodyPr wrap="square" lIns="0" tIns="0" rIns="0" bIns="0" rtlCol="0" anchor="ctr"/>
          <a:lstStyle/>
          <a:p>
            <a:pPr indent="0" marL="0">
              <a:buNone/>
            </a:pPr>
            <a:r>
              <a:rPr lang="en-US" sz="1300" dirty="0">
                <a:solidFill>
                  <a:srgbClr val="2B2D31"/>
                </a:solidFill>
                <a:latin typeface="맑은 고딕" pitchFamily="34" charset="0"/>
                <a:ea typeface="맑은 고딕" pitchFamily="34" charset="-122"/>
                <a:cs typeface="맑은 고딕" pitchFamily="34" charset="-120"/>
              </a:rPr>
              <a:t>의사결정권자 (CEO · 대표)</a:t>
            </a:r>
            <a:endParaRPr lang="en-US" sz="1300" dirty="0"/>
          </a:p>
        </p:txBody>
      </p:sp>
      <p:sp>
        <p:nvSpPr>
          <p:cNvPr id="42" name="Text 40"/>
          <p:cNvSpPr txBox="1"/>
          <p:nvPr/>
        </p:nvSpPr>
        <p:spPr>
          <a:xfrm>
            <a:off x="6995160" y="4709160"/>
            <a:ext cx="640080" cy="411480"/>
          </a:xfrm>
          <a:prstGeom prst="rect">
            <a:avLst/>
          </a:prstGeom>
          <a:noFill/>
          <a:ln/>
        </p:spPr>
        <p:txBody>
          <a:bodyPr wrap="square" lIns="0" tIns="0" rIns="0" bIns="0" rtlCol="0" anchor="ctr"/>
          <a:lstStyle/>
          <a:p>
            <a:pPr indent="0" marL="0">
              <a:buNone/>
            </a:pPr>
            <a:r>
              <a:rPr lang="en-US" sz="2200" b="1" dirty="0">
                <a:solidFill>
                  <a:srgbClr val="1F5F7A"/>
                </a:solidFill>
                <a:latin typeface="맑은 고딕" pitchFamily="34" charset="0"/>
                <a:ea typeface="맑은 고딕" pitchFamily="34" charset="-122"/>
                <a:cs typeface="맑은 고딕" pitchFamily="34" charset="-120"/>
              </a:rPr>
              <a:t>11</a:t>
            </a:r>
            <a:endParaRPr lang="en-US" sz="2200" dirty="0"/>
          </a:p>
        </p:txBody>
      </p:sp>
      <p:sp>
        <p:nvSpPr>
          <p:cNvPr id="43" name="Text 41"/>
          <p:cNvSpPr txBox="1"/>
          <p:nvPr/>
        </p:nvSpPr>
        <p:spPr>
          <a:xfrm>
            <a:off x="7635240" y="4709160"/>
            <a:ext cx="3824935" cy="411480"/>
          </a:xfrm>
          <a:prstGeom prst="rect">
            <a:avLst/>
          </a:prstGeom>
          <a:noFill/>
          <a:ln/>
        </p:spPr>
        <p:txBody>
          <a:bodyPr wrap="square" lIns="0" tIns="0" rIns="0" bIns="0" rtlCol="0" anchor="ctr"/>
          <a:lstStyle/>
          <a:p>
            <a:pPr indent="0" marL="0">
              <a:buNone/>
            </a:pPr>
            <a:r>
              <a:rPr lang="en-US" sz="1300" dirty="0">
                <a:solidFill>
                  <a:srgbClr val="2B2D31"/>
                </a:solidFill>
                <a:latin typeface="맑은 고딕" pitchFamily="34" charset="0"/>
                <a:ea typeface="맑은 고딕" pitchFamily="34" charset="-122"/>
                <a:cs typeface="맑은 고딕" pitchFamily="34" charset="-120"/>
              </a:rPr>
              <a:t>현장 부식 엔지니어 · 검사원</a:t>
            </a:r>
            <a:endParaRPr lang="en-US" sz="1300" dirty="0"/>
          </a:p>
        </p:txBody>
      </p:sp>
      <p:sp>
        <p:nvSpPr>
          <p:cNvPr id="44" name="Text 42"/>
          <p:cNvSpPr txBox="1"/>
          <p:nvPr/>
        </p:nvSpPr>
        <p:spPr>
          <a:xfrm>
            <a:off x="6995160" y="5212080"/>
            <a:ext cx="640080" cy="411480"/>
          </a:xfrm>
          <a:prstGeom prst="rect">
            <a:avLst/>
          </a:prstGeom>
          <a:noFill/>
          <a:ln/>
        </p:spPr>
        <p:txBody>
          <a:bodyPr wrap="square" lIns="0" tIns="0" rIns="0" bIns="0" rtlCol="0" anchor="ctr"/>
          <a:lstStyle/>
          <a:p>
            <a:pPr indent="0" marL="0">
              <a:buNone/>
            </a:pPr>
            <a:r>
              <a:rPr lang="en-US" sz="2200" b="1" dirty="0">
                <a:solidFill>
                  <a:srgbClr val="1F5F7A"/>
                </a:solidFill>
                <a:latin typeface="맑은 고딕" pitchFamily="34" charset="0"/>
                <a:ea typeface="맑은 고딕" pitchFamily="34" charset="-122"/>
                <a:cs typeface="맑은 고딕" pitchFamily="34" charset="-120"/>
              </a:rPr>
              <a:t>+</a:t>
            </a:r>
            <a:endParaRPr lang="en-US" sz="2200" dirty="0"/>
          </a:p>
        </p:txBody>
      </p:sp>
      <p:sp>
        <p:nvSpPr>
          <p:cNvPr id="45" name="Text 43"/>
          <p:cNvSpPr txBox="1"/>
          <p:nvPr/>
        </p:nvSpPr>
        <p:spPr>
          <a:xfrm>
            <a:off x="7635240" y="5212080"/>
            <a:ext cx="3824935" cy="411480"/>
          </a:xfrm>
          <a:prstGeom prst="rect">
            <a:avLst/>
          </a:prstGeom>
          <a:noFill/>
          <a:ln/>
        </p:spPr>
        <p:txBody>
          <a:bodyPr wrap="square" lIns="0" tIns="0" rIns="0" bIns="0" rtlCol="0" anchor="ctr"/>
          <a:lstStyle/>
          <a:p>
            <a:pPr indent="0" marL="0">
              <a:buNone/>
            </a:pPr>
            <a:r>
              <a:rPr lang="en-US" sz="1300" dirty="0">
                <a:solidFill>
                  <a:srgbClr val="2B2D31"/>
                </a:solidFill>
                <a:latin typeface="맑은 고딕" pitchFamily="34" charset="0"/>
                <a:ea typeface="맑은 고딕" pitchFamily="34" charset="-122"/>
                <a:cs typeface="맑은 고딕" pitchFamily="34" charset="-120"/>
              </a:rPr>
              <a:t>방식(防蝕) 전문 업체 · 엔지니어링 매니저</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indent="0" marL="0">
              <a:buNone/>
            </a:pPr>
            <a:r>
              <a:rPr lang="en-US" sz="1200" b="1" spc="100" kern="0" dirty="0">
                <a:solidFill>
                  <a:srgbClr val="B5501F"/>
                </a:solidFill>
                <a:latin typeface="맑은 고딕" pitchFamily="34" charset="0"/>
                <a:ea typeface="맑은 고딕" pitchFamily="34" charset="-122"/>
                <a:cs typeface="맑은 고딕" pitchFamily="34" charset="-120"/>
              </a:rPr>
              <a:t>WHAT WE LEARNED</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indent="0" marL="0">
              <a:buNone/>
            </a:pPr>
            <a:r>
              <a:rPr lang="en-US" sz="2800" b="1" dirty="0">
                <a:solidFill>
                  <a:srgbClr val="2B2D31"/>
                </a:solidFill>
                <a:latin typeface="맑은 고딕" pitchFamily="34" charset="0"/>
                <a:ea typeface="맑은 고딕" pitchFamily="34" charset="-122"/>
                <a:cs typeface="맑은 고딕" pitchFamily="34" charset="-120"/>
              </a:rPr>
              <a:t>현장이 저희 가설을 바꿨습니다</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indent="0" marL="0">
              <a:buNone/>
            </a:pPr>
            <a:r>
              <a:rPr lang="en-US" sz="900" dirty="0">
                <a:solidFill>
                  <a:srgbClr val="A3A7AD"/>
                </a:solidFill>
                <a:latin typeface="맑은 고딕" pitchFamily="34" charset="0"/>
                <a:ea typeface="맑은 고딕" pitchFamily="34" charset="-122"/>
                <a:cs typeface="맑은 고딕" pitchFamily="34" charset="-120"/>
              </a:rPr>
              <a:t>MLC  ·  Tex-Corps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900" dirty="0">
                <a:solidFill>
                  <a:srgbClr val="A3A7AD"/>
                </a:solidFill>
                <a:latin typeface="맑은 고딕" pitchFamily="34" charset="0"/>
                <a:ea typeface="맑은 고딕" pitchFamily="34" charset="-122"/>
                <a:cs typeface="맑은 고딕" pitchFamily="34" charset="-120"/>
              </a:rPr>
              <a:t>4</a:t>
            </a:r>
            <a:endParaRPr lang="en-US" sz="900" dirty="0"/>
          </a:p>
        </p:txBody>
      </p:sp>
      <p:sp>
        <p:nvSpPr>
          <p:cNvPr id="6" name="Shape 4"/>
          <p:cNvSpPr/>
          <p:nvPr/>
        </p:nvSpPr>
        <p:spPr>
          <a:xfrm>
            <a:off x="548640" y="1417320"/>
            <a:ext cx="5074920" cy="2514600"/>
          </a:xfrm>
          <a:prstGeom prst="roundRect">
            <a:avLst>
              <a:gd name="adj" fmla="val 2909"/>
            </a:avLst>
          </a:prstGeom>
          <a:solidFill>
            <a:srgbClr val="F3F4F6"/>
          </a:solidFill>
          <a:ln w="6350">
            <a:solidFill>
              <a:srgbClr val="F3F4F6"/>
            </a:solidFill>
            <a:prstDash val="solid"/>
          </a:ln>
        </p:spPr>
      </p:sp>
      <p:sp>
        <p:nvSpPr>
          <p:cNvPr id="7" name="Shape 5"/>
          <p:cNvSpPr/>
          <p:nvPr/>
        </p:nvSpPr>
        <p:spPr>
          <a:xfrm>
            <a:off x="868680" y="1691640"/>
            <a:ext cx="1371600" cy="292608"/>
          </a:xfrm>
          <a:prstGeom prst="roundRect">
            <a:avLst>
              <a:gd name="adj" fmla="val 50000"/>
            </a:avLst>
          </a:prstGeom>
          <a:solidFill>
            <a:srgbClr val="A3A7AD"/>
          </a:solidFill>
          <a:ln w="12700">
            <a:solidFill>
              <a:srgbClr val="A3A7AD"/>
            </a:solidFill>
            <a:prstDash val="solid"/>
          </a:ln>
        </p:spPr>
      </p:sp>
      <p:sp>
        <p:nvSpPr>
          <p:cNvPr id="8" name="Text 6"/>
          <p:cNvSpPr txBox="1"/>
          <p:nvPr/>
        </p:nvSpPr>
        <p:spPr>
          <a:xfrm>
            <a:off x="868680" y="1691640"/>
            <a:ext cx="137160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처음 가설</a:t>
            </a:r>
            <a:endParaRPr lang="en-US" sz="1200" dirty="0"/>
          </a:p>
        </p:txBody>
      </p:sp>
      <p:sp>
        <p:nvSpPr>
          <p:cNvPr id="9" name="Text 7"/>
          <p:cNvSpPr txBox="1"/>
          <p:nvPr/>
        </p:nvSpPr>
        <p:spPr>
          <a:xfrm>
            <a:off x="868680" y="2148840"/>
            <a:ext cx="4434840" cy="822960"/>
          </a:xfrm>
          <a:prstGeom prst="rect">
            <a:avLst/>
          </a:prstGeom>
          <a:noFill/>
          <a:ln/>
        </p:spPr>
        <p:txBody>
          <a:bodyPr wrap="square" lIns="0" tIns="0" rIns="0" bIns="0" rtlCol="0" anchor="t"/>
          <a:lstStyle/>
          <a:p>
            <a:pPr indent="0" marL="0">
              <a:buNone/>
            </a:pPr>
            <a:r>
              <a:rPr lang="en-US" sz="1800" b="1" dirty="0">
                <a:solidFill>
                  <a:srgbClr val="6B6F76"/>
                </a:solidFill>
                <a:latin typeface="맑은 고딕" pitchFamily="34" charset="0"/>
                <a:ea typeface="맑은 고딕" pitchFamily="34" charset="-122"/>
                <a:cs typeface="맑은 고딕" pitchFamily="34" charset="-120"/>
              </a:rPr>
              <a:t>검사원마다 부식 판단이 달라</a:t>
            </a:r>
            <a:endParaRPr lang="en-US" sz="1800" dirty="0"/>
          </a:p>
          <a:p>
            <a:pPr indent="0" marL="0">
              <a:buNone/>
            </a:pPr>
            <a:r>
              <a:rPr lang="en-US" sz="1800" b="1" dirty="0">
                <a:solidFill>
                  <a:srgbClr val="6B6F76"/>
                </a:solidFill>
                <a:latin typeface="맑은 고딕" pitchFamily="34" charset="0"/>
                <a:ea typeface="맑은 고딕" pitchFamily="34" charset="-122"/>
                <a:cs typeface="맑은 고딕" pitchFamily="34" charset="-120"/>
              </a:rPr>
              <a:t>'판단 보정' 도구가 필요하다</a:t>
            </a:r>
            <a:endParaRPr lang="en-US" sz="1800" dirty="0"/>
          </a:p>
        </p:txBody>
      </p:sp>
      <p:sp>
        <p:nvSpPr>
          <p:cNvPr id="10" name="Shape 8"/>
          <p:cNvSpPr/>
          <p:nvPr/>
        </p:nvSpPr>
        <p:spPr>
          <a:xfrm>
            <a:off x="868680" y="3154680"/>
            <a:ext cx="457200" cy="457200"/>
          </a:xfrm>
          <a:prstGeom prst="ellipse">
            <a:avLst/>
          </a:prstGeom>
          <a:solidFill>
            <a:srgbClr val="B23A2E"/>
          </a:solidFill>
          <a:ln w="12700">
            <a:solidFill>
              <a:srgbClr val="B23A2E"/>
            </a:solidFill>
            <a:prstDash val="solid"/>
          </a:ln>
        </p:spPr>
      </p:sp>
      <p:pic>
        <p:nvPicPr>
          <p:cNvPr id="11" name="Image 0" descr="preencoded.png">    </p:cNvPr>
          <p:cNvPicPr>
            <a:picLocks noChangeAspect="1"/>
          </p:cNvPicPr>
          <p:nvPr/>
        </p:nvPicPr>
        <p:blipFill>
          <a:blip r:embed="rId1"/>
          <a:stretch>
            <a:fillRect/>
          </a:stretch>
        </p:blipFill>
        <p:spPr>
          <a:xfrm>
            <a:off x="987552" y="3273552"/>
            <a:ext cx="219456" cy="219456"/>
          </a:xfrm>
          <a:prstGeom prst="rect">
            <a:avLst/>
          </a:prstGeom>
        </p:spPr>
      </p:pic>
      <p:sp>
        <p:nvSpPr>
          <p:cNvPr id="12" name="Text 9"/>
          <p:cNvSpPr txBox="1"/>
          <p:nvPr/>
        </p:nvSpPr>
        <p:spPr>
          <a:xfrm>
            <a:off x="1463040" y="3154680"/>
            <a:ext cx="3886200" cy="457200"/>
          </a:xfrm>
          <a:prstGeom prst="rect">
            <a:avLst/>
          </a:prstGeom>
          <a:noFill/>
          <a:ln/>
        </p:spPr>
        <p:txBody>
          <a:bodyPr wrap="square" lIns="0" tIns="0" rIns="0" bIns="0" rtlCol="0" anchor="ctr"/>
          <a:lstStyle/>
          <a:p>
            <a:pPr indent="0" marL="0">
              <a:buNone/>
            </a:pPr>
            <a:r>
              <a:rPr lang="en-US" sz="1400" b="1" dirty="0">
                <a:solidFill>
                  <a:srgbClr val="B23A2E"/>
                </a:solidFill>
                <a:latin typeface="맑은 고딕" pitchFamily="34" charset="0"/>
                <a:ea typeface="맑은 고딕" pitchFamily="34" charset="-122"/>
                <a:cs typeface="맑은 고딕" pitchFamily="34" charset="-120"/>
              </a:rPr>
              <a:t>기각  </a:t>
            </a:r>
            <a:r>
              <a:rPr lang="en-US" sz="1400" dirty="0">
                <a:solidFill>
                  <a:srgbClr val="2B2D31"/>
                </a:solidFill>
                <a:latin typeface="맑은 고딕" pitchFamily="34" charset="0"/>
                <a:ea typeface="맑은 고딕" pitchFamily="34" charset="-122"/>
                <a:cs typeface="맑은 고딕" pitchFamily="34" charset="-120"/>
              </a:rPr>
              <a:t>사내 매뉴얼과 인증 시험으로 이미 해결됨</a:t>
            </a:r>
            <a:endParaRPr lang="en-US" sz="1400" dirty="0"/>
          </a:p>
        </p:txBody>
      </p:sp>
      <p:pic>
        <p:nvPicPr>
          <p:cNvPr id="13" name="Image 1" descr="preencoded.png">    </p:cNvPr>
          <p:cNvPicPr>
            <a:picLocks noChangeAspect="1"/>
          </p:cNvPicPr>
          <p:nvPr/>
        </p:nvPicPr>
        <p:blipFill>
          <a:blip r:embed="rId2"/>
          <a:stretch>
            <a:fillRect/>
          </a:stretch>
        </p:blipFill>
        <p:spPr>
          <a:xfrm>
            <a:off x="5779008" y="2446020"/>
            <a:ext cx="457200" cy="457200"/>
          </a:xfrm>
          <a:prstGeom prst="rect">
            <a:avLst/>
          </a:prstGeom>
        </p:spPr>
      </p:pic>
      <p:sp>
        <p:nvSpPr>
          <p:cNvPr id="14" name="Shape 10"/>
          <p:cNvSpPr/>
          <p:nvPr/>
        </p:nvSpPr>
        <p:spPr>
          <a:xfrm>
            <a:off x="6400800" y="1417320"/>
            <a:ext cx="5242255" cy="2514600"/>
          </a:xfrm>
          <a:prstGeom prst="roundRect">
            <a:avLst>
              <a:gd name="adj" fmla="val 2909"/>
            </a:avLst>
          </a:prstGeom>
          <a:solidFill>
            <a:srgbClr val="FBEDE4"/>
          </a:solidFill>
          <a:ln w="15875">
            <a:solidFill>
              <a:srgbClr val="B5501F"/>
            </a:solidFill>
            <a:prstDash val="solid"/>
          </a:ln>
        </p:spPr>
      </p:sp>
      <p:sp>
        <p:nvSpPr>
          <p:cNvPr id="15" name="Shape 11"/>
          <p:cNvSpPr/>
          <p:nvPr/>
        </p:nvSpPr>
        <p:spPr>
          <a:xfrm>
            <a:off x="6720840" y="1691640"/>
            <a:ext cx="1737360" cy="292608"/>
          </a:xfrm>
          <a:prstGeom prst="roundRect">
            <a:avLst>
              <a:gd name="adj" fmla="val 50000"/>
            </a:avLst>
          </a:prstGeom>
          <a:solidFill>
            <a:srgbClr val="B5501F"/>
          </a:solidFill>
          <a:ln w="12700">
            <a:solidFill>
              <a:srgbClr val="B5501F"/>
            </a:solidFill>
            <a:prstDash val="solid"/>
          </a:ln>
        </p:spPr>
      </p:sp>
      <p:sp>
        <p:nvSpPr>
          <p:cNvPr id="16" name="Text 12"/>
          <p:cNvSpPr txBox="1"/>
          <p:nvPr/>
        </p:nvSpPr>
        <p:spPr>
          <a:xfrm>
            <a:off x="6720840" y="1691640"/>
            <a:ext cx="173736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현장이 원한 것</a:t>
            </a:r>
            <a:endParaRPr lang="en-US" sz="1200" dirty="0"/>
          </a:p>
        </p:txBody>
      </p:sp>
      <p:sp>
        <p:nvSpPr>
          <p:cNvPr id="17" name="Text 13"/>
          <p:cNvSpPr txBox="1"/>
          <p:nvPr/>
        </p:nvSpPr>
        <p:spPr>
          <a:xfrm>
            <a:off x="6720840" y="2148840"/>
            <a:ext cx="4693615" cy="822960"/>
          </a:xfrm>
          <a:prstGeom prst="rect">
            <a:avLst/>
          </a:prstGeom>
          <a:noFill/>
          <a:ln/>
        </p:spPr>
        <p:txBody>
          <a:bodyPr wrap="square" lIns="0" tIns="0" rIns="0" bIns="0" rtlCol="0" anchor="t"/>
          <a:lstStyle/>
          <a:p>
            <a:pPr indent="0" marL="0">
              <a:buNone/>
            </a:pPr>
            <a:r>
              <a:rPr lang="en-US" sz="1800" b="1" dirty="0">
                <a:solidFill>
                  <a:srgbClr val="2B2D31"/>
                </a:solidFill>
                <a:latin typeface="맑은 고딕" pitchFamily="34" charset="0"/>
                <a:ea typeface="맑은 고딕" pitchFamily="34" charset="-122"/>
                <a:cs typeface="맑은 고딕" pitchFamily="34" charset="-120"/>
              </a:rPr>
              <a:t>접근이 어려운 곳을 드론으로 먼저 훑어</a:t>
            </a:r>
            <a:endParaRPr lang="en-US" sz="1800" dirty="0"/>
          </a:p>
          <a:p>
            <a:pPr indent="0" marL="0">
              <a:buNone/>
            </a:pPr>
            <a:r>
              <a:rPr lang="en-US" sz="1800" b="1" dirty="0">
                <a:solidFill>
                  <a:srgbClr val="2B2D31"/>
                </a:solidFill>
                <a:latin typeface="맑은 고딕" pitchFamily="34" charset="0"/>
                <a:ea typeface="맑은 고딕" pitchFamily="34" charset="-122"/>
                <a:cs typeface="맑은 고딕" pitchFamily="34" charset="-120"/>
              </a:rPr>
              <a:t>점검할 곳의 우선순위를 정해 달라</a:t>
            </a:r>
            <a:endParaRPr lang="en-US" sz="1800" dirty="0"/>
          </a:p>
        </p:txBody>
      </p:sp>
      <p:sp>
        <p:nvSpPr>
          <p:cNvPr id="18" name="Shape 14"/>
          <p:cNvSpPr/>
          <p:nvPr/>
        </p:nvSpPr>
        <p:spPr>
          <a:xfrm>
            <a:off x="6720840" y="3154680"/>
            <a:ext cx="457200" cy="457200"/>
          </a:xfrm>
          <a:prstGeom prst="ellipse">
            <a:avLst/>
          </a:prstGeom>
          <a:solidFill>
            <a:srgbClr val="3C8D5A"/>
          </a:solidFill>
          <a:ln w="12700">
            <a:solidFill>
              <a:srgbClr val="3C8D5A"/>
            </a:solidFill>
            <a:prstDash val="solid"/>
          </a:ln>
        </p:spPr>
      </p:sp>
      <p:pic>
        <p:nvPicPr>
          <p:cNvPr id="19" name="Image 2" descr="preencoded.png">    </p:cNvPr>
          <p:cNvPicPr>
            <a:picLocks noChangeAspect="1"/>
          </p:cNvPicPr>
          <p:nvPr/>
        </p:nvPicPr>
        <p:blipFill>
          <a:blip r:embed="rId3"/>
          <a:stretch>
            <a:fillRect/>
          </a:stretch>
        </p:blipFill>
        <p:spPr>
          <a:xfrm>
            <a:off x="6839712" y="3273552"/>
            <a:ext cx="219456" cy="219456"/>
          </a:xfrm>
          <a:prstGeom prst="rect">
            <a:avLst/>
          </a:prstGeom>
        </p:spPr>
      </p:pic>
      <p:sp>
        <p:nvSpPr>
          <p:cNvPr id="20" name="Text 15"/>
          <p:cNvSpPr txBox="1"/>
          <p:nvPr/>
        </p:nvSpPr>
        <p:spPr>
          <a:xfrm>
            <a:off x="7315200" y="3154680"/>
            <a:ext cx="4053535" cy="457200"/>
          </a:xfrm>
          <a:prstGeom prst="rect">
            <a:avLst/>
          </a:prstGeom>
          <a:noFill/>
          <a:ln/>
        </p:spPr>
        <p:txBody>
          <a:bodyPr wrap="square" lIns="0" tIns="0" rIns="0" bIns="0" rtlCol="0" anchor="ctr"/>
          <a:lstStyle/>
          <a:p>
            <a:pPr indent="0" marL="0">
              <a:buNone/>
            </a:pPr>
            <a:r>
              <a:rPr lang="en-US" sz="1400" b="1" dirty="0">
                <a:solidFill>
                  <a:srgbClr val="3C8D5A"/>
                </a:solidFill>
                <a:latin typeface="맑은 고딕" pitchFamily="34" charset="0"/>
                <a:ea typeface="맑은 고딕" pitchFamily="34" charset="-122"/>
                <a:cs typeface="맑은 고딕" pitchFamily="34" charset="-120"/>
              </a:rPr>
              <a:t>검증  </a:t>
            </a:r>
            <a:r>
              <a:rPr lang="en-US" sz="1400" dirty="0">
                <a:solidFill>
                  <a:srgbClr val="2B2D31"/>
                </a:solidFill>
                <a:latin typeface="맑은 고딕" pitchFamily="34" charset="0"/>
                <a:ea typeface="맑은 고딕" pitchFamily="34" charset="-122"/>
                <a:cs typeface="맑은 고딕" pitchFamily="34" charset="-120"/>
              </a:rPr>
              <a:t>리프트 · 로프 액세스 · 선박 일수 절감</a:t>
            </a:r>
            <a:endParaRPr lang="en-US" sz="1400" dirty="0"/>
          </a:p>
        </p:txBody>
      </p:sp>
      <p:sp>
        <p:nvSpPr>
          <p:cNvPr id="21" name="Text 16"/>
          <p:cNvSpPr txBox="1"/>
          <p:nvPr/>
        </p:nvSpPr>
        <p:spPr>
          <a:xfrm>
            <a:off x="548640" y="4251960"/>
            <a:ext cx="3515258" cy="685800"/>
          </a:xfrm>
          <a:prstGeom prst="rect">
            <a:avLst/>
          </a:prstGeom>
          <a:noFill/>
          <a:ln/>
        </p:spPr>
        <p:txBody>
          <a:bodyPr wrap="square" lIns="0" tIns="0" rIns="0" bIns="0" rtlCol="0" anchor="ctr"/>
          <a:lstStyle/>
          <a:p>
            <a:pPr indent="0" marL="0">
              <a:buNone/>
            </a:pPr>
            <a:r>
              <a:rPr lang="en-US" sz="3400" b="1" dirty="0">
                <a:solidFill>
                  <a:srgbClr val="6B6F76"/>
                </a:solidFill>
                <a:latin typeface="맑은 고딕" pitchFamily="34" charset="0"/>
                <a:ea typeface="맑은 고딕" pitchFamily="34" charset="-122"/>
                <a:cs typeface="맑은 고딕" pitchFamily="34" charset="-120"/>
              </a:rPr>
              <a:t>11 / 11</a:t>
            </a:r>
            <a:endParaRPr lang="en-US" sz="3400" dirty="0"/>
          </a:p>
        </p:txBody>
      </p:sp>
      <p:sp>
        <p:nvSpPr>
          <p:cNvPr id="22" name="Text 17"/>
          <p:cNvSpPr txBox="1"/>
          <p:nvPr/>
        </p:nvSpPr>
        <p:spPr>
          <a:xfrm>
            <a:off x="548640" y="4937760"/>
            <a:ext cx="3515258" cy="365760"/>
          </a:xfrm>
          <a:prstGeom prst="rect">
            <a:avLst/>
          </a:prstGeom>
          <a:noFill/>
          <a:ln/>
        </p:spPr>
        <p:txBody>
          <a:bodyPr wrap="square" lIns="0" tIns="0" rIns="0" bIns="0" rtlCol="0" anchor="t"/>
          <a:lstStyle/>
          <a:p>
            <a:pPr indent="0" marL="0">
              <a:buNone/>
            </a:pPr>
            <a:r>
              <a:rPr lang="en-US" sz="1350" dirty="0">
                <a:solidFill>
                  <a:srgbClr val="2B2D31"/>
                </a:solidFill>
                <a:latin typeface="맑은 고딕" pitchFamily="34" charset="0"/>
                <a:ea typeface="맑은 고딕" pitchFamily="34" charset="-122"/>
                <a:cs typeface="맑은 고딕" pitchFamily="34" charset="-120"/>
              </a:rPr>
              <a:t>현장 인력 모두 '판단 보정' 가설 기각</a:t>
            </a:r>
            <a:endParaRPr lang="en-US" sz="1350" dirty="0"/>
          </a:p>
        </p:txBody>
      </p:sp>
      <p:sp>
        <p:nvSpPr>
          <p:cNvPr id="23" name="Text 18"/>
          <p:cNvSpPr txBox="1"/>
          <p:nvPr/>
        </p:nvSpPr>
        <p:spPr>
          <a:xfrm>
            <a:off x="4338218" y="4251960"/>
            <a:ext cx="3515258" cy="685800"/>
          </a:xfrm>
          <a:prstGeom prst="rect">
            <a:avLst/>
          </a:prstGeom>
          <a:noFill/>
          <a:ln/>
        </p:spPr>
        <p:txBody>
          <a:bodyPr wrap="square" lIns="0" tIns="0" rIns="0" bIns="0" rtlCol="0" anchor="ctr"/>
          <a:lstStyle/>
          <a:p>
            <a:pPr indent="0" marL="0">
              <a:buNone/>
            </a:pPr>
            <a:r>
              <a:rPr lang="en-US" sz="3400" b="1" dirty="0">
                <a:solidFill>
                  <a:srgbClr val="B5501F"/>
                </a:solidFill>
                <a:latin typeface="맑은 고딕" pitchFamily="34" charset="0"/>
                <a:ea typeface="맑은 고딕" pitchFamily="34" charset="-122"/>
                <a:cs typeface="맑은 고딕" pitchFamily="34" charset="-120"/>
              </a:rPr>
              <a:t>10 / 11</a:t>
            </a:r>
            <a:endParaRPr lang="en-US" sz="3400" dirty="0"/>
          </a:p>
        </p:txBody>
      </p:sp>
      <p:sp>
        <p:nvSpPr>
          <p:cNvPr id="24" name="Text 19"/>
          <p:cNvSpPr txBox="1"/>
          <p:nvPr/>
        </p:nvSpPr>
        <p:spPr>
          <a:xfrm>
            <a:off x="4338218" y="4937760"/>
            <a:ext cx="3515258" cy="365760"/>
          </a:xfrm>
          <a:prstGeom prst="rect">
            <a:avLst/>
          </a:prstGeom>
          <a:noFill/>
          <a:ln/>
        </p:spPr>
        <p:txBody>
          <a:bodyPr wrap="square" lIns="0" tIns="0" rIns="0" bIns="0" rtlCol="0" anchor="t"/>
          <a:lstStyle/>
          <a:p>
            <a:pPr indent="0" marL="0">
              <a:buNone/>
            </a:pPr>
            <a:r>
              <a:rPr lang="en-US" sz="1350" dirty="0">
                <a:solidFill>
                  <a:srgbClr val="2B2D31"/>
                </a:solidFill>
                <a:latin typeface="맑은 고딕" pitchFamily="34" charset="0"/>
                <a:ea typeface="맑은 고딕" pitchFamily="34" charset="-122"/>
                <a:cs typeface="맑은 고딕" pitchFamily="34" charset="-120"/>
              </a:rPr>
              <a:t>현장 인력이 '드론 사전 스캔' 필요성에 공감</a:t>
            </a:r>
            <a:endParaRPr lang="en-US" sz="1350" dirty="0"/>
          </a:p>
        </p:txBody>
      </p:sp>
      <p:sp>
        <p:nvSpPr>
          <p:cNvPr id="25" name="Text 20"/>
          <p:cNvSpPr txBox="1"/>
          <p:nvPr/>
        </p:nvSpPr>
        <p:spPr>
          <a:xfrm>
            <a:off x="8127797" y="4251960"/>
            <a:ext cx="3515258" cy="685800"/>
          </a:xfrm>
          <a:prstGeom prst="rect">
            <a:avLst/>
          </a:prstGeom>
          <a:noFill/>
          <a:ln/>
        </p:spPr>
        <p:txBody>
          <a:bodyPr wrap="square" lIns="0" tIns="0" rIns="0" bIns="0" rtlCol="0" anchor="ctr"/>
          <a:lstStyle/>
          <a:p>
            <a:pPr indent="0" marL="0">
              <a:buNone/>
            </a:pPr>
            <a:r>
              <a:rPr lang="en-US" sz="3400" b="1" dirty="0">
                <a:solidFill>
                  <a:srgbClr val="B5501F"/>
                </a:solidFill>
                <a:latin typeface="맑은 고딕" pitchFamily="34" charset="0"/>
                <a:ea typeface="맑은 고딕" pitchFamily="34" charset="-122"/>
                <a:cs typeface="맑은 고딕" pitchFamily="34" charset="-120"/>
              </a:rPr>
              <a:t>5 / 5</a:t>
            </a:r>
            <a:endParaRPr lang="en-US" sz="3400" dirty="0"/>
          </a:p>
        </p:txBody>
      </p:sp>
      <p:sp>
        <p:nvSpPr>
          <p:cNvPr id="26" name="Text 21"/>
          <p:cNvSpPr txBox="1"/>
          <p:nvPr/>
        </p:nvSpPr>
        <p:spPr>
          <a:xfrm>
            <a:off x="8127797" y="4937760"/>
            <a:ext cx="3515258" cy="365760"/>
          </a:xfrm>
          <a:prstGeom prst="rect">
            <a:avLst/>
          </a:prstGeom>
          <a:noFill/>
          <a:ln/>
        </p:spPr>
        <p:txBody>
          <a:bodyPr wrap="square" lIns="0" tIns="0" rIns="0" bIns="0" rtlCol="0" anchor="t"/>
          <a:lstStyle/>
          <a:p>
            <a:pPr indent="0" marL="0">
              <a:buNone/>
            </a:pPr>
            <a:r>
              <a:rPr lang="en-US" sz="1350" dirty="0">
                <a:solidFill>
                  <a:srgbClr val="2B2D31"/>
                </a:solidFill>
                <a:latin typeface="맑은 고딕" pitchFamily="34" charset="0"/>
                <a:ea typeface="맑은 고딕" pitchFamily="34" charset="-122"/>
                <a:cs typeface="맑은 고딕" pitchFamily="34" charset="-120"/>
              </a:rPr>
              <a:t>의사결정권자 관심 · 파일럿 조건까지 제시</a:t>
            </a:r>
            <a:endParaRPr lang="en-US" sz="1350" dirty="0"/>
          </a:p>
        </p:txBody>
      </p:sp>
      <p:sp>
        <p:nvSpPr>
          <p:cNvPr id="27" name="Text 22"/>
          <p:cNvSpPr txBox="1"/>
          <p:nvPr/>
        </p:nvSpPr>
        <p:spPr>
          <a:xfrm>
            <a:off x="548640" y="5623560"/>
            <a:ext cx="11094415" cy="274320"/>
          </a:xfrm>
          <a:prstGeom prst="rect">
            <a:avLst/>
          </a:prstGeom>
          <a:noFill/>
          <a:ln/>
        </p:spPr>
        <p:txBody>
          <a:bodyPr wrap="square" lIns="0" tIns="0" rIns="0" bIns="0" rtlCol="0" anchor="t"/>
          <a:lstStyle/>
          <a:p>
            <a:pPr indent="0" marL="0">
              <a:buNone/>
            </a:pPr>
            <a:r>
              <a:rPr lang="en-US" sz="1100" dirty="0">
                <a:solidFill>
                  <a:srgbClr val="A3A7AD"/>
                </a:solidFill>
                <a:latin typeface="맑은 고딕" pitchFamily="34" charset="0"/>
                <a:ea typeface="맑은 고딕" pitchFamily="34" charset="-122"/>
                <a:cs typeface="맑은 고딕" pitchFamily="34" charset="-120"/>
              </a:rPr>
              <a:t>현장 인력 = MISTRAS · Williams 부식 엔지니어 · 검사원 11명 / 의사결정권자 = 해양·에너지 분야 CEO · 대표 5명</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indent="0" marL="0">
              <a:buNone/>
            </a:pPr>
            <a:r>
              <a:rPr lang="en-US" sz="1200" b="1" spc="100" kern="0" dirty="0">
                <a:solidFill>
                  <a:srgbClr val="B5501F"/>
                </a:solidFill>
                <a:latin typeface="맑은 고딕" pitchFamily="34" charset="0"/>
                <a:ea typeface="맑은 고딕" pitchFamily="34" charset="-122"/>
                <a:cs typeface="맑은 고딕" pitchFamily="34" charset="-120"/>
              </a:rPr>
              <a:t>SOLUTION</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indent="0" marL="0">
              <a:buNone/>
            </a:pPr>
            <a:r>
              <a:rPr lang="en-US" sz="2800" b="1" dirty="0">
                <a:solidFill>
                  <a:srgbClr val="2B2D31"/>
                </a:solidFill>
                <a:latin typeface="맑은 고딕" pitchFamily="34" charset="0"/>
                <a:ea typeface="맑은 고딕" pitchFamily="34" charset="-122"/>
                <a:cs typeface="맑은 고딕" pitchFamily="34" charset="-120"/>
              </a:rPr>
              <a:t>찍고, 녹 색으로 위험도를 매기고, 순서를 정합니다</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indent="0" marL="0">
              <a:buNone/>
            </a:pPr>
            <a:r>
              <a:rPr lang="en-US" sz="900" dirty="0">
                <a:solidFill>
                  <a:srgbClr val="A3A7AD"/>
                </a:solidFill>
                <a:latin typeface="맑은 고딕" pitchFamily="34" charset="0"/>
                <a:ea typeface="맑은 고딕" pitchFamily="34" charset="-122"/>
                <a:cs typeface="맑은 고딕" pitchFamily="34" charset="-120"/>
              </a:rPr>
              <a:t>MLC  ·  Tex-Corps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900" dirty="0">
                <a:solidFill>
                  <a:srgbClr val="A3A7AD"/>
                </a:solidFill>
                <a:latin typeface="맑은 고딕" pitchFamily="34" charset="0"/>
                <a:ea typeface="맑은 고딕" pitchFamily="34" charset="-122"/>
                <a:cs typeface="맑은 고딕" pitchFamily="34" charset="-120"/>
              </a:rPr>
              <a:t>5</a:t>
            </a:r>
            <a:endParaRPr lang="en-US" sz="900" dirty="0"/>
          </a:p>
        </p:txBody>
      </p:sp>
      <p:pic>
        <p:nvPicPr>
          <p:cNvPr id="6" name="Image 0" descr="/home/user/PPT/src/img/photo_15.png">    </p:cNvPr>
          <p:cNvPicPr>
            <a:picLocks noChangeAspect="1"/>
          </p:cNvPicPr>
          <p:nvPr/>
        </p:nvPicPr>
        <p:blipFill>
          <a:blip r:embed="rId1"/>
          <a:stretch>
            <a:fillRect/>
          </a:stretch>
        </p:blipFill>
        <p:spPr>
          <a:xfrm>
            <a:off x="548640" y="1463040"/>
            <a:ext cx="2331720" cy="2331720"/>
          </a:xfrm>
          <a:prstGeom prst="rect">
            <a:avLst/>
          </a:prstGeom>
        </p:spPr>
      </p:pic>
      <p:sp>
        <p:nvSpPr>
          <p:cNvPr id="7" name="Shape 4"/>
          <p:cNvSpPr/>
          <p:nvPr/>
        </p:nvSpPr>
        <p:spPr>
          <a:xfrm>
            <a:off x="384048" y="1298448"/>
            <a:ext cx="457200" cy="457200"/>
          </a:xfrm>
          <a:prstGeom prst="ellipse">
            <a:avLst/>
          </a:prstGeom>
          <a:solidFill>
            <a:srgbClr val="B5501F"/>
          </a:solidFill>
          <a:ln w="25400">
            <a:solidFill>
              <a:srgbClr val="FFFFFF"/>
            </a:solidFill>
            <a:prstDash val="solid"/>
          </a:ln>
        </p:spPr>
      </p:sp>
      <p:sp>
        <p:nvSpPr>
          <p:cNvPr id="8" name="Text 5"/>
          <p:cNvSpPr txBox="1"/>
          <p:nvPr/>
        </p:nvSpPr>
        <p:spPr>
          <a:xfrm>
            <a:off x="384048" y="12984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9" name="Text 6"/>
          <p:cNvSpPr txBox="1"/>
          <p:nvPr/>
        </p:nvSpPr>
        <p:spPr>
          <a:xfrm>
            <a:off x="548640" y="3931920"/>
            <a:ext cx="2606040" cy="365760"/>
          </a:xfrm>
          <a:prstGeom prst="rect">
            <a:avLst/>
          </a:prstGeom>
          <a:noFill/>
          <a:ln/>
        </p:spPr>
        <p:txBody>
          <a:bodyPr wrap="square" lIns="0" tIns="0" rIns="0" bIns="0" rtlCol="0" anchor="t"/>
          <a:lstStyle/>
          <a:p>
            <a:pPr indent="0" marL="0">
              <a:buNone/>
            </a:pPr>
            <a:r>
              <a:rPr lang="en-US" sz="1600" b="1" dirty="0">
                <a:solidFill>
                  <a:srgbClr val="2B2D31"/>
                </a:solidFill>
                <a:latin typeface="맑은 고딕" pitchFamily="34" charset="0"/>
                <a:ea typeface="맑은 고딕" pitchFamily="34" charset="-122"/>
                <a:cs typeface="맑은 고딕" pitchFamily="34" charset="-120"/>
              </a:rPr>
              <a:t>드론 · 카메라 사전 스캔</a:t>
            </a:r>
            <a:endParaRPr lang="en-US" sz="1600" dirty="0"/>
          </a:p>
        </p:txBody>
      </p:sp>
      <p:sp>
        <p:nvSpPr>
          <p:cNvPr id="10" name="Text 7"/>
          <p:cNvSpPr txBox="1"/>
          <p:nvPr/>
        </p:nvSpPr>
        <p:spPr>
          <a:xfrm>
            <a:off x="548640" y="4306824"/>
            <a:ext cx="2606040" cy="594360"/>
          </a:xfrm>
          <a:prstGeom prst="rect">
            <a:avLst/>
          </a:prstGeom>
          <a:noFill/>
          <a:ln/>
        </p:spPr>
        <p:txBody>
          <a:bodyPr wrap="square" lIns="0" tIns="0" rIns="0" bIns="0" rtlCol="0" anchor="t"/>
          <a:lstStyle/>
          <a:p>
            <a:pPr indent="0" marL="0">
              <a:buNone/>
            </a:pPr>
            <a:r>
              <a:rPr lang="en-US" sz="1250" dirty="0">
                <a:solidFill>
                  <a:srgbClr val="6B6F76"/>
                </a:solidFill>
                <a:latin typeface="맑은 고딕" pitchFamily="34" charset="0"/>
                <a:ea typeface="맑은 고딕" pitchFamily="34" charset="-122"/>
                <a:cs typeface="맑은 고딕" pitchFamily="34" charset="-120"/>
              </a:rPr>
              <a:t>접근이 어려운 비말대 ·</a:t>
            </a:r>
            <a:endParaRPr lang="en-US" sz="1250" dirty="0"/>
          </a:p>
          <a:p>
            <a:pPr indent="0" marL="0">
              <a:buNone/>
            </a:pPr>
            <a:r>
              <a:rPr lang="en-US" sz="1250" dirty="0">
                <a:solidFill>
                  <a:srgbClr val="6B6F76"/>
                </a:solidFill>
                <a:latin typeface="맑은 고딕" pitchFamily="34" charset="0"/>
                <a:ea typeface="맑은 고딕" pitchFamily="34" charset="-122"/>
                <a:cs typeface="맑은 고딕" pitchFamily="34" charset="-120"/>
              </a:rPr>
              <a:t>고소 구간을 먼저 촬영</a:t>
            </a:r>
            <a:endParaRPr lang="en-US" sz="1250" dirty="0"/>
          </a:p>
        </p:txBody>
      </p:sp>
      <p:pic>
        <p:nvPicPr>
          <p:cNvPr id="11" name="Image 1" descr="preencoded.png">    </p:cNvPr>
          <p:cNvPicPr>
            <a:picLocks noChangeAspect="1"/>
          </p:cNvPicPr>
          <p:nvPr/>
        </p:nvPicPr>
        <p:blipFill>
          <a:blip r:embed="rId2"/>
          <a:stretch>
            <a:fillRect/>
          </a:stretch>
        </p:blipFill>
        <p:spPr>
          <a:xfrm>
            <a:off x="3056077" y="2510028"/>
            <a:ext cx="237744" cy="237744"/>
          </a:xfrm>
          <a:prstGeom prst="rect">
            <a:avLst/>
          </a:prstGeom>
        </p:spPr>
      </p:pic>
      <p:pic>
        <p:nvPicPr>
          <p:cNvPr id="12" name="Image 2" descr="/home/user/PPT/src/img/mask_15.png">    </p:cNvPr>
          <p:cNvPicPr>
            <a:picLocks noChangeAspect="1"/>
          </p:cNvPicPr>
          <p:nvPr/>
        </p:nvPicPr>
        <p:blipFill>
          <a:blip r:embed="rId3"/>
          <a:stretch>
            <a:fillRect/>
          </a:stretch>
        </p:blipFill>
        <p:spPr>
          <a:xfrm>
            <a:off x="3469538" y="1463040"/>
            <a:ext cx="2331720" cy="2331720"/>
          </a:xfrm>
          <a:prstGeom prst="rect">
            <a:avLst/>
          </a:prstGeom>
        </p:spPr>
      </p:pic>
      <p:sp>
        <p:nvSpPr>
          <p:cNvPr id="13" name="Shape 8"/>
          <p:cNvSpPr/>
          <p:nvPr/>
        </p:nvSpPr>
        <p:spPr>
          <a:xfrm>
            <a:off x="3304946" y="1298448"/>
            <a:ext cx="457200" cy="457200"/>
          </a:xfrm>
          <a:prstGeom prst="ellipse">
            <a:avLst/>
          </a:prstGeom>
          <a:solidFill>
            <a:srgbClr val="B5501F"/>
          </a:solidFill>
          <a:ln w="25400">
            <a:solidFill>
              <a:srgbClr val="FFFFFF"/>
            </a:solidFill>
            <a:prstDash val="solid"/>
          </a:ln>
        </p:spPr>
      </p:sp>
      <p:sp>
        <p:nvSpPr>
          <p:cNvPr id="14" name="Text 9"/>
          <p:cNvSpPr txBox="1"/>
          <p:nvPr/>
        </p:nvSpPr>
        <p:spPr>
          <a:xfrm>
            <a:off x="3304946" y="12984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15" name="Text 10"/>
          <p:cNvSpPr txBox="1"/>
          <p:nvPr/>
        </p:nvSpPr>
        <p:spPr>
          <a:xfrm>
            <a:off x="3469538" y="3931920"/>
            <a:ext cx="2606040" cy="365760"/>
          </a:xfrm>
          <a:prstGeom prst="rect">
            <a:avLst/>
          </a:prstGeom>
          <a:noFill/>
          <a:ln/>
        </p:spPr>
        <p:txBody>
          <a:bodyPr wrap="square" lIns="0" tIns="0" rIns="0" bIns="0" rtlCol="0" anchor="t"/>
          <a:lstStyle/>
          <a:p>
            <a:pPr indent="0" marL="0">
              <a:buNone/>
            </a:pPr>
            <a:r>
              <a:rPr lang="en-US" sz="1600" b="1" dirty="0">
                <a:solidFill>
                  <a:srgbClr val="2B2D31"/>
                </a:solidFill>
                <a:latin typeface="맑은 고딕" pitchFamily="34" charset="0"/>
                <a:ea typeface="맑은 고딕" pitchFamily="34" charset="-122"/>
                <a:cs typeface="맑은 고딕" pitchFamily="34" charset="-120"/>
              </a:rPr>
              <a:t>녹 영역 자동 추출</a:t>
            </a:r>
            <a:endParaRPr lang="en-US" sz="1600" dirty="0"/>
          </a:p>
        </p:txBody>
      </p:sp>
      <p:sp>
        <p:nvSpPr>
          <p:cNvPr id="16" name="Text 11"/>
          <p:cNvSpPr txBox="1"/>
          <p:nvPr/>
        </p:nvSpPr>
        <p:spPr>
          <a:xfrm>
            <a:off x="3469538" y="4306824"/>
            <a:ext cx="2606040" cy="594360"/>
          </a:xfrm>
          <a:prstGeom prst="rect">
            <a:avLst/>
          </a:prstGeom>
          <a:noFill/>
          <a:ln/>
        </p:spPr>
        <p:txBody>
          <a:bodyPr wrap="square" lIns="0" tIns="0" rIns="0" bIns="0" rtlCol="0" anchor="t"/>
          <a:lstStyle/>
          <a:p>
            <a:pPr indent="0" marL="0">
              <a:buNone/>
            </a:pPr>
            <a:r>
              <a:rPr lang="en-US" sz="1250" dirty="0">
                <a:solidFill>
                  <a:srgbClr val="6B6F76"/>
                </a:solidFill>
                <a:latin typeface="맑은 고딕" pitchFamily="34" charset="0"/>
                <a:ea typeface="맑은 고딕" pitchFamily="34" charset="-122"/>
                <a:cs typeface="맑은 고딕" pitchFamily="34" charset="-120"/>
              </a:rPr>
              <a:t>녹 픽셀만 골라내</a:t>
            </a:r>
            <a:endParaRPr lang="en-US" sz="1250" dirty="0"/>
          </a:p>
          <a:p>
            <a:pPr indent="0" marL="0">
              <a:buNone/>
            </a:pPr>
            <a:r>
              <a:rPr lang="en-US" sz="1250" dirty="0">
                <a:solidFill>
                  <a:srgbClr val="6B6F76"/>
                </a:solidFill>
                <a:latin typeface="맑은 고딕" pitchFamily="34" charset="0"/>
                <a:ea typeface="맑은 고딕" pitchFamily="34" charset="-122"/>
                <a:cs typeface="맑은 고딕" pitchFamily="34" charset="-120"/>
              </a:rPr>
              <a:t>도장면 · 맨 강재 간섭 제거</a:t>
            </a:r>
            <a:endParaRPr lang="en-US" sz="1250" dirty="0"/>
          </a:p>
        </p:txBody>
      </p:sp>
      <p:pic>
        <p:nvPicPr>
          <p:cNvPr id="17" name="Image 3" descr="preencoded.png">    </p:cNvPr>
          <p:cNvPicPr>
            <a:picLocks noChangeAspect="1"/>
          </p:cNvPicPr>
          <p:nvPr/>
        </p:nvPicPr>
        <p:blipFill>
          <a:blip r:embed="rId4"/>
          <a:stretch>
            <a:fillRect/>
          </a:stretch>
        </p:blipFill>
        <p:spPr>
          <a:xfrm>
            <a:off x="5976976" y="2510028"/>
            <a:ext cx="237744" cy="237744"/>
          </a:xfrm>
          <a:prstGeom prst="rect">
            <a:avLst/>
          </a:prstGeom>
        </p:spPr>
      </p:pic>
      <p:sp>
        <p:nvSpPr>
          <p:cNvPr id="18" name="Shape 12"/>
          <p:cNvSpPr/>
          <p:nvPr/>
        </p:nvSpPr>
        <p:spPr>
          <a:xfrm>
            <a:off x="6390437" y="1463040"/>
            <a:ext cx="2331720" cy="2331720"/>
          </a:xfrm>
          <a:prstGeom prst="rect">
            <a:avLst/>
          </a:prstGeom>
          <a:solidFill>
            <a:srgbClr val="4E3F2F"/>
          </a:solidFill>
          <a:ln w="12700">
            <a:solidFill>
              <a:srgbClr val="D9DCE0"/>
            </a:solidFill>
            <a:prstDash val="solid"/>
          </a:ln>
        </p:spPr>
      </p:sp>
      <p:sp>
        <p:nvSpPr>
          <p:cNvPr id="19" name="Text 13"/>
          <p:cNvSpPr txBox="1"/>
          <p:nvPr/>
        </p:nvSpPr>
        <p:spPr>
          <a:xfrm>
            <a:off x="6390437" y="1965960"/>
            <a:ext cx="2331720" cy="640080"/>
          </a:xfrm>
          <a:prstGeom prst="rect">
            <a:avLst/>
          </a:prstGeom>
          <a:noFill/>
          <a:ln/>
        </p:spPr>
        <p:txBody>
          <a:bodyPr wrap="square" lIns="0" tIns="0" rIns="0" bIns="0" rtlCol="0" anchor="ctr"/>
          <a:lstStyle/>
          <a:p>
            <a:pPr algn="ctr" indent="0" marL="0">
              <a:buNone/>
            </a:pPr>
            <a:r>
              <a:rPr lang="en-US" sz="3000" b="1" dirty="0">
                <a:solidFill>
                  <a:srgbClr val="FFFFFF"/>
                </a:solidFill>
                <a:latin typeface="맑은 고딕" pitchFamily="34" charset="0"/>
                <a:ea typeface="맑은 고딕" pitchFamily="34" charset="-122"/>
                <a:cs typeface="맑은 고딕" pitchFamily="34" charset="-120"/>
              </a:rPr>
              <a:t>b* 12.2</a:t>
            </a:r>
            <a:endParaRPr lang="en-US" sz="3000" dirty="0"/>
          </a:p>
        </p:txBody>
      </p:sp>
      <p:sp>
        <p:nvSpPr>
          <p:cNvPr id="20" name="Shape 14"/>
          <p:cNvSpPr/>
          <p:nvPr/>
        </p:nvSpPr>
        <p:spPr>
          <a:xfrm>
            <a:off x="6801917" y="2834640"/>
            <a:ext cx="1508760" cy="384048"/>
          </a:xfrm>
          <a:prstGeom prst="roundRect">
            <a:avLst>
              <a:gd name="adj" fmla="val 50000"/>
            </a:avLst>
          </a:prstGeom>
          <a:solidFill>
            <a:srgbClr val="3C8D5A"/>
          </a:solidFill>
          <a:ln w="12700">
            <a:solidFill>
              <a:srgbClr val="3C8D5A"/>
            </a:solidFill>
            <a:prstDash val="solid"/>
          </a:ln>
        </p:spPr>
      </p:sp>
      <p:sp>
        <p:nvSpPr>
          <p:cNvPr id="21" name="Text 15"/>
          <p:cNvSpPr txBox="1"/>
          <p:nvPr/>
        </p:nvSpPr>
        <p:spPr>
          <a:xfrm>
            <a:off x="6801917" y="2834640"/>
            <a:ext cx="15087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위험도  중간</a:t>
            </a:r>
            <a:endParaRPr lang="en-US" sz="1300" dirty="0"/>
          </a:p>
        </p:txBody>
      </p:sp>
      <p:sp>
        <p:nvSpPr>
          <p:cNvPr id="22" name="Shape 16"/>
          <p:cNvSpPr/>
          <p:nvPr/>
        </p:nvSpPr>
        <p:spPr>
          <a:xfrm>
            <a:off x="6225845" y="1298448"/>
            <a:ext cx="457200" cy="457200"/>
          </a:xfrm>
          <a:prstGeom prst="ellipse">
            <a:avLst/>
          </a:prstGeom>
          <a:solidFill>
            <a:srgbClr val="B5501F"/>
          </a:solidFill>
          <a:ln w="25400">
            <a:solidFill>
              <a:srgbClr val="FFFFFF"/>
            </a:solidFill>
            <a:prstDash val="solid"/>
          </a:ln>
        </p:spPr>
      </p:sp>
      <p:sp>
        <p:nvSpPr>
          <p:cNvPr id="23" name="Text 17"/>
          <p:cNvSpPr txBox="1"/>
          <p:nvPr/>
        </p:nvSpPr>
        <p:spPr>
          <a:xfrm>
            <a:off x="6225845" y="12984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4" name="Text 18"/>
          <p:cNvSpPr txBox="1"/>
          <p:nvPr/>
        </p:nvSpPr>
        <p:spPr>
          <a:xfrm>
            <a:off x="6390437" y="3931920"/>
            <a:ext cx="2606040" cy="365760"/>
          </a:xfrm>
          <a:prstGeom prst="rect">
            <a:avLst/>
          </a:prstGeom>
          <a:noFill/>
          <a:ln/>
        </p:spPr>
        <p:txBody>
          <a:bodyPr wrap="square" lIns="0" tIns="0" rIns="0" bIns="0" rtlCol="0" anchor="t"/>
          <a:lstStyle/>
          <a:p>
            <a:pPr indent="0" marL="0">
              <a:buNone/>
            </a:pPr>
            <a:r>
              <a:rPr lang="en-US" sz="1600" b="1" dirty="0">
                <a:solidFill>
                  <a:srgbClr val="2B2D31"/>
                </a:solidFill>
                <a:latin typeface="맑은 고딕" pitchFamily="34" charset="0"/>
                <a:ea typeface="맑은 고딕" pitchFamily="34" charset="-122"/>
                <a:cs typeface="맑은 고딕" pitchFamily="34" charset="-120"/>
              </a:rPr>
              <a:t>색 분석 → 위험도</a:t>
            </a:r>
            <a:endParaRPr lang="en-US" sz="1600" dirty="0"/>
          </a:p>
        </p:txBody>
      </p:sp>
      <p:sp>
        <p:nvSpPr>
          <p:cNvPr id="25" name="Text 19"/>
          <p:cNvSpPr txBox="1"/>
          <p:nvPr/>
        </p:nvSpPr>
        <p:spPr>
          <a:xfrm>
            <a:off x="6390437" y="4306824"/>
            <a:ext cx="2606040" cy="594360"/>
          </a:xfrm>
          <a:prstGeom prst="rect">
            <a:avLst/>
          </a:prstGeom>
          <a:noFill/>
          <a:ln/>
        </p:spPr>
        <p:txBody>
          <a:bodyPr wrap="square" lIns="0" tIns="0" rIns="0" bIns="0" rtlCol="0" anchor="t"/>
          <a:lstStyle/>
          <a:p>
            <a:pPr indent="0" marL="0">
              <a:buNone/>
            </a:pPr>
            <a:r>
              <a:rPr lang="en-US" sz="1250" dirty="0">
                <a:solidFill>
                  <a:srgbClr val="6B6F76"/>
                </a:solidFill>
                <a:latin typeface="맑은 고딕" pitchFamily="34" charset="0"/>
                <a:ea typeface="맑은 고딕" pitchFamily="34" charset="-122"/>
                <a:cs typeface="맑은 고딕" pitchFamily="34" charset="-120"/>
              </a:rPr>
              <a:t>녹의 노란 정도(b*)로</a:t>
            </a:r>
            <a:endParaRPr lang="en-US" sz="1250" dirty="0"/>
          </a:p>
          <a:p>
            <a:pPr indent="0" marL="0">
              <a:buNone/>
            </a:pPr>
            <a:r>
              <a:rPr lang="en-US" sz="1250" dirty="0">
                <a:solidFill>
                  <a:srgbClr val="6B6F76"/>
                </a:solidFill>
                <a:latin typeface="맑은 고딕" pitchFamily="34" charset="0"/>
                <a:ea typeface="맑은 고딕" pitchFamily="34" charset="-122"/>
                <a:cs typeface="맑은 고딕" pitchFamily="34" charset="-120"/>
              </a:rPr>
              <a:t>부식 속도 구간 판정</a:t>
            </a:r>
            <a:endParaRPr lang="en-US" sz="1250" dirty="0"/>
          </a:p>
        </p:txBody>
      </p:sp>
      <p:pic>
        <p:nvPicPr>
          <p:cNvPr id="26" name="Image 4" descr="preencoded.png">    </p:cNvPr>
          <p:cNvPicPr>
            <a:picLocks noChangeAspect="1"/>
          </p:cNvPicPr>
          <p:nvPr/>
        </p:nvPicPr>
        <p:blipFill>
          <a:blip r:embed="rId5"/>
          <a:stretch>
            <a:fillRect/>
          </a:stretch>
        </p:blipFill>
        <p:spPr>
          <a:xfrm>
            <a:off x="8897874" y="2510028"/>
            <a:ext cx="237744" cy="237744"/>
          </a:xfrm>
          <a:prstGeom prst="rect">
            <a:avLst/>
          </a:prstGeom>
        </p:spPr>
      </p:pic>
      <p:sp>
        <p:nvSpPr>
          <p:cNvPr id="27" name="Shape 20"/>
          <p:cNvSpPr/>
          <p:nvPr/>
        </p:nvSpPr>
        <p:spPr>
          <a:xfrm>
            <a:off x="9311335" y="1463040"/>
            <a:ext cx="2331720" cy="2331720"/>
          </a:xfrm>
          <a:prstGeom prst="roundRect">
            <a:avLst>
              <a:gd name="adj" fmla="val 3137"/>
            </a:avLst>
          </a:prstGeom>
          <a:solidFill>
            <a:srgbClr val="F3F4F6"/>
          </a:solidFill>
          <a:ln w="6350">
            <a:solidFill>
              <a:srgbClr val="F3F4F6"/>
            </a:solidFill>
            <a:prstDash val="solid"/>
          </a:ln>
        </p:spPr>
      </p:sp>
      <p:sp>
        <p:nvSpPr>
          <p:cNvPr id="28" name="Shape 21"/>
          <p:cNvSpPr/>
          <p:nvPr/>
        </p:nvSpPr>
        <p:spPr>
          <a:xfrm>
            <a:off x="9475927" y="1691640"/>
            <a:ext cx="2002536" cy="566928"/>
          </a:xfrm>
          <a:prstGeom prst="roundRect">
            <a:avLst>
              <a:gd name="adj" fmla="val 9677"/>
            </a:avLst>
          </a:prstGeom>
          <a:solidFill>
            <a:srgbClr val="B23A2E"/>
          </a:solidFill>
          <a:ln w="12700">
            <a:solidFill>
              <a:srgbClr val="B23A2E"/>
            </a:solidFill>
            <a:prstDash val="solid"/>
          </a:ln>
        </p:spPr>
      </p:sp>
      <p:sp>
        <p:nvSpPr>
          <p:cNvPr id="29" name="Text 22"/>
          <p:cNvSpPr txBox="1"/>
          <p:nvPr/>
        </p:nvSpPr>
        <p:spPr>
          <a:xfrm>
            <a:off x="9603943" y="1691640"/>
            <a:ext cx="1783080" cy="566928"/>
          </a:xfrm>
          <a:prstGeom prst="rect">
            <a:avLst/>
          </a:prstGeom>
          <a:noFill/>
          <a:ln/>
        </p:spPr>
        <p:txBody>
          <a:bodyPr wrap="square" lIns="0" tIns="0" rIns="0" bIns="0"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1. A-07  </a:t>
            </a:r>
            <a:r>
              <a:rPr lang="en-US" sz="1300" b="1" dirty="0">
                <a:solidFill>
                  <a:srgbClr val="FFFFFF"/>
                </a:solidFill>
                <a:latin typeface="맑은 고딕" pitchFamily="34" charset="0"/>
                <a:ea typeface="맑은 고딕" pitchFamily="34" charset="-122"/>
                <a:cs typeface="맑은 고딕" pitchFamily="34" charset="-120"/>
              </a:rPr>
              <a:t>높음</a:t>
            </a:r>
            <a:endParaRPr lang="en-US" sz="1300" dirty="0"/>
          </a:p>
          <a:p>
            <a:pPr indent="0" marL="0">
              <a:buNone/>
            </a:pPr>
            <a:r>
              <a:rPr lang="en-US" sz="1050" dirty="0">
                <a:solidFill>
                  <a:srgbClr val="FFFFFF"/>
                </a:solidFill>
                <a:latin typeface="맑은 고딕" pitchFamily="34" charset="0"/>
                <a:ea typeface="맑은 고딕" pitchFamily="34" charset="-122"/>
                <a:cs typeface="맑은 고딕" pitchFamily="34" charset="-120"/>
              </a:rPr>
              <a:t>이번 주 점검</a:t>
            </a:r>
            <a:endParaRPr lang="en-US" sz="1300" dirty="0"/>
          </a:p>
        </p:txBody>
      </p:sp>
      <p:sp>
        <p:nvSpPr>
          <p:cNvPr id="30" name="Shape 23"/>
          <p:cNvSpPr/>
          <p:nvPr/>
        </p:nvSpPr>
        <p:spPr>
          <a:xfrm>
            <a:off x="9475927" y="2377440"/>
            <a:ext cx="2002536" cy="566928"/>
          </a:xfrm>
          <a:prstGeom prst="roundRect">
            <a:avLst>
              <a:gd name="adj" fmla="val 9677"/>
            </a:avLst>
          </a:prstGeom>
          <a:solidFill>
            <a:srgbClr val="FFFFFF"/>
          </a:solidFill>
          <a:ln w="12700">
            <a:solidFill>
              <a:srgbClr val="3C8D5A"/>
            </a:solidFill>
            <a:prstDash val="solid"/>
          </a:ln>
        </p:spPr>
      </p:sp>
      <p:sp>
        <p:nvSpPr>
          <p:cNvPr id="31" name="Text 24"/>
          <p:cNvSpPr txBox="1"/>
          <p:nvPr/>
        </p:nvSpPr>
        <p:spPr>
          <a:xfrm>
            <a:off x="9603943" y="2377440"/>
            <a:ext cx="1783080" cy="566928"/>
          </a:xfrm>
          <a:prstGeom prst="rect">
            <a:avLst/>
          </a:prstGeom>
          <a:noFill/>
          <a:ln/>
        </p:spPr>
        <p:txBody>
          <a:bodyPr wrap="square" lIns="0" tIns="0" rIns="0" bIns="0" rtlCol="0" anchor="ctr"/>
          <a:lstStyle/>
          <a:p>
            <a:pPr indent="0" marL="0">
              <a:buNone/>
            </a:pPr>
            <a:r>
              <a:rPr lang="en-US" sz="1300" b="1" dirty="0">
                <a:solidFill>
                  <a:srgbClr val="2B2D31"/>
                </a:solidFill>
                <a:latin typeface="맑은 고딕" pitchFamily="34" charset="0"/>
                <a:ea typeface="맑은 고딕" pitchFamily="34" charset="-122"/>
                <a:cs typeface="맑은 고딕" pitchFamily="34" charset="-120"/>
              </a:rPr>
              <a:t>2. C-12  </a:t>
            </a:r>
            <a:r>
              <a:rPr lang="en-US" sz="1300" b="1" dirty="0">
                <a:solidFill>
                  <a:srgbClr val="3C8D5A"/>
                </a:solidFill>
                <a:latin typeface="맑은 고딕" pitchFamily="34" charset="0"/>
                <a:ea typeface="맑은 고딕" pitchFamily="34" charset="-122"/>
                <a:cs typeface="맑은 고딕" pitchFamily="34" charset="-120"/>
              </a:rPr>
              <a:t>중간</a:t>
            </a:r>
            <a:endParaRPr lang="en-US" sz="1300" dirty="0"/>
          </a:p>
          <a:p>
            <a:pPr indent="0" marL="0">
              <a:buNone/>
            </a:pPr>
            <a:r>
              <a:rPr lang="en-US" sz="1050" dirty="0">
                <a:solidFill>
                  <a:srgbClr val="6B6F76"/>
                </a:solidFill>
                <a:latin typeface="맑은 고딕" pitchFamily="34" charset="0"/>
                <a:ea typeface="맑은 고딕" pitchFamily="34" charset="-122"/>
                <a:cs typeface="맑은 고딕" pitchFamily="34" charset="-120"/>
              </a:rPr>
              <a:t>이번 주기 내</a:t>
            </a:r>
            <a:endParaRPr lang="en-US" sz="1300" dirty="0"/>
          </a:p>
        </p:txBody>
      </p:sp>
      <p:sp>
        <p:nvSpPr>
          <p:cNvPr id="32" name="Shape 25"/>
          <p:cNvSpPr/>
          <p:nvPr/>
        </p:nvSpPr>
        <p:spPr>
          <a:xfrm>
            <a:off x="9475927" y="3063240"/>
            <a:ext cx="2002536" cy="566928"/>
          </a:xfrm>
          <a:prstGeom prst="roundRect">
            <a:avLst>
              <a:gd name="adj" fmla="val 9677"/>
            </a:avLst>
          </a:prstGeom>
          <a:solidFill>
            <a:srgbClr val="FFFFFF"/>
          </a:solidFill>
          <a:ln w="12700">
            <a:solidFill>
              <a:srgbClr val="3A6EA5"/>
            </a:solidFill>
            <a:prstDash val="solid"/>
          </a:ln>
        </p:spPr>
      </p:sp>
      <p:sp>
        <p:nvSpPr>
          <p:cNvPr id="33" name="Text 26"/>
          <p:cNvSpPr txBox="1"/>
          <p:nvPr/>
        </p:nvSpPr>
        <p:spPr>
          <a:xfrm>
            <a:off x="9603943" y="3063240"/>
            <a:ext cx="1783080" cy="566928"/>
          </a:xfrm>
          <a:prstGeom prst="rect">
            <a:avLst/>
          </a:prstGeom>
          <a:noFill/>
          <a:ln/>
        </p:spPr>
        <p:txBody>
          <a:bodyPr wrap="square" lIns="0" tIns="0" rIns="0" bIns="0" rtlCol="0" anchor="ctr"/>
          <a:lstStyle/>
          <a:p>
            <a:pPr indent="0" marL="0">
              <a:buNone/>
            </a:pPr>
            <a:r>
              <a:rPr lang="en-US" sz="1300" b="1" dirty="0">
                <a:solidFill>
                  <a:srgbClr val="2B2D31"/>
                </a:solidFill>
                <a:latin typeface="맑은 고딕" pitchFamily="34" charset="0"/>
                <a:ea typeface="맑은 고딕" pitchFamily="34" charset="-122"/>
                <a:cs typeface="맑은 고딕" pitchFamily="34" charset="-120"/>
              </a:rPr>
              <a:t>3. B-03  </a:t>
            </a:r>
            <a:r>
              <a:rPr lang="en-US" sz="1300" b="1" dirty="0">
                <a:solidFill>
                  <a:srgbClr val="3A6EA5"/>
                </a:solidFill>
                <a:latin typeface="맑은 고딕" pitchFamily="34" charset="0"/>
                <a:ea typeface="맑은 고딕" pitchFamily="34" charset="-122"/>
                <a:cs typeface="맑은 고딕" pitchFamily="34" charset="-120"/>
              </a:rPr>
              <a:t>낮음</a:t>
            </a:r>
            <a:endParaRPr lang="en-US" sz="1300" dirty="0"/>
          </a:p>
          <a:p>
            <a:pPr indent="0" marL="0">
              <a:buNone/>
            </a:pPr>
            <a:r>
              <a:rPr lang="en-US" sz="1050" dirty="0">
                <a:solidFill>
                  <a:srgbClr val="6B6F76"/>
                </a:solidFill>
                <a:latin typeface="맑은 고딕" pitchFamily="34" charset="0"/>
                <a:ea typeface="맑은 고딕" pitchFamily="34" charset="-122"/>
                <a:cs typeface="맑은 고딕" pitchFamily="34" charset="-120"/>
              </a:rPr>
              <a:t>다음 주기</a:t>
            </a:r>
            <a:endParaRPr lang="en-US" sz="1300" dirty="0"/>
          </a:p>
        </p:txBody>
      </p:sp>
      <p:sp>
        <p:nvSpPr>
          <p:cNvPr id="34" name="Shape 27"/>
          <p:cNvSpPr/>
          <p:nvPr/>
        </p:nvSpPr>
        <p:spPr>
          <a:xfrm>
            <a:off x="9146743" y="1298448"/>
            <a:ext cx="457200" cy="457200"/>
          </a:xfrm>
          <a:prstGeom prst="ellipse">
            <a:avLst/>
          </a:prstGeom>
          <a:solidFill>
            <a:srgbClr val="B5501F"/>
          </a:solidFill>
          <a:ln w="25400">
            <a:solidFill>
              <a:srgbClr val="FFFFFF"/>
            </a:solidFill>
            <a:prstDash val="solid"/>
          </a:ln>
        </p:spPr>
      </p:sp>
      <p:sp>
        <p:nvSpPr>
          <p:cNvPr id="35" name="Text 28"/>
          <p:cNvSpPr txBox="1"/>
          <p:nvPr/>
        </p:nvSpPr>
        <p:spPr>
          <a:xfrm>
            <a:off x="9146743" y="12984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36" name="Text 29"/>
          <p:cNvSpPr txBox="1"/>
          <p:nvPr/>
        </p:nvSpPr>
        <p:spPr>
          <a:xfrm>
            <a:off x="9311335" y="3931920"/>
            <a:ext cx="2606040" cy="365760"/>
          </a:xfrm>
          <a:prstGeom prst="rect">
            <a:avLst/>
          </a:prstGeom>
          <a:noFill/>
          <a:ln/>
        </p:spPr>
        <p:txBody>
          <a:bodyPr wrap="square" lIns="0" tIns="0" rIns="0" bIns="0" rtlCol="0" anchor="t"/>
          <a:lstStyle/>
          <a:p>
            <a:pPr indent="0" marL="0">
              <a:buNone/>
            </a:pPr>
            <a:r>
              <a:rPr lang="en-US" sz="1600" b="1" dirty="0">
                <a:solidFill>
                  <a:srgbClr val="2B2D31"/>
                </a:solidFill>
                <a:latin typeface="맑은 고딕" pitchFamily="34" charset="0"/>
                <a:ea typeface="맑은 고딕" pitchFamily="34" charset="-122"/>
                <a:cs typeface="맑은 고딕" pitchFamily="34" charset="-120"/>
              </a:rPr>
              <a:t>점검 우선순위 리포트</a:t>
            </a:r>
            <a:endParaRPr lang="en-US" sz="1600" dirty="0"/>
          </a:p>
        </p:txBody>
      </p:sp>
      <p:sp>
        <p:nvSpPr>
          <p:cNvPr id="37" name="Text 30"/>
          <p:cNvSpPr txBox="1"/>
          <p:nvPr/>
        </p:nvSpPr>
        <p:spPr>
          <a:xfrm>
            <a:off x="9311335" y="4306824"/>
            <a:ext cx="2606040" cy="594360"/>
          </a:xfrm>
          <a:prstGeom prst="rect">
            <a:avLst/>
          </a:prstGeom>
          <a:noFill/>
          <a:ln/>
        </p:spPr>
        <p:txBody>
          <a:bodyPr wrap="square" lIns="0" tIns="0" rIns="0" bIns="0" rtlCol="0" anchor="t"/>
          <a:lstStyle/>
          <a:p>
            <a:pPr indent="0" marL="0">
              <a:buNone/>
            </a:pPr>
            <a:r>
              <a:rPr lang="en-US" sz="1250" dirty="0">
                <a:solidFill>
                  <a:srgbClr val="6B6F76"/>
                </a:solidFill>
                <a:latin typeface="맑은 고딕" pitchFamily="34" charset="0"/>
                <a:ea typeface="맑은 고딕" pitchFamily="34" charset="-122"/>
                <a:cs typeface="맑은 고딕" pitchFamily="34" charset="-120"/>
              </a:rPr>
              <a:t>가까이 볼 곳부터</a:t>
            </a:r>
            <a:endParaRPr lang="en-US" sz="1250" dirty="0"/>
          </a:p>
          <a:p>
            <a:pPr indent="0" marL="0">
              <a:buNone/>
            </a:pPr>
            <a:r>
              <a:rPr lang="en-US" sz="1250" dirty="0">
                <a:solidFill>
                  <a:srgbClr val="6B6F76"/>
                </a:solidFill>
                <a:latin typeface="맑은 고딕" pitchFamily="34" charset="0"/>
                <a:ea typeface="맑은 고딕" pitchFamily="34" charset="-122"/>
                <a:cs typeface="맑은 고딕" pitchFamily="34" charset="-120"/>
              </a:rPr>
              <a:t>사람 · 배 · 리프트 배치</a:t>
            </a:r>
            <a:endParaRPr lang="en-US" sz="1250" dirty="0"/>
          </a:p>
        </p:txBody>
      </p:sp>
      <p:sp>
        <p:nvSpPr>
          <p:cNvPr id="38" name="Shape 31"/>
          <p:cNvSpPr/>
          <p:nvPr/>
        </p:nvSpPr>
        <p:spPr>
          <a:xfrm>
            <a:off x="548640" y="5669280"/>
            <a:ext cx="3606698" cy="438912"/>
          </a:xfrm>
          <a:prstGeom prst="roundRect">
            <a:avLst>
              <a:gd name="adj" fmla="val 50000"/>
            </a:avLst>
          </a:prstGeom>
          <a:solidFill>
            <a:srgbClr val="2B2D31"/>
          </a:solidFill>
          <a:ln w="12700">
            <a:solidFill>
              <a:srgbClr val="2B2D31"/>
            </a:solidFill>
            <a:prstDash val="solid"/>
          </a:ln>
        </p:spPr>
      </p:sp>
      <p:sp>
        <p:nvSpPr>
          <p:cNvPr id="39" name="Text 32"/>
          <p:cNvSpPr txBox="1"/>
          <p:nvPr/>
        </p:nvSpPr>
        <p:spPr>
          <a:xfrm>
            <a:off x="548640" y="5669280"/>
            <a:ext cx="3606698"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점검 주기는 그대로, 자원 배치만 최적화</a:t>
            </a:r>
            <a:endParaRPr lang="en-US" sz="1300" dirty="0"/>
          </a:p>
        </p:txBody>
      </p:sp>
      <p:sp>
        <p:nvSpPr>
          <p:cNvPr id="40" name="Shape 33"/>
          <p:cNvSpPr/>
          <p:nvPr/>
        </p:nvSpPr>
        <p:spPr>
          <a:xfrm>
            <a:off x="4292498" y="5669280"/>
            <a:ext cx="3606698" cy="438912"/>
          </a:xfrm>
          <a:prstGeom prst="roundRect">
            <a:avLst>
              <a:gd name="adj" fmla="val 50000"/>
            </a:avLst>
          </a:prstGeom>
          <a:solidFill>
            <a:srgbClr val="2B2D31"/>
          </a:solidFill>
          <a:ln w="12700">
            <a:solidFill>
              <a:srgbClr val="2B2D31"/>
            </a:solidFill>
            <a:prstDash val="solid"/>
          </a:ln>
        </p:spPr>
      </p:sp>
      <p:sp>
        <p:nvSpPr>
          <p:cNvPr id="41" name="Text 34"/>
          <p:cNvSpPr txBox="1"/>
          <p:nvPr/>
        </p:nvSpPr>
        <p:spPr>
          <a:xfrm>
            <a:off x="4292498" y="5669280"/>
            <a:ext cx="3606698"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로프 액세스 출동 여부 판단</a:t>
            </a:r>
            <a:endParaRPr lang="en-US" sz="1300" dirty="0"/>
          </a:p>
        </p:txBody>
      </p:sp>
      <p:sp>
        <p:nvSpPr>
          <p:cNvPr id="42" name="Shape 35"/>
          <p:cNvSpPr/>
          <p:nvPr/>
        </p:nvSpPr>
        <p:spPr>
          <a:xfrm>
            <a:off x="8036357" y="5669280"/>
            <a:ext cx="3606698" cy="438912"/>
          </a:xfrm>
          <a:prstGeom prst="roundRect">
            <a:avLst>
              <a:gd name="adj" fmla="val 50000"/>
            </a:avLst>
          </a:prstGeom>
          <a:solidFill>
            <a:srgbClr val="2B2D31"/>
          </a:solidFill>
          <a:ln w="12700">
            <a:solidFill>
              <a:srgbClr val="2B2D31"/>
            </a:solidFill>
            <a:prstDash val="solid"/>
          </a:ln>
        </p:spPr>
      </p:sp>
      <p:sp>
        <p:nvSpPr>
          <p:cNvPr id="43" name="Text 36"/>
          <p:cNvSpPr txBox="1"/>
          <p:nvPr/>
        </p:nvSpPr>
        <p:spPr>
          <a:xfrm>
            <a:off x="8036357" y="5669280"/>
            <a:ext cx="3606698"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개인 판단이 아닌 데이터 리포트</a:t>
            </a:r>
            <a:endParaRPr lang="en-US" sz="1300" dirty="0"/>
          </a:p>
        </p:txBody>
      </p:sp>
      <p:sp>
        <p:nvSpPr>
          <p:cNvPr id="44" name="Text 37"/>
          <p:cNvSpPr txBox="1"/>
          <p:nvPr/>
        </p:nvSpPr>
        <p:spPr>
          <a:xfrm>
            <a:off x="9311335" y="1051560"/>
            <a:ext cx="2331720" cy="228600"/>
          </a:xfrm>
          <a:prstGeom prst="rect">
            <a:avLst/>
          </a:prstGeom>
          <a:noFill/>
          <a:ln/>
        </p:spPr>
        <p:txBody>
          <a:bodyPr wrap="square" lIns="0" tIns="0" rIns="0" bIns="0" rtlCol="0" anchor="t"/>
          <a:lstStyle/>
          <a:p>
            <a:pPr algn="r" indent="0" marL="0">
              <a:buNone/>
            </a:pPr>
            <a:r>
              <a:rPr lang="en-US" sz="1000" i="1" dirty="0">
                <a:solidFill>
                  <a:srgbClr val="A3A7AD"/>
                </a:solidFill>
                <a:latin typeface="맑은 고딕" pitchFamily="34" charset="0"/>
                <a:ea typeface="맑은 고딕" pitchFamily="34" charset="-122"/>
                <a:cs typeface="맑은 고딕" pitchFamily="34" charset="-120"/>
              </a:rPr>
              <a:t>예시 화면 (개념도)</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indent="0" marL="0">
              <a:buNone/>
            </a:pPr>
            <a:r>
              <a:rPr lang="en-US" sz="1200" b="1" spc="100" kern="0" dirty="0">
                <a:solidFill>
                  <a:srgbClr val="B5501F"/>
                </a:solidFill>
                <a:latin typeface="맑은 고딕" pitchFamily="34" charset="0"/>
                <a:ea typeface="맑은 고딕" pitchFamily="34" charset="-122"/>
                <a:cs typeface="맑은 고딕" pitchFamily="34" charset="-120"/>
              </a:rPr>
              <a:t>TECHNOLOGY  ·  실험실 검증</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indent="0" marL="0">
              <a:buNone/>
            </a:pPr>
            <a:r>
              <a:rPr lang="en-US" sz="2800" b="1" dirty="0">
                <a:solidFill>
                  <a:srgbClr val="2B2D31"/>
                </a:solidFill>
                <a:latin typeface="맑은 고딕" pitchFamily="34" charset="0"/>
                <a:ea typeface="맑은 고딕" pitchFamily="34" charset="-122"/>
                <a:cs typeface="맑은 고딕" pitchFamily="34" charset="-120"/>
              </a:rPr>
              <a:t>녹의 '노란 정도'가 부식 속도를 따라갑니다</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indent="0" marL="0">
              <a:buNone/>
            </a:pPr>
            <a:r>
              <a:rPr lang="en-US" sz="900" dirty="0">
                <a:solidFill>
                  <a:srgbClr val="A3A7AD"/>
                </a:solidFill>
                <a:latin typeface="맑은 고딕" pitchFamily="34" charset="0"/>
                <a:ea typeface="맑은 고딕" pitchFamily="34" charset="-122"/>
                <a:cs typeface="맑은 고딕" pitchFamily="34" charset="-120"/>
              </a:rPr>
              <a:t>MLC  ·  Tex-Corps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900" dirty="0">
                <a:solidFill>
                  <a:srgbClr val="A3A7AD"/>
                </a:solidFill>
                <a:latin typeface="맑은 고딕" pitchFamily="34" charset="0"/>
                <a:ea typeface="맑은 고딕" pitchFamily="34" charset="-122"/>
                <a:cs typeface="맑은 고딕" pitchFamily="34" charset="-120"/>
              </a:rPr>
              <a:t>6</a:t>
            </a:r>
            <a:endParaRPr lang="en-US" sz="900" dirty="0"/>
          </a:p>
        </p:txBody>
      </p:sp>
      <p:sp>
        <p:nvSpPr>
          <p:cNvPr id="6" name="Shape 4"/>
          <p:cNvSpPr/>
          <p:nvPr/>
        </p:nvSpPr>
        <p:spPr>
          <a:xfrm>
            <a:off x="1737982" y="4526050"/>
            <a:ext cx="1042365" cy="663655"/>
          </a:xfrm>
          <a:prstGeom prst="roundRect">
            <a:avLst>
              <a:gd name="adj" fmla="val 8267"/>
            </a:avLst>
          </a:prstGeom>
          <a:solidFill>
            <a:srgbClr val="E6EEF7"/>
          </a:solidFill>
          <a:ln w="12700">
            <a:solidFill>
              <a:srgbClr val="3A6EA5"/>
            </a:solidFill>
            <a:prstDash val="dash"/>
          </a:ln>
        </p:spPr>
      </p:sp>
      <p:sp>
        <p:nvSpPr>
          <p:cNvPr id="7" name="Shape 5"/>
          <p:cNvSpPr/>
          <p:nvPr/>
        </p:nvSpPr>
        <p:spPr>
          <a:xfrm>
            <a:off x="3822713" y="3749137"/>
            <a:ext cx="1870126" cy="782875"/>
          </a:xfrm>
          <a:prstGeom prst="roundRect">
            <a:avLst>
              <a:gd name="adj" fmla="val 7008"/>
            </a:avLst>
          </a:prstGeom>
          <a:solidFill>
            <a:srgbClr val="E5F2EA"/>
          </a:solidFill>
          <a:ln w="12700">
            <a:solidFill>
              <a:srgbClr val="3C8D5A"/>
            </a:solidFill>
            <a:prstDash val="dash"/>
          </a:ln>
        </p:spPr>
      </p:sp>
      <p:sp>
        <p:nvSpPr>
          <p:cNvPr id="8" name="Shape 6"/>
          <p:cNvSpPr/>
          <p:nvPr/>
        </p:nvSpPr>
        <p:spPr>
          <a:xfrm>
            <a:off x="5508892" y="1946936"/>
            <a:ext cx="705129" cy="1289557"/>
          </a:xfrm>
          <a:prstGeom prst="roundRect">
            <a:avLst>
              <a:gd name="adj" fmla="val 7781"/>
            </a:avLst>
          </a:prstGeom>
          <a:solidFill>
            <a:srgbClr val="F8E4E2"/>
          </a:solidFill>
          <a:ln w="12700">
            <a:solidFill>
              <a:srgbClr val="B23A2E"/>
            </a:solidFill>
            <a:prstDash val="dash"/>
          </a:ln>
        </p:spPr>
      </p:sp>
      <p:graphicFrame>
        <p:nvGraphicFramePr>
          <p:cNvPr id="9" name="Chart 0" descr=""/>
          <p:cNvGraphicFramePr/>
          <p:nvPr/>
        </p:nvGraphicFramePr>
        <p:xfrm>
          <a:off x="548640" y="1325880"/>
          <a:ext cx="6492240" cy="484632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1768907" y="4221482"/>
            <a:ext cx="1463040" cy="274320"/>
          </a:xfrm>
          <a:prstGeom prst="rect">
            <a:avLst/>
          </a:prstGeom>
          <a:noFill/>
          <a:ln/>
        </p:spPr>
        <p:txBody>
          <a:bodyPr wrap="square" lIns="0" tIns="0" rIns="0" bIns="0" rtlCol="0" anchor="t"/>
          <a:lstStyle/>
          <a:p>
            <a:pPr indent="0" marL="0">
              <a:buNone/>
            </a:pPr>
            <a:r>
              <a:rPr lang="en-US" sz="1300" b="1" dirty="0">
                <a:solidFill>
                  <a:srgbClr val="3A6EA5"/>
                </a:solidFill>
                <a:latin typeface="맑은 고딕" pitchFamily="34" charset="0"/>
                <a:ea typeface="맑은 고딕" pitchFamily="34" charset="-122"/>
                <a:cs typeface="맑은 고딕" pitchFamily="34" charset="-120"/>
              </a:rPr>
              <a:t>위험도 낮음</a:t>
            </a:r>
            <a:endParaRPr lang="en-US" sz="1300" dirty="0"/>
          </a:p>
        </p:txBody>
      </p:sp>
      <p:sp>
        <p:nvSpPr>
          <p:cNvPr id="11" name="Text 8"/>
          <p:cNvSpPr txBox="1"/>
          <p:nvPr/>
        </p:nvSpPr>
        <p:spPr>
          <a:xfrm>
            <a:off x="3853637" y="3444569"/>
            <a:ext cx="1097280" cy="274320"/>
          </a:xfrm>
          <a:prstGeom prst="rect">
            <a:avLst/>
          </a:prstGeom>
          <a:noFill/>
          <a:ln/>
        </p:spPr>
        <p:txBody>
          <a:bodyPr wrap="square" lIns="0" tIns="0" rIns="0" bIns="0" rtlCol="0" anchor="t"/>
          <a:lstStyle/>
          <a:p>
            <a:pPr indent="0" marL="0">
              <a:buNone/>
            </a:pPr>
            <a:r>
              <a:rPr lang="en-US" sz="1300" b="1" dirty="0">
                <a:solidFill>
                  <a:srgbClr val="3C8D5A"/>
                </a:solidFill>
                <a:latin typeface="맑은 고딕" pitchFamily="34" charset="0"/>
                <a:ea typeface="맑은 고딕" pitchFamily="34" charset="-122"/>
                <a:cs typeface="맑은 고딕" pitchFamily="34" charset="-120"/>
              </a:rPr>
              <a:t>중간</a:t>
            </a:r>
            <a:endParaRPr lang="en-US" sz="1300" dirty="0"/>
          </a:p>
        </p:txBody>
      </p:sp>
      <p:sp>
        <p:nvSpPr>
          <p:cNvPr id="12" name="Text 9"/>
          <p:cNvSpPr txBox="1"/>
          <p:nvPr/>
        </p:nvSpPr>
        <p:spPr>
          <a:xfrm>
            <a:off x="4396816" y="1980696"/>
            <a:ext cx="1051560" cy="274320"/>
          </a:xfrm>
          <a:prstGeom prst="rect">
            <a:avLst/>
          </a:prstGeom>
          <a:noFill/>
          <a:ln/>
        </p:spPr>
        <p:txBody>
          <a:bodyPr wrap="square" lIns="0" tIns="0" rIns="0" bIns="0" rtlCol="0" anchor="t"/>
          <a:lstStyle/>
          <a:p>
            <a:pPr algn="r" indent="0" marL="0">
              <a:buNone/>
            </a:pPr>
            <a:r>
              <a:rPr lang="en-US" sz="1300" b="1" dirty="0">
                <a:solidFill>
                  <a:srgbClr val="B23A2E"/>
                </a:solidFill>
                <a:latin typeface="맑은 고딕" pitchFamily="34" charset="0"/>
                <a:ea typeface="맑은 고딕" pitchFamily="34" charset="-122"/>
                <a:cs typeface="맑은 고딕" pitchFamily="34" charset="-120"/>
              </a:rPr>
              <a:t>높음</a:t>
            </a:r>
            <a:endParaRPr lang="en-US" sz="1300" dirty="0"/>
          </a:p>
        </p:txBody>
      </p:sp>
      <p:sp>
        <p:nvSpPr>
          <p:cNvPr id="13" name="Shape 10"/>
          <p:cNvSpPr/>
          <p:nvPr/>
        </p:nvSpPr>
        <p:spPr>
          <a:xfrm>
            <a:off x="7452360" y="1417320"/>
            <a:ext cx="4190695" cy="1051560"/>
          </a:xfrm>
          <a:prstGeom prst="roundRect">
            <a:avLst>
              <a:gd name="adj" fmla="val 6957"/>
            </a:avLst>
          </a:prstGeom>
          <a:solidFill>
            <a:srgbClr val="FBEDE4"/>
          </a:solidFill>
          <a:ln w="6350">
            <a:solidFill>
              <a:srgbClr val="FBEDE4"/>
            </a:solidFill>
            <a:prstDash val="solid"/>
          </a:ln>
        </p:spPr>
      </p:sp>
      <p:sp>
        <p:nvSpPr>
          <p:cNvPr id="14" name="Text 11"/>
          <p:cNvSpPr txBox="1"/>
          <p:nvPr/>
        </p:nvSpPr>
        <p:spPr>
          <a:xfrm>
            <a:off x="7726680" y="1508760"/>
            <a:ext cx="3642055" cy="502920"/>
          </a:xfrm>
          <a:prstGeom prst="rect">
            <a:avLst/>
          </a:prstGeom>
          <a:noFill/>
          <a:ln/>
        </p:spPr>
        <p:txBody>
          <a:bodyPr wrap="square" lIns="0" tIns="0" rIns="0" bIns="0" rtlCol="0" anchor="ctr"/>
          <a:lstStyle/>
          <a:p>
            <a:pPr indent="0" marL="0">
              <a:buNone/>
            </a:pPr>
            <a:r>
              <a:rPr lang="en-US" sz="2400" b="1" dirty="0">
                <a:solidFill>
                  <a:srgbClr val="B5501F"/>
                </a:solidFill>
                <a:latin typeface="맑은 고딕" pitchFamily="34" charset="0"/>
                <a:ea typeface="맑은 고딕" pitchFamily="34" charset="-122"/>
                <a:cs typeface="맑은 고딕" pitchFamily="34" charset="-120"/>
              </a:rPr>
              <a:t>ρ = 0.88</a:t>
            </a:r>
            <a:endParaRPr lang="en-US" sz="2400" dirty="0"/>
          </a:p>
        </p:txBody>
      </p:sp>
      <p:sp>
        <p:nvSpPr>
          <p:cNvPr id="15" name="Text 12"/>
          <p:cNvSpPr txBox="1"/>
          <p:nvPr/>
        </p:nvSpPr>
        <p:spPr>
          <a:xfrm>
            <a:off x="7726680" y="1993392"/>
            <a:ext cx="3733495" cy="411480"/>
          </a:xfrm>
          <a:prstGeom prst="rect">
            <a:avLst/>
          </a:prstGeom>
          <a:noFill/>
          <a:ln/>
        </p:spPr>
        <p:txBody>
          <a:bodyPr wrap="square" lIns="0" tIns="0" rIns="0" bIns="0" rtlCol="0" anchor="t"/>
          <a:lstStyle/>
          <a:p>
            <a:pPr indent="0" marL="0">
              <a:buNone/>
            </a:pPr>
            <a:r>
              <a:rPr lang="en-US" sz="1200" dirty="0">
                <a:solidFill>
                  <a:srgbClr val="6B6F76"/>
                </a:solidFill>
                <a:latin typeface="맑은 고딕" pitchFamily="34" charset="0"/>
                <a:ea typeface="맑은 고딕" pitchFamily="34" charset="-122"/>
                <a:cs typeface="맑은 고딕" pitchFamily="34" charset="-120"/>
              </a:rPr>
              <a:t>b*와 부식 속도의 순위 상관 (p &lt; 0.002)</a:t>
            </a:r>
            <a:endParaRPr lang="en-US" sz="1200" dirty="0"/>
          </a:p>
        </p:txBody>
      </p:sp>
      <p:sp>
        <p:nvSpPr>
          <p:cNvPr id="16" name="Shape 13"/>
          <p:cNvSpPr/>
          <p:nvPr/>
        </p:nvSpPr>
        <p:spPr>
          <a:xfrm>
            <a:off x="7452360" y="2606040"/>
            <a:ext cx="4190695" cy="1051560"/>
          </a:xfrm>
          <a:prstGeom prst="roundRect">
            <a:avLst>
              <a:gd name="adj" fmla="val 6957"/>
            </a:avLst>
          </a:prstGeom>
          <a:solidFill>
            <a:srgbClr val="F3F4F6"/>
          </a:solidFill>
          <a:ln w="6350">
            <a:solidFill>
              <a:srgbClr val="F3F4F6"/>
            </a:solidFill>
            <a:prstDash val="solid"/>
          </a:ln>
        </p:spPr>
      </p:sp>
      <p:sp>
        <p:nvSpPr>
          <p:cNvPr id="17" name="Text 14"/>
          <p:cNvSpPr txBox="1"/>
          <p:nvPr/>
        </p:nvSpPr>
        <p:spPr>
          <a:xfrm>
            <a:off x="7726680" y="2697480"/>
            <a:ext cx="3642055" cy="502920"/>
          </a:xfrm>
          <a:prstGeom prst="rect">
            <a:avLst/>
          </a:prstGeom>
          <a:noFill/>
          <a:ln/>
        </p:spPr>
        <p:txBody>
          <a:bodyPr wrap="square" lIns="0" tIns="0" rIns="0" bIns="0" rtlCol="0" anchor="ctr"/>
          <a:lstStyle/>
          <a:p>
            <a:pPr indent="0" marL="0">
              <a:buNone/>
            </a:pPr>
            <a:r>
              <a:rPr lang="en-US" sz="2400" b="1" dirty="0">
                <a:solidFill>
                  <a:srgbClr val="B5501F"/>
                </a:solidFill>
                <a:latin typeface="맑은 고딕" pitchFamily="34" charset="0"/>
                <a:ea typeface="맑은 고딕" pitchFamily="34" charset="-122"/>
                <a:cs typeface="맑은 고딕" pitchFamily="34" charset="-120"/>
              </a:rPr>
              <a:t>3개 구간</a:t>
            </a:r>
            <a:endParaRPr lang="en-US" sz="2400" dirty="0"/>
          </a:p>
        </p:txBody>
      </p:sp>
      <p:sp>
        <p:nvSpPr>
          <p:cNvPr id="18" name="Text 15"/>
          <p:cNvSpPr txBox="1"/>
          <p:nvPr/>
        </p:nvSpPr>
        <p:spPr>
          <a:xfrm>
            <a:off x="7726680" y="3182112"/>
            <a:ext cx="3733495" cy="411480"/>
          </a:xfrm>
          <a:prstGeom prst="rect">
            <a:avLst/>
          </a:prstGeom>
          <a:noFill/>
          <a:ln/>
        </p:spPr>
        <p:txBody>
          <a:bodyPr wrap="square" lIns="0" tIns="0" rIns="0" bIns="0" rtlCol="0" anchor="t"/>
          <a:lstStyle/>
          <a:p>
            <a:pPr indent="0" marL="0">
              <a:buNone/>
            </a:pPr>
            <a:r>
              <a:rPr lang="en-US" sz="1200" dirty="0">
                <a:solidFill>
                  <a:srgbClr val="6B6F76"/>
                </a:solidFill>
                <a:latin typeface="맑은 고딕" pitchFamily="34" charset="0"/>
                <a:ea typeface="맑은 고딕" pitchFamily="34" charset="-122"/>
                <a:cs typeface="맑은 고딕" pitchFamily="34" charset="-120"/>
              </a:rPr>
              <a:t>단계별 부식 속도 구간이 서로 겹치지 않음</a:t>
            </a:r>
            <a:endParaRPr lang="en-US" sz="1200" dirty="0"/>
          </a:p>
        </p:txBody>
      </p:sp>
      <p:sp>
        <p:nvSpPr>
          <p:cNvPr id="19" name="Shape 16"/>
          <p:cNvSpPr/>
          <p:nvPr/>
        </p:nvSpPr>
        <p:spPr>
          <a:xfrm>
            <a:off x="7452360" y="3794760"/>
            <a:ext cx="4190695" cy="1051560"/>
          </a:xfrm>
          <a:prstGeom prst="roundRect">
            <a:avLst>
              <a:gd name="adj" fmla="val 6957"/>
            </a:avLst>
          </a:prstGeom>
          <a:solidFill>
            <a:srgbClr val="F3F4F6"/>
          </a:solidFill>
          <a:ln w="6350">
            <a:solidFill>
              <a:srgbClr val="F3F4F6"/>
            </a:solidFill>
            <a:prstDash val="solid"/>
          </a:ln>
        </p:spPr>
      </p:sp>
      <p:sp>
        <p:nvSpPr>
          <p:cNvPr id="20" name="Text 17"/>
          <p:cNvSpPr txBox="1"/>
          <p:nvPr/>
        </p:nvSpPr>
        <p:spPr>
          <a:xfrm>
            <a:off x="7726680" y="3886200"/>
            <a:ext cx="3642055" cy="502920"/>
          </a:xfrm>
          <a:prstGeom prst="rect">
            <a:avLst/>
          </a:prstGeom>
          <a:noFill/>
          <a:ln/>
        </p:spPr>
        <p:txBody>
          <a:bodyPr wrap="square" lIns="0" tIns="0" rIns="0" bIns="0" rtlCol="0" anchor="ctr"/>
          <a:lstStyle/>
          <a:p>
            <a:pPr indent="0" marL="0">
              <a:buNone/>
            </a:pPr>
            <a:r>
              <a:rPr lang="en-US" sz="2400" b="1" dirty="0">
                <a:solidFill>
                  <a:srgbClr val="B5501F"/>
                </a:solidFill>
                <a:latin typeface="맑은 고딕" pitchFamily="34" charset="0"/>
                <a:ea typeface="맑은 고딕" pitchFamily="34" charset="-122"/>
                <a:cs typeface="맑은 고딕" pitchFamily="34" charset="-120"/>
              </a:rPr>
              <a:t>6가지 분석</a:t>
            </a:r>
            <a:endParaRPr lang="en-US" sz="2400" dirty="0"/>
          </a:p>
        </p:txBody>
      </p:sp>
      <p:sp>
        <p:nvSpPr>
          <p:cNvPr id="21" name="Text 18"/>
          <p:cNvSpPr txBox="1"/>
          <p:nvPr/>
        </p:nvSpPr>
        <p:spPr>
          <a:xfrm>
            <a:off x="7726680" y="4370832"/>
            <a:ext cx="3733495" cy="411480"/>
          </a:xfrm>
          <a:prstGeom prst="rect">
            <a:avLst/>
          </a:prstGeom>
          <a:noFill/>
          <a:ln/>
        </p:spPr>
        <p:txBody>
          <a:bodyPr wrap="square" lIns="0" tIns="0" rIns="0" bIns="0" rtlCol="0" anchor="t"/>
          <a:lstStyle/>
          <a:p>
            <a:pPr indent="0" marL="0">
              <a:buNone/>
            </a:pPr>
            <a:r>
              <a:rPr lang="en-US" sz="1200" dirty="0">
                <a:solidFill>
                  <a:srgbClr val="6B6F76"/>
                </a:solidFill>
                <a:latin typeface="맑은 고딕" pitchFamily="34" charset="0"/>
                <a:ea typeface="맑은 고딕" pitchFamily="34" charset="-122"/>
                <a:cs typeface="맑은 고딕" pitchFamily="34" charset="-120"/>
              </a:rPr>
              <a:t>SEM/EDS · XRD · 전기화학 · 3D 표면 · 녹 면적 · 색으로 교차 검증</a:t>
            </a:r>
            <a:endParaRPr lang="en-US" sz="1200" dirty="0"/>
          </a:p>
        </p:txBody>
      </p:sp>
      <p:sp>
        <p:nvSpPr>
          <p:cNvPr id="22" name="Text 19"/>
          <p:cNvSpPr txBox="1"/>
          <p:nvPr/>
        </p:nvSpPr>
        <p:spPr>
          <a:xfrm>
            <a:off x="7452360" y="5074920"/>
            <a:ext cx="4190695" cy="274320"/>
          </a:xfrm>
          <a:prstGeom prst="rect">
            <a:avLst/>
          </a:prstGeom>
          <a:noFill/>
          <a:ln/>
        </p:spPr>
        <p:txBody>
          <a:bodyPr wrap="square" lIns="0" tIns="0" rIns="0" bIns="0" rtlCol="0" anchor="t"/>
          <a:lstStyle/>
          <a:p>
            <a:pPr indent="0" marL="0">
              <a:buNone/>
            </a:pPr>
            <a:r>
              <a:rPr lang="en-US" sz="1150" dirty="0">
                <a:solidFill>
                  <a:srgbClr val="6B6F76"/>
                </a:solidFill>
                <a:latin typeface="맑은 고딕" pitchFamily="34" charset="0"/>
                <a:ea typeface="맑은 고딕" pitchFamily="34" charset="-122"/>
                <a:cs typeface="맑은 고딕" pitchFamily="34" charset="-120"/>
              </a:rPr>
              <a:t>탄소강 · 240시간 촉진부식 · 9개 시점 × 시편 2개</a:t>
            </a:r>
            <a:endParaRPr lang="en-US" sz="1150" dirty="0"/>
          </a:p>
        </p:txBody>
      </p:sp>
      <p:sp>
        <p:nvSpPr>
          <p:cNvPr id="23" name="Text 20"/>
          <p:cNvSpPr txBox="1"/>
          <p:nvPr/>
        </p:nvSpPr>
        <p:spPr>
          <a:xfrm>
            <a:off x="7452360" y="5394960"/>
            <a:ext cx="4190695" cy="274320"/>
          </a:xfrm>
          <a:prstGeom prst="rect">
            <a:avLst/>
          </a:prstGeom>
          <a:noFill/>
          <a:ln/>
        </p:spPr>
        <p:txBody>
          <a:bodyPr wrap="square" lIns="0" tIns="0" rIns="0" bIns="0" rtlCol="0" anchor="t"/>
          <a:lstStyle/>
          <a:p>
            <a:pPr indent="0" marL="0">
              <a:buNone/>
            </a:pPr>
            <a:r>
              <a:rPr lang="en-US" sz="1150" dirty="0">
                <a:solidFill>
                  <a:srgbClr val="6B6F76"/>
                </a:solidFill>
                <a:latin typeface="맑은 고딕" pitchFamily="34" charset="0"/>
                <a:ea typeface="맑은 고딕" pitchFamily="34" charset="-122"/>
                <a:cs typeface="맑은 고딕" pitchFamily="34" charset="-120"/>
              </a:rPr>
              <a:t>ICIMC 2026 국제학회(11월, 서울) 발표 예정</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indent="0" marL="0">
              <a:buNone/>
            </a:pPr>
            <a:r>
              <a:rPr lang="en-US" sz="1200" b="1" spc="100" kern="0" dirty="0">
                <a:solidFill>
                  <a:srgbClr val="B5501F"/>
                </a:solidFill>
                <a:latin typeface="맑은 고딕" pitchFamily="34" charset="0"/>
                <a:ea typeface="맑은 고딕" pitchFamily="34" charset="-122"/>
                <a:cs typeface="맑은 고딕" pitchFamily="34" charset="-120"/>
              </a:rPr>
              <a:t>BUSINESS MODEL</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indent="0" marL="0">
              <a:buNone/>
            </a:pPr>
            <a:r>
              <a:rPr lang="en-US" sz="2800" b="1" dirty="0">
                <a:solidFill>
                  <a:srgbClr val="2B2D31"/>
                </a:solidFill>
                <a:latin typeface="맑은 고딕" pitchFamily="34" charset="0"/>
                <a:ea typeface="맑은 고딕" pitchFamily="34" charset="-122"/>
                <a:cs typeface="맑은 고딕" pitchFamily="34" charset="-120"/>
              </a:rPr>
              <a:t>누가 쓰고, 누가 결정하고, 어떻게 돈을 버나</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indent="0" marL="0">
              <a:buNone/>
            </a:pPr>
            <a:r>
              <a:rPr lang="en-US" sz="900" dirty="0">
                <a:solidFill>
                  <a:srgbClr val="A3A7AD"/>
                </a:solidFill>
                <a:latin typeface="맑은 고딕" pitchFamily="34" charset="0"/>
                <a:ea typeface="맑은 고딕" pitchFamily="34" charset="-122"/>
                <a:cs typeface="맑은 고딕" pitchFamily="34" charset="-120"/>
              </a:rPr>
              <a:t>MLC  ·  Tex-Corps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900" dirty="0">
                <a:solidFill>
                  <a:srgbClr val="A3A7AD"/>
                </a:solidFill>
                <a:latin typeface="맑은 고딕" pitchFamily="34" charset="0"/>
                <a:ea typeface="맑은 고딕" pitchFamily="34" charset="-122"/>
                <a:cs typeface="맑은 고딕" pitchFamily="34" charset="-120"/>
              </a:rPr>
              <a:t>7</a:t>
            </a:r>
            <a:endParaRPr lang="en-US" sz="900" dirty="0"/>
          </a:p>
        </p:txBody>
      </p:sp>
      <p:sp>
        <p:nvSpPr>
          <p:cNvPr id="6" name="Text 4"/>
          <p:cNvSpPr txBox="1"/>
          <p:nvPr/>
        </p:nvSpPr>
        <p:spPr>
          <a:xfrm>
            <a:off x="548640" y="1325880"/>
            <a:ext cx="5577840" cy="274320"/>
          </a:xfrm>
          <a:prstGeom prst="rect">
            <a:avLst/>
          </a:prstGeom>
          <a:noFill/>
          <a:ln/>
        </p:spPr>
        <p:txBody>
          <a:bodyPr wrap="square" lIns="0" tIns="0" rIns="0" bIns="0" rtlCol="0" anchor="t"/>
          <a:lstStyle/>
          <a:p>
            <a:pPr indent="0" marL="0">
              <a:buNone/>
            </a:pPr>
            <a:r>
              <a:rPr lang="en-US" sz="1300" b="1" dirty="0">
                <a:solidFill>
                  <a:srgbClr val="1F5F7A"/>
                </a:solidFill>
                <a:latin typeface="맑은 고딕" pitchFamily="34" charset="0"/>
                <a:ea typeface="맑은 고딕" pitchFamily="34" charset="-122"/>
                <a:cs typeface="맑은 고딕" pitchFamily="34" charset="-120"/>
              </a:rPr>
              <a:t>고객 생태계 · 해양 석유·가스 운영사</a:t>
            </a:r>
            <a:endParaRPr lang="en-US" sz="1300" dirty="0"/>
          </a:p>
        </p:txBody>
      </p:sp>
      <p:sp>
        <p:nvSpPr>
          <p:cNvPr id="7" name="Shape 5"/>
          <p:cNvSpPr/>
          <p:nvPr/>
        </p:nvSpPr>
        <p:spPr>
          <a:xfrm>
            <a:off x="548640" y="1737360"/>
            <a:ext cx="5577840" cy="868680"/>
          </a:xfrm>
          <a:prstGeom prst="roundRect">
            <a:avLst>
              <a:gd name="adj" fmla="val 8421"/>
            </a:avLst>
          </a:prstGeom>
          <a:solidFill>
            <a:srgbClr val="F3F4F6"/>
          </a:solidFill>
          <a:ln w="6350">
            <a:solidFill>
              <a:srgbClr val="F3F4F6"/>
            </a:solidFill>
            <a:prstDash val="solid"/>
          </a:ln>
        </p:spPr>
      </p:sp>
      <p:sp>
        <p:nvSpPr>
          <p:cNvPr id="8" name="Shape 6"/>
          <p:cNvSpPr/>
          <p:nvPr/>
        </p:nvSpPr>
        <p:spPr>
          <a:xfrm>
            <a:off x="731520" y="1883664"/>
            <a:ext cx="576072" cy="576072"/>
          </a:xfrm>
          <a:prstGeom prst="ellipse">
            <a:avLst/>
          </a:prstGeom>
          <a:solidFill>
            <a:srgbClr val="B5501F"/>
          </a:solidFill>
          <a:ln w="12700">
            <a:solidFill>
              <a:srgbClr val="B5501F"/>
            </a:solidFill>
            <a:prstDash val="solid"/>
          </a:ln>
        </p:spPr>
      </p:sp>
      <p:pic>
        <p:nvPicPr>
          <p:cNvPr id="9" name="Image 0" descr="preencoded.png">    </p:cNvPr>
          <p:cNvPicPr>
            <a:picLocks noChangeAspect="1"/>
          </p:cNvPicPr>
          <p:nvPr/>
        </p:nvPicPr>
        <p:blipFill>
          <a:blip r:embed="rId1"/>
          <a:stretch>
            <a:fillRect/>
          </a:stretch>
        </p:blipFill>
        <p:spPr>
          <a:xfrm>
            <a:off x="881299" y="2033443"/>
            <a:ext cx="276515" cy="276515"/>
          </a:xfrm>
          <a:prstGeom prst="rect">
            <a:avLst/>
          </a:prstGeom>
        </p:spPr>
      </p:pic>
      <p:sp>
        <p:nvSpPr>
          <p:cNvPr id="10" name="Shape 7"/>
          <p:cNvSpPr/>
          <p:nvPr/>
        </p:nvSpPr>
        <p:spPr>
          <a:xfrm>
            <a:off x="1463040" y="2011680"/>
            <a:ext cx="685800" cy="310896"/>
          </a:xfrm>
          <a:prstGeom prst="roundRect">
            <a:avLst>
              <a:gd name="adj" fmla="val 50000"/>
            </a:avLst>
          </a:prstGeom>
          <a:solidFill>
            <a:srgbClr val="B5501F"/>
          </a:solidFill>
          <a:ln w="12700">
            <a:solidFill>
              <a:srgbClr val="B5501F"/>
            </a:solidFill>
            <a:prstDash val="solid"/>
          </a:ln>
        </p:spPr>
      </p:sp>
      <p:sp>
        <p:nvSpPr>
          <p:cNvPr id="11" name="Text 8"/>
          <p:cNvSpPr txBox="1"/>
          <p:nvPr/>
        </p:nvSpPr>
        <p:spPr>
          <a:xfrm>
            <a:off x="1463040" y="2011680"/>
            <a:ext cx="68580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결정</a:t>
            </a:r>
            <a:endParaRPr lang="en-US" sz="1100" dirty="0"/>
          </a:p>
        </p:txBody>
      </p:sp>
      <p:sp>
        <p:nvSpPr>
          <p:cNvPr id="12" name="Text 9"/>
          <p:cNvSpPr txBox="1"/>
          <p:nvPr/>
        </p:nvSpPr>
        <p:spPr>
          <a:xfrm>
            <a:off x="2331720" y="1828800"/>
            <a:ext cx="3657600" cy="347472"/>
          </a:xfrm>
          <a:prstGeom prst="rect">
            <a:avLst/>
          </a:prstGeom>
          <a:noFill/>
          <a:ln/>
        </p:spPr>
        <p:txBody>
          <a:bodyPr wrap="square" lIns="0" tIns="0" rIns="0" bIns="0" rtlCol="0" anchor="ctr"/>
          <a:lstStyle/>
          <a:p>
            <a:pPr indent="0" marL="0">
              <a:buNone/>
            </a:pPr>
            <a:r>
              <a:rPr lang="en-US" sz="1450" b="1" dirty="0">
                <a:solidFill>
                  <a:srgbClr val="2B2D31"/>
                </a:solidFill>
                <a:latin typeface="맑은 고딕" pitchFamily="34" charset="0"/>
                <a:ea typeface="맑은 고딕" pitchFamily="34" charset="-122"/>
                <a:cs typeface="맑은 고딕" pitchFamily="34" charset="-120"/>
              </a:rPr>
              <a:t>CEO · 대표</a:t>
            </a:r>
            <a:endParaRPr lang="en-US" sz="1450" dirty="0"/>
          </a:p>
        </p:txBody>
      </p:sp>
      <p:sp>
        <p:nvSpPr>
          <p:cNvPr id="13" name="Text 10"/>
          <p:cNvSpPr txBox="1"/>
          <p:nvPr/>
        </p:nvSpPr>
        <p:spPr>
          <a:xfrm>
            <a:off x="2331720" y="2194560"/>
            <a:ext cx="3657600" cy="320040"/>
          </a:xfrm>
          <a:prstGeom prst="rect">
            <a:avLst/>
          </a:prstGeom>
          <a:noFill/>
          <a:ln/>
        </p:spPr>
        <p:txBody>
          <a:bodyPr wrap="square" lIns="0" tIns="0" rIns="0" bIns="0" rtlCol="0" anchor="t"/>
          <a:lstStyle/>
          <a:p>
            <a:pPr indent="0" marL="0">
              <a:buNone/>
            </a:pPr>
            <a:r>
              <a:rPr lang="en-US" sz="1200" dirty="0">
                <a:solidFill>
                  <a:srgbClr val="6B6F76"/>
                </a:solidFill>
                <a:latin typeface="맑은 고딕" pitchFamily="34" charset="0"/>
                <a:ea typeface="맑은 고딕" pitchFamily="34" charset="-122"/>
                <a:cs typeface="맑은 고딕" pitchFamily="34" charset="-120"/>
              </a:rPr>
              <a:t>안전 · 비용 · 규제 대응 중 하나가 결정 동기</a:t>
            </a:r>
            <a:endParaRPr lang="en-US" sz="1200" dirty="0"/>
          </a:p>
        </p:txBody>
      </p:sp>
      <p:sp>
        <p:nvSpPr>
          <p:cNvPr id="14" name="Shape 11"/>
          <p:cNvSpPr/>
          <p:nvPr/>
        </p:nvSpPr>
        <p:spPr>
          <a:xfrm>
            <a:off x="548640" y="2724912"/>
            <a:ext cx="5577840" cy="868680"/>
          </a:xfrm>
          <a:prstGeom prst="roundRect">
            <a:avLst>
              <a:gd name="adj" fmla="val 8421"/>
            </a:avLst>
          </a:prstGeom>
          <a:solidFill>
            <a:srgbClr val="F3F4F6"/>
          </a:solidFill>
          <a:ln w="6350">
            <a:solidFill>
              <a:srgbClr val="F3F4F6"/>
            </a:solidFill>
            <a:prstDash val="solid"/>
          </a:ln>
        </p:spPr>
      </p:sp>
      <p:sp>
        <p:nvSpPr>
          <p:cNvPr id="15" name="Shape 12"/>
          <p:cNvSpPr/>
          <p:nvPr/>
        </p:nvSpPr>
        <p:spPr>
          <a:xfrm>
            <a:off x="731520" y="2871216"/>
            <a:ext cx="576072" cy="576072"/>
          </a:xfrm>
          <a:prstGeom prst="ellipse">
            <a:avLst/>
          </a:prstGeom>
          <a:solidFill>
            <a:srgbClr val="1F5F7A"/>
          </a:solidFill>
          <a:ln w="12700">
            <a:solidFill>
              <a:srgbClr val="1F5F7A"/>
            </a:solidFill>
            <a:prstDash val="solid"/>
          </a:ln>
        </p:spPr>
      </p:sp>
      <p:pic>
        <p:nvPicPr>
          <p:cNvPr id="16" name="Image 1" descr="preencoded.png">    </p:cNvPr>
          <p:cNvPicPr>
            <a:picLocks noChangeAspect="1"/>
          </p:cNvPicPr>
          <p:nvPr/>
        </p:nvPicPr>
        <p:blipFill>
          <a:blip r:embed="rId2"/>
          <a:stretch>
            <a:fillRect/>
          </a:stretch>
        </p:blipFill>
        <p:spPr>
          <a:xfrm>
            <a:off x="881299" y="3020995"/>
            <a:ext cx="276515" cy="276515"/>
          </a:xfrm>
          <a:prstGeom prst="rect">
            <a:avLst/>
          </a:prstGeom>
        </p:spPr>
      </p:pic>
      <p:sp>
        <p:nvSpPr>
          <p:cNvPr id="17" name="Shape 13"/>
          <p:cNvSpPr/>
          <p:nvPr/>
        </p:nvSpPr>
        <p:spPr>
          <a:xfrm>
            <a:off x="1463040" y="2999232"/>
            <a:ext cx="685800" cy="310896"/>
          </a:xfrm>
          <a:prstGeom prst="roundRect">
            <a:avLst>
              <a:gd name="adj" fmla="val 50000"/>
            </a:avLst>
          </a:prstGeom>
          <a:solidFill>
            <a:srgbClr val="1F5F7A"/>
          </a:solidFill>
          <a:ln w="12700">
            <a:solidFill>
              <a:srgbClr val="1F5F7A"/>
            </a:solidFill>
            <a:prstDash val="solid"/>
          </a:ln>
        </p:spPr>
      </p:sp>
      <p:sp>
        <p:nvSpPr>
          <p:cNvPr id="18" name="Text 14"/>
          <p:cNvSpPr txBox="1"/>
          <p:nvPr/>
        </p:nvSpPr>
        <p:spPr>
          <a:xfrm>
            <a:off x="1463040" y="2999232"/>
            <a:ext cx="68580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추천</a:t>
            </a:r>
            <a:endParaRPr lang="en-US" sz="1100" dirty="0"/>
          </a:p>
        </p:txBody>
      </p:sp>
      <p:sp>
        <p:nvSpPr>
          <p:cNvPr id="19" name="Text 15"/>
          <p:cNvSpPr txBox="1"/>
          <p:nvPr/>
        </p:nvSpPr>
        <p:spPr>
          <a:xfrm>
            <a:off x="2331720" y="2816352"/>
            <a:ext cx="3657600" cy="347472"/>
          </a:xfrm>
          <a:prstGeom prst="rect">
            <a:avLst/>
          </a:prstGeom>
          <a:noFill/>
          <a:ln/>
        </p:spPr>
        <p:txBody>
          <a:bodyPr wrap="square" lIns="0" tIns="0" rIns="0" bIns="0" rtlCol="0" anchor="ctr"/>
          <a:lstStyle/>
          <a:p>
            <a:pPr indent="0" marL="0">
              <a:buNone/>
            </a:pPr>
            <a:r>
              <a:rPr lang="en-US" sz="1450" b="1" dirty="0">
                <a:solidFill>
                  <a:srgbClr val="2B2D31"/>
                </a:solidFill>
                <a:latin typeface="맑은 고딕" pitchFamily="34" charset="0"/>
                <a:ea typeface="맑은 고딕" pitchFamily="34" charset="-122"/>
                <a:cs typeface="맑은 고딕" pitchFamily="34" charset="-120"/>
              </a:rPr>
              <a:t>부식 엔지니어링 매니저</a:t>
            </a:r>
            <a:endParaRPr lang="en-US" sz="1450" dirty="0"/>
          </a:p>
        </p:txBody>
      </p:sp>
      <p:sp>
        <p:nvSpPr>
          <p:cNvPr id="20" name="Text 16"/>
          <p:cNvSpPr txBox="1"/>
          <p:nvPr/>
        </p:nvSpPr>
        <p:spPr>
          <a:xfrm>
            <a:off x="2331720" y="3182112"/>
            <a:ext cx="3657600" cy="320040"/>
          </a:xfrm>
          <a:prstGeom prst="rect">
            <a:avLst/>
          </a:prstGeom>
          <a:noFill/>
          <a:ln/>
        </p:spPr>
        <p:txBody>
          <a:bodyPr wrap="square" lIns="0" tIns="0" rIns="0" bIns="0" rtlCol="0" anchor="t"/>
          <a:lstStyle/>
          <a:p>
            <a:pPr indent="0" marL="0">
              <a:buNone/>
            </a:pPr>
            <a:r>
              <a:rPr lang="en-US" sz="1200" dirty="0">
                <a:solidFill>
                  <a:srgbClr val="6B6F76"/>
                </a:solidFill>
                <a:latin typeface="맑은 고딕" pitchFamily="34" charset="0"/>
                <a:ea typeface="맑은 고딕" pitchFamily="34" charset="-122"/>
                <a:cs typeface="맑은 고딕" pitchFamily="34" charset="-120"/>
              </a:rPr>
              <a:t>기술 검토 후 대표에게 추천</a:t>
            </a:r>
            <a:endParaRPr lang="en-US" sz="1200" dirty="0"/>
          </a:p>
        </p:txBody>
      </p:sp>
      <p:sp>
        <p:nvSpPr>
          <p:cNvPr id="21" name="Shape 17"/>
          <p:cNvSpPr/>
          <p:nvPr/>
        </p:nvSpPr>
        <p:spPr>
          <a:xfrm>
            <a:off x="548640" y="3712464"/>
            <a:ext cx="5577840" cy="868680"/>
          </a:xfrm>
          <a:prstGeom prst="roundRect">
            <a:avLst>
              <a:gd name="adj" fmla="val 8421"/>
            </a:avLst>
          </a:prstGeom>
          <a:solidFill>
            <a:srgbClr val="F3F4F6"/>
          </a:solidFill>
          <a:ln w="6350">
            <a:solidFill>
              <a:srgbClr val="F3F4F6"/>
            </a:solidFill>
            <a:prstDash val="solid"/>
          </a:ln>
        </p:spPr>
      </p:sp>
      <p:sp>
        <p:nvSpPr>
          <p:cNvPr id="22" name="Shape 18"/>
          <p:cNvSpPr/>
          <p:nvPr/>
        </p:nvSpPr>
        <p:spPr>
          <a:xfrm>
            <a:off x="731520" y="3858768"/>
            <a:ext cx="576072" cy="576072"/>
          </a:xfrm>
          <a:prstGeom prst="ellipse">
            <a:avLst/>
          </a:prstGeom>
          <a:solidFill>
            <a:srgbClr val="1F5F7A"/>
          </a:solidFill>
          <a:ln w="12700">
            <a:solidFill>
              <a:srgbClr val="1F5F7A"/>
            </a:solidFill>
            <a:prstDash val="solid"/>
          </a:ln>
        </p:spPr>
      </p:sp>
      <p:pic>
        <p:nvPicPr>
          <p:cNvPr id="23" name="Image 2" descr="preencoded.png">    </p:cNvPr>
          <p:cNvPicPr>
            <a:picLocks noChangeAspect="1"/>
          </p:cNvPicPr>
          <p:nvPr/>
        </p:nvPicPr>
        <p:blipFill>
          <a:blip r:embed="rId3"/>
          <a:stretch>
            <a:fillRect/>
          </a:stretch>
        </p:blipFill>
        <p:spPr>
          <a:xfrm>
            <a:off x="881299" y="4008547"/>
            <a:ext cx="276515" cy="276515"/>
          </a:xfrm>
          <a:prstGeom prst="rect">
            <a:avLst/>
          </a:prstGeom>
        </p:spPr>
      </p:pic>
      <p:sp>
        <p:nvSpPr>
          <p:cNvPr id="24" name="Shape 19"/>
          <p:cNvSpPr/>
          <p:nvPr/>
        </p:nvSpPr>
        <p:spPr>
          <a:xfrm>
            <a:off x="1463040" y="3986784"/>
            <a:ext cx="685800" cy="310896"/>
          </a:xfrm>
          <a:prstGeom prst="roundRect">
            <a:avLst>
              <a:gd name="adj" fmla="val 50000"/>
            </a:avLst>
          </a:prstGeom>
          <a:solidFill>
            <a:srgbClr val="1F5F7A"/>
          </a:solidFill>
          <a:ln w="12700">
            <a:solidFill>
              <a:srgbClr val="1F5F7A"/>
            </a:solidFill>
            <a:prstDash val="solid"/>
          </a:ln>
        </p:spPr>
      </p:sp>
      <p:sp>
        <p:nvSpPr>
          <p:cNvPr id="25" name="Text 20"/>
          <p:cNvSpPr txBox="1"/>
          <p:nvPr/>
        </p:nvSpPr>
        <p:spPr>
          <a:xfrm>
            <a:off x="1463040" y="3986784"/>
            <a:ext cx="68580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사용</a:t>
            </a:r>
            <a:endParaRPr lang="en-US" sz="1100" dirty="0"/>
          </a:p>
        </p:txBody>
      </p:sp>
      <p:sp>
        <p:nvSpPr>
          <p:cNvPr id="26" name="Text 21"/>
          <p:cNvSpPr txBox="1"/>
          <p:nvPr/>
        </p:nvSpPr>
        <p:spPr>
          <a:xfrm>
            <a:off x="2331720" y="3803904"/>
            <a:ext cx="3657600" cy="347472"/>
          </a:xfrm>
          <a:prstGeom prst="rect">
            <a:avLst/>
          </a:prstGeom>
          <a:noFill/>
          <a:ln/>
        </p:spPr>
        <p:txBody>
          <a:bodyPr wrap="square" lIns="0" tIns="0" rIns="0" bIns="0" rtlCol="0" anchor="ctr"/>
          <a:lstStyle/>
          <a:p>
            <a:pPr indent="0" marL="0">
              <a:buNone/>
            </a:pPr>
            <a:r>
              <a:rPr lang="en-US" sz="1450" b="1" dirty="0">
                <a:solidFill>
                  <a:srgbClr val="2B2D31"/>
                </a:solidFill>
                <a:latin typeface="맑은 고딕" pitchFamily="34" charset="0"/>
                <a:ea typeface="맑은 고딕" pitchFamily="34" charset="-122"/>
                <a:cs typeface="맑은 고딕" pitchFamily="34" charset="-120"/>
              </a:rPr>
              <a:t>현장 엔지니어 · 검사원</a:t>
            </a:r>
            <a:endParaRPr lang="en-US" sz="1450" dirty="0"/>
          </a:p>
        </p:txBody>
      </p:sp>
      <p:sp>
        <p:nvSpPr>
          <p:cNvPr id="27" name="Text 22"/>
          <p:cNvSpPr txBox="1"/>
          <p:nvPr/>
        </p:nvSpPr>
        <p:spPr>
          <a:xfrm>
            <a:off x="2331720" y="4169664"/>
            <a:ext cx="3657600" cy="320040"/>
          </a:xfrm>
          <a:prstGeom prst="rect">
            <a:avLst/>
          </a:prstGeom>
          <a:noFill/>
          <a:ln/>
        </p:spPr>
        <p:txBody>
          <a:bodyPr wrap="square" lIns="0" tIns="0" rIns="0" bIns="0" rtlCol="0" anchor="t"/>
          <a:lstStyle/>
          <a:p>
            <a:pPr indent="0" marL="0">
              <a:buNone/>
            </a:pPr>
            <a:r>
              <a:rPr lang="en-US" sz="1200" dirty="0">
                <a:solidFill>
                  <a:srgbClr val="6B6F76"/>
                </a:solidFill>
                <a:latin typeface="맑은 고딕" pitchFamily="34" charset="0"/>
                <a:ea typeface="맑은 고딕" pitchFamily="34" charset="-122"/>
                <a:cs typeface="맑은 고딕" pitchFamily="34" charset="-120"/>
              </a:rPr>
              <a:t>리포트로 점검 동선과 출동 여부 결정</a:t>
            </a:r>
            <a:endParaRPr lang="en-US" sz="1200" dirty="0"/>
          </a:p>
        </p:txBody>
      </p:sp>
      <p:sp>
        <p:nvSpPr>
          <p:cNvPr id="28" name="Shape 23"/>
          <p:cNvSpPr/>
          <p:nvPr/>
        </p:nvSpPr>
        <p:spPr>
          <a:xfrm>
            <a:off x="548640" y="4700016"/>
            <a:ext cx="5577840" cy="868680"/>
          </a:xfrm>
          <a:prstGeom prst="roundRect">
            <a:avLst>
              <a:gd name="adj" fmla="val 8421"/>
            </a:avLst>
          </a:prstGeom>
          <a:solidFill>
            <a:srgbClr val="F3F4F6"/>
          </a:solidFill>
          <a:ln w="6350">
            <a:solidFill>
              <a:srgbClr val="F3F4F6"/>
            </a:solidFill>
            <a:prstDash val="solid"/>
          </a:ln>
        </p:spPr>
      </p:sp>
      <p:sp>
        <p:nvSpPr>
          <p:cNvPr id="29" name="Shape 24"/>
          <p:cNvSpPr/>
          <p:nvPr/>
        </p:nvSpPr>
        <p:spPr>
          <a:xfrm>
            <a:off x="731520" y="4846320"/>
            <a:ext cx="576072" cy="576072"/>
          </a:xfrm>
          <a:prstGeom prst="ellipse">
            <a:avLst/>
          </a:prstGeom>
          <a:solidFill>
            <a:srgbClr val="6B6F76"/>
          </a:solidFill>
          <a:ln w="12700">
            <a:solidFill>
              <a:srgbClr val="6B6F76"/>
            </a:solidFill>
            <a:prstDash val="solid"/>
          </a:ln>
        </p:spPr>
      </p:sp>
      <p:pic>
        <p:nvPicPr>
          <p:cNvPr id="30" name="Image 3" descr="preencoded.png">    </p:cNvPr>
          <p:cNvPicPr>
            <a:picLocks noChangeAspect="1"/>
          </p:cNvPicPr>
          <p:nvPr/>
        </p:nvPicPr>
        <p:blipFill>
          <a:blip r:embed="rId4"/>
          <a:stretch>
            <a:fillRect/>
          </a:stretch>
        </p:blipFill>
        <p:spPr>
          <a:xfrm>
            <a:off x="881299" y="4996099"/>
            <a:ext cx="276515" cy="276515"/>
          </a:xfrm>
          <a:prstGeom prst="rect">
            <a:avLst/>
          </a:prstGeom>
        </p:spPr>
      </p:pic>
      <p:sp>
        <p:nvSpPr>
          <p:cNvPr id="31" name="Shape 25"/>
          <p:cNvSpPr/>
          <p:nvPr/>
        </p:nvSpPr>
        <p:spPr>
          <a:xfrm>
            <a:off x="1463040" y="4974336"/>
            <a:ext cx="685800" cy="310896"/>
          </a:xfrm>
          <a:prstGeom prst="roundRect">
            <a:avLst>
              <a:gd name="adj" fmla="val 50000"/>
            </a:avLst>
          </a:prstGeom>
          <a:solidFill>
            <a:srgbClr val="6B6F76"/>
          </a:solidFill>
          <a:ln w="12700">
            <a:solidFill>
              <a:srgbClr val="6B6F76"/>
            </a:solidFill>
            <a:prstDash val="solid"/>
          </a:ln>
        </p:spPr>
      </p:sp>
      <p:sp>
        <p:nvSpPr>
          <p:cNvPr id="32" name="Text 26"/>
          <p:cNvSpPr txBox="1"/>
          <p:nvPr/>
        </p:nvSpPr>
        <p:spPr>
          <a:xfrm>
            <a:off x="1463040" y="4974336"/>
            <a:ext cx="68580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영향</a:t>
            </a:r>
            <a:endParaRPr lang="en-US" sz="1100" dirty="0"/>
          </a:p>
        </p:txBody>
      </p:sp>
      <p:sp>
        <p:nvSpPr>
          <p:cNvPr id="33" name="Text 27"/>
          <p:cNvSpPr txBox="1"/>
          <p:nvPr/>
        </p:nvSpPr>
        <p:spPr>
          <a:xfrm>
            <a:off x="2331720" y="4791456"/>
            <a:ext cx="3657600" cy="347472"/>
          </a:xfrm>
          <a:prstGeom prst="rect">
            <a:avLst/>
          </a:prstGeom>
          <a:noFill/>
          <a:ln/>
        </p:spPr>
        <p:txBody>
          <a:bodyPr wrap="square" lIns="0" tIns="0" rIns="0" bIns="0" rtlCol="0" anchor="ctr"/>
          <a:lstStyle/>
          <a:p>
            <a:pPr indent="0" marL="0">
              <a:buNone/>
            </a:pPr>
            <a:r>
              <a:rPr lang="en-US" sz="1450" b="1" dirty="0">
                <a:solidFill>
                  <a:srgbClr val="2B2D31"/>
                </a:solidFill>
                <a:latin typeface="맑은 고딕" pitchFamily="34" charset="0"/>
                <a:ea typeface="맑은 고딕" pitchFamily="34" charset="-122"/>
                <a:cs typeface="맑은 고딕" pitchFamily="34" charset="-120"/>
              </a:rPr>
              <a:t>방식(防蝕) 전문 업체 · 연구자</a:t>
            </a:r>
            <a:endParaRPr lang="en-US" sz="1450" dirty="0"/>
          </a:p>
        </p:txBody>
      </p:sp>
      <p:sp>
        <p:nvSpPr>
          <p:cNvPr id="34" name="Text 28"/>
          <p:cNvSpPr txBox="1"/>
          <p:nvPr/>
        </p:nvSpPr>
        <p:spPr>
          <a:xfrm>
            <a:off x="2331720" y="5157216"/>
            <a:ext cx="3657600" cy="320040"/>
          </a:xfrm>
          <a:prstGeom prst="rect">
            <a:avLst/>
          </a:prstGeom>
          <a:noFill/>
          <a:ln/>
        </p:spPr>
        <p:txBody>
          <a:bodyPr wrap="square" lIns="0" tIns="0" rIns="0" bIns="0" rtlCol="0" anchor="t"/>
          <a:lstStyle/>
          <a:p>
            <a:pPr indent="0" marL="0">
              <a:buNone/>
            </a:pPr>
            <a:r>
              <a:rPr lang="en-US" sz="1200" dirty="0">
                <a:solidFill>
                  <a:srgbClr val="6B6F76"/>
                </a:solidFill>
                <a:latin typeface="맑은 고딕" pitchFamily="34" charset="0"/>
                <a:ea typeface="맑은 고딕" pitchFamily="34" charset="-122"/>
                <a:cs typeface="맑은 고딕" pitchFamily="34" charset="-120"/>
              </a:rPr>
              <a:t>기술 교차 검증 · 고객 소개</a:t>
            </a:r>
            <a:endParaRPr lang="en-US" sz="1200" dirty="0"/>
          </a:p>
        </p:txBody>
      </p:sp>
      <p:sp>
        <p:nvSpPr>
          <p:cNvPr id="35" name="Text 29"/>
          <p:cNvSpPr txBox="1"/>
          <p:nvPr/>
        </p:nvSpPr>
        <p:spPr>
          <a:xfrm>
            <a:off x="6537960" y="1325880"/>
            <a:ext cx="868680" cy="777240"/>
          </a:xfrm>
          <a:prstGeom prst="rect">
            <a:avLst/>
          </a:prstGeom>
          <a:noFill/>
          <a:ln/>
        </p:spPr>
        <p:txBody>
          <a:bodyPr wrap="square" lIns="0" tIns="0" rIns="0" bIns="0" rtlCol="0" anchor="ctr"/>
          <a:lstStyle/>
          <a:p>
            <a:pPr indent="0" marL="0">
              <a:buNone/>
            </a:pPr>
            <a:r>
              <a:rPr lang="en-US" sz="1400" b="1" dirty="0">
                <a:solidFill>
                  <a:srgbClr val="B5501F"/>
                </a:solidFill>
                <a:latin typeface="맑은 고딕" pitchFamily="34" charset="0"/>
                <a:ea typeface="맑은 고딕" pitchFamily="34" charset="-122"/>
                <a:cs typeface="맑은 고딕" pitchFamily="34" charset="-120"/>
              </a:rPr>
              <a:t>가치</a:t>
            </a:r>
            <a:endParaRPr lang="en-US" sz="1400" dirty="0"/>
          </a:p>
        </p:txBody>
      </p:sp>
      <p:sp>
        <p:nvSpPr>
          <p:cNvPr id="36" name="Text 30"/>
          <p:cNvSpPr txBox="1"/>
          <p:nvPr/>
        </p:nvSpPr>
        <p:spPr>
          <a:xfrm>
            <a:off x="7452360" y="1325880"/>
            <a:ext cx="4190695" cy="777240"/>
          </a:xfrm>
          <a:prstGeom prst="rect">
            <a:avLst/>
          </a:prstGeom>
          <a:noFill/>
          <a:ln/>
        </p:spPr>
        <p:txBody>
          <a:bodyPr wrap="square" lIns="0" tIns="0" rIns="0" bIns="0" rtlCol="0" anchor="ctr"/>
          <a:lstStyle/>
          <a:p>
            <a:pPr indent="0" marL="0">
              <a:buNone/>
            </a:pPr>
            <a:r>
              <a:rPr lang="en-US" sz="1300" dirty="0">
                <a:solidFill>
                  <a:srgbClr val="2B2D31"/>
                </a:solidFill>
                <a:latin typeface="맑은 고딕" pitchFamily="34" charset="0"/>
                <a:ea typeface="맑은 고딕" pitchFamily="34" charset="-122"/>
                <a:cs typeface="맑은 고딕" pitchFamily="34" charset="-120"/>
              </a:rPr>
              <a:t>드론 사전 스캔으로 위험도 선별 → 규제 주기 안에서 자원 배치 최적화, 잔여 수명(RUL) 예측</a:t>
            </a:r>
            <a:endParaRPr lang="en-US" sz="1300" dirty="0"/>
          </a:p>
        </p:txBody>
      </p:sp>
      <p:sp>
        <p:nvSpPr>
          <p:cNvPr id="37" name="Shape 31"/>
          <p:cNvSpPr/>
          <p:nvPr/>
        </p:nvSpPr>
        <p:spPr>
          <a:xfrm>
            <a:off x="6537960" y="2148840"/>
            <a:ext cx="5105095" cy="0"/>
          </a:xfrm>
          <a:prstGeom prst="line">
            <a:avLst/>
          </a:prstGeom>
          <a:noFill/>
          <a:ln w="12700">
            <a:solidFill>
              <a:srgbClr val="D9DCE0"/>
            </a:solidFill>
            <a:prstDash val="solid"/>
          </a:ln>
        </p:spPr>
      </p:sp>
      <p:sp>
        <p:nvSpPr>
          <p:cNvPr id="38" name="Text 32"/>
          <p:cNvSpPr txBox="1"/>
          <p:nvPr/>
        </p:nvSpPr>
        <p:spPr>
          <a:xfrm>
            <a:off x="6537960" y="2194560"/>
            <a:ext cx="868680" cy="777240"/>
          </a:xfrm>
          <a:prstGeom prst="rect">
            <a:avLst/>
          </a:prstGeom>
          <a:noFill/>
          <a:ln/>
        </p:spPr>
        <p:txBody>
          <a:bodyPr wrap="square" lIns="0" tIns="0" rIns="0" bIns="0" rtlCol="0" anchor="ctr"/>
          <a:lstStyle/>
          <a:p>
            <a:pPr indent="0" marL="0">
              <a:buNone/>
            </a:pPr>
            <a:r>
              <a:rPr lang="en-US" sz="1400" b="1" dirty="0">
                <a:solidFill>
                  <a:srgbClr val="B5501F"/>
                </a:solidFill>
                <a:latin typeface="맑은 고딕" pitchFamily="34" charset="0"/>
                <a:ea typeface="맑은 고딕" pitchFamily="34" charset="-122"/>
                <a:cs typeface="맑은 고딕" pitchFamily="34" charset="-120"/>
              </a:rPr>
              <a:t>수익</a:t>
            </a:r>
            <a:endParaRPr lang="en-US" sz="1400" dirty="0"/>
          </a:p>
        </p:txBody>
      </p:sp>
      <p:sp>
        <p:nvSpPr>
          <p:cNvPr id="39" name="Text 33"/>
          <p:cNvSpPr txBox="1"/>
          <p:nvPr/>
        </p:nvSpPr>
        <p:spPr>
          <a:xfrm>
            <a:off x="7452360" y="2194560"/>
            <a:ext cx="4190695" cy="777240"/>
          </a:xfrm>
          <a:prstGeom prst="rect">
            <a:avLst/>
          </a:prstGeom>
          <a:noFill/>
          <a:ln/>
        </p:spPr>
        <p:txBody>
          <a:bodyPr wrap="square" lIns="0" tIns="0" rIns="0" bIns="0" rtlCol="0" anchor="ctr"/>
          <a:lstStyle/>
          <a:p>
            <a:pPr indent="0" marL="0">
              <a:buNone/>
            </a:pPr>
            <a:r>
              <a:rPr lang="en-US" sz="1300" dirty="0">
                <a:solidFill>
                  <a:srgbClr val="2B2D31"/>
                </a:solidFill>
                <a:latin typeface="맑은 고딕" pitchFamily="34" charset="0"/>
                <a:ea typeface="맑은 고딕" pitchFamily="34" charset="-122"/>
                <a:cs typeface="맑은 고딕" pitchFamily="34" charset="-120"/>
              </a:rPr>
              <a:t>점검 건당 요금 또는 구독형 서비스 요금</a:t>
            </a:r>
            <a:endParaRPr lang="en-US" sz="1300" dirty="0"/>
          </a:p>
        </p:txBody>
      </p:sp>
      <p:sp>
        <p:nvSpPr>
          <p:cNvPr id="40" name="Shape 34"/>
          <p:cNvSpPr/>
          <p:nvPr/>
        </p:nvSpPr>
        <p:spPr>
          <a:xfrm>
            <a:off x="6537960" y="3017520"/>
            <a:ext cx="5105095" cy="0"/>
          </a:xfrm>
          <a:prstGeom prst="line">
            <a:avLst/>
          </a:prstGeom>
          <a:noFill/>
          <a:ln w="12700">
            <a:solidFill>
              <a:srgbClr val="D9DCE0"/>
            </a:solidFill>
            <a:prstDash val="solid"/>
          </a:ln>
        </p:spPr>
      </p:sp>
      <p:sp>
        <p:nvSpPr>
          <p:cNvPr id="41" name="Text 35"/>
          <p:cNvSpPr txBox="1"/>
          <p:nvPr/>
        </p:nvSpPr>
        <p:spPr>
          <a:xfrm>
            <a:off x="6537960" y="3063240"/>
            <a:ext cx="868680" cy="777240"/>
          </a:xfrm>
          <a:prstGeom prst="rect">
            <a:avLst/>
          </a:prstGeom>
          <a:noFill/>
          <a:ln/>
        </p:spPr>
        <p:txBody>
          <a:bodyPr wrap="square" lIns="0" tIns="0" rIns="0" bIns="0" rtlCol="0" anchor="ctr"/>
          <a:lstStyle/>
          <a:p>
            <a:pPr indent="0" marL="0">
              <a:buNone/>
            </a:pPr>
            <a:r>
              <a:rPr lang="en-US" sz="1400" b="1" dirty="0">
                <a:solidFill>
                  <a:srgbClr val="B5501F"/>
                </a:solidFill>
                <a:latin typeface="맑은 고딕" pitchFamily="34" charset="0"/>
                <a:ea typeface="맑은 고딕" pitchFamily="34" charset="-122"/>
                <a:cs typeface="맑은 고딕" pitchFamily="34" charset="-120"/>
              </a:rPr>
              <a:t>채널</a:t>
            </a:r>
            <a:endParaRPr lang="en-US" sz="1400" dirty="0"/>
          </a:p>
        </p:txBody>
      </p:sp>
      <p:sp>
        <p:nvSpPr>
          <p:cNvPr id="42" name="Text 36"/>
          <p:cNvSpPr txBox="1"/>
          <p:nvPr/>
        </p:nvSpPr>
        <p:spPr>
          <a:xfrm>
            <a:off x="7452360" y="3063240"/>
            <a:ext cx="4190695" cy="777240"/>
          </a:xfrm>
          <a:prstGeom prst="rect">
            <a:avLst/>
          </a:prstGeom>
          <a:noFill/>
          <a:ln/>
        </p:spPr>
        <p:txBody>
          <a:bodyPr wrap="square" lIns="0" tIns="0" rIns="0" bIns="0" rtlCol="0" anchor="ctr"/>
          <a:lstStyle/>
          <a:p>
            <a:pPr indent="0" marL="0">
              <a:buNone/>
            </a:pPr>
            <a:r>
              <a:rPr lang="en-US" sz="1300" dirty="0">
                <a:solidFill>
                  <a:srgbClr val="2B2D31"/>
                </a:solidFill>
                <a:latin typeface="맑은 고딕" pitchFamily="34" charset="0"/>
                <a:ea typeface="맑은 고딕" pitchFamily="34" charset="-122"/>
                <a:cs typeface="맑은 고딕" pitchFamily="34" charset="-120"/>
              </a:rPr>
              <a:t>점검 프로그램 매니저 직접 영업 · 방식 전문 업체 추천</a:t>
            </a:r>
            <a:endParaRPr lang="en-US" sz="1300" dirty="0"/>
          </a:p>
        </p:txBody>
      </p:sp>
      <p:sp>
        <p:nvSpPr>
          <p:cNvPr id="43" name="Shape 37"/>
          <p:cNvSpPr/>
          <p:nvPr/>
        </p:nvSpPr>
        <p:spPr>
          <a:xfrm>
            <a:off x="6537960" y="3886200"/>
            <a:ext cx="5105095" cy="0"/>
          </a:xfrm>
          <a:prstGeom prst="line">
            <a:avLst/>
          </a:prstGeom>
          <a:noFill/>
          <a:ln w="12700">
            <a:solidFill>
              <a:srgbClr val="D9DCE0"/>
            </a:solidFill>
            <a:prstDash val="solid"/>
          </a:ln>
        </p:spPr>
      </p:sp>
      <p:sp>
        <p:nvSpPr>
          <p:cNvPr id="44" name="Text 38"/>
          <p:cNvSpPr txBox="1"/>
          <p:nvPr/>
        </p:nvSpPr>
        <p:spPr>
          <a:xfrm>
            <a:off x="6537960" y="3931920"/>
            <a:ext cx="868680" cy="777240"/>
          </a:xfrm>
          <a:prstGeom prst="rect">
            <a:avLst/>
          </a:prstGeom>
          <a:noFill/>
          <a:ln/>
        </p:spPr>
        <p:txBody>
          <a:bodyPr wrap="square" lIns="0" tIns="0" rIns="0" bIns="0" rtlCol="0" anchor="ctr"/>
          <a:lstStyle/>
          <a:p>
            <a:pPr indent="0" marL="0">
              <a:buNone/>
            </a:pPr>
            <a:r>
              <a:rPr lang="en-US" sz="1400" b="1" dirty="0">
                <a:solidFill>
                  <a:srgbClr val="B5501F"/>
                </a:solidFill>
                <a:latin typeface="맑은 고딕" pitchFamily="34" charset="0"/>
                <a:ea typeface="맑은 고딕" pitchFamily="34" charset="-122"/>
                <a:cs typeface="맑은 고딕" pitchFamily="34" charset="-120"/>
              </a:rPr>
              <a:t>파트너</a:t>
            </a:r>
            <a:endParaRPr lang="en-US" sz="1400" dirty="0"/>
          </a:p>
        </p:txBody>
      </p:sp>
      <p:sp>
        <p:nvSpPr>
          <p:cNvPr id="45" name="Text 39"/>
          <p:cNvSpPr txBox="1"/>
          <p:nvPr/>
        </p:nvSpPr>
        <p:spPr>
          <a:xfrm>
            <a:off x="7452360" y="3931920"/>
            <a:ext cx="4190695" cy="777240"/>
          </a:xfrm>
          <a:prstGeom prst="rect">
            <a:avLst/>
          </a:prstGeom>
          <a:noFill/>
          <a:ln/>
        </p:spPr>
        <p:txBody>
          <a:bodyPr wrap="square" lIns="0" tIns="0" rIns="0" bIns="0" rtlCol="0" anchor="ctr"/>
          <a:lstStyle/>
          <a:p>
            <a:pPr indent="0" marL="0">
              <a:buNone/>
            </a:pPr>
            <a:r>
              <a:rPr lang="en-US" sz="1300" dirty="0">
                <a:solidFill>
                  <a:srgbClr val="2B2D31"/>
                </a:solidFill>
                <a:latin typeface="맑은 고딕" pitchFamily="34" charset="0"/>
                <a:ea typeface="맑은 고딕" pitchFamily="34" charset="-122"/>
                <a:cs typeface="맑은 고딕" pitchFamily="34" charset="-120"/>
              </a:rPr>
              <a:t>방식 전문 업체 (예: Farwest Corrosion Control) · 드론 하드웨어 업체</a:t>
            </a:r>
            <a:endParaRPr lang="en-US" sz="1300" dirty="0"/>
          </a:p>
        </p:txBody>
      </p:sp>
      <p:sp>
        <p:nvSpPr>
          <p:cNvPr id="46" name="Shape 40"/>
          <p:cNvSpPr/>
          <p:nvPr/>
        </p:nvSpPr>
        <p:spPr>
          <a:xfrm>
            <a:off x="6537960" y="4754880"/>
            <a:ext cx="5105095" cy="0"/>
          </a:xfrm>
          <a:prstGeom prst="line">
            <a:avLst/>
          </a:prstGeom>
          <a:noFill/>
          <a:ln w="12700">
            <a:solidFill>
              <a:srgbClr val="D9DCE0"/>
            </a:solidFill>
            <a:prstDash val="solid"/>
          </a:ln>
        </p:spPr>
      </p:sp>
      <p:sp>
        <p:nvSpPr>
          <p:cNvPr id="47" name="Shape 41"/>
          <p:cNvSpPr/>
          <p:nvPr/>
        </p:nvSpPr>
        <p:spPr>
          <a:xfrm>
            <a:off x="6537960" y="4937760"/>
            <a:ext cx="5105095" cy="868680"/>
          </a:xfrm>
          <a:prstGeom prst="roundRect">
            <a:avLst>
              <a:gd name="adj" fmla="val 6316"/>
            </a:avLst>
          </a:prstGeom>
          <a:solidFill>
            <a:srgbClr val="FFF6DB"/>
          </a:solidFill>
          <a:ln w="15875">
            <a:solidFill>
              <a:srgbClr val="E0B23C"/>
            </a:solidFill>
            <a:prstDash val="dash"/>
          </a:ln>
        </p:spPr>
      </p:sp>
      <p:sp>
        <p:nvSpPr>
          <p:cNvPr id="48" name="Text 42"/>
          <p:cNvSpPr txBox="1"/>
          <p:nvPr/>
        </p:nvSpPr>
        <p:spPr>
          <a:xfrm>
            <a:off x="6675120" y="4937760"/>
            <a:ext cx="4830775" cy="868680"/>
          </a:xfrm>
          <a:prstGeom prst="rect">
            <a:avLst/>
          </a:prstGeom>
          <a:noFill/>
          <a:ln/>
        </p:spPr>
        <p:txBody>
          <a:bodyPr wrap="square" lIns="0" tIns="0" rIns="0" bIns="0" rtlCol="0" anchor="ctr"/>
          <a:lstStyle/>
          <a:p>
            <a:pPr indent="0" marL="0">
              <a:buNone/>
            </a:pPr>
            <a:r>
              <a:rPr lang="en-US" sz="1250" dirty="0">
                <a:solidFill>
                  <a:srgbClr val="9A6A00"/>
                </a:solidFill>
                <a:latin typeface="맑은 고딕" pitchFamily="34" charset="0"/>
                <a:ea typeface="맑은 고딕" pitchFamily="34" charset="-122"/>
                <a:cs typeface="맑은 고딕" pitchFamily="34" charset="-120"/>
              </a:rPr>
              <a:t>✎  가격 가설 (예: 구조물 1기 스캔당 $○○ / 연 구독 $○○) — 수익 모델은 아직 검증 중</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indent="0" marL="0">
              <a:buNone/>
            </a:pPr>
            <a:r>
              <a:rPr lang="en-US" sz="1200" b="1" spc="100" kern="0" dirty="0">
                <a:solidFill>
                  <a:srgbClr val="B5501F"/>
                </a:solidFill>
                <a:latin typeface="맑은 고딕" pitchFamily="34" charset="0"/>
                <a:ea typeface="맑은 고딕" pitchFamily="34" charset="-122"/>
                <a:cs typeface="맑은 고딕" pitchFamily="34" charset="-120"/>
              </a:rPr>
              <a:t>MARKET</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indent="0" marL="0">
              <a:buNone/>
            </a:pPr>
            <a:r>
              <a:rPr lang="en-US" sz="2800" b="1" dirty="0">
                <a:solidFill>
                  <a:srgbClr val="2B2D31"/>
                </a:solidFill>
                <a:latin typeface="맑은 고딕" pitchFamily="34" charset="0"/>
                <a:ea typeface="맑은 고딕" pitchFamily="34" charset="-122"/>
                <a:cs typeface="맑은 고딕" pitchFamily="34" charset="-120"/>
              </a:rPr>
              <a:t>규제가 만드는 반복 수요</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indent="0" marL="0">
              <a:buNone/>
            </a:pPr>
            <a:r>
              <a:rPr lang="en-US" sz="900" dirty="0">
                <a:solidFill>
                  <a:srgbClr val="A3A7AD"/>
                </a:solidFill>
                <a:latin typeface="맑은 고딕" pitchFamily="34" charset="0"/>
                <a:ea typeface="맑은 고딕" pitchFamily="34" charset="-122"/>
                <a:cs typeface="맑은 고딕" pitchFamily="34" charset="-120"/>
              </a:rPr>
              <a:t>MLC  ·  Tex-Corps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900" dirty="0">
                <a:solidFill>
                  <a:srgbClr val="A3A7AD"/>
                </a:solidFill>
                <a:latin typeface="맑은 고딕" pitchFamily="34" charset="0"/>
                <a:ea typeface="맑은 고딕" pitchFamily="34" charset="-122"/>
                <a:cs typeface="맑은 고딕" pitchFamily="34" charset="-120"/>
              </a:rPr>
              <a:t>8</a:t>
            </a:r>
            <a:endParaRPr lang="en-US" sz="900" dirty="0"/>
          </a:p>
        </p:txBody>
      </p:sp>
      <p:sp>
        <p:nvSpPr>
          <p:cNvPr id="6" name="Shape 4"/>
          <p:cNvSpPr/>
          <p:nvPr/>
        </p:nvSpPr>
        <p:spPr>
          <a:xfrm>
            <a:off x="548640" y="1371600"/>
            <a:ext cx="3545738" cy="1600200"/>
          </a:xfrm>
          <a:prstGeom prst="roundRect">
            <a:avLst>
              <a:gd name="adj" fmla="val 4571"/>
            </a:avLst>
          </a:prstGeom>
          <a:solidFill>
            <a:srgbClr val="F3F4F6"/>
          </a:solidFill>
          <a:ln w="6350">
            <a:solidFill>
              <a:srgbClr val="F3F4F6"/>
            </a:solidFill>
            <a:prstDash val="solid"/>
          </a:ln>
        </p:spPr>
      </p:sp>
      <p:sp>
        <p:nvSpPr>
          <p:cNvPr id="7" name="Text 5"/>
          <p:cNvSpPr txBox="1"/>
          <p:nvPr/>
        </p:nvSpPr>
        <p:spPr>
          <a:xfrm>
            <a:off x="822960" y="1536192"/>
            <a:ext cx="1828800" cy="320040"/>
          </a:xfrm>
          <a:prstGeom prst="rect">
            <a:avLst/>
          </a:prstGeom>
          <a:noFill/>
          <a:ln/>
        </p:spPr>
        <p:txBody>
          <a:bodyPr wrap="square" lIns="0" tIns="0" rIns="0" bIns="0" rtlCol="0" anchor="t"/>
          <a:lstStyle/>
          <a:p>
            <a:pPr indent="0" marL="0">
              <a:buNone/>
            </a:pPr>
            <a:r>
              <a:rPr lang="en-US" sz="1400" b="1" dirty="0">
                <a:solidFill>
                  <a:srgbClr val="B5501F"/>
                </a:solidFill>
                <a:latin typeface="맑은 고딕" pitchFamily="34" charset="0"/>
                <a:ea typeface="맑은 고딕" pitchFamily="34" charset="-122"/>
                <a:cs typeface="맑은 고딕" pitchFamily="34" charset="-120"/>
              </a:rPr>
              <a:t>Level I</a:t>
            </a:r>
            <a:endParaRPr lang="en-US" sz="1400" dirty="0"/>
          </a:p>
        </p:txBody>
      </p:sp>
      <p:sp>
        <p:nvSpPr>
          <p:cNvPr id="8" name="Text 6"/>
          <p:cNvSpPr txBox="1"/>
          <p:nvPr/>
        </p:nvSpPr>
        <p:spPr>
          <a:xfrm>
            <a:off x="2448458" y="1463040"/>
            <a:ext cx="1371600" cy="457200"/>
          </a:xfrm>
          <a:prstGeom prst="rect">
            <a:avLst/>
          </a:prstGeom>
          <a:noFill/>
          <a:ln/>
        </p:spPr>
        <p:txBody>
          <a:bodyPr wrap="square" lIns="0" tIns="0" rIns="0" bIns="0" rtlCol="0" anchor="t"/>
          <a:lstStyle/>
          <a:p>
            <a:pPr algn="r" indent="0" marL="0">
              <a:buNone/>
            </a:pPr>
            <a:r>
              <a:rPr lang="en-US" sz="2200" b="1" dirty="0">
                <a:solidFill>
                  <a:srgbClr val="B5501F"/>
                </a:solidFill>
                <a:latin typeface="맑은 고딕" pitchFamily="34" charset="0"/>
                <a:ea typeface="맑은 고딕" pitchFamily="34" charset="-122"/>
                <a:cs typeface="맑은 고딕" pitchFamily="34" charset="-120"/>
              </a:rPr>
              <a:t>매년</a:t>
            </a:r>
            <a:endParaRPr lang="en-US" sz="2200" dirty="0"/>
          </a:p>
        </p:txBody>
      </p:sp>
      <p:sp>
        <p:nvSpPr>
          <p:cNvPr id="9" name="Text 7"/>
          <p:cNvSpPr txBox="1"/>
          <p:nvPr/>
        </p:nvSpPr>
        <p:spPr>
          <a:xfrm>
            <a:off x="822960" y="1965960"/>
            <a:ext cx="2997098" cy="365760"/>
          </a:xfrm>
          <a:prstGeom prst="rect">
            <a:avLst/>
          </a:prstGeom>
          <a:noFill/>
          <a:ln/>
        </p:spPr>
        <p:txBody>
          <a:bodyPr wrap="square" lIns="0" tIns="0" rIns="0" bIns="0" rtlCol="0" anchor="t"/>
          <a:lstStyle/>
          <a:p>
            <a:pPr indent="0" marL="0">
              <a:buNone/>
            </a:pPr>
            <a:r>
              <a:rPr lang="en-US" sz="1600" b="1" dirty="0">
                <a:solidFill>
                  <a:srgbClr val="2B2D31"/>
                </a:solidFill>
                <a:latin typeface="맑은 고딕" pitchFamily="34" charset="0"/>
                <a:ea typeface="맑은 고딕" pitchFamily="34" charset="-122"/>
                <a:cs typeface="맑은 고딕" pitchFamily="34" charset="-120"/>
              </a:rPr>
              <a:t>수상 육안 점검</a:t>
            </a:r>
            <a:endParaRPr lang="en-US" sz="1600" dirty="0"/>
          </a:p>
        </p:txBody>
      </p:sp>
      <p:sp>
        <p:nvSpPr>
          <p:cNvPr id="10" name="Text 8"/>
          <p:cNvSpPr txBox="1"/>
          <p:nvPr/>
        </p:nvSpPr>
        <p:spPr>
          <a:xfrm>
            <a:off x="822960" y="2377440"/>
            <a:ext cx="2997098" cy="457200"/>
          </a:xfrm>
          <a:prstGeom prst="rect">
            <a:avLst/>
          </a:prstGeom>
          <a:noFill/>
          <a:ln/>
        </p:spPr>
        <p:txBody>
          <a:bodyPr wrap="square" lIns="0" tIns="0" rIns="0" bIns="0" rtlCol="0" anchor="t"/>
          <a:lstStyle/>
          <a:p>
            <a:pPr indent="0" marL="0">
              <a:buNone/>
            </a:pPr>
            <a:r>
              <a:rPr lang="en-US" sz="1250" dirty="0">
                <a:solidFill>
                  <a:srgbClr val="6B6F76"/>
                </a:solidFill>
                <a:latin typeface="맑은 고딕" pitchFamily="34" charset="0"/>
                <a:ea typeface="맑은 고딕" pitchFamily="34" charset="-122"/>
                <a:cs typeface="맑은 고딕" pitchFamily="34" charset="-120"/>
              </a:rPr>
              <a:t>도장 · 구조 · 비말대 육안 스캔</a:t>
            </a:r>
            <a:endParaRPr lang="en-US" sz="1250" dirty="0"/>
          </a:p>
        </p:txBody>
      </p:sp>
      <p:sp>
        <p:nvSpPr>
          <p:cNvPr id="11" name="Shape 9"/>
          <p:cNvSpPr/>
          <p:nvPr/>
        </p:nvSpPr>
        <p:spPr>
          <a:xfrm>
            <a:off x="4322978" y="1371600"/>
            <a:ext cx="3545738" cy="1600200"/>
          </a:xfrm>
          <a:prstGeom prst="roundRect">
            <a:avLst>
              <a:gd name="adj" fmla="val 4571"/>
            </a:avLst>
          </a:prstGeom>
          <a:solidFill>
            <a:srgbClr val="F3F4F6"/>
          </a:solidFill>
          <a:ln w="6350">
            <a:solidFill>
              <a:srgbClr val="F3F4F6"/>
            </a:solidFill>
            <a:prstDash val="solid"/>
          </a:ln>
        </p:spPr>
      </p:sp>
      <p:sp>
        <p:nvSpPr>
          <p:cNvPr id="12" name="Text 10"/>
          <p:cNvSpPr txBox="1"/>
          <p:nvPr/>
        </p:nvSpPr>
        <p:spPr>
          <a:xfrm>
            <a:off x="4597298" y="1536192"/>
            <a:ext cx="1828800" cy="320040"/>
          </a:xfrm>
          <a:prstGeom prst="rect">
            <a:avLst/>
          </a:prstGeom>
          <a:noFill/>
          <a:ln/>
        </p:spPr>
        <p:txBody>
          <a:bodyPr wrap="square" lIns="0" tIns="0" rIns="0" bIns="0" rtlCol="0" anchor="t"/>
          <a:lstStyle/>
          <a:p>
            <a:pPr indent="0" marL="0">
              <a:buNone/>
            </a:pPr>
            <a:r>
              <a:rPr lang="en-US" sz="1400" b="1" dirty="0">
                <a:solidFill>
                  <a:srgbClr val="1F5F7A"/>
                </a:solidFill>
                <a:latin typeface="맑은 고딕" pitchFamily="34" charset="0"/>
                <a:ea typeface="맑은 고딕" pitchFamily="34" charset="-122"/>
                <a:cs typeface="맑은 고딕" pitchFamily="34" charset="-120"/>
              </a:rPr>
              <a:t>Level II</a:t>
            </a:r>
            <a:endParaRPr lang="en-US" sz="1400" dirty="0"/>
          </a:p>
        </p:txBody>
      </p:sp>
      <p:sp>
        <p:nvSpPr>
          <p:cNvPr id="13" name="Text 11"/>
          <p:cNvSpPr txBox="1"/>
          <p:nvPr/>
        </p:nvSpPr>
        <p:spPr>
          <a:xfrm>
            <a:off x="6222797" y="1463040"/>
            <a:ext cx="1371600" cy="457200"/>
          </a:xfrm>
          <a:prstGeom prst="rect">
            <a:avLst/>
          </a:prstGeom>
          <a:noFill/>
          <a:ln/>
        </p:spPr>
        <p:txBody>
          <a:bodyPr wrap="square" lIns="0" tIns="0" rIns="0" bIns="0" rtlCol="0" anchor="t"/>
          <a:lstStyle/>
          <a:p>
            <a:pPr algn="r" indent="0" marL="0">
              <a:buNone/>
            </a:pPr>
            <a:r>
              <a:rPr lang="en-US" sz="2200" b="1" dirty="0">
                <a:solidFill>
                  <a:srgbClr val="1F5F7A"/>
                </a:solidFill>
                <a:latin typeface="맑은 고딕" pitchFamily="34" charset="0"/>
                <a:ea typeface="맑은 고딕" pitchFamily="34" charset="-122"/>
                <a:cs typeface="맑은 고딕" pitchFamily="34" charset="-120"/>
              </a:rPr>
              <a:t>3–5년</a:t>
            </a:r>
            <a:endParaRPr lang="en-US" sz="2200" dirty="0"/>
          </a:p>
        </p:txBody>
      </p:sp>
      <p:sp>
        <p:nvSpPr>
          <p:cNvPr id="14" name="Text 12"/>
          <p:cNvSpPr txBox="1"/>
          <p:nvPr/>
        </p:nvSpPr>
        <p:spPr>
          <a:xfrm>
            <a:off x="4597298" y="1965960"/>
            <a:ext cx="2997098" cy="365760"/>
          </a:xfrm>
          <a:prstGeom prst="rect">
            <a:avLst/>
          </a:prstGeom>
          <a:noFill/>
          <a:ln/>
        </p:spPr>
        <p:txBody>
          <a:bodyPr wrap="square" lIns="0" tIns="0" rIns="0" bIns="0" rtlCol="0" anchor="t"/>
          <a:lstStyle/>
          <a:p>
            <a:pPr indent="0" marL="0">
              <a:buNone/>
            </a:pPr>
            <a:r>
              <a:rPr lang="en-US" sz="1600" b="1" dirty="0">
                <a:solidFill>
                  <a:srgbClr val="2B2D31"/>
                </a:solidFill>
                <a:latin typeface="맑은 고딕" pitchFamily="34" charset="0"/>
                <a:ea typeface="맑은 고딕" pitchFamily="34" charset="-122"/>
                <a:cs typeface="맑은 고딕" pitchFamily="34" charset="-120"/>
              </a:rPr>
              <a:t>수중 일반 점검</a:t>
            </a:r>
            <a:endParaRPr lang="en-US" sz="1600" dirty="0"/>
          </a:p>
        </p:txBody>
      </p:sp>
      <p:sp>
        <p:nvSpPr>
          <p:cNvPr id="15" name="Text 13"/>
          <p:cNvSpPr txBox="1"/>
          <p:nvPr/>
        </p:nvSpPr>
        <p:spPr>
          <a:xfrm>
            <a:off x="4597298" y="2377440"/>
            <a:ext cx="2997098" cy="457200"/>
          </a:xfrm>
          <a:prstGeom prst="rect">
            <a:avLst/>
          </a:prstGeom>
          <a:noFill/>
          <a:ln/>
        </p:spPr>
        <p:txBody>
          <a:bodyPr wrap="square" lIns="0" tIns="0" rIns="0" bIns="0" rtlCol="0" anchor="t"/>
          <a:lstStyle/>
          <a:p>
            <a:pPr indent="0" marL="0">
              <a:buNone/>
            </a:pPr>
            <a:r>
              <a:rPr lang="en-US" sz="1250" dirty="0">
                <a:solidFill>
                  <a:srgbClr val="6B6F76"/>
                </a:solidFill>
                <a:latin typeface="맑은 고딕" pitchFamily="34" charset="0"/>
                <a:ea typeface="맑은 고딕" pitchFamily="34" charset="-122"/>
                <a:cs typeface="맑은 고딕" pitchFamily="34" charset="-120"/>
              </a:rPr>
              <a:t>잠수부 · ROV 조사</a:t>
            </a:r>
            <a:endParaRPr lang="en-US" sz="1250" dirty="0"/>
          </a:p>
        </p:txBody>
      </p:sp>
      <p:sp>
        <p:nvSpPr>
          <p:cNvPr id="16" name="Shape 14"/>
          <p:cNvSpPr/>
          <p:nvPr/>
        </p:nvSpPr>
        <p:spPr>
          <a:xfrm>
            <a:off x="8097317" y="1371600"/>
            <a:ext cx="3545738" cy="1600200"/>
          </a:xfrm>
          <a:prstGeom prst="roundRect">
            <a:avLst>
              <a:gd name="adj" fmla="val 4571"/>
            </a:avLst>
          </a:prstGeom>
          <a:solidFill>
            <a:srgbClr val="F3F4F6"/>
          </a:solidFill>
          <a:ln w="6350">
            <a:solidFill>
              <a:srgbClr val="F3F4F6"/>
            </a:solidFill>
            <a:prstDash val="solid"/>
          </a:ln>
        </p:spPr>
      </p:sp>
      <p:sp>
        <p:nvSpPr>
          <p:cNvPr id="17" name="Text 15"/>
          <p:cNvSpPr txBox="1"/>
          <p:nvPr/>
        </p:nvSpPr>
        <p:spPr>
          <a:xfrm>
            <a:off x="8371637" y="1536192"/>
            <a:ext cx="1828800" cy="320040"/>
          </a:xfrm>
          <a:prstGeom prst="rect">
            <a:avLst/>
          </a:prstGeom>
          <a:noFill/>
          <a:ln/>
        </p:spPr>
        <p:txBody>
          <a:bodyPr wrap="square" lIns="0" tIns="0" rIns="0" bIns="0" rtlCol="0" anchor="t"/>
          <a:lstStyle/>
          <a:p>
            <a:pPr indent="0" marL="0">
              <a:buNone/>
            </a:pPr>
            <a:r>
              <a:rPr lang="en-US" sz="1400" b="1" dirty="0">
                <a:solidFill>
                  <a:srgbClr val="2B2D31"/>
                </a:solidFill>
                <a:latin typeface="맑은 고딕" pitchFamily="34" charset="0"/>
                <a:ea typeface="맑은 고딕" pitchFamily="34" charset="-122"/>
                <a:cs typeface="맑은 고딕" pitchFamily="34" charset="-120"/>
              </a:rPr>
              <a:t>Level III</a:t>
            </a:r>
            <a:endParaRPr lang="en-US" sz="1400" dirty="0"/>
          </a:p>
        </p:txBody>
      </p:sp>
      <p:sp>
        <p:nvSpPr>
          <p:cNvPr id="18" name="Text 16"/>
          <p:cNvSpPr txBox="1"/>
          <p:nvPr/>
        </p:nvSpPr>
        <p:spPr>
          <a:xfrm>
            <a:off x="9997135" y="1463040"/>
            <a:ext cx="1371600" cy="457200"/>
          </a:xfrm>
          <a:prstGeom prst="rect">
            <a:avLst/>
          </a:prstGeom>
          <a:noFill/>
          <a:ln/>
        </p:spPr>
        <p:txBody>
          <a:bodyPr wrap="square" lIns="0" tIns="0" rIns="0" bIns="0" rtlCol="0" anchor="t"/>
          <a:lstStyle/>
          <a:p>
            <a:pPr algn="r" indent="0" marL="0">
              <a:buNone/>
            </a:pPr>
            <a:r>
              <a:rPr lang="en-US" sz="2200" b="1" dirty="0">
                <a:solidFill>
                  <a:srgbClr val="2B2D31"/>
                </a:solidFill>
                <a:latin typeface="맑은 고딕" pitchFamily="34" charset="0"/>
                <a:ea typeface="맑은 고딕" pitchFamily="34" charset="-122"/>
                <a:cs typeface="맑은 고딕" pitchFamily="34" charset="-120"/>
              </a:rPr>
              <a:t>6–10년</a:t>
            </a:r>
            <a:endParaRPr lang="en-US" sz="2200" dirty="0"/>
          </a:p>
        </p:txBody>
      </p:sp>
      <p:sp>
        <p:nvSpPr>
          <p:cNvPr id="19" name="Text 17"/>
          <p:cNvSpPr txBox="1"/>
          <p:nvPr/>
        </p:nvSpPr>
        <p:spPr>
          <a:xfrm>
            <a:off x="8371637" y="1965960"/>
            <a:ext cx="2997098" cy="365760"/>
          </a:xfrm>
          <a:prstGeom prst="rect">
            <a:avLst/>
          </a:prstGeom>
          <a:noFill/>
          <a:ln/>
        </p:spPr>
        <p:txBody>
          <a:bodyPr wrap="square" lIns="0" tIns="0" rIns="0" bIns="0" rtlCol="0" anchor="t"/>
          <a:lstStyle/>
          <a:p>
            <a:pPr indent="0" marL="0">
              <a:buNone/>
            </a:pPr>
            <a:r>
              <a:rPr lang="en-US" sz="1600" b="1" dirty="0">
                <a:solidFill>
                  <a:srgbClr val="2B2D31"/>
                </a:solidFill>
                <a:latin typeface="맑은 고딕" pitchFamily="34" charset="0"/>
                <a:ea typeface="맑은 고딕" pitchFamily="34" charset="-122"/>
                <a:cs typeface="맑은 고딕" pitchFamily="34" charset="-120"/>
              </a:rPr>
              <a:t>수중 정밀 점검</a:t>
            </a:r>
            <a:endParaRPr lang="en-US" sz="1600" dirty="0"/>
          </a:p>
        </p:txBody>
      </p:sp>
      <p:sp>
        <p:nvSpPr>
          <p:cNvPr id="20" name="Text 18"/>
          <p:cNvSpPr txBox="1"/>
          <p:nvPr/>
        </p:nvSpPr>
        <p:spPr>
          <a:xfrm>
            <a:off x="8371637" y="2377440"/>
            <a:ext cx="2997098" cy="457200"/>
          </a:xfrm>
          <a:prstGeom prst="rect">
            <a:avLst/>
          </a:prstGeom>
          <a:noFill/>
          <a:ln/>
        </p:spPr>
        <p:txBody>
          <a:bodyPr wrap="square" lIns="0" tIns="0" rIns="0" bIns="0" rtlCol="0" anchor="t"/>
          <a:lstStyle/>
          <a:p>
            <a:pPr indent="0" marL="0">
              <a:buNone/>
            </a:pPr>
            <a:r>
              <a:rPr lang="en-US" sz="1250" dirty="0">
                <a:solidFill>
                  <a:srgbClr val="6B6F76"/>
                </a:solidFill>
                <a:latin typeface="맑은 고딕" pitchFamily="34" charset="0"/>
                <a:ea typeface="맑은 고딕" pitchFamily="34" charset="-122"/>
                <a:cs typeface="맑은 고딕" pitchFamily="34" charset="-120"/>
              </a:rPr>
              <a:t>지정 부위 세척 후 근접 육안 · 피트 계측</a:t>
            </a:r>
            <a:endParaRPr lang="en-US" sz="1250" dirty="0"/>
          </a:p>
        </p:txBody>
      </p:sp>
      <p:sp>
        <p:nvSpPr>
          <p:cNvPr id="21" name="Text 19"/>
          <p:cNvSpPr txBox="1"/>
          <p:nvPr/>
        </p:nvSpPr>
        <p:spPr>
          <a:xfrm>
            <a:off x="548640" y="3127248"/>
            <a:ext cx="5486400" cy="274320"/>
          </a:xfrm>
          <a:prstGeom prst="rect">
            <a:avLst/>
          </a:prstGeom>
          <a:noFill/>
          <a:ln/>
        </p:spPr>
        <p:txBody>
          <a:bodyPr wrap="square" lIns="0" tIns="0" rIns="0" bIns="0" rtlCol="0" anchor="t"/>
          <a:lstStyle/>
          <a:p>
            <a:pPr indent="0" marL="0">
              <a:buNone/>
            </a:pPr>
            <a:r>
              <a:rPr lang="en-US" sz="1200" dirty="0">
                <a:solidFill>
                  <a:srgbClr val="6B6F76"/>
                </a:solidFill>
                <a:latin typeface="맑은 고딕" pitchFamily="34" charset="0"/>
                <a:ea typeface="맑은 고딕" pitchFamily="34" charset="-122"/>
                <a:cs typeface="맑은 고딕" pitchFamily="34" charset="-120"/>
              </a:rPr>
              <a:t>미국 해양 구조물 점검 체계 — 4개 기관이 겹쳐 규제</a:t>
            </a:r>
            <a:endParaRPr lang="en-US" sz="1200" dirty="0"/>
          </a:p>
        </p:txBody>
      </p:sp>
      <p:sp>
        <p:nvSpPr>
          <p:cNvPr id="22" name="Shape 20"/>
          <p:cNvSpPr/>
          <p:nvPr/>
        </p:nvSpPr>
        <p:spPr>
          <a:xfrm>
            <a:off x="5394960" y="3108960"/>
            <a:ext cx="868680" cy="310896"/>
          </a:xfrm>
          <a:prstGeom prst="roundRect">
            <a:avLst>
              <a:gd name="adj" fmla="val 50000"/>
            </a:avLst>
          </a:prstGeom>
          <a:solidFill>
            <a:srgbClr val="1F5F7A"/>
          </a:solidFill>
          <a:ln w="12700">
            <a:solidFill>
              <a:srgbClr val="1F5F7A"/>
            </a:solidFill>
            <a:prstDash val="solid"/>
          </a:ln>
        </p:spPr>
      </p:sp>
      <p:sp>
        <p:nvSpPr>
          <p:cNvPr id="23" name="Text 21"/>
          <p:cNvSpPr txBox="1"/>
          <p:nvPr/>
        </p:nvSpPr>
        <p:spPr>
          <a:xfrm>
            <a:off x="5394960" y="3108960"/>
            <a:ext cx="86868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BSEE</a:t>
            </a:r>
            <a:endParaRPr lang="en-US" sz="1100" dirty="0"/>
          </a:p>
        </p:txBody>
      </p:sp>
      <p:sp>
        <p:nvSpPr>
          <p:cNvPr id="24" name="Shape 22"/>
          <p:cNvSpPr/>
          <p:nvPr/>
        </p:nvSpPr>
        <p:spPr>
          <a:xfrm>
            <a:off x="6355080" y="3108960"/>
            <a:ext cx="868680" cy="310896"/>
          </a:xfrm>
          <a:prstGeom prst="roundRect">
            <a:avLst>
              <a:gd name="adj" fmla="val 50000"/>
            </a:avLst>
          </a:prstGeom>
          <a:solidFill>
            <a:srgbClr val="1F5F7A"/>
          </a:solidFill>
          <a:ln w="12700">
            <a:solidFill>
              <a:srgbClr val="1F5F7A"/>
            </a:solidFill>
            <a:prstDash val="solid"/>
          </a:ln>
        </p:spPr>
      </p:sp>
      <p:sp>
        <p:nvSpPr>
          <p:cNvPr id="25" name="Text 23"/>
          <p:cNvSpPr txBox="1"/>
          <p:nvPr/>
        </p:nvSpPr>
        <p:spPr>
          <a:xfrm>
            <a:off x="6355080" y="3108960"/>
            <a:ext cx="86868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PHMSA</a:t>
            </a:r>
            <a:endParaRPr lang="en-US" sz="1100" dirty="0"/>
          </a:p>
        </p:txBody>
      </p:sp>
      <p:sp>
        <p:nvSpPr>
          <p:cNvPr id="26" name="Shape 24"/>
          <p:cNvSpPr/>
          <p:nvPr/>
        </p:nvSpPr>
        <p:spPr>
          <a:xfrm>
            <a:off x="7315200" y="3108960"/>
            <a:ext cx="868680" cy="310896"/>
          </a:xfrm>
          <a:prstGeom prst="roundRect">
            <a:avLst>
              <a:gd name="adj" fmla="val 50000"/>
            </a:avLst>
          </a:prstGeom>
          <a:solidFill>
            <a:srgbClr val="1F5F7A"/>
          </a:solidFill>
          <a:ln w="12700">
            <a:solidFill>
              <a:srgbClr val="1F5F7A"/>
            </a:solidFill>
            <a:prstDash val="solid"/>
          </a:ln>
        </p:spPr>
      </p:sp>
      <p:sp>
        <p:nvSpPr>
          <p:cNvPr id="27" name="Text 25"/>
          <p:cNvSpPr txBox="1"/>
          <p:nvPr/>
        </p:nvSpPr>
        <p:spPr>
          <a:xfrm>
            <a:off x="7315200" y="3108960"/>
            <a:ext cx="86868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USCG</a:t>
            </a:r>
            <a:endParaRPr lang="en-US" sz="1100" dirty="0"/>
          </a:p>
        </p:txBody>
      </p:sp>
      <p:sp>
        <p:nvSpPr>
          <p:cNvPr id="28" name="Shape 26"/>
          <p:cNvSpPr/>
          <p:nvPr/>
        </p:nvSpPr>
        <p:spPr>
          <a:xfrm>
            <a:off x="8275320" y="3108960"/>
            <a:ext cx="868680" cy="310896"/>
          </a:xfrm>
          <a:prstGeom prst="roundRect">
            <a:avLst>
              <a:gd name="adj" fmla="val 50000"/>
            </a:avLst>
          </a:prstGeom>
          <a:solidFill>
            <a:srgbClr val="1F5F7A"/>
          </a:solidFill>
          <a:ln w="12700">
            <a:solidFill>
              <a:srgbClr val="1F5F7A"/>
            </a:solidFill>
            <a:prstDash val="solid"/>
          </a:ln>
        </p:spPr>
      </p:sp>
      <p:sp>
        <p:nvSpPr>
          <p:cNvPr id="29" name="Text 27"/>
          <p:cNvSpPr txBox="1"/>
          <p:nvPr/>
        </p:nvSpPr>
        <p:spPr>
          <a:xfrm>
            <a:off x="8275320" y="3108960"/>
            <a:ext cx="86868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ABS</a:t>
            </a:r>
            <a:endParaRPr lang="en-US" sz="1100" dirty="0"/>
          </a:p>
        </p:txBody>
      </p:sp>
      <p:sp>
        <p:nvSpPr>
          <p:cNvPr id="30" name="Text 28"/>
          <p:cNvSpPr txBox="1"/>
          <p:nvPr/>
        </p:nvSpPr>
        <p:spPr>
          <a:xfrm>
            <a:off x="548640" y="3749040"/>
            <a:ext cx="822960" cy="475488"/>
          </a:xfrm>
          <a:prstGeom prst="rect">
            <a:avLst/>
          </a:prstGeom>
          <a:noFill/>
          <a:ln/>
        </p:spPr>
        <p:txBody>
          <a:bodyPr wrap="square" lIns="0" tIns="0" rIns="0" bIns="0" rtlCol="0" anchor="ctr"/>
          <a:lstStyle/>
          <a:p>
            <a:pPr indent="0" marL="0">
              <a:buNone/>
            </a:pPr>
            <a:r>
              <a:rPr lang="en-US" sz="1600" b="1" dirty="0">
                <a:solidFill>
                  <a:srgbClr val="B5501F"/>
                </a:solidFill>
                <a:latin typeface="맑은 고딕" pitchFamily="34" charset="0"/>
                <a:ea typeface="맑은 고딕" pitchFamily="34" charset="-122"/>
                <a:cs typeface="맑은 고딕" pitchFamily="34" charset="-120"/>
              </a:rPr>
              <a:t>TAM</a:t>
            </a:r>
            <a:endParaRPr lang="en-US" sz="1600" dirty="0"/>
          </a:p>
        </p:txBody>
      </p:sp>
      <p:sp>
        <p:nvSpPr>
          <p:cNvPr id="31" name="Shape 29"/>
          <p:cNvSpPr/>
          <p:nvPr/>
        </p:nvSpPr>
        <p:spPr>
          <a:xfrm>
            <a:off x="1417320" y="3749040"/>
            <a:ext cx="6583680" cy="475488"/>
          </a:xfrm>
          <a:prstGeom prst="roundRect">
            <a:avLst>
              <a:gd name="adj" fmla="val 11538"/>
            </a:avLst>
          </a:prstGeom>
          <a:solidFill>
            <a:srgbClr val="FFF6DB"/>
          </a:solidFill>
          <a:ln w="15875">
            <a:solidFill>
              <a:srgbClr val="E0B23C"/>
            </a:solidFill>
            <a:prstDash val="dash"/>
          </a:ln>
        </p:spPr>
      </p:sp>
      <p:sp>
        <p:nvSpPr>
          <p:cNvPr id="32" name="Text 30"/>
          <p:cNvSpPr txBox="1"/>
          <p:nvPr/>
        </p:nvSpPr>
        <p:spPr>
          <a:xfrm>
            <a:off x="1554480" y="3749040"/>
            <a:ext cx="6309360" cy="475488"/>
          </a:xfrm>
          <a:prstGeom prst="rect">
            <a:avLst/>
          </a:prstGeom>
          <a:noFill/>
          <a:ln/>
        </p:spPr>
        <p:txBody>
          <a:bodyPr wrap="square" lIns="0" tIns="0" rIns="0" bIns="0" rtlCol="0" anchor="ctr"/>
          <a:lstStyle/>
          <a:p>
            <a:pPr indent="0" marL="0">
              <a:buNone/>
            </a:pPr>
            <a:r>
              <a:rPr lang="en-US" sz="1150" dirty="0">
                <a:solidFill>
                  <a:srgbClr val="9A6A00"/>
                </a:solidFill>
                <a:latin typeface="맑은 고딕" pitchFamily="34" charset="0"/>
                <a:ea typeface="맑은 고딕" pitchFamily="34" charset="-122"/>
                <a:cs typeface="맑은 고딕" pitchFamily="34" charset="-120"/>
              </a:rPr>
              <a:t>✎  글로벌 부식 모니터링 시장 — USD 1.1–2.9B (2025, 보고서별 상이): 1개 확정</a:t>
            </a:r>
            <a:endParaRPr lang="en-US" sz="1150" dirty="0"/>
          </a:p>
        </p:txBody>
      </p:sp>
      <p:sp>
        <p:nvSpPr>
          <p:cNvPr id="33" name="Text 31"/>
          <p:cNvSpPr txBox="1"/>
          <p:nvPr/>
        </p:nvSpPr>
        <p:spPr>
          <a:xfrm>
            <a:off x="548640" y="4315968"/>
            <a:ext cx="822960" cy="475488"/>
          </a:xfrm>
          <a:prstGeom prst="rect">
            <a:avLst/>
          </a:prstGeom>
          <a:noFill/>
          <a:ln/>
        </p:spPr>
        <p:txBody>
          <a:bodyPr wrap="square" lIns="0" tIns="0" rIns="0" bIns="0" rtlCol="0" anchor="ctr"/>
          <a:lstStyle/>
          <a:p>
            <a:pPr indent="0" marL="0">
              <a:buNone/>
            </a:pPr>
            <a:r>
              <a:rPr lang="en-US" sz="1600" b="1" dirty="0">
                <a:solidFill>
                  <a:srgbClr val="B5501F"/>
                </a:solidFill>
                <a:latin typeface="맑은 고딕" pitchFamily="34" charset="0"/>
                <a:ea typeface="맑은 고딕" pitchFamily="34" charset="-122"/>
                <a:cs typeface="맑은 고딕" pitchFamily="34" charset="-120"/>
              </a:rPr>
              <a:t>SAM</a:t>
            </a:r>
            <a:endParaRPr lang="en-US" sz="1600" dirty="0"/>
          </a:p>
        </p:txBody>
      </p:sp>
      <p:sp>
        <p:nvSpPr>
          <p:cNvPr id="34" name="Shape 32"/>
          <p:cNvSpPr/>
          <p:nvPr/>
        </p:nvSpPr>
        <p:spPr>
          <a:xfrm>
            <a:off x="1417320" y="4315968"/>
            <a:ext cx="6583680" cy="475488"/>
          </a:xfrm>
          <a:prstGeom prst="roundRect">
            <a:avLst>
              <a:gd name="adj" fmla="val 11538"/>
            </a:avLst>
          </a:prstGeom>
          <a:solidFill>
            <a:srgbClr val="FFF6DB"/>
          </a:solidFill>
          <a:ln w="15875">
            <a:solidFill>
              <a:srgbClr val="E0B23C"/>
            </a:solidFill>
            <a:prstDash val="dash"/>
          </a:ln>
        </p:spPr>
      </p:sp>
      <p:sp>
        <p:nvSpPr>
          <p:cNvPr id="35" name="Text 33"/>
          <p:cNvSpPr txBox="1"/>
          <p:nvPr/>
        </p:nvSpPr>
        <p:spPr>
          <a:xfrm>
            <a:off x="1554480" y="4315968"/>
            <a:ext cx="6309360" cy="475488"/>
          </a:xfrm>
          <a:prstGeom prst="rect">
            <a:avLst/>
          </a:prstGeom>
          <a:noFill/>
          <a:ln/>
        </p:spPr>
        <p:txBody>
          <a:bodyPr wrap="square" lIns="0" tIns="0" rIns="0" bIns="0" rtlCol="0" anchor="ctr"/>
          <a:lstStyle/>
          <a:p>
            <a:pPr indent="0" marL="0">
              <a:buNone/>
            </a:pPr>
            <a:r>
              <a:rPr lang="en-US" sz="1150" dirty="0">
                <a:solidFill>
                  <a:srgbClr val="9A6A00"/>
                </a:solidFill>
                <a:latin typeface="맑은 고딕" pitchFamily="34" charset="0"/>
                <a:ea typeface="맑은 고딕" pitchFamily="34" charset="-122"/>
                <a:cs typeface="맑은 고딕" pitchFamily="34" charset="-120"/>
              </a:rPr>
              <a:t>✎  미국 멕시코만 해양 플랫폼 · 미드스트림 외부 부식 점검 시장</a:t>
            </a:r>
            <a:endParaRPr lang="en-US" sz="1150" dirty="0"/>
          </a:p>
        </p:txBody>
      </p:sp>
      <p:sp>
        <p:nvSpPr>
          <p:cNvPr id="36" name="Text 34"/>
          <p:cNvSpPr txBox="1"/>
          <p:nvPr/>
        </p:nvSpPr>
        <p:spPr>
          <a:xfrm>
            <a:off x="548640" y="4882896"/>
            <a:ext cx="822960" cy="475488"/>
          </a:xfrm>
          <a:prstGeom prst="rect">
            <a:avLst/>
          </a:prstGeom>
          <a:noFill/>
          <a:ln/>
        </p:spPr>
        <p:txBody>
          <a:bodyPr wrap="square" lIns="0" tIns="0" rIns="0" bIns="0" rtlCol="0" anchor="ctr"/>
          <a:lstStyle/>
          <a:p>
            <a:pPr indent="0" marL="0">
              <a:buNone/>
            </a:pPr>
            <a:r>
              <a:rPr lang="en-US" sz="1600" b="1" dirty="0">
                <a:solidFill>
                  <a:srgbClr val="B5501F"/>
                </a:solidFill>
                <a:latin typeface="맑은 고딕" pitchFamily="34" charset="0"/>
                <a:ea typeface="맑은 고딕" pitchFamily="34" charset="-122"/>
                <a:cs typeface="맑은 고딕" pitchFamily="34" charset="-120"/>
              </a:rPr>
              <a:t>SOM</a:t>
            </a:r>
            <a:endParaRPr lang="en-US" sz="1600" dirty="0"/>
          </a:p>
        </p:txBody>
      </p:sp>
      <p:sp>
        <p:nvSpPr>
          <p:cNvPr id="37" name="Shape 35"/>
          <p:cNvSpPr/>
          <p:nvPr/>
        </p:nvSpPr>
        <p:spPr>
          <a:xfrm>
            <a:off x="1417320" y="4882896"/>
            <a:ext cx="6583680" cy="475488"/>
          </a:xfrm>
          <a:prstGeom prst="roundRect">
            <a:avLst>
              <a:gd name="adj" fmla="val 11538"/>
            </a:avLst>
          </a:prstGeom>
          <a:solidFill>
            <a:srgbClr val="FFF6DB"/>
          </a:solidFill>
          <a:ln w="15875">
            <a:solidFill>
              <a:srgbClr val="E0B23C"/>
            </a:solidFill>
            <a:prstDash val="dash"/>
          </a:ln>
        </p:spPr>
      </p:sp>
      <p:sp>
        <p:nvSpPr>
          <p:cNvPr id="38" name="Text 36"/>
          <p:cNvSpPr txBox="1"/>
          <p:nvPr/>
        </p:nvSpPr>
        <p:spPr>
          <a:xfrm>
            <a:off x="1554480" y="4882896"/>
            <a:ext cx="6309360" cy="475488"/>
          </a:xfrm>
          <a:prstGeom prst="rect">
            <a:avLst/>
          </a:prstGeom>
          <a:noFill/>
          <a:ln/>
        </p:spPr>
        <p:txBody>
          <a:bodyPr wrap="square" lIns="0" tIns="0" rIns="0" bIns="0" rtlCol="0" anchor="ctr"/>
          <a:lstStyle/>
          <a:p>
            <a:pPr indent="0" marL="0">
              <a:buNone/>
            </a:pPr>
            <a:r>
              <a:rPr lang="en-US" sz="1150" dirty="0">
                <a:solidFill>
                  <a:srgbClr val="9A6A00"/>
                </a:solidFill>
                <a:latin typeface="맑은 고딕" pitchFamily="34" charset="0"/>
                <a:ea typeface="맑은 고딕" pitchFamily="34" charset="-122"/>
                <a:cs typeface="맑은 고딕" pitchFamily="34" charset="-120"/>
              </a:rPr>
              <a:t>✎  첫 3년: 파일럿 고객 수 × 연간 스캔 구조물 수 × 단가</a:t>
            </a:r>
            <a:endParaRPr lang="en-US" sz="1150" dirty="0"/>
          </a:p>
        </p:txBody>
      </p:sp>
      <p:sp>
        <p:nvSpPr>
          <p:cNvPr id="39" name="Shape 37"/>
          <p:cNvSpPr/>
          <p:nvPr/>
        </p:nvSpPr>
        <p:spPr>
          <a:xfrm>
            <a:off x="8275320" y="3749040"/>
            <a:ext cx="3367735" cy="1609344"/>
          </a:xfrm>
          <a:prstGeom prst="roundRect">
            <a:avLst>
              <a:gd name="adj" fmla="val 4545"/>
            </a:avLst>
          </a:prstGeom>
          <a:solidFill>
            <a:srgbClr val="E3EFF4"/>
          </a:solidFill>
          <a:ln w="6350">
            <a:solidFill>
              <a:srgbClr val="E3EFF4"/>
            </a:solidFill>
            <a:prstDash val="solid"/>
          </a:ln>
        </p:spPr>
      </p:sp>
      <p:sp>
        <p:nvSpPr>
          <p:cNvPr id="40" name="Text 38"/>
          <p:cNvSpPr txBox="1"/>
          <p:nvPr/>
        </p:nvSpPr>
        <p:spPr>
          <a:xfrm>
            <a:off x="8503920" y="3886200"/>
            <a:ext cx="3001975" cy="274320"/>
          </a:xfrm>
          <a:prstGeom prst="rect">
            <a:avLst/>
          </a:prstGeom>
          <a:noFill/>
          <a:ln/>
        </p:spPr>
        <p:txBody>
          <a:bodyPr wrap="square" lIns="0" tIns="0" rIns="0" bIns="0" rtlCol="0" anchor="t"/>
          <a:lstStyle/>
          <a:p>
            <a:pPr indent="0" marL="0">
              <a:buNone/>
            </a:pPr>
            <a:r>
              <a:rPr lang="en-US" sz="1250" b="1" dirty="0">
                <a:solidFill>
                  <a:srgbClr val="1F5F7A"/>
                </a:solidFill>
                <a:latin typeface="맑은 고딕" pitchFamily="34" charset="0"/>
                <a:ea typeface="맑은 고딕" pitchFamily="34" charset="-122"/>
                <a:cs typeface="맑은 고딕" pitchFamily="34" charset="-120"/>
              </a:rPr>
              <a:t>국내 확장 후보 (검증 예정)</a:t>
            </a:r>
            <a:endParaRPr lang="en-US" sz="1250" dirty="0"/>
          </a:p>
        </p:txBody>
      </p:sp>
      <p:sp>
        <p:nvSpPr>
          <p:cNvPr id="41" name="Shape 39"/>
          <p:cNvSpPr/>
          <p:nvPr/>
        </p:nvSpPr>
        <p:spPr>
          <a:xfrm>
            <a:off x="8503920" y="4297680"/>
            <a:ext cx="384048" cy="384048"/>
          </a:xfrm>
          <a:prstGeom prst="ellipse">
            <a:avLst/>
          </a:prstGeom>
          <a:solidFill>
            <a:srgbClr val="1F5F7A"/>
          </a:solidFill>
          <a:ln w="12700">
            <a:solidFill>
              <a:srgbClr val="1F5F7A"/>
            </a:solidFill>
            <a:prstDash val="solid"/>
          </a:ln>
        </p:spPr>
      </p:sp>
      <p:pic>
        <p:nvPicPr>
          <p:cNvPr id="42" name="Image 0" descr="preencoded.png">    </p:cNvPr>
          <p:cNvPicPr>
            <a:picLocks noChangeAspect="1"/>
          </p:cNvPicPr>
          <p:nvPr/>
        </p:nvPicPr>
        <p:blipFill>
          <a:blip r:embed="rId1"/>
          <a:stretch>
            <a:fillRect/>
          </a:stretch>
        </p:blipFill>
        <p:spPr>
          <a:xfrm>
            <a:off x="8603772" y="4397532"/>
            <a:ext cx="184343" cy="184343"/>
          </a:xfrm>
          <a:prstGeom prst="rect">
            <a:avLst/>
          </a:prstGeom>
        </p:spPr>
      </p:pic>
      <p:sp>
        <p:nvSpPr>
          <p:cNvPr id="43" name="Text 40"/>
          <p:cNvSpPr txBox="1"/>
          <p:nvPr/>
        </p:nvSpPr>
        <p:spPr>
          <a:xfrm>
            <a:off x="9006840" y="4297680"/>
            <a:ext cx="2544775" cy="384048"/>
          </a:xfrm>
          <a:prstGeom prst="rect">
            <a:avLst/>
          </a:prstGeom>
          <a:noFill/>
          <a:ln/>
        </p:spPr>
        <p:txBody>
          <a:bodyPr wrap="square" lIns="0" tIns="0" rIns="0" bIns="0" rtlCol="0" anchor="ctr"/>
          <a:lstStyle/>
          <a:p>
            <a:pPr indent="0" marL="0">
              <a:buNone/>
            </a:pPr>
            <a:r>
              <a:rPr lang="en-US" sz="1300" dirty="0">
                <a:solidFill>
                  <a:srgbClr val="2B2D31"/>
                </a:solidFill>
                <a:latin typeface="맑은 고딕" pitchFamily="34" charset="0"/>
                <a:ea typeface="맑은 고딕" pitchFamily="34" charset="-122"/>
                <a:cs typeface="맑은 고딕" pitchFamily="34" charset="-120"/>
              </a:rPr>
              <a:t>해상풍력 하부 구조</a:t>
            </a:r>
            <a:endParaRPr lang="en-US" sz="1300" dirty="0"/>
          </a:p>
        </p:txBody>
      </p:sp>
      <p:sp>
        <p:nvSpPr>
          <p:cNvPr id="44" name="Shape 41"/>
          <p:cNvSpPr/>
          <p:nvPr/>
        </p:nvSpPr>
        <p:spPr>
          <a:xfrm>
            <a:off x="8503920" y="4800600"/>
            <a:ext cx="384048" cy="384048"/>
          </a:xfrm>
          <a:prstGeom prst="ellipse">
            <a:avLst/>
          </a:prstGeom>
          <a:solidFill>
            <a:srgbClr val="1F5F7A"/>
          </a:solidFill>
          <a:ln w="12700">
            <a:solidFill>
              <a:srgbClr val="1F5F7A"/>
            </a:solidFill>
            <a:prstDash val="solid"/>
          </a:ln>
        </p:spPr>
      </p:sp>
      <p:pic>
        <p:nvPicPr>
          <p:cNvPr id="45" name="Image 1" descr="preencoded.png">    </p:cNvPr>
          <p:cNvPicPr>
            <a:picLocks noChangeAspect="1"/>
          </p:cNvPicPr>
          <p:nvPr/>
        </p:nvPicPr>
        <p:blipFill>
          <a:blip r:embed="rId2"/>
          <a:stretch>
            <a:fillRect/>
          </a:stretch>
        </p:blipFill>
        <p:spPr>
          <a:xfrm>
            <a:off x="8603772" y="4900452"/>
            <a:ext cx="184343" cy="184343"/>
          </a:xfrm>
          <a:prstGeom prst="rect">
            <a:avLst/>
          </a:prstGeom>
        </p:spPr>
      </p:pic>
      <p:sp>
        <p:nvSpPr>
          <p:cNvPr id="46" name="Text 42"/>
          <p:cNvSpPr txBox="1"/>
          <p:nvPr/>
        </p:nvSpPr>
        <p:spPr>
          <a:xfrm>
            <a:off x="9006840" y="4800600"/>
            <a:ext cx="2544775" cy="384048"/>
          </a:xfrm>
          <a:prstGeom prst="rect">
            <a:avLst/>
          </a:prstGeom>
          <a:noFill/>
          <a:ln/>
        </p:spPr>
        <p:txBody>
          <a:bodyPr wrap="square" lIns="0" tIns="0" rIns="0" bIns="0" rtlCol="0" anchor="ctr"/>
          <a:lstStyle/>
          <a:p>
            <a:pPr indent="0" marL="0">
              <a:buNone/>
            </a:pPr>
            <a:r>
              <a:rPr lang="en-US" sz="1300" dirty="0">
                <a:solidFill>
                  <a:srgbClr val="2B2D31"/>
                </a:solidFill>
                <a:latin typeface="맑은 고딕" pitchFamily="34" charset="0"/>
                <a:ea typeface="맑은 고딕" pitchFamily="34" charset="-122"/>
                <a:cs typeface="맑은 고딕" pitchFamily="34" charset="-120"/>
              </a:rPr>
              <a:t>해양 플랜트 · 조선 · 항만</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indent="0" marL="0">
              <a:buNone/>
            </a:pPr>
            <a:r>
              <a:rPr lang="en-US" sz="1200" b="1" spc="100" kern="0" dirty="0">
                <a:solidFill>
                  <a:srgbClr val="B5501F"/>
                </a:solidFill>
                <a:latin typeface="맑은 고딕" pitchFamily="34" charset="0"/>
                <a:ea typeface="맑은 고딕" pitchFamily="34" charset="-122"/>
                <a:cs typeface="맑은 고딕" pitchFamily="34" charset="-120"/>
              </a:rPr>
              <a:t>TRACTION  ·  ROADMAP</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indent="0" marL="0">
              <a:buNone/>
            </a:pPr>
            <a:r>
              <a:rPr lang="en-US" sz="2800" b="1" dirty="0">
                <a:solidFill>
                  <a:srgbClr val="2B2D31"/>
                </a:solidFill>
                <a:latin typeface="맑은 고딕" pitchFamily="34" charset="0"/>
                <a:ea typeface="맑은 고딕" pitchFamily="34" charset="-122"/>
                <a:cs typeface="맑은 고딕" pitchFamily="34" charset="-120"/>
              </a:rPr>
              <a:t>지금까지, 그리고 다음 단계</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indent="0" marL="0">
              <a:buNone/>
            </a:pPr>
            <a:r>
              <a:rPr lang="en-US" sz="900" dirty="0">
                <a:solidFill>
                  <a:srgbClr val="A3A7AD"/>
                </a:solidFill>
                <a:latin typeface="맑은 고딕" pitchFamily="34" charset="0"/>
                <a:ea typeface="맑은 고딕" pitchFamily="34" charset="-122"/>
                <a:cs typeface="맑은 고딕" pitchFamily="34" charset="-120"/>
              </a:rPr>
              <a:t>MLC  ·  Tex-Corps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900" dirty="0">
                <a:solidFill>
                  <a:srgbClr val="A3A7AD"/>
                </a:solidFill>
                <a:latin typeface="맑은 고딕" pitchFamily="34" charset="0"/>
                <a:ea typeface="맑은 고딕" pitchFamily="34" charset="-122"/>
                <a:cs typeface="맑은 고딕" pitchFamily="34" charset="-120"/>
              </a:rPr>
              <a:t>9</a:t>
            </a:r>
            <a:endParaRPr lang="en-US" sz="900" dirty="0"/>
          </a:p>
        </p:txBody>
      </p:sp>
      <p:sp>
        <p:nvSpPr>
          <p:cNvPr id="6" name="Text 4"/>
          <p:cNvSpPr txBox="1"/>
          <p:nvPr/>
        </p:nvSpPr>
        <p:spPr>
          <a:xfrm>
            <a:off x="548640" y="1371600"/>
            <a:ext cx="4206240" cy="320040"/>
          </a:xfrm>
          <a:prstGeom prst="rect">
            <a:avLst/>
          </a:prstGeom>
          <a:noFill/>
          <a:ln/>
        </p:spPr>
        <p:txBody>
          <a:bodyPr wrap="square" lIns="0" tIns="0" rIns="0" bIns="0" rtlCol="0" anchor="t"/>
          <a:lstStyle/>
          <a:p>
            <a:pPr indent="0" marL="0">
              <a:buNone/>
            </a:pPr>
            <a:r>
              <a:rPr lang="en-US" sz="1600" b="1" dirty="0">
                <a:solidFill>
                  <a:srgbClr val="B5501F"/>
                </a:solidFill>
                <a:latin typeface="맑은 고딕" pitchFamily="34" charset="0"/>
                <a:ea typeface="맑은 고딕" pitchFamily="34" charset="-122"/>
                <a:cs typeface="맑은 고딕" pitchFamily="34" charset="-120"/>
              </a:rPr>
              <a:t>지금까지</a:t>
            </a:r>
            <a:endParaRPr lang="en-US" sz="1600" dirty="0"/>
          </a:p>
        </p:txBody>
      </p:sp>
      <p:sp>
        <p:nvSpPr>
          <p:cNvPr id="7" name="Shape 5"/>
          <p:cNvSpPr/>
          <p:nvPr/>
        </p:nvSpPr>
        <p:spPr>
          <a:xfrm>
            <a:off x="548640" y="1874520"/>
            <a:ext cx="457200" cy="457200"/>
          </a:xfrm>
          <a:prstGeom prst="ellipse">
            <a:avLst/>
          </a:prstGeom>
          <a:solidFill>
            <a:srgbClr val="3C8D5A"/>
          </a:solidFill>
          <a:ln w="12700">
            <a:solidFill>
              <a:srgbClr val="3C8D5A"/>
            </a:solidFill>
            <a:prstDash val="solid"/>
          </a:ln>
        </p:spPr>
      </p:sp>
      <p:pic>
        <p:nvPicPr>
          <p:cNvPr id="8" name="Image 0" descr="preencoded.png">    </p:cNvPr>
          <p:cNvPicPr>
            <a:picLocks noChangeAspect="1"/>
          </p:cNvPicPr>
          <p:nvPr/>
        </p:nvPicPr>
        <p:blipFill>
          <a:blip r:embed="rId1"/>
          <a:stretch>
            <a:fillRect/>
          </a:stretch>
        </p:blipFill>
        <p:spPr>
          <a:xfrm>
            <a:off x="667512" y="1993392"/>
            <a:ext cx="219456" cy="219456"/>
          </a:xfrm>
          <a:prstGeom prst="rect">
            <a:avLst/>
          </a:prstGeom>
        </p:spPr>
      </p:pic>
      <p:sp>
        <p:nvSpPr>
          <p:cNvPr id="9" name="Text 6"/>
          <p:cNvSpPr txBox="1"/>
          <p:nvPr/>
        </p:nvSpPr>
        <p:spPr>
          <a:xfrm>
            <a:off x="1188720" y="1828800"/>
            <a:ext cx="3566160" cy="320040"/>
          </a:xfrm>
          <a:prstGeom prst="rect">
            <a:avLst/>
          </a:prstGeom>
          <a:noFill/>
          <a:ln/>
        </p:spPr>
        <p:txBody>
          <a:bodyPr wrap="square" lIns="0" tIns="0" rIns="0" bIns="0" rtlCol="0" anchor="t"/>
          <a:lstStyle/>
          <a:p>
            <a:pPr indent="0" marL="0">
              <a:buNone/>
            </a:pPr>
            <a:r>
              <a:rPr lang="en-US" sz="1500" b="1" dirty="0">
                <a:solidFill>
                  <a:srgbClr val="2B2D31"/>
                </a:solidFill>
                <a:latin typeface="맑은 고딕" pitchFamily="34" charset="0"/>
                <a:ea typeface="맑은 고딕" pitchFamily="34" charset="-122"/>
                <a:cs typeface="맑은 고딕" pitchFamily="34" charset="-120"/>
              </a:rPr>
              <a:t>실험실 기술 검증</a:t>
            </a:r>
            <a:endParaRPr lang="en-US" sz="1500" dirty="0"/>
          </a:p>
        </p:txBody>
      </p:sp>
      <p:sp>
        <p:nvSpPr>
          <p:cNvPr id="10" name="Text 7"/>
          <p:cNvSpPr txBox="1"/>
          <p:nvPr/>
        </p:nvSpPr>
        <p:spPr>
          <a:xfrm>
            <a:off x="1188720" y="2176272"/>
            <a:ext cx="3566160" cy="502920"/>
          </a:xfrm>
          <a:prstGeom prst="rect">
            <a:avLst/>
          </a:prstGeom>
          <a:noFill/>
          <a:ln/>
        </p:spPr>
        <p:txBody>
          <a:bodyPr wrap="square" lIns="0" tIns="0" rIns="0" bIns="0" rtlCol="0" anchor="t"/>
          <a:lstStyle/>
          <a:p>
            <a:pPr indent="0" marL="0">
              <a:buNone/>
            </a:pPr>
            <a:r>
              <a:rPr lang="en-US" sz="1200" dirty="0">
                <a:solidFill>
                  <a:srgbClr val="6B6F76"/>
                </a:solidFill>
                <a:latin typeface="맑은 고딕" pitchFamily="34" charset="0"/>
                <a:ea typeface="맑은 고딕" pitchFamily="34" charset="-122"/>
                <a:cs typeface="맑은 고딕" pitchFamily="34" charset="-120"/>
              </a:rPr>
              <a:t>240시간 촉진부식, 6가지 분석 교차 검증</a:t>
            </a:r>
            <a:endParaRPr lang="en-US" sz="1200" dirty="0"/>
          </a:p>
        </p:txBody>
      </p:sp>
      <p:sp>
        <p:nvSpPr>
          <p:cNvPr id="11" name="Shape 8"/>
          <p:cNvSpPr/>
          <p:nvPr/>
        </p:nvSpPr>
        <p:spPr>
          <a:xfrm>
            <a:off x="548640" y="2788920"/>
            <a:ext cx="457200" cy="457200"/>
          </a:xfrm>
          <a:prstGeom prst="ellipse">
            <a:avLst/>
          </a:prstGeom>
          <a:solidFill>
            <a:srgbClr val="3C8D5A"/>
          </a:solidFill>
          <a:ln w="12700">
            <a:solidFill>
              <a:srgbClr val="3C8D5A"/>
            </a:solidFill>
            <a:prstDash val="solid"/>
          </a:ln>
        </p:spPr>
      </p:sp>
      <p:pic>
        <p:nvPicPr>
          <p:cNvPr id="12" name="Image 1" descr="preencoded.png">    </p:cNvPr>
          <p:cNvPicPr>
            <a:picLocks noChangeAspect="1"/>
          </p:cNvPicPr>
          <p:nvPr/>
        </p:nvPicPr>
        <p:blipFill>
          <a:blip r:embed="rId2"/>
          <a:stretch>
            <a:fillRect/>
          </a:stretch>
        </p:blipFill>
        <p:spPr>
          <a:xfrm>
            <a:off x="667512" y="2907792"/>
            <a:ext cx="219456" cy="219456"/>
          </a:xfrm>
          <a:prstGeom prst="rect">
            <a:avLst/>
          </a:prstGeom>
        </p:spPr>
      </p:pic>
      <p:sp>
        <p:nvSpPr>
          <p:cNvPr id="13" name="Text 9"/>
          <p:cNvSpPr txBox="1"/>
          <p:nvPr/>
        </p:nvSpPr>
        <p:spPr>
          <a:xfrm>
            <a:off x="1188720" y="2743200"/>
            <a:ext cx="3566160" cy="320040"/>
          </a:xfrm>
          <a:prstGeom prst="rect">
            <a:avLst/>
          </a:prstGeom>
          <a:noFill/>
          <a:ln/>
        </p:spPr>
        <p:txBody>
          <a:bodyPr wrap="square" lIns="0" tIns="0" rIns="0" bIns="0" rtlCol="0" anchor="t"/>
          <a:lstStyle/>
          <a:p>
            <a:pPr indent="0" marL="0">
              <a:buNone/>
            </a:pPr>
            <a:r>
              <a:rPr lang="en-US" sz="1500" b="1" dirty="0">
                <a:solidFill>
                  <a:srgbClr val="2B2D31"/>
                </a:solidFill>
                <a:latin typeface="맑은 고딕" pitchFamily="34" charset="0"/>
                <a:ea typeface="맑은 고딕" pitchFamily="34" charset="-122"/>
                <a:cs typeface="맑은 고딕" pitchFamily="34" charset="-120"/>
              </a:rPr>
              <a:t>미국 고객 인터뷰 35건</a:t>
            </a:r>
            <a:endParaRPr lang="en-US" sz="1500" dirty="0"/>
          </a:p>
        </p:txBody>
      </p:sp>
      <p:sp>
        <p:nvSpPr>
          <p:cNvPr id="14" name="Text 10"/>
          <p:cNvSpPr txBox="1"/>
          <p:nvPr/>
        </p:nvSpPr>
        <p:spPr>
          <a:xfrm>
            <a:off x="1188720" y="3090672"/>
            <a:ext cx="3566160" cy="502920"/>
          </a:xfrm>
          <a:prstGeom prst="rect">
            <a:avLst/>
          </a:prstGeom>
          <a:noFill/>
          <a:ln/>
        </p:spPr>
        <p:txBody>
          <a:bodyPr wrap="square" lIns="0" tIns="0" rIns="0" bIns="0" rtlCol="0" anchor="t"/>
          <a:lstStyle/>
          <a:p>
            <a:pPr indent="0" marL="0">
              <a:buNone/>
            </a:pPr>
            <a:r>
              <a:rPr lang="en-US" sz="1200" dirty="0">
                <a:solidFill>
                  <a:srgbClr val="6B6F76"/>
                </a:solidFill>
                <a:latin typeface="맑은 고딕" pitchFamily="34" charset="0"/>
                <a:ea typeface="맑은 고딕" pitchFamily="34" charset="-122"/>
                <a:cs typeface="맑은 고딕" pitchFamily="34" charset="-120"/>
              </a:rPr>
              <a:t>Tex-Corps · 2026년 7월 · 타깃 확정</a:t>
            </a:r>
            <a:endParaRPr lang="en-US" sz="1200" dirty="0"/>
          </a:p>
        </p:txBody>
      </p:sp>
      <p:sp>
        <p:nvSpPr>
          <p:cNvPr id="15" name="Shape 11"/>
          <p:cNvSpPr/>
          <p:nvPr/>
        </p:nvSpPr>
        <p:spPr>
          <a:xfrm>
            <a:off x="548640" y="3703320"/>
            <a:ext cx="457200" cy="457200"/>
          </a:xfrm>
          <a:prstGeom prst="ellipse">
            <a:avLst/>
          </a:prstGeom>
          <a:solidFill>
            <a:srgbClr val="3C8D5A"/>
          </a:solidFill>
          <a:ln w="12700">
            <a:solidFill>
              <a:srgbClr val="3C8D5A"/>
            </a:solidFill>
            <a:prstDash val="solid"/>
          </a:ln>
        </p:spPr>
      </p:sp>
      <p:pic>
        <p:nvPicPr>
          <p:cNvPr id="16" name="Image 2" descr="preencoded.png">    </p:cNvPr>
          <p:cNvPicPr>
            <a:picLocks noChangeAspect="1"/>
          </p:cNvPicPr>
          <p:nvPr/>
        </p:nvPicPr>
        <p:blipFill>
          <a:blip r:embed="rId3"/>
          <a:stretch>
            <a:fillRect/>
          </a:stretch>
        </p:blipFill>
        <p:spPr>
          <a:xfrm>
            <a:off x="667512" y="3822192"/>
            <a:ext cx="219456" cy="219456"/>
          </a:xfrm>
          <a:prstGeom prst="rect">
            <a:avLst/>
          </a:prstGeom>
        </p:spPr>
      </p:pic>
      <p:sp>
        <p:nvSpPr>
          <p:cNvPr id="17" name="Text 12"/>
          <p:cNvSpPr txBox="1"/>
          <p:nvPr/>
        </p:nvSpPr>
        <p:spPr>
          <a:xfrm>
            <a:off x="1188720" y="3657600"/>
            <a:ext cx="3566160" cy="320040"/>
          </a:xfrm>
          <a:prstGeom prst="rect">
            <a:avLst/>
          </a:prstGeom>
          <a:noFill/>
          <a:ln/>
        </p:spPr>
        <p:txBody>
          <a:bodyPr wrap="square" lIns="0" tIns="0" rIns="0" bIns="0" rtlCol="0" anchor="t"/>
          <a:lstStyle/>
          <a:p>
            <a:pPr indent="0" marL="0">
              <a:buNone/>
            </a:pPr>
            <a:r>
              <a:rPr lang="en-US" sz="1500" b="1" dirty="0">
                <a:solidFill>
                  <a:srgbClr val="2B2D31"/>
                </a:solidFill>
                <a:latin typeface="맑은 고딕" pitchFamily="34" charset="0"/>
                <a:ea typeface="맑은 고딕" pitchFamily="34" charset="-122"/>
                <a:cs typeface="맑은 고딕" pitchFamily="34" charset="-120"/>
              </a:rPr>
              <a:t>국제학회 발표</a:t>
            </a:r>
            <a:endParaRPr lang="en-US" sz="1500" dirty="0"/>
          </a:p>
        </p:txBody>
      </p:sp>
      <p:sp>
        <p:nvSpPr>
          <p:cNvPr id="18" name="Text 13"/>
          <p:cNvSpPr txBox="1"/>
          <p:nvPr/>
        </p:nvSpPr>
        <p:spPr>
          <a:xfrm>
            <a:off x="1188720" y="4005072"/>
            <a:ext cx="3566160" cy="502920"/>
          </a:xfrm>
          <a:prstGeom prst="rect">
            <a:avLst/>
          </a:prstGeom>
          <a:noFill/>
          <a:ln/>
        </p:spPr>
        <p:txBody>
          <a:bodyPr wrap="square" lIns="0" tIns="0" rIns="0" bIns="0" rtlCol="0" anchor="t"/>
          <a:lstStyle/>
          <a:p>
            <a:pPr indent="0" marL="0">
              <a:buNone/>
            </a:pPr>
            <a:r>
              <a:rPr lang="en-US" sz="1200" dirty="0">
                <a:solidFill>
                  <a:srgbClr val="6B6F76"/>
                </a:solidFill>
                <a:latin typeface="맑은 고딕" pitchFamily="34" charset="0"/>
                <a:ea typeface="맑은 고딕" pitchFamily="34" charset="-122"/>
                <a:cs typeface="맑은 고딕" pitchFamily="34" charset="-120"/>
              </a:rPr>
              <a:t>ICIMC 2026 구두 발표 (2026.11, 서울)</a:t>
            </a:r>
            <a:endParaRPr lang="en-US" sz="1200" dirty="0"/>
          </a:p>
        </p:txBody>
      </p:sp>
      <p:sp>
        <p:nvSpPr>
          <p:cNvPr id="19" name="Shape 14"/>
          <p:cNvSpPr/>
          <p:nvPr/>
        </p:nvSpPr>
        <p:spPr>
          <a:xfrm>
            <a:off x="548640" y="4526280"/>
            <a:ext cx="4206240" cy="548640"/>
          </a:xfrm>
          <a:prstGeom prst="roundRect">
            <a:avLst>
              <a:gd name="adj" fmla="val 10000"/>
            </a:avLst>
          </a:prstGeom>
          <a:solidFill>
            <a:srgbClr val="FFF6DB"/>
          </a:solidFill>
          <a:ln w="15875">
            <a:solidFill>
              <a:srgbClr val="E0B23C"/>
            </a:solidFill>
            <a:prstDash val="dash"/>
          </a:ln>
        </p:spPr>
      </p:sp>
      <p:sp>
        <p:nvSpPr>
          <p:cNvPr id="20" name="Text 15"/>
          <p:cNvSpPr txBox="1"/>
          <p:nvPr/>
        </p:nvSpPr>
        <p:spPr>
          <a:xfrm>
            <a:off x="685800" y="4526280"/>
            <a:ext cx="3931920" cy="548640"/>
          </a:xfrm>
          <a:prstGeom prst="rect">
            <a:avLst/>
          </a:prstGeom>
          <a:noFill/>
          <a:ln/>
        </p:spPr>
        <p:txBody>
          <a:bodyPr wrap="square" lIns="0" tIns="0" rIns="0" bIns="0" rtlCol="0" anchor="ctr"/>
          <a:lstStyle/>
          <a:p>
            <a:pPr indent="0" marL="0">
              <a:buNone/>
            </a:pPr>
            <a:r>
              <a:rPr lang="en-US" sz="1200" dirty="0">
                <a:solidFill>
                  <a:srgbClr val="9A6A00"/>
                </a:solidFill>
                <a:latin typeface="맑은 고딕" pitchFamily="34" charset="0"/>
                <a:ea typeface="맑은 고딕" pitchFamily="34" charset="-122"/>
                <a:cs typeface="맑은 고딕" pitchFamily="34" charset="-120"/>
              </a:rPr>
              <a:t>✎  MOU · 수상 · 특허 출원 등 추가 성과</a:t>
            </a:r>
            <a:endParaRPr lang="en-US" sz="1200" dirty="0"/>
          </a:p>
        </p:txBody>
      </p:sp>
      <p:sp>
        <p:nvSpPr>
          <p:cNvPr id="21" name="Text 16"/>
          <p:cNvSpPr txBox="1"/>
          <p:nvPr/>
        </p:nvSpPr>
        <p:spPr>
          <a:xfrm>
            <a:off x="5212080" y="1371600"/>
            <a:ext cx="6430975" cy="320040"/>
          </a:xfrm>
          <a:prstGeom prst="rect">
            <a:avLst/>
          </a:prstGeom>
          <a:noFill/>
          <a:ln/>
        </p:spPr>
        <p:txBody>
          <a:bodyPr wrap="square" lIns="0" tIns="0" rIns="0" bIns="0" rtlCol="0" anchor="t"/>
          <a:lstStyle/>
          <a:p>
            <a:pPr indent="0" marL="0">
              <a:buNone/>
            </a:pPr>
            <a:r>
              <a:rPr lang="en-US" sz="1600" b="1" dirty="0">
                <a:solidFill>
                  <a:srgbClr val="B5501F"/>
                </a:solidFill>
                <a:latin typeface="맑은 고딕" pitchFamily="34" charset="0"/>
                <a:ea typeface="맑은 고딕" pitchFamily="34" charset="-122"/>
                <a:cs typeface="맑은 고딕" pitchFamily="34" charset="-120"/>
              </a:rPr>
              <a:t>다음 단계</a:t>
            </a:r>
            <a:endParaRPr lang="en-US" sz="1600" dirty="0"/>
          </a:p>
        </p:txBody>
      </p:sp>
      <p:sp>
        <p:nvSpPr>
          <p:cNvPr id="22" name="Shape 17"/>
          <p:cNvSpPr/>
          <p:nvPr/>
        </p:nvSpPr>
        <p:spPr>
          <a:xfrm>
            <a:off x="5212080" y="1810512"/>
            <a:ext cx="6430975" cy="786384"/>
          </a:xfrm>
          <a:prstGeom prst="roundRect">
            <a:avLst>
              <a:gd name="adj" fmla="val 9302"/>
            </a:avLst>
          </a:prstGeom>
          <a:solidFill>
            <a:srgbClr val="F3F4F6"/>
          </a:solidFill>
          <a:ln w="6350">
            <a:solidFill>
              <a:srgbClr val="F3F4F6"/>
            </a:solidFill>
            <a:prstDash val="solid"/>
          </a:ln>
        </p:spPr>
      </p:sp>
      <p:sp>
        <p:nvSpPr>
          <p:cNvPr id="23" name="Shape 18"/>
          <p:cNvSpPr/>
          <p:nvPr/>
        </p:nvSpPr>
        <p:spPr>
          <a:xfrm>
            <a:off x="5376672" y="1947672"/>
            <a:ext cx="512064" cy="512064"/>
          </a:xfrm>
          <a:prstGeom prst="ellipse">
            <a:avLst/>
          </a:prstGeom>
          <a:solidFill>
            <a:srgbClr val="2B2D31"/>
          </a:solidFill>
          <a:ln w="12700">
            <a:solidFill>
              <a:srgbClr val="2B2D31"/>
            </a:solidFill>
            <a:prstDash val="solid"/>
          </a:ln>
        </p:spPr>
      </p:sp>
      <p:pic>
        <p:nvPicPr>
          <p:cNvPr id="24" name="Image 3" descr="preencoded.png">    </p:cNvPr>
          <p:cNvPicPr>
            <a:picLocks noChangeAspect="1"/>
          </p:cNvPicPr>
          <p:nvPr/>
        </p:nvPicPr>
        <p:blipFill>
          <a:blip r:embed="rId4"/>
          <a:stretch>
            <a:fillRect/>
          </a:stretch>
        </p:blipFill>
        <p:spPr>
          <a:xfrm>
            <a:off x="5509809" y="2080809"/>
            <a:ext cx="245791" cy="245791"/>
          </a:xfrm>
          <a:prstGeom prst="rect">
            <a:avLst/>
          </a:prstGeom>
        </p:spPr>
      </p:pic>
      <p:sp>
        <p:nvSpPr>
          <p:cNvPr id="25" name="Text 19"/>
          <p:cNvSpPr txBox="1"/>
          <p:nvPr/>
        </p:nvSpPr>
        <p:spPr>
          <a:xfrm>
            <a:off x="6080760" y="1883664"/>
            <a:ext cx="5425135" cy="320040"/>
          </a:xfrm>
          <a:prstGeom prst="rect">
            <a:avLst/>
          </a:prstGeom>
          <a:noFill/>
          <a:ln/>
        </p:spPr>
        <p:txBody>
          <a:bodyPr wrap="square" lIns="0" tIns="0" rIns="0" bIns="0" rtlCol="0" anchor="t"/>
          <a:lstStyle/>
          <a:p>
            <a:pPr indent="0" marL="0">
              <a:buNone/>
            </a:pPr>
            <a:r>
              <a:rPr lang="en-US" sz="1450" b="1" dirty="0">
                <a:solidFill>
                  <a:srgbClr val="2B2D31"/>
                </a:solidFill>
                <a:latin typeface="맑은 고딕" pitchFamily="34" charset="0"/>
                <a:ea typeface="맑은 고딕" pitchFamily="34" charset="-122"/>
                <a:cs typeface="맑은 고딕" pitchFamily="34" charset="-120"/>
              </a:rPr>
              <a:t>비용 절감 근거 정량화</a:t>
            </a:r>
            <a:endParaRPr lang="en-US" sz="1450" dirty="0"/>
          </a:p>
        </p:txBody>
      </p:sp>
      <p:sp>
        <p:nvSpPr>
          <p:cNvPr id="26" name="Text 20"/>
          <p:cNvSpPr txBox="1"/>
          <p:nvPr/>
        </p:nvSpPr>
        <p:spPr>
          <a:xfrm>
            <a:off x="6080760" y="2212848"/>
            <a:ext cx="5425135" cy="320040"/>
          </a:xfrm>
          <a:prstGeom prst="rect">
            <a:avLst/>
          </a:prstGeom>
          <a:noFill/>
          <a:ln/>
        </p:spPr>
        <p:txBody>
          <a:bodyPr wrap="square" lIns="0" tIns="0" rIns="0" bIns="0" rtlCol="0" anchor="t"/>
          <a:lstStyle/>
          <a:p>
            <a:pPr indent="0" marL="0">
              <a:buNone/>
            </a:pPr>
            <a:r>
              <a:rPr lang="en-US" sz="1200" dirty="0">
                <a:solidFill>
                  <a:srgbClr val="6B6F76"/>
                </a:solidFill>
                <a:latin typeface="맑은 고딕" pitchFamily="34" charset="0"/>
                <a:ea typeface="맑은 고딕" pitchFamily="34" charset="-122"/>
                <a:cs typeface="맑은 고딕" pitchFamily="34" charset="-120"/>
              </a:rPr>
              <a:t>선박 일수 · 리프트/로프 액세스 임대 · 문서 작업 시간 절감액으로 ROI 산출</a:t>
            </a:r>
            <a:endParaRPr lang="en-US" sz="1200" dirty="0"/>
          </a:p>
        </p:txBody>
      </p:sp>
      <p:sp>
        <p:nvSpPr>
          <p:cNvPr id="27" name="Shape 21"/>
          <p:cNvSpPr/>
          <p:nvPr/>
        </p:nvSpPr>
        <p:spPr>
          <a:xfrm>
            <a:off x="5212080" y="2706624"/>
            <a:ext cx="6430975" cy="786384"/>
          </a:xfrm>
          <a:prstGeom prst="roundRect">
            <a:avLst>
              <a:gd name="adj" fmla="val 9302"/>
            </a:avLst>
          </a:prstGeom>
          <a:solidFill>
            <a:srgbClr val="F3F4F6"/>
          </a:solidFill>
          <a:ln w="6350">
            <a:solidFill>
              <a:srgbClr val="F3F4F6"/>
            </a:solidFill>
            <a:prstDash val="solid"/>
          </a:ln>
        </p:spPr>
      </p:sp>
      <p:sp>
        <p:nvSpPr>
          <p:cNvPr id="28" name="Shape 22"/>
          <p:cNvSpPr/>
          <p:nvPr/>
        </p:nvSpPr>
        <p:spPr>
          <a:xfrm>
            <a:off x="5376672" y="2843784"/>
            <a:ext cx="512064" cy="512064"/>
          </a:xfrm>
          <a:prstGeom prst="ellipse">
            <a:avLst/>
          </a:prstGeom>
          <a:solidFill>
            <a:srgbClr val="2B2D31"/>
          </a:solidFill>
          <a:ln w="12700">
            <a:solidFill>
              <a:srgbClr val="2B2D31"/>
            </a:solidFill>
            <a:prstDash val="solid"/>
          </a:ln>
        </p:spPr>
      </p:sp>
      <p:pic>
        <p:nvPicPr>
          <p:cNvPr id="29" name="Image 4" descr="preencoded.png">    </p:cNvPr>
          <p:cNvPicPr>
            <a:picLocks noChangeAspect="1"/>
          </p:cNvPicPr>
          <p:nvPr/>
        </p:nvPicPr>
        <p:blipFill>
          <a:blip r:embed="rId5"/>
          <a:stretch>
            <a:fillRect/>
          </a:stretch>
        </p:blipFill>
        <p:spPr>
          <a:xfrm>
            <a:off x="5509809" y="2976921"/>
            <a:ext cx="245791" cy="245791"/>
          </a:xfrm>
          <a:prstGeom prst="rect">
            <a:avLst/>
          </a:prstGeom>
        </p:spPr>
      </p:pic>
      <p:sp>
        <p:nvSpPr>
          <p:cNvPr id="30" name="Text 23"/>
          <p:cNvSpPr txBox="1"/>
          <p:nvPr/>
        </p:nvSpPr>
        <p:spPr>
          <a:xfrm>
            <a:off x="6080760" y="2779776"/>
            <a:ext cx="5425135" cy="320040"/>
          </a:xfrm>
          <a:prstGeom prst="rect">
            <a:avLst/>
          </a:prstGeom>
          <a:noFill/>
          <a:ln/>
        </p:spPr>
        <p:txBody>
          <a:bodyPr wrap="square" lIns="0" tIns="0" rIns="0" bIns="0" rtlCol="0" anchor="t"/>
          <a:lstStyle/>
          <a:p>
            <a:pPr indent="0" marL="0">
              <a:buNone/>
            </a:pPr>
            <a:r>
              <a:rPr lang="en-US" sz="1450" b="1" dirty="0">
                <a:solidFill>
                  <a:srgbClr val="2B2D31"/>
                </a:solidFill>
                <a:latin typeface="맑은 고딕" pitchFamily="34" charset="0"/>
                <a:ea typeface="맑은 고딕" pitchFamily="34" charset="-122"/>
                <a:cs typeface="맑은 고딕" pitchFamily="34" charset="-120"/>
              </a:rPr>
              <a:t>두께 측정 데이터 결합</a:t>
            </a:r>
            <a:endParaRPr lang="en-US" sz="1450" dirty="0"/>
          </a:p>
        </p:txBody>
      </p:sp>
      <p:sp>
        <p:nvSpPr>
          <p:cNvPr id="31" name="Text 24"/>
          <p:cNvSpPr txBox="1"/>
          <p:nvPr/>
        </p:nvSpPr>
        <p:spPr>
          <a:xfrm>
            <a:off x="6080760" y="3108960"/>
            <a:ext cx="5425135" cy="320040"/>
          </a:xfrm>
          <a:prstGeom prst="rect">
            <a:avLst/>
          </a:prstGeom>
          <a:noFill/>
          <a:ln/>
        </p:spPr>
        <p:txBody>
          <a:bodyPr wrap="square" lIns="0" tIns="0" rIns="0" bIns="0" rtlCol="0" anchor="t"/>
          <a:lstStyle/>
          <a:p>
            <a:pPr indent="0" marL="0">
              <a:buNone/>
            </a:pPr>
            <a:r>
              <a:rPr lang="en-US" sz="1200" dirty="0">
                <a:solidFill>
                  <a:srgbClr val="6B6F76"/>
                </a:solidFill>
                <a:latin typeface="맑은 고딕" pitchFamily="34" charset="0"/>
                <a:ea typeface="맑은 고딕" pitchFamily="34" charset="-122"/>
                <a:cs typeface="맑은 고딕" pitchFamily="34" charset="-120"/>
              </a:rPr>
              <a:t>사진이 못 보는 두께 감소를 보정해 예측 정확도 향상</a:t>
            </a:r>
            <a:endParaRPr lang="en-US" sz="1200" dirty="0"/>
          </a:p>
        </p:txBody>
      </p:sp>
      <p:sp>
        <p:nvSpPr>
          <p:cNvPr id="32" name="Shape 25"/>
          <p:cNvSpPr/>
          <p:nvPr/>
        </p:nvSpPr>
        <p:spPr>
          <a:xfrm>
            <a:off x="5212080" y="3602736"/>
            <a:ext cx="6430975" cy="786384"/>
          </a:xfrm>
          <a:prstGeom prst="roundRect">
            <a:avLst>
              <a:gd name="adj" fmla="val 9302"/>
            </a:avLst>
          </a:prstGeom>
          <a:solidFill>
            <a:srgbClr val="F3F4F6"/>
          </a:solidFill>
          <a:ln w="6350">
            <a:solidFill>
              <a:srgbClr val="F3F4F6"/>
            </a:solidFill>
            <a:prstDash val="solid"/>
          </a:ln>
        </p:spPr>
      </p:sp>
      <p:sp>
        <p:nvSpPr>
          <p:cNvPr id="33" name="Shape 26"/>
          <p:cNvSpPr/>
          <p:nvPr/>
        </p:nvSpPr>
        <p:spPr>
          <a:xfrm>
            <a:off x="5376672" y="3739896"/>
            <a:ext cx="512064" cy="512064"/>
          </a:xfrm>
          <a:prstGeom prst="ellipse">
            <a:avLst/>
          </a:prstGeom>
          <a:solidFill>
            <a:srgbClr val="2B2D31"/>
          </a:solidFill>
          <a:ln w="12700">
            <a:solidFill>
              <a:srgbClr val="2B2D31"/>
            </a:solidFill>
            <a:prstDash val="solid"/>
          </a:ln>
        </p:spPr>
      </p:sp>
      <p:pic>
        <p:nvPicPr>
          <p:cNvPr id="34" name="Image 5" descr="preencoded.png">    </p:cNvPr>
          <p:cNvPicPr>
            <a:picLocks noChangeAspect="1"/>
          </p:cNvPicPr>
          <p:nvPr/>
        </p:nvPicPr>
        <p:blipFill>
          <a:blip r:embed="rId6"/>
          <a:stretch>
            <a:fillRect/>
          </a:stretch>
        </p:blipFill>
        <p:spPr>
          <a:xfrm>
            <a:off x="5509809" y="3873033"/>
            <a:ext cx="245791" cy="245791"/>
          </a:xfrm>
          <a:prstGeom prst="rect">
            <a:avLst/>
          </a:prstGeom>
        </p:spPr>
      </p:pic>
      <p:sp>
        <p:nvSpPr>
          <p:cNvPr id="35" name="Text 27"/>
          <p:cNvSpPr txBox="1"/>
          <p:nvPr/>
        </p:nvSpPr>
        <p:spPr>
          <a:xfrm>
            <a:off x="6080760" y="3675888"/>
            <a:ext cx="5425135" cy="320040"/>
          </a:xfrm>
          <a:prstGeom prst="rect">
            <a:avLst/>
          </a:prstGeom>
          <a:noFill/>
          <a:ln/>
        </p:spPr>
        <p:txBody>
          <a:bodyPr wrap="square" lIns="0" tIns="0" rIns="0" bIns="0" rtlCol="0" anchor="t"/>
          <a:lstStyle/>
          <a:p>
            <a:pPr indent="0" marL="0">
              <a:buNone/>
            </a:pPr>
            <a:r>
              <a:rPr lang="en-US" sz="1450" b="1" dirty="0">
                <a:solidFill>
                  <a:srgbClr val="2B2D31"/>
                </a:solidFill>
                <a:latin typeface="맑은 고딕" pitchFamily="34" charset="0"/>
                <a:ea typeface="맑은 고딕" pitchFamily="34" charset="-122"/>
                <a:cs typeface="맑은 고딕" pitchFamily="34" charset="-120"/>
              </a:rPr>
              <a:t>유망 현장 심화</a:t>
            </a:r>
            <a:endParaRPr lang="en-US" sz="1450" dirty="0"/>
          </a:p>
        </p:txBody>
      </p:sp>
      <p:sp>
        <p:nvSpPr>
          <p:cNvPr id="36" name="Text 28"/>
          <p:cNvSpPr txBox="1"/>
          <p:nvPr/>
        </p:nvSpPr>
        <p:spPr>
          <a:xfrm>
            <a:off x="6080760" y="4005072"/>
            <a:ext cx="5425135" cy="320040"/>
          </a:xfrm>
          <a:prstGeom prst="rect">
            <a:avLst/>
          </a:prstGeom>
          <a:noFill/>
          <a:ln/>
        </p:spPr>
        <p:txBody>
          <a:bodyPr wrap="square" lIns="0" tIns="0" rIns="0" bIns="0" rtlCol="0" anchor="t"/>
          <a:lstStyle/>
          <a:p>
            <a:pPr indent="0" marL="0">
              <a:buNone/>
            </a:pPr>
            <a:r>
              <a:rPr lang="en-US" sz="1200" dirty="0">
                <a:solidFill>
                  <a:srgbClr val="6B6F76"/>
                </a:solidFill>
                <a:latin typeface="맑은 고딕" pitchFamily="34" charset="0"/>
                <a:ea typeface="맑은 고딕" pitchFamily="34" charset="-122"/>
                <a:cs typeface="맑은 고딕" pitchFamily="34" charset="-120"/>
              </a:rPr>
              <a:t>미드스트림 압축 기지 · 비말대, 라이저 지지 프레임이 있는 해양 플랫폼</a:t>
            </a:r>
            <a:endParaRPr lang="en-US" sz="1200" dirty="0"/>
          </a:p>
        </p:txBody>
      </p:sp>
      <p:sp>
        <p:nvSpPr>
          <p:cNvPr id="37" name="Shape 29"/>
          <p:cNvSpPr/>
          <p:nvPr/>
        </p:nvSpPr>
        <p:spPr>
          <a:xfrm>
            <a:off x="5212080" y="4498848"/>
            <a:ext cx="6430975" cy="786384"/>
          </a:xfrm>
          <a:prstGeom prst="roundRect">
            <a:avLst>
              <a:gd name="adj" fmla="val 9302"/>
            </a:avLst>
          </a:prstGeom>
          <a:solidFill>
            <a:srgbClr val="FBEDE4"/>
          </a:solidFill>
          <a:ln w="6350">
            <a:solidFill>
              <a:srgbClr val="FBEDE4"/>
            </a:solidFill>
            <a:prstDash val="solid"/>
          </a:ln>
        </p:spPr>
      </p:sp>
      <p:sp>
        <p:nvSpPr>
          <p:cNvPr id="38" name="Shape 30"/>
          <p:cNvSpPr/>
          <p:nvPr/>
        </p:nvSpPr>
        <p:spPr>
          <a:xfrm>
            <a:off x="5376672" y="4636008"/>
            <a:ext cx="512064" cy="512064"/>
          </a:xfrm>
          <a:prstGeom prst="ellipse">
            <a:avLst/>
          </a:prstGeom>
          <a:solidFill>
            <a:srgbClr val="B5501F"/>
          </a:solidFill>
          <a:ln w="12700">
            <a:solidFill>
              <a:srgbClr val="B5501F"/>
            </a:solidFill>
            <a:prstDash val="solid"/>
          </a:ln>
        </p:spPr>
      </p:sp>
      <p:pic>
        <p:nvPicPr>
          <p:cNvPr id="39" name="Image 6" descr="preencoded.png">    </p:cNvPr>
          <p:cNvPicPr>
            <a:picLocks noChangeAspect="1"/>
          </p:cNvPicPr>
          <p:nvPr/>
        </p:nvPicPr>
        <p:blipFill>
          <a:blip r:embed="rId7"/>
          <a:stretch>
            <a:fillRect/>
          </a:stretch>
        </p:blipFill>
        <p:spPr>
          <a:xfrm>
            <a:off x="5509809" y="4769145"/>
            <a:ext cx="245791" cy="245791"/>
          </a:xfrm>
          <a:prstGeom prst="rect">
            <a:avLst/>
          </a:prstGeom>
        </p:spPr>
      </p:pic>
      <p:sp>
        <p:nvSpPr>
          <p:cNvPr id="40" name="Text 31"/>
          <p:cNvSpPr txBox="1"/>
          <p:nvPr/>
        </p:nvSpPr>
        <p:spPr>
          <a:xfrm>
            <a:off x="6080760" y="4572000"/>
            <a:ext cx="5425135" cy="320040"/>
          </a:xfrm>
          <a:prstGeom prst="rect">
            <a:avLst/>
          </a:prstGeom>
          <a:noFill/>
          <a:ln/>
        </p:spPr>
        <p:txBody>
          <a:bodyPr wrap="square" lIns="0" tIns="0" rIns="0" bIns="0" rtlCol="0" anchor="t"/>
          <a:lstStyle/>
          <a:p>
            <a:pPr indent="0" marL="0">
              <a:buNone/>
            </a:pPr>
            <a:r>
              <a:rPr lang="en-US" sz="1450" b="1" dirty="0">
                <a:solidFill>
                  <a:srgbClr val="2B2D31"/>
                </a:solidFill>
                <a:latin typeface="맑은 고딕" pitchFamily="34" charset="0"/>
                <a:ea typeface="맑은 고딕" pitchFamily="34" charset="-122"/>
                <a:cs typeface="맑은 고딕" pitchFamily="34" charset="-120"/>
              </a:rPr>
              <a:t>단일 현장 파일럿</a:t>
            </a:r>
            <a:endParaRPr lang="en-US" sz="1450" dirty="0"/>
          </a:p>
        </p:txBody>
      </p:sp>
      <p:sp>
        <p:nvSpPr>
          <p:cNvPr id="41" name="Text 32"/>
          <p:cNvSpPr txBox="1"/>
          <p:nvPr/>
        </p:nvSpPr>
        <p:spPr>
          <a:xfrm>
            <a:off x="6080760" y="4901184"/>
            <a:ext cx="5425135" cy="320040"/>
          </a:xfrm>
          <a:prstGeom prst="rect">
            <a:avLst/>
          </a:prstGeom>
          <a:noFill/>
          <a:ln/>
        </p:spPr>
        <p:txBody>
          <a:bodyPr wrap="square" lIns="0" tIns="0" rIns="0" bIns="0" rtlCol="0" anchor="t"/>
          <a:lstStyle/>
          <a:p>
            <a:pPr indent="0" marL="0">
              <a:buNone/>
            </a:pPr>
            <a:r>
              <a:rPr lang="en-US" sz="1200" dirty="0">
                <a:solidFill>
                  <a:srgbClr val="6B6F76"/>
                </a:solidFill>
                <a:latin typeface="맑은 고딕" pitchFamily="34" charset="0"/>
                <a:ea typeface="맑은 고딕" pitchFamily="34" charset="-122"/>
                <a:cs typeface="맑은 고딕" pitchFamily="34" charset="-120"/>
              </a:rPr>
              <a:t>범위 · 기간 한정, 성공 지표 사전 합의 (의사결정권자 요구 조건)</a:t>
            </a:r>
            <a:endParaRPr lang="en-US" sz="1200" dirty="0"/>
          </a:p>
        </p:txBody>
      </p:sp>
      <p:sp>
        <p:nvSpPr>
          <p:cNvPr id="42" name="Shape 33"/>
          <p:cNvSpPr/>
          <p:nvPr/>
        </p:nvSpPr>
        <p:spPr>
          <a:xfrm>
            <a:off x="5212080" y="5440680"/>
            <a:ext cx="6430975" cy="502920"/>
          </a:xfrm>
          <a:prstGeom prst="roundRect">
            <a:avLst>
              <a:gd name="adj" fmla="val 10909"/>
            </a:avLst>
          </a:prstGeom>
          <a:solidFill>
            <a:srgbClr val="FFF6DB"/>
          </a:solidFill>
          <a:ln w="15875">
            <a:solidFill>
              <a:srgbClr val="E0B23C"/>
            </a:solidFill>
            <a:prstDash val="dash"/>
          </a:ln>
        </p:spPr>
      </p:sp>
      <p:sp>
        <p:nvSpPr>
          <p:cNvPr id="43" name="Text 34"/>
          <p:cNvSpPr txBox="1"/>
          <p:nvPr/>
        </p:nvSpPr>
        <p:spPr>
          <a:xfrm>
            <a:off x="5349240" y="5440680"/>
            <a:ext cx="6156655" cy="502920"/>
          </a:xfrm>
          <a:prstGeom prst="rect">
            <a:avLst/>
          </a:prstGeom>
          <a:noFill/>
          <a:ln/>
        </p:spPr>
        <p:txBody>
          <a:bodyPr wrap="square" lIns="0" tIns="0" rIns="0" bIns="0" rtlCol="0" anchor="ctr"/>
          <a:lstStyle/>
          <a:p>
            <a:pPr indent="0" marL="0">
              <a:buNone/>
            </a:pPr>
            <a:r>
              <a:rPr lang="en-US" sz="1200" dirty="0">
                <a:solidFill>
                  <a:srgbClr val="9A6A00"/>
                </a:solidFill>
                <a:latin typeface="맑은 고딕" pitchFamily="34" charset="0"/>
                <a:ea typeface="맑은 고딕" pitchFamily="34" charset="-122"/>
                <a:cs typeface="맑은 고딕" pitchFamily="34" charset="-120"/>
              </a:rPr>
              <a:t>✎  각 단계 목표 시점 (예: 파일럿 2027 상반기)</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indent="0" marL="0">
              <a:buNone/>
            </a:pPr>
            <a:r>
              <a:rPr lang="en-US" sz="1200" b="1" spc="100" kern="0" dirty="0">
                <a:solidFill>
                  <a:srgbClr val="B5501F"/>
                </a:solidFill>
                <a:latin typeface="맑은 고딕" pitchFamily="34" charset="0"/>
                <a:ea typeface="맑은 고딕" pitchFamily="34" charset="-122"/>
                <a:cs typeface="맑은 고딕" pitchFamily="34" charset="-120"/>
              </a:rPr>
              <a:t>TEAM</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indent="0" marL="0">
              <a:buNone/>
            </a:pPr>
            <a:r>
              <a:rPr lang="en-US" sz="2800" b="1" dirty="0">
                <a:solidFill>
                  <a:srgbClr val="2B2D31"/>
                </a:solidFill>
                <a:latin typeface="맑은 고딕" pitchFamily="34" charset="0"/>
                <a:ea typeface="맑은 고딕" pitchFamily="34" charset="-122"/>
                <a:cs typeface="맑은 고딕" pitchFamily="34" charset="-120"/>
              </a:rPr>
              <a:t>팀 MLC</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indent="0" marL="0">
              <a:buNone/>
            </a:pPr>
            <a:r>
              <a:rPr lang="en-US" sz="900" dirty="0">
                <a:solidFill>
                  <a:srgbClr val="A3A7AD"/>
                </a:solidFill>
                <a:latin typeface="맑은 고딕" pitchFamily="34" charset="0"/>
                <a:ea typeface="맑은 고딕" pitchFamily="34" charset="-122"/>
                <a:cs typeface="맑은 고딕" pitchFamily="34" charset="-120"/>
              </a:rPr>
              <a:t>MLC  ·  Tex-Corps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900" dirty="0">
                <a:solidFill>
                  <a:srgbClr val="A3A7AD"/>
                </a:solidFill>
                <a:latin typeface="맑은 고딕" pitchFamily="34" charset="0"/>
                <a:ea typeface="맑은 고딕" pitchFamily="34" charset="-122"/>
                <a:cs typeface="맑은 고딕" pitchFamily="34" charset="-120"/>
              </a:rPr>
              <a:t>10</a:t>
            </a:r>
            <a:endParaRPr lang="en-US" sz="900" dirty="0"/>
          </a:p>
        </p:txBody>
      </p:sp>
      <p:sp>
        <p:nvSpPr>
          <p:cNvPr id="6" name="Shape 4"/>
          <p:cNvSpPr/>
          <p:nvPr/>
        </p:nvSpPr>
        <p:spPr>
          <a:xfrm>
            <a:off x="548640" y="1417320"/>
            <a:ext cx="5349240" cy="3017520"/>
          </a:xfrm>
          <a:prstGeom prst="roundRect">
            <a:avLst>
              <a:gd name="adj" fmla="val 2424"/>
            </a:avLst>
          </a:prstGeom>
          <a:solidFill>
            <a:srgbClr val="FBEDE4"/>
          </a:solidFill>
          <a:ln w="6350">
            <a:solidFill>
              <a:srgbClr val="FBEDE4"/>
            </a:solidFill>
            <a:prstDash val="solid"/>
          </a:ln>
        </p:spPr>
      </p:sp>
      <p:pic>
        <p:nvPicPr>
          <p:cNvPr id="7" name="Image 0" descr="/home/user/PPT/src/img/team_woo.png">    </p:cNvPr>
          <p:cNvPicPr>
            <a:picLocks noChangeAspect="1"/>
          </p:cNvPicPr>
          <p:nvPr/>
        </p:nvPicPr>
        <p:blipFill>
          <a:blip r:embed="rId1"/>
          <a:srcRect l="0" r="0" t="0" b="0"/>
          <a:stretch/>
        </p:blipFill>
        <p:spPr>
          <a:xfrm>
            <a:off x="822960" y="1691640"/>
            <a:ext cx="1920240" cy="2468880"/>
          </a:xfrm>
          <a:prstGeom prst="rect">
            <a:avLst/>
          </a:prstGeom>
        </p:spPr>
      </p:pic>
      <p:sp>
        <p:nvSpPr>
          <p:cNvPr id="8" name="Text 5"/>
          <p:cNvSpPr txBox="1"/>
          <p:nvPr/>
        </p:nvSpPr>
        <p:spPr>
          <a:xfrm>
            <a:off x="3017520" y="1828800"/>
            <a:ext cx="2697480" cy="457200"/>
          </a:xfrm>
          <a:prstGeom prst="rect">
            <a:avLst/>
          </a:prstGeom>
          <a:noFill/>
          <a:ln/>
        </p:spPr>
        <p:txBody>
          <a:bodyPr wrap="square" lIns="0" tIns="0" rIns="0" bIns="0" rtlCol="0" anchor="t"/>
          <a:lstStyle/>
          <a:p>
            <a:pPr indent="0" marL="0">
              <a:buNone/>
            </a:pPr>
            <a:r>
              <a:rPr lang="en-US" sz="2400" b="1" dirty="0">
                <a:solidFill>
                  <a:srgbClr val="2B2D31"/>
                </a:solidFill>
                <a:latin typeface="맑은 고딕" pitchFamily="34" charset="0"/>
                <a:ea typeface="맑은 고딕" pitchFamily="34" charset="-122"/>
                <a:cs typeface="맑은 고딕" pitchFamily="34" charset="-120"/>
              </a:rPr>
              <a:t>우성훈</a:t>
            </a:r>
            <a:endParaRPr lang="en-US" sz="2400" dirty="0"/>
          </a:p>
        </p:txBody>
      </p:sp>
      <p:sp>
        <p:nvSpPr>
          <p:cNvPr id="9" name="Text 6"/>
          <p:cNvSpPr txBox="1"/>
          <p:nvPr/>
        </p:nvSpPr>
        <p:spPr>
          <a:xfrm>
            <a:off x="3017520" y="2331720"/>
            <a:ext cx="2697480" cy="320040"/>
          </a:xfrm>
          <a:prstGeom prst="rect">
            <a:avLst/>
          </a:prstGeom>
          <a:noFill/>
          <a:ln/>
        </p:spPr>
        <p:txBody>
          <a:bodyPr wrap="square" lIns="0" tIns="0" rIns="0" bIns="0" rtlCol="0" anchor="t"/>
          <a:lstStyle/>
          <a:p>
            <a:pPr indent="0" marL="0">
              <a:buNone/>
            </a:pPr>
            <a:r>
              <a:rPr lang="en-US" sz="1350" b="1" dirty="0">
                <a:solidFill>
                  <a:srgbClr val="B5501F"/>
                </a:solidFill>
                <a:latin typeface="맑은 고딕" pitchFamily="34" charset="0"/>
                <a:ea typeface="맑은 고딕" pitchFamily="34" charset="-122"/>
                <a:cs typeface="맑은 고딕" pitchFamily="34" charset="-120"/>
              </a:rPr>
              <a:t>EL (Entrepreneurial Lead)</a:t>
            </a:r>
            <a:endParaRPr lang="en-US" sz="1350" dirty="0"/>
          </a:p>
        </p:txBody>
      </p:sp>
      <p:sp>
        <p:nvSpPr>
          <p:cNvPr id="10" name="Text 7"/>
          <p:cNvSpPr txBox="1"/>
          <p:nvPr/>
        </p:nvSpPr>
        <p:spPr>
          <a:xfrm>
            <a:off x="3017520" y="2743200"/>
            <a:ext cx="2697480" cy="548640"/>
          </a:xfrm>
          <a:prstGeom prst="rect">
            <a:avLst/>
          </a:prstGeom>
          <a:noFill/>
          <a:ln/>
        </p:spPr>
        <p:txBody>
          <a:bodyPr wrap="square" lIns="0" tIns="0" rIns="0" bIns="0" rtlCol="0" anchor="t"/>
          <a:lstStyle/>
          <a:p>
            <a:pPr indent="0" marL="0">
              <a:buNone/>
            </a:pPr>
            <a:r>
              <a:rPr lang="en-US" sz="1250" dirty="0">
                <a:solidFill>
                  <a:srgbClr val="6B6F76"/>
                </a:solidFill>
                <a:latin typeface="맑은 고딕" pitchFamily="34" charset="0"/>
                <a:ea typeface="맑은 고딕" pitchFamily="34" charset="-122"/>
                <a:cs typeface="맑은 고딕" pitchFamily="34" charset="-120"/>
              </a:rPr>
              <a:t>경상국립대학교</a:t>
            </a:r>
            <a:endParaRPr lang="en-US" sz="1250" dirty="0"/>
          </a:p>
          <a:p>
            <a:pPr indent="0" marL="0">
              <a:buNone/>
            </a:pPr>
            <a:r>
              <a:rPr lang="en-US" sz="1250" dirty="0">
                <a:solidFill>
                  <a:srgbClr val="6B6F76"/>
                </a:solidFill>
                <a:latin typeface="맑은 고딕" pitchFamily="34" charset="0"/>
                <a:ea typeface="맑은 고딕" pitchFamily="34" charset="-122"/>
                <a:cs typeface="맑은 고딕" pitchFamily="34" charset="-120"/>
              </a:rPr>
              <a:t>기계시스템공학과</a:t>
            </a:r>
            <a:endParaRPr lang="en-US" sz="1250" dirty="0"/>
          </a:p>
        </p:txBody>
      </p:sp>
      <p:sp>
        <p:nvSpPr>
          <p:cNvPr id="11" name="Text 8"/>
          <p:cNvSpPr txBox="1"/>
          <p:nvPr/>
        </p:nvSpPr>
        <p:spPr>
          <a:xfrm>
            <a:off x="3017520" y="3383280"/>
            <a:ext cx="2697480" cy="731520"/>
          </a:xfrm>
          <a:prstGeom prst="rect">
            <a:avLst/>
          </a:prstGeom>
          <a:noFill/>
          <a:ln/>
        </p:spPr>
        <p:txBody>
          <a:bodyPr wrap="square" lIns="0" tIns="0" rIns="0" bIns="0" rtlCol="0" anchor="t"/>
          <a:lstStyle/>
          <a:p>
            <a:pPr indent="0" marL="0">
              <a:buNone/>
            </a:pPr>
            <a:r>
              <a:rPr lang="en-US" sz="1250" dirty="0">
                <a:solidFill>
                  <a:srgbClr val="2B2D31"/>
                </a:solidFill>
                <a:latin typeface="맑은 고딕" pitchFamily="34" charset="0"/>
                <a:ea typeface="맑은 고딕" pitchFamily="34" charset="-122"/>
                <a:cs typeface="맑은 고딕" pitchFamily="34" charset="-120"/>
              </a:rPr>
              <a:t>녹 색상 기반 부식 예측 연구 · ICIMC 2026 발표자</a:t>
            </a:r>
            <a:endParaRPr lang="en-US" sz="1250" dirty="0"/>
          </a:p>
        </p:txBody>
      </p:sp>
      <p:sp>
        <p:nvSpPr>
          <p:cNvPr id="12" name="Shape 9"/>
          <p:cNvSpPr/>
          <p:nvPr/>
        </p:nvSpPr>
        <p:spPr>
          <a:xfrm>
            <a:off x="6291072" y="1417320"/>
            <a:ext cx="5349240" cy="3017520"/>
          </a:xfrm>
          <a:prstGeom prst="roundRect">
            <a:avLst>
              <a:gd name="adj" fmla="val 2424"/>
            </a:avLst>
          </a:prstGeom>
          <a:solidFill>
            <a:srgbClr val="F3F4F6"/>
          </a:solidFill>
          <a:ln w="6350">
            <a:solidFill>
              <a:srgbClr val="F3F4F6"/>
            </a:solidFill>
            <a:prstDash val="solid"/>
          </a:ln>
        </p:spPr>
      </p:sp>
      <p:pic>
        <p:nvPicPr>
          <p:cNvPr id="13" name="Image 1" descr="/home/user/PPT/src/img/team_park.jpg">    </p:cNvPr>
          <p:cNvPicPr>
            <a:picLocks noChangeAspect="1"/>
          </p:cNvPicPr>
          <p:nvPr/>
        </p:nvPicPr>
        <p:blipFill>
          <a:blip r:embed="rId2"/>
          <a:srcRect l="0" r="0" t="0" b="0"/>
          <a:stretch/>
        </p:blipFill>
        <p:spPr>
          <a:xfrm>
            <a:off x="6565392" y="1691640"/>
            <a:ext cx="1919930" cy="2468880"/>
          </a:xfrm>
          <a:prstGeom prst="rect">
            <a:avLst/>
          </a:prstGeom>
        </p:spPr>
      </p:pic>
      <p:sp>
        <p:nvSpPr>
          <p:cNvPr id="14" name="Text 10"/>
          <p:cNvSpPr txBox="1"/>
          <p:nvPr/>
        </p:nvSpPr>
        <p:spPr>
          <a:xfrm>
            <a:off x="8759642" y="1828800"/>
            <a:ext cx="2697790" cy="457200"/>
          </a:xfrm>
          <a:prstGeom prst="rect">
            <a:avLst/>
          </a:prstGeom>
          <a:noFill/>
          <a:ln/>
        </p:spPr>
        <p:txBody>
          <a:bodyPr wrap="square" lIns="0" tIns="0" rIns="0" bIns="0" rtlCol="0" anchor="t"/>
          <a:lstStyle/>
          <a:p>
            <a:pPr indent="0" marL="0">
              <a:buNone/>
            </a:pPr>
            <a:r>
              <a:rPr lang="en-US" sz="2400" b="1" dirty="0">
                <a:solidFill>
                  <a:srgbClr val="2B2D31"/>
                </a:solidFill>
                <a:latin typeface="맑은 고딕" pitchFamily="34" charset="0"/>
                <a:ea typeface="맑은 고딕" pitchFamily="34" charset="-122"/>
                <a:cs typeface="맑은 고딕" pitchFamily="34" charset="-120"/>
              </a:rPr>
              <a:t>박준범</a:t>
            </a:r>
            <a:endParaRPr lang="en-US" sz="2400" dirty="0"/>
          </a:p>
        </p:txBody>
      </p:sp>
      <p:sp>
        <p:nvSpPr>
          <p:cNvPr id="15" name="Text 11"/>
          <p:cNvSpPr txBox="1"/>
          <p:nvPr/>
        </p:nvSpPr>
        <p:spPr>
          <a:xfrm>
            <a:off x="8759642" y="2331720"/>
            <a:ext cx="2697790" cy="320040"/>
          </a:xfrm>
          <a:prstGeom prst="rect">
            <a:avLst/>
          </a:prstGeom>
          <a:noFill/>
          <a:ln/>
        </p:spPr>
        <p:txBody>
          <a:bodyPr wrap="square" lIns="0" tIns="0" rIns="0" bIns="0" rtlCol="0" anchor="t"/>
          <a:lstStyle/>
          <a:p>
            <a:pPr indent="0" marL="0">
              <a:buNone/>
            </a:pPr>
            <a:r>
              <a:rPr lang="en-US" sz="1350" b="1" dirty="0">
                <a:solidFill>
                  <a:srgbClr val="B5501F"/>
                </a:solidFill>
                <a:latin typeface="맑은 고딕" pitchFamily="34" charset="0"/>
                <a:ea typeface="맑은 고딕" pitchFamily="34" charset="-122"/>
                <a:cs typeface="맑은 고딕" pitchFamily="34" charset="-120"/>
              </a:rPr>
              <a:t>EM</a:t>
            </a:r>
            <a:endParaRPr lang="en-US" sz="1350" dirty="0"/>
          </a:p>
        </p:txBody>
      </p:sp>
      <p:sp>
        <p:nvSpPr>
          <p:cNvPr id="16" name="Text 12"/>
          <p:cNvSpPr txBox="1"/>
          <p:nvPr/>
        </p:nvSpPr>
        <p:spPr>
          <a:xfrm>
            <a:off x="8759642" y="2743200"/>
            <a:ext cx="2697790" cy="548640"/>
          </a:xfrm>
          <a:prstGeom prst="rect">
            <a:avLst/>
          </a:prstGeom>
          <a:noFill/>
          <a:ln/>
        </p:spPr>
        <p:txBody>
          <a:bodyPr wrap="square" lIns="0" tIns="0" rIns="0" bIns="0" rtlCol="0" anchor="t"/>
          <a:lstStyle/>
          <a:p>
            <a:pPr indent="0" marL="0">
              <a:buNone/>
            </a:pPr>
            <a:r>
              <a:rPr lang="en-US" sz="1250" dirty="0">
                <a:solidFill>
                  <a:srgbClr val="6B6F76"/>
                </a:solidFill>
                <a:latin typeface="맑은 고딕" pitchFamily="34" charset="0"/>
                <a:ea typeface="맑은 고딕" pitchFamily="34" charset="-122"/>
                <a:cs typeface="맑은 고딕" pitchFamily="34" charset="-120"/>
              </a:rPr>
              <a:t>경상국립대학교</a:t>
            </a:r>
            <a:endParaRPr lang="en-US" sz="1250" dirty="0"/>
          </a:p>
          <a:p>
            <a:pPr indent="0" marL="0">
              <a:buNone/>
            </a:pPr>
            <a:r>
              <a:rPr lang="en-US" sz="1250" dirty="0">
                <a:solidFill>
                  <a:srgbClr val="6B6F76"/>
                </a:solidFill>
                <a:latin typeface="맑은 고딕" pitchFamily="34" charset="0"/>
                <a:ea typeface="맑은 고딕" pitchFamily="34" charset="-122"/>
                <a:cs typeface="맑은 고딕" pitchFamily="34" charset="-120"/>
              </a:rPr>
              <a:t>기계시스템공학과</a:t>
            </a:r>
            <a:endParaRPr lang="en-US" sz="1250" dirty="0"/>
          </a:p>
        </p:txBody>
      </p:sp>
      <p:sp>
        <p:nvSpPr>
          <p:cNvPr id="17" name="Text 13"/>
          <p:cNvSpPr txBox="1"/>
          <p:nvPr/>
        </p:nvSpPr>
        <p:spPr>
          <a:xfrm>
            <a:off x="8759642" y="3383280"/>
            <a:ext cx="2697790" cy="731520"/>
          </a:xfrm>
          <a:prstGeom prst="rect">
            <a:avLst/>
          </a:prstGeom>
          <a:noFill/>
          <a:ln/>
        </p:spPr>
        <p:txBody>
          <a:bodyPr wrap="square" lIns="0" tIns="0" rIns="0" bIns="0" rtlCol="0" anchor="t"/>
          <a:lstStyle/>
          <a:p>
            <a:pPr indent="0" marL="0">
              <a:buNone/>
            </a:pPr>
            <a:r>
              <a:rPr lang="en-US" sz="1250" dirty="0">
                <a:solidFill>
                  <a:srgbClr val="2B2D31"/>
                </a:solidFill>
                <a:latin typeface="맑은 고딕" pitchFamily="34" charset="0"/>
                <a:ea typeface="맑은 고딕" pitchFamily="34" charset="-122"/>
                <a:cs typeface="맑은 고딕" pitchFamily="34" charset="-120"/>
              </a:rPr>
              <a:t>부식 연구 공동 저자 · 고객 인터뷰 35건 공동 진행</a:t>
            </a:r>
            <a:endParaRPr lang="en-US" sz="1250" dirty="0"/>
          </a:p>
        </p:txBody>
      </p:sp>
      <p:sp>
        <p:nvSpPr>
          <p:cNvPr id="18" name="Shape 14"/>
          <p:cNvSpPr/>
          <p:nvPr/>
        </p:nvSpPr>
        <p:spPr>
          <a:xfrm>
            <a:off x="548640" y="4709160"/>
            <a:ext cx="11094415" cy="548640"/>
          </a:xfrm>
          <a:prstGeom prst="roundRect">
            <a:avLst>
              <a:gd name="adj" fmla="val 10000"/>
            </a:avLst>
          </a:prstGeom>
          <a:solidFill>
            <a:srgbClr val="FFF6DB"/>
          </a:solidFill>
          <a:ln w="15875">
            <a:solidFill>
              <a:srgbClr val="E0B23C"/>
            </a:solidFill>
            <a:prstDash val="dash"/>
          </a:ln>
        </p:spPr>
      </p:sp>
      <p:sp>
        <p:nvSpPr>
          <p:cNvPr id="19" name="Text 15"/>
          <p:cNvSpPr txBox="1"/>
          <p:nvPr/>
        </p:nvSpPr>
        <p:spPr>
          <a:xfrm>
            <a:off x="685800" y="4709160"/>
            <a:ext cx="10820095" cy="548640"/>
          </a:xfrm>
          <a:prstGeom prst="rect">
            <a:avLst/>
          </a:prstGeom>
          <a:noFill/>
          <a:ln/>
        </p:spPr>
        <p:txBody>
          <a:bodyPr wrap="square" lIns="0" tIns="0" rIns="0" bIns="0" rtlCol="0" anchor="ctr"/>
          <a:lstStyle/>
          <a:p>
            <a:pPr indent="0" marL="0">
              <a:buNone/>
            </a:pPr>
            <a:r>
              <a:rPr lang="en-US" sz="1300" dirty="0">
                <a:solidFill>
                  <a:srgbClr val="9A6A00"/>
                </a:solidFill>
                <a:latin typeface="맑은 고딕" pitchFamily="34" charset="0"/>
                <a:ea typeface="맑은 고딕" pitchFamily="34" charset="-122"/>
                <a:cs typeface="맑은 고딕" pitchFamily="34" charset="-120"/>
              </a:rPr>
              <a:t>✎  지도교수 · 멘토 · 자문 (예: 부식/재료 분야 지도교수, Tex-Corps 멘토)</a:t>
            </a:r>
            <a:endParaRPr lang="en-US" sz="1300" dirty="0"/>
          </a:p>
        </p:txBody>
      </p:sp>
      <p:sp>
        <p:nvSpPr>
          <p:cNvPr id="20" name="Text 16"/>
          <p:cNvSpPr txBox="1"/>
          <p:nvPr/>
        </p:nvSpPr>
        <p:spPr>
          <a:xfrm>
            <a:off x="548640" y="5532120"/>
            <a:ext cx="11094415" cy="320040"/>
          </a:xfrm>
          <a:prstGeom prst="rect">
            <a:avLst/>
          </a:prstGeom>
          <a:noFill/>
          <a:ln/>
        </p:spPr>
        <p:txBody>
          <a:bodyPr wrap="square" lIns="0" tIns="0" rIns="0" bIns="0" rtlCol="0" anchor="t"/>
          <a:lstStyle/>
          <a:p>
            <a:pPr indent="0" marL="0">
              <a:buNone/>
            </a:pPr>
            <a:r>
              <a:rPr lang="en-US" sz="1200" dirty="0">
                <a:solidFill>
                  <a:srgbClr val="6B6F76"/>
                </a:solidFill>
                <a:latin typeface="맑은 고딕" pitchFamily="34" charset="0"/>
                <a:ea typeface="맑은 고딕" pitchFamily="34" charset="-122"/>
                <a:cs typeface="맑은 고딕" pitchFamily="34" charset="-120"/>
              </a:rPr>
              <a:t>연구 기반: 해양수산부 「친환경 선박 블루테크 리더 양성」 사업 (RS-2025-02220459)</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2226"/>
        </a:solidFill>
      </p:bgPr>
    </p:bg>
    <p:spTree>
      <p:nvGrpSpPr>
        <p:cNvPr id="1" name=""/>
        <p:cNvGrpSpPr/>
        <p:nvPr/>
      </p:nvGrpSpPr>
      <p:grpSpPr>
        <a:xfrm>
          <a:off x="0" y="0"/>
          <a:ext cx="0" cy="0"/>
          <a:chOff x="0" y="0"/>
          <a:chExt cx="0" cy="0"/>
        </a:xfrm>
      </p:grpSpPr>
      <p:sp>
        <p:nvSpPr>
          <p:cNvPr id="2" name="Text 0"/>
          <p:cNvSpPr txBox="1"/>
          <p:nvPr/>
        </p:nvSpPr>
        <p:spPr>
          <a:xfrm>
            <a:off x="548640" y="502920"/>
            <a:ext cx="3657600" cy="274320"/>
          </a:xfrm>
          <a:prstGeom prst="rect">
            <a:avLst/>
          </a:prstGeom>
          <a:noFill/>
          <a:ln/>
        </p:spPr>
        <p:txBody>
          <a:bodyPr wrap="square" lIns="0" tIns="0" rIns="0" bIns="0" rtlCol="0" anchor="t"/>
          <a:lstStyle/>
          <a:p>
            <a:pPr indent="0" marL="0">
              <a:buNone/>
            </a:pPr>
            <a:r>
              <a:rPr lang="en-US" sz="1200" b="1" spc="200" kern="0" dirty="0">
                <a:solidFill>
                  <a:srgbClr val="E8A87C"/>
                </a:solidFill>
                <a:latin typeface="맑은 고딕" pitchFamily="34" charset="0"/>
                <a:ea typeface="맑은 고딕" pitchFamily="34" charset="-122"/>
                <a:cs typeface="맑은 고딕" pitchFamily="34" charset="-120"/>
              </a:rPr>
              <a:t>ASK</a:t>
            </a:r>
            <a:endParaRPr lang="en-US" sz="1200" dirty="0"/>
          </a:p>
        </p:txBody>
      </p:sp>
      <p:sp>
        <p:nvSpPr>
          <p:cNvPr id="3" name="Text 1"/>
          <p:cNvSpPr txBox="1"/>
          <p:nvPr/>
        </p:nvSpPr>
        <p:spPr>
          <a:xfrm>
            <a:off x="548640" y="822960"/>
            <a:ext cx="10972800" cy="731520"/>
          </a:xfrm>
          <a:prstGeom prst="rect">
            <a:avLst/>
          </a:prstGeom>
          <a:noFill/>
          <a:ln/>
        </p:spPr>
        <p:txBody>
          <a:bodyPr wrap="square" lIns="0" tIns="0" rIns="0" bIns="0" rtlCol="0" anchor="ctr"/>
          <a:lstStyle/>
          <a:p>
            <a:pPr indent="0" marL="0">
              <a:buNone/>
            </a:pPr>
            <a:r>
              <a:rPr lang="en-US" sz="3400" b="1" dirty="0">
                <a:solidFill>
                  <a:srgbClr val="FFFFFF"/>
                </a:solidFill>
                <a:latin typeface="맑은 고딕" pitchFamily="34" charset="0"/>
                <a:ea typeface="맑은 고딕" pitchFamily="34" charset="-122"/>
                <a:cs typeface="맑은 고딕" pitchFamily="34" charset="-120"/>
              </a:rPr>
              <a:t>첫 파일럿 현장을 찾고 있습니다</a:t>
            </a:r>
            <a:endParaRPr lang="en-US" sz="3400" dirty="0"/>
          </a:p>
        </p:txBody>
      </p:sp>
      <p:sp>
        <p:nvSpPr>
          <p:cNvPr id="4" name="Shape 2"/>
          <p:cNvSpPr/>
          <p:nvPr/>
        </p:nvSpPr>
        <p:spPr>
          <a:xfrm>
            <a:off x="548640" y="1828800"/>
            <a:ext cx="3515258" cy="2377440"/>
          </a:xfrm>
          <a:prstGeom prst="roundRect">
            <a:avLst>
              <a:gd name="adj" fmla="val 3077"/>
            </a:avLst>
          </a:prstGeom>
          <a:solidFill>
            <a:srgbClr val="2B2F35"/>
          </a:solidFill>
          <a:ln w="12700">
            <a:solidFill>
              <a:srgbClr val="3A3D42"/>
            </a:solidFill>
            <a:prstDash val="solid"/>
          </a:ln>
        </p:spPr>
      </p:sp>
      <p:sp>
        <p:nvSpPr>
          <p:cNvPr id="5" name="Shape 3"/>
          <p:cNvSpPr/>
          <p:nvPr/>
        </p:nvSpPr>
        <p:spPr>
          <a:xfrm>
            <a:off x="822960" y="2103120"/>
            <a:ext cx="685800" cy="685800"/>
          </a:xfrm>
          <a:prstGeom prst="ellipse">
            <a:avLst/>
          </a:prstGeom>
          <a:solidFill>
            <a:srgbClr val="B5501F"/>
          </a:solidFill>
          <a:ln w="12700">
            <a:solidFill>
              <a:srgbClr val="B5501F"/>
            </a:solidFill>
            <a:prstDash val="solid"/>
          </a:ln>
        </p:spPr>
      </p:sp>
      <p:pic>
        <p:nvPicPr>
          <p:cNvPr id="6" name="Image 0" descr="preencoded.png">    </p:cNvPr>
          <p:cNvPicPr>
            <a:picLocks noChangeAspect="1"/>
          </p:cNvPicPr>
          <p:nvPr/>
        </p:nvPicPr>
        <p:blipFill>
          <a:blip r:embed="rId1"/>
          <a:stretch>
            <a:fillRect/>
          </a:stretch>
        </p:blipFill>
        <p:spPr>
          <a:xfrm>
            <a:off x="1001268" y="2281428"/>
            <a:ext cx="329184" cy="329184"/>
          </a:xfrm>
          <a:prstGeom prst="rect">
            <a:avLst/>
          </a:prstGeom>
        </p:spPr>
      </p:pic>
      <p:sp>
        <p:nvSpPr>
          <p:cNvPr id="7" name="Text 4"/>
          <p:cNvSpPr txBox="1"/>
          <p:nvPr/>
        </p:nvSpPr>
        <p:spPr>
          <a:xfrm>
            <a:off x="1691640" y="2103120"/>
            <a:ext cx="2143658" cy="685800"/>
          </a:xfrm>
          <a:prstGeom prst="rect">
            <a:avLst/>
          </a:prstGeom>
          <a:noFill/>
          <a:ln/>
        </p:spPr>
        <p:txBody>
          <a:bodyPr wrap="square" lIns="0" tIns="0" rIns="0" bIns="0" rtlCol="0" anchor="ctr"/>
          <a:lstStyle/>
          <a:p>
            <a:pPr indent="0" marL="0">
              <a:buNone/>
            </a:pPr>
            <a:r>
              <a:rPr lang="en-US" sz="1900" b="1" dirty="0">
                <a:solidFill>
                  <a:srgbClr val="FFFFFF"/>
                </a:solidFill>
                <a:latin typeface="맑은 고딕" pitchFamily="34" charset="0"/>
                <a:ea typeface="맑은 고딕" pitchFamily="34" charset="-122"/>
                <a:cs typeface="맑은 고딕" pitchFamily="34" charset="-120"/>
              </a:rPr>
              <a:t>파일럿 파트너</a:t>
            </a:r>
            <a:endParaRPr lang="en-US" sz="1900" dirty="0"/>
          </a:p>
        </p:txBody>
      </p:sp>
      <p:sp>
        <p:nvSpPr>
          <p:cNvPr id="8" name="Text 5"/>
          <p:cNvSpPr txBox="1"/>
          <p:nvPr/>
        </p:nvSpPr>
        <p:spPr>
          <a:xfrm>
            <a:off x="822960" y="3017520"/>
            <a:ext cx="2966618" cy="365760"/>
          </a:xfrm>
          <a:prstGeom prst="rect">
            <a:avLst/>
          </a:prstGeom>
          <a:noFill/>
          <a:ln/>
        </p:spPr>
        <p:txBody>
          <a:bodyPr wrap="square" lIns="0" tIns="0" rIns="0" bIns="0" rtlCol="0" anchor="t"/>
          <a:lstStyle/>
          <a:p>
            <a:pPr indent="0" marL="0">
              <a:buNone/>
            </a:pPr>
            <a:r>
              <a:rPr lang="en-US" sz="1400" b="1" dirty="0">
                <a:solidFill>
                  <a:srgbClr val="E8A87C"/>
                </a:solidFill>
                <a:latin typeface="맑은 고딕" pitchFamily="34" charset="0"/>
                <a:ea typeface="맑은 고딕" pitchFamily="34" charset="-122"/>
                <a:cs typeface="맑은 고딕" pitchFamily="34" charset="-120"/>
              </a:rPr>
              <a:t>해양 구조물 · 플랜트 운영사</a:t>
            </a:r>
            <a:endParaRPr lang="en-US" sz="1400" dirty="0"/>
          </a:p>
        </p:txBody>
      </p:sp>
      <p:sp>
        <p:nvSpPr>
          <p:cNvPr id="9" name="Text 6"/>
          <p:cNvSpPr txBox="1"/>
          <p:nvPr/>
        </p:nvSpPr>
        <p:spPr>
          <a:xfrm>
            <a:off x="822960" y="3429000"/>
            <a:ext cx="2966618" cy="640080"/>
          </a:xfrm>
          <a:prstGeom prst="rect">
            <a:avLst/>
          </a:prstGeom>
          <a:noFill/>
          <a:ln/>
        </p:spPr>
        <p:txBody>
          <a:bodyPr wrap="square" lIns="0" tIns="0" rIns="0" bIns="0" rtlCol="0" anchor="t"/>
          <a:lstStyle/>
          <a:p>
            <a:pPr indent="0" marL="0">
              <a:buNone/>
            </a:pPr>
            <a:r>
              <a:rPr lang="en-US" sz="1300" dirty="0">
                <a:solidFill>
                  <a:srgbClr val="D5D7DA"/>
                </a:solidFill>
                <a:latin typeface="맑은 고딕" pitchFamily="34" charset="0"/>
                <a:ea typeface="맑은 고딕" pitchFamily="34" charset="-122"/>
                <a:cs typeface="맑은 고딕" pitchFamily="34" charset="-120"/>
              </a:rPr>
              <a:t>단일 현장, 기간 한정, 성공 지표 사전 합의</a:t>
            </a:r>
            <a:endParaRPr lang="en-US" sz="1300" dirty="0"/>
          </a:p>
        </p:txBody>
      </p:sp>
      <p:sp>
        <p:nvSpPr>
          <p:cNvPr id="10" name="Shape 7"/>
          <p:cNvSpPr/>
          <p:nvPr/>
        </p:nvSpPr>
        <p:spPr>
          <a:xfrm>
            <a:off x="4338218" y="1828800"/>
            <a:ext cx="3515258" cy="2377440"/>
          </a:xfrm>
          <a:prstGeom prst="roundRect">
            <a:avLst>
              <a:gd name="adj" fmla="val 3077"/>
            </a:avLst>
          </a:prstGeom>
          <a:solidFill>
            <a:srgbClr val="2B2F35"/>
          </a:solidFill>
          <a:ln w="12700">
            <a:solidFill>
              <a:srgbClr val="3A3D42"/>
            </a:solidFill>
            <a:prstDash val="solid"/>
          </a:ln>
        </p:spPr>
      </p:sp>
      <p:sp>
        <p:nvSpPr>
          <p:cNvPr id="11" name="Shape 8"/>
          <p:cNvSpPr/>
          <p:nvPr/>
        </p:nvSpPr>
        <p:spPr>
          <a:xfrm>
            <a:off x="4612538" y="2103120"/>
            <a:ext cx="685800" cy="685800"/>
          </a:xfrm>
          <a:prstGeom prst="ellipse">
            <a:avLst/>
          </a:prstGeom>
          <a:solidFill>
            <a:srgbClr val="B5501F"/>
          </a:solidFill>
          <a:ln w="12700">
            <a:solidFill>
              <a:srgbClr val="B5501F"/>
            </a:solidFill>
            <a:prstDash val="solid"/>
          </a:ln>
        </p:spPr>
      </p:sp>
      <p:pic>
        <p:nvPicPr>
          <p:cNvPr id="12" name="Image 1" descr="preencoded.png">    </p:cNvPr>
          <p:cNvPicPr>
            <a:picLocks noChangeAspect="1"/>
          </p:cNvPicPr>
          <p:nvPr/>
        </p:nvPicPr>
        <p:blipFill>
          <a:blip r:embed="rId2"/>
          <a:stretch>
            <a:fillRect/>
          </a:stretch>
        </p:blipFill>
        <p:spPr>
          <a:xfrm>
            <a:off x="4790846" y="2281428"/>
            <a:ext cx="329184" cy="329184"/>
          </a:xfrm>
          <a:prstGeom prst="rect">
            <a:avLst/>
          </a:prstGeom>
        </p:spPr>
      </p:pic>
      <p:sp>
        <p:nvSpPr>
          <p:cNvPr id="13" name="Text 9"/>
          <p:cNvSpPr txBox="1"/>
          <p:nvPr/>
        </p:nvSpPr>
        <p:spPr>
          <a:xfrm>
            <a:off x="5481218" y="2103120"/>
            <a:ext cx="2143658" cy="685800"/>
          </a:xfrm>
          <a:prstGeom prst="rect">
            <a:avLst/>
          </a:prstGeom>
          <a:noFill/>
          <a:ln/>
        </p:spPr>
        <p:txBody>
          <a:bodyPr wrap="square" lIns="0" tIns="0" rIns="0" bIns="0" rtlCol="0" anchor="ctr"/>
          <a:lstStyle/>
          <a:p>
            <a:pPr indent="0" marL="0">
              <a:buNone/>
            </a:pPr>
            <a:r>
              <a:rPr lang="en-US" sz="1900" b="1" dirty="0">
                <a:solidFill>
                  <a:srgbClr val="FFFFFF"/>
                </a:solidFill>
                <a:latin typeface="맑은 고딕" pitchFamily="34" charset="0"/>
                <a:ea typeface="맑은 고딕" pitchFamily="34" charset="-122"/>
                <a:cs typeface="맑은 고딕" pitchFamily="34" charset="-120"/>
              </a:rPr>
              <a:t>드론 · 점검 파트너</a:t>
            </a:r>
            <a:endParaRPr lang="en-US" sz="1900" dirty="0"/>
          </a:p>
        </p:txBody>
      </p:sp>
      <p:sp>
        <p:nvSpPr>
          <p:cNvPr id="14" name="Text 10"/>
          <p:cNvSpPr txBox="1"/>
          <p:nvPr/>
        </p:nvSpPr>
        <p:spPr>
          <a:xfrm>
            <a:off x="4612538" y="3017520"/>
            <a:ext cx="2966618" cy="365760"/>
          </a:xfrm>
          <a:prstGeom prst="rect">
            <a:avLst/>
          </a:prstGeom>
          <a:noFill/>
          <a:ln/>
        </p:spPr>
        <p:txBody>
          <a:bodyPr wrap="square" lIns="0" tIns="0" rIns="0" bIns="0" rtlCol="0" anchor="t"/>
          <a:lstStyle/>
          <a:p>
            <a:pPr indent="0" marL="0">
              <a:buNone/>
            </a:pPr>
            <a:r>
              <a:rPr lang="en-US" sz="1400" b="1" dirty="0">
                <a:solidFill>
                  <a:srgbClr val="E8A87C"/>
                </a:solidFill>
                <a:latin typeface="맑은 고딕" pitchFamily="34" charset="0"/>
                <a:ea typeface="맑은 고딕" pitchFamily="34" charset="-122"/>
                <a:cs typeface="맑은 고딕" pitchFamily="34" charset="-120"/>
              </a:rPr>
              <a:t>드론 운용사 · 방식 전문 업체</a:t>
            </a:r>
            <a:endParaRPr lang="en-US" sz="1400" dirty="0"/>
          </a:p>
        </p:txBody>
      </p:sp>
      <p:sp>
        <p:nvSpPr>
          <p:cNvPr id="15" name="Text 11"/>
          <p:cNvSpPr txBox="1"/>
          <p:nvPr/>
        </p:nvSpPr>
        <p:spPr>
          <a:xfrm>
            <a:off x="4612538" y="3429000"/>
            <a:ext cx="2966618" cy="640080"/>
          </a:xfrm>
          <a:prstGeom prst="rect">
            <a:avLst/>
          </a:prstGeom>
          <a:noFill/>
          <a:ln/>
        </p:spPr>
        <p:txBody>
          <a:bodyPr wrap="square" lIns="0" tIns="0" rIns="0" bIns="0" rtlCol="0" anchor="t"/>
          <a:lstStyle/>
          <a:p>
            <a:pPr indent="0" marL="0">
              <a:buNone/>
            </a:pPr>
            <a:r>
              <a:rPr lang="en-US" sz="1300" dirty="0">
                <a:solidFill>
                  <a:srgbClr val="D5D7DA"/>
                </a:solidFill>
                <a:latin typeface="맑은 고딕" pitchFamily="34" charset="0"/>
                <a:ea typeface="맑은 고딕" pitchFamily="34" charset="-122"/>
                <a:cs typeface="맑은 고딕" pitchFamily="34" charset="-120"/>
              </a:rPr>
              <a:t>현장 촬영 데이터 확보와 기술 교차 검증</a:t>
            </a:r>
            <a:endParaRPr lang="en-US" sz="1300" dirty="0"/>
          </a:p>
        </p:txBody>
      </p:sp>
      <p:sp>
        <p:nvSpPr>
          <p:cNvPr id="16" name="Shape 12"/>
          <p:cNvSpPr/>
          <p:nvPr/>
        </p:nvSpPr>
        <p:spPr>
          <a:xfrm>
            <a:off x="8127797" y="1828800"/>
            <a:ext cx="3515258" cy="2377440"/>
          </a:xfrm>
          <a:prstGeom prst="roundRect">
            <a:avLst>
              <a:gd name="adj" fmla="val 3077"/>
            </a:avLst>
          </a:prstGeom>
          <a:solidFill>
            <a:srgbClr val="2B2F35"/>
          </a:solidFill>
          <a:ln w="12700">
            <a:solidFill>
              <a:srgbClr val="3A3D42"/>
            </a:solidFill>
            <a:prstDash val="solid"/>
          </a:ln>
        </p:spPr>
      </p:sp>
      <p:sp>
        <p:nvSpPr>
          <p:cNvPr id="17" name="Shape 13"/>
          <p:cNvSpPr/>
          <p:nvPr/>
        </p:nvSpPr>
        <p:spPr>
          <a:xfrm>
            <a:off x="8402117" y="2103120"/>
            <a:ext cx="685800" cy="685800"/>
          </a:xfrm>
          <a:prstGeom prst="ellipse">
            <a:avLst/>
          </a:prstGeom>
          <a:solidFill>
            <a:srgbClr val="B5501F"/>
          </a:solidFill>
          <a:ln w="12700">
            <a:solidFill>
              <a:srgbClr val="B5501F"/>
            </a:solidFill>
            <a:prstDash val="solid"/>
          </a:ln>
        </p:spPr>
      </p:sp>
      <p:pic>
        <p:nvPicPr>
          <p:cNvPr id="18" name="Image 2" descr="preencoded.png">    </p:cNvPr>
          <p:cNvPicPr>
            <a:picLocks noChangeAspect="1"/>
          </p:cNvPicPr>
          <p:nvPr/>
        </p:nvPicPr>
        <p:blipFill>
          <a:blip r:embed="rId3"/>
          <a:stretch>
            <a:fillRect/>
          </a:stretch>
        </p:blipFill>
        <p:spPr>
          <a:xfrm>
            <a:off x="8580425" y="2281428"/>
            <a:ext cx="329184" cy="329184"/>
          </a:xfrm>
          <a:prstGeom prst="rect">
            <a:avLst/>
          </a:prstGeom>
        </p:spPr>
      </p:pic>
      <p:sp>
        <p:nvSpPr>
          <p:cNvPr id="19" name="Text 14"/>
          <p:cNvSpPr txBox="1"/>
          <p:nvPr/>
        </p:nvSpPr>
        <p:spPr>
          <a:xfrm>
            <a:off x="9270797" y="2103120"/>
            <a:ext cx="2143658" cy="685800"/>
          </a:xfrm>
          <a:prstGeom prst="rect">
            <a:avLst/>
          </a:prstGeom>
          <a:noFill/>
          <a:ln/>
        </p:spPr>
        <p:txBody>
          <a:bodyPr wrap="square" lIns="0" tIns="0" rIns="0" bIns="0" rtlCol="0" anchor="ctr"/>
          <a:lstStyle/>
          <a:p>
            <a:pPr indent="0" marL="0">
              <a:buNone/>
            </a:pPr>
            <a:r>
              <a:rPr lang="en-US" sz="1900" b="1" dirty="0">
                <a:solidFill>
                  <a:srgbClr val="FFFFFF"/>
                </a:solidFill>
                <a:latin typeface="맑은 고딕" pitchFamily="34" charset="0"/>
                <a:ea typeface="맑은 고딕" pitchFamily="34" charset="-122"/>
                <a:cs typeface="맑은 고딕" pitchFamily="34" charset="-120"/>
              </a:rPr>
              <a:t>투자 · 지원</a:t>
            </a:r>
            <a:endParaRPr lang="en-US" sz="1900" dirty="0"/>
          </a:p>
        </p:txBody>
      </p:sp>
      <p:sp>
        <p:nvSpPr>
          <p:cNvPr id="20" name="Shape 15"/>
          <p:cNvSpPr/>
          <p:nvPr/>
        </p:nvSpPr>
        <p:spPr>
          <a:xfrm>
            <a:off x="8402117" y="3017520"/>
            <a:ext cx="2966618" cy="960120"/>
          </a:xfrm>
          <a:prstGeom prst="roundRect">
            <a:avLst>
              <a:gd name="adj" fmla="val 5714"/>
            </a:avLst>
          </a:prstGeom>
          <a:solidFill>
            <a:srgbClr val="FFF6DB"/>
          </a:solidFill>
          <a:ln w="15875">
            <a:solidFill>
              <a:srgbClr val="E0B23C"/>
            </a:solidFill>
            <a:prstDash val="dash"/>
          </a:ln>
        </p:spPr>
      </p:sp>
      <p:sp>
        <p:nvSpPr>
          <p:cNvPr id="21" name="Text 16"/>
          <p:cNvSpPr txBox="1"/>
          <p:nvPr/>
        </p:nvSpPr>
        <p:spPr>
          <a:xfrm>
            <a:off x="8539277" y="3017520"/>
            <a:ext cx="2692298" cy="960120"/>
          </a:xfrm>
          <a:prstGeom prst="rect">
            <a:avLst/>
          </a:prstGeom>
          <a:noFill/>
          <a:ln/>
        </p:spPr>
        <p:txBody>
          <a:bodyPr wrap="square" lIns="0" tIns="0" rIns="0" bIns="0" rtlCol="0" anchor="ctr"/>
          <a:lstStyle/>
          <a:p>
            <a:pPr indent="0" marL="0">
              <a:buNone/>
            </a:pPr>
            <a:r>
              <a:rPr lang="en-US" sz="1250" dirty="0">
                <a:solidFill>
                  <a:srgbClr val="9A6A00"/>
                </a:solidFill>
                <a:latin typeface="맑은 고딕" pitchFamily="34" charset="0"/>
                <a:ea typeface="맑은 고딕" pitchFamily="34" charset="-122"/>
                <a:cs typeface="맑은 고딕" pitchFamily="34" charset="-120"/>
              </a:rPr>
              <a:t>✎  금액과 사용처 (예: 파일럿 ○○%, 두께 데이터 결합 개발 ○○%)</a:t>
            </a:r>
            <a:endParaRPr lang="en-US" sz="1250" dirty="0"/>
          </a:p>
        </p:txBody>
      </p:sp>
      <p:sp>
        <p:nvSpPr>
          <p:cNvPr id="22" name="Text 17"/>
          <p:cNvSpPr txBox="1"/>
          <p:nvPr/>
        </p:nvSpPr>
        <p:spPr>
          <a:xfrm>
            <a:off x="548640" y="4572000"/>
            <a:ext cx="8229600" cy="502920"/>
          </a:xfrm>
          <a:prstGeom prst="rect">
            <a:avLst/>
          </a:prstGeom>
          <a:noFill/>
          <a:ln/>
        </p:spPr>
        <p:txBody>
          <a:bodyPr wrap="square" lIns="0" tIns="0" rIns="0" bIns="0" rtlCol="0" anchor="t"/>
          <a:lstStyle/>
          <a:p>
            <a:pPr indent="0" marL="0">
              <a:buNone/>
            </a:pPr>
            <a:r>
              <a:rPr lang="en-US" sz="2200" b="1" dirty="0">
                <a:solidFill>
                  <a:srgbClr val="E8A87C"/>
                </a:solidFill>
                <a:latin typeface="맑은 고딕" pitchFamily="34" charset="0"/>
                <a:ea typeface="맑은 고딕" pitchFamily="34" charset="-122"/>
                <a:cs typeface="맑은 고딕" pitchFamily="34" charset="-120"/>
              </a:rPr>
              <a:t>어디부터 점검할지, 녹의 색이 먼저 알려드립니다</a:t>
            </a:r>
            <a:endParaRPr lang="en-US" sz="2200" dirty="0"/>
          </a:p>
        </p:txBody>
      </p:sp>
      <p:pic>
        <p:nvPicPr>
          <p:cNvPr id="23" name="Image 3" descr="preencoded.png">    </p:cNvPr>
          <p:cNvPicPr>
            <a:picLocks noChangeAspect="1"/>
          </p:cNvPicPr>
          <p:nvPr/>
        </p:nvPicPr>
        <p:blipFill>
          <a:blip r:embed="rId4"/>
          <a:stretch>
            <a:fillRect/>
          </a:stretch>
        </p:blipFill>
        <p:spPr>
          <a:xfrm>
            <a:off x="548640" y="5285232"/>
            <a:ext cx="274320" cy="274320"/>
          </a:xfrm>
          <a:prstGeom prst="rect">
            <a:avLst/>
          </a:prstGeom>
        </p:spPr>
      </p:pic>
      <p:sp>
        <p:nvSpPr>
          <p:cNvPr id="24" name="Text 18"/>
          <p:cNvSpPr txBox="1"/>
          <p:nvPr/>
        </p:nvSpPr>
        <p:spPr>
          <a:xfrm>
            <a:off x="960120" y="5230368"/>
            <a:ext cx="7315200" cy="365760"/>
          </a:xfrm>
          <a:prstGeom prst="rect">
            <a:avLst/>
          </a:prstGeom>
          <a:noFill/>
          <a:ln/>
        </p:spPr>
        <p:txBody>
          <a:bodyPr wrap="square" lIns="0" tIns="0" rIns="0" bIns="0" rtlCol="0" anchor="ctr"/>
          <a:lstStyle/>
          <a:p>
            <a:pPr indent="0" marL="0">
              <a:buNone/>
            </a:pPr>
            <a:r>
              <a:rPr lang="en-US" sz="1500" dirty="0">
                <a:solidFill>
                  <a:srgbClr val="FFFFFF"/>
                </a:solidFill>
                <a:latin typeface="맑은 고딕" pitchFamily="34" charset="0"/>
                <a:ea typeface="맑은 고딕" pitchFamily="34" charset="-122"/>
                <a:cs typeface="맑은 고딕" pitchFamily="34" charset="-120"/>
              </a:rPr>
              <a:t>MLC  ·  우성훈  ·  zscfvgbb@naver.com</a:t>
            </a:r>
            <a:endParaRPr lang="en-US" sz="1500" dirty="0"/>
          </a:p>
        </p:txBody>
      </p:sp>
      <p:sp>
        <p:nvSpPr>
          <p:cNvPr id="25" name="Shape 19"/>
          <p:cNvSpPr/>
          <p:nvPr/>
        </p:nvSpPr>
        <p:spPr>
          <a:xfrm>
            <a:off x="8869680" y="4526280"/>
            <a:ext cx="777240" cy="411480"/>
          </a:xfrm>
          <a:prstGeom prst="rect">
            <a:avLst/>
          </a:prstGeom>
          <a:solidFill>
            <a:srgbClr val="4F4F50"/>
          </a:solidFill>
          <a:ln w="12700">
            <a:solidFill>
              <a:srgbClr val="3A3D42"/>
            </a:solidFill>
            <a:prstDash val="solid"/>
          </a:ln>
        </p:spPr>
      </p:sp>
      <p:sp>
        <p:nvSpPr>
          <p:cNvPr id="26" name="Shape 20"/>
          <p:cNvSpPr/>
          <p:nvPr/>
        </p:nvSpPr>
        <p:spPr>
          <a:xfrm>
            <a:off x="9738360" y="4526280"/>
            <a:ext cx="777240" cy="411480"/>
          </a:xfrm>
          <a:prstGeom prst="rect">
            <a:avLst/>
          </a:prstGeom>
          <a:solidFill>
            <a:srgbClr val="484744"/>
          </a:solidFill>
          <a:ln w="12700">
            <a:solidFill>
              <a:srgbClr val="3A3D42"/>
            </a:solidFill>
            <a:prstDash val="solid"/>
          </a:ln>
        </p:spPr>
      </p:sp>
      <p:sp>
        <p:nvSpPr>
          <p:cNvPr id="27" name="Shape 21"/>
          <p:cNvSpPr/>
          <p:nvPr/>
        </p:nvSpPr>
        <p:spPr>
          <a:xfrm>
            <a:off x="10607040" y="4526280"/>
            <a:ext cx="777240" cy="411480"/>
          </a:xfrm>
          <a:prstGeom prst="rect">
            <a:avLst/>
          </a:prstGeom>
          <a:solidFill>
            <a:srgbClr val="4C4B47"/>
          </a:solidFill>
          <a:ln w="12700">
            <a:solidFill>
              <a:srgbClr val="3A3D42"/>
            </a:solidFill>
            <a:prstDash val="solid"/>
          </a:ln>
        </p:spPr>
      </p:sp>
      <p:sp>
        <p:nvSpPr>
          <p:cNvPr id="28" name="Shape 22"/>
          <p:cNvSpPr/>
          <p:nvPr/>
        </p:nvSpPr>
        <p:spPr>
          <a:xfrm>
            <a:off x="8869680" y="5029200"/>
            <a:ext cx="777240" cy="411480"/>
          </a:xfrm>
          <a:prstGeom prst="rect">
            <a:avLst/>
          </a:prstGeom>
          <a:solidFill>
            <a:srgbClr val="484744"/>
          </a:solidFill>
          <a:ln w="12700">
            <a:solidFill>
              <a:srgbClr val="3A3D42"/>
            </a:solidFill>
            <a:prstDash val="solid"/>
          </a:ln>
        </p:spPr>
      </p:sp>
      <p:sp>
        <p:nvSpPr>
          <p:cNvPr id="29" name="Shape 23"/>
          <p:cNvSpPr/>
          <p:nvPr/>
        </p:nvSpPr>
        <p:spPr>
          <a:xfrm>
            <a:off x="9738360" y="5029200"/>
            <a:ext cx="777240" cy="411480"/>
          </a:xfrm>
          <a:prstGeom prst="rect">
            <a:avLst/>
          </a:prstGeom>
          <a:solidFill>
            <a:srgbClr val="484138"/>
          </a:solidFill>
          <a:ln w="12700">
            <a:solidFill>
              <a:srgbClr val="3A3D42"/>
            </a:solidFill>
            <a:prstDash val="solid"/>
          </a:ln>
        </p:spPr>
      </p:sp>
      <p:sp>
        <p:nvSpPr>
          <p:cNvPr id="30" name="Shape 24"/>
          <p:cNvSpPr/>
          <p:nvPr/>
        </p:nvSpPr>
        <p:spPr>
          <a:xfrm>
            <a:off x="10607040" y="5029200"/>
            <a:ext cx="777240" cy="411480"/>
          </a:xfrm>
          <a:prstGeom prst="rect">
            <a:avLst/>
          </a:prstGeom>
          <a:solidFill>
            <a:srgbClr val="4E3F2F"/>
          </a:solidFill>
          <a:ln w="12700">
            <a:solidFill>
              <a:srgbClr val="3A3D42"/>
            </a:solidFill>
            <a:prstDash val="solid"/>
          </a:ln>
        </p:spPr>
      </p:sp>
      <p:sp>
        <p:nvSpPr>
          <p:cNvPr id="31" name="Shape 25"/>
          <p:cNvSpPr/>
          <p:nvPr/>
        </p:nvSpPr>
        <p:spPr>
          <a:xfrm>
            <a:off x="8869680" y="5532120"/>
            <a:ext cx="777240" cy="411480"/>
          </a:xfrm>
          <a:prstGeom prst="rect">
            <a:avLst/>
          </a:prstGeom>
          <a:solidFill>
            <a:srgbClr val="4E3C2C"/>
          </a:solidFill>
          <a:ln w="12700">
            <a:solidFill>
              <a:srgbClr val="3A3D42"/>
            </a:solidFill>
            <a:prstDash val="solid"/>
          </a:ln>
        </p:spPr>
      </p:sp>
      <p:sp>
        <p:nvSpPr>
          <p:cNvPr id="32" name="Shape 26"/>
          <p:cNvSpPr/>
          <p:nvPr/>
        </p:nvSpPr>
        <p:spPr>
          <a:xfrm>
            <a:off x="9738360" y="5532120"/>
            <a:ext cx="777240" cy="411480"/>
          </a:xfrm>
          <a:prstGeom prst="rect">
            <a:avLst/>
          </a:prstGeom>
          <a:solidFill>
            <a:srgbClr val="4E3C2B"/>
          </a:solidFill>
          <a:ln w="12700">
            <a:solidFill>
              <a:srgbClr val="3A3D42"/>
            </a:solidFill>
            <a:prstDash val="solid"/>
          </a:ln>
        </p:spPr>
      </p:sp>
      <p:sp>
        <p:nvSpPr>
          <p:cNvPr id="33" name="Shape 27"/>
          <p:cNvSpPr/>
          <p:nvPr/>
        </p:nvSpPr>
        <p:spPr>
          <a:xfrm>
            <a:off x="10607040" y="5532120"/>
            <a:ext cx="777240" cy="411480"/>
          </a:xfrm>
          <a:prstGeom prst="rect">
            <a:avLst/>
          </a:prstGeom>
          <a:solidFill>
            <a:srgbClr val="493C2C"/>
          </a:solidFill>
          <a:ln w="12700">
            <a:solidFill>
              <a:srgbClr val="3A3D42"/>
            </a:solidFill>
            <a:prstDash val="solid"/>
          </a:ln>
        </p:spPr>
      </p:sp>
      <p:sp>
        <p:nvSpPr>
          <p:cNvPr id="34" name="Text 28"/>
          <p:cNvSpPr txBox="1"/>
          <p:nvPr/>
        </p:nvSpPr>
        <p:spPr>
          <a:xfrm>
            <a:off x="548640" y="5852160"/>
            <a:ext cx="5486400" cy="457200"/>
          </a:xfrm>
          <a:prstGeom prst="rect">
            <a:avLst/>
          </a:prstGeom>
          <a:noFill/>
          <a:ln/>
        </p:spPr>
        <p:txBody>
          <a:bodyPr wrap="square" lIns="0" tIns="0" rIns="0" bIns="0" rtlCol="0" anchor="t"/>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감사합니다</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MLC — A-STREAM 2026 IR Pitch</dc:title>
  <dc:subject>PptxGenJS Presentation</dc:subject>
  <dc:creator>MLC (우성훈, 박준범)</dc:creator>
  <cp:lastModifiedBy>MLC (우성훈, 박준범)</cp:lastModifiedBy>
  <cp:revision>1</cp:revision>
  <dcterms:created xsi:type="dcterms:W3CDTF">2026-10-06T01:17:14Z</dcterms:created>
  <dcterms:modified xsi:type="dcterms:W3CDTF">2026-10-06T01:17:14Z</dcterms:modified>
</cp:coreProperties>
</file>