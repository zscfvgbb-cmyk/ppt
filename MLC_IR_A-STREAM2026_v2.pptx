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15초]
안녕하십니까, MLC 우성훈입니다. 해양 구조물을 점검할 때 가장 어려운 질문은 '어디부터 봐야 하나'입니다. 저희는 녹의 색을 읽어서 그 답을 먼저 드리는 기술을 만들고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30초]
부식은 생각보다 큰 문제입니다. 전 세계가 매년 부식으로 잃는 비용은 약 2.5조 달러, 세계 GDP의 3.4%이고, 국제 부식 학회 AMPP가 2025년에도 공식 인용하는 수치입니다. 매년 생산되는 철강의 4분의 1에서 3분의 1이 부식 손실을 메우는 데 쓰이고, 이 강재를 다시 만드는 과정에서 전 세계 이산화탄소 배출의 1.6~3.4%가 나옵니다. 반대로 제때 찾아 관리하면 이 비용의 15~35%, 연간 3,750억에서 8,750억 달러를 줄일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28초]
특히 해양 구조물이 그렇습니다. 파도가 치는 비말대는 부식이 가장 빠른 곳인데, 로프 액세스나 잠수, ROV 없이는 볼 수가 없습니다. 지금은 상태와 상관없이 모든 지점을 똑같이 돌고, 비용의 대부분은 검사 자체가 아니라 배를 빌리고 날씨를 기다리고 리프트를 빌리는 데서 나옵니다. 점검 주기는 규제로 정해져 있어 줄일 수 없습니다. 결국 문제는 그 주기 안에서 어디에 사람과 배를 먼저 보낼지입니다.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35초]
저희는 올해 7월 Tex-Corps 프로그램으로 미국에서 35명을 인터뷰했습니다. 처음 가설은 '검사원마다 판단이 달라 보정 도구가 필요하다'였는데, 현장 인력 11명 모두 아니라고 했습니다. 매뉴얼과 인증 시험으로 이미 해결된 문제였습니다. 대신 접근하기 어려운 곳을 드론으로 먼저 훑어서 정말 가까이 봐야 할 곳만 알려 달라는 요구가 나왔고, 현장 인력 11명 중 10명이 공감했습니다. 의사결정권자 5명 모두 관심을 보이며 파일럿 조건까지 이야기했습니다.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32초]
MLC는 이렇게 작동합니다. 드론이나 카메라로 접근이 어려운 구간을 먼저 찍고, 녹이 있는 부분만 자동으로 골라낸 뒤, 그 녹의 색으로 위험도를 높음, 중간, 낮음으로 판정합니다. 마지막으로 구조물 사진 위에 위험한 지점부터 번호를 매긴 지도를 드립니다. 시편을 자르지 않고 사진 한 장으로 판정한다는 점, 그리고 규제 주기는 그대로 지키면서 사람과 배와 리프트를 위험한 곳에 먼저 보낼 수 있다는 점이 차별점입니다.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32초]
핵심 기술은 실험실에서 검증했습니다. 탄소강을 240시간 촉진부식 시키며 측정했더니, 표면의 녹 색이 변하면서 색 좌표 b* 값이 1.7에서 13.1로 커지고, 같은 기간 실제 부식 속도는 연 0.34mm에서 1.45mm로 약 4배 빨라졌습니다. 색과 부식 속도의 순위 상관계수는 0.88이고, 위험도 세 구간의 부식 속도는 서로 겹치지 않습니다. 이 결과는 SEM, XRD, 전기화학 등 여섯 가지 분석으로 교차 검증했습니다.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30초]
이 시장은 규제가 반복 수요를 만듭니다. 미국 해양 플랫폼은 매년, 3~5년, 6~10년 주기로 점검이 의무이고, 네 개 기관이 겹쳐서 규제합니다. 인터뷰에서 확인한 구매 동기는 안전, 비용, 규제와 보험 대응 세 가지였습니다. MLC는 그중 비용에서 바로 효과를 냅니다. 위험한 지점부터 배를 보내 선박 용선과 기상 대기 일수를 줄이고, 필요한 구간에만 리프트와 비계를 빌리고, 로프 액세스 출동 여부를 미리 판단하고, 점검 기록도 사진 리포트로 정리합니다.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25초]
비즈니스 모델입니다. 드론 운용사와 방식 전문 업체가 현장 촬영 데이터를 가져오고 고객을 소개하면, MLC가 위험도를 분석해 해양 석유·가스 운영사에 점검 우선순위 리포트를 드립니다. 요금은 점검 건당 또는 구독형입니다. 고객사 안에서는 현장 검사원이 쓰고, 부식 엔지니어링 매니저가 추천하고, 대표가 결정합니다.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25초]
지금까지 실험실 검증을 마쳤고, 미국에서 35명을 만나 타깃을 해양 석유·가스로 좁혔습니다. 다음 단계는 세 가지입니다. 선박 일수와 리프트 임대처럼 실제 절감액을 숫자로 만들고, 사진이 볼 수 없는 두께 감소를 보완하기 위해 두께 측정 데이터와 결합하고, 반응이 가장 좋았던 현장을 더 깊이 검증하겠습니다.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15초]
팀 MLC는 경상국립대학교 기계시스템공학과의 우성훈, 박준범입니다. 두 사람이 부식 연구를 직접 했고 미국 고객 인터뷰 35건도 함께 진행했습니다. 복합부식 시험기, 전자현미경, X선 회절, 전기화학 장비 등 실험실 분석 인프라를 바탕으로 기술을 검증했습니다.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12초]
저희는 이 기술을 현장에서 함께 검증할 파트너를 찾고 있습니다. 어디부터 점검할지, 녹의 색이 먼저 알려드리겠습니다.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1.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jp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822960" y="685800"/>
            <a:ext cx="77724" cy="77724"/>
          </a:xfrm>
          <a:prstGeom prst="ellipse">
            <a:avLst/>
          </a:prstGeom>
          <a:solidFill>
            <a:srgbClr val="1B3A5C"/>
          </a:solidFill>
          <a:ln w="12700">
            <a:solidFill>
              <a:srgbClr val="1B3A5C"/>
            </a:solidFill>
            <a:prstDash val="solid"/>
          </a:ln>
        </p:spPr>
      </p:sp>
      <p:sp>
        <p:nvSpPr>
          <p:cNvPr id="3" name="Shape 1"/>
          <p:cNvSpPr/>
          <p:nvPr/>
        </p:nvSpPr>
        <p:spPr>
          <a:xfrm>
            <a:off x="969264" y="685800"/>
            <a:ext cx="77724" cy="77724"/>
          </a:xfrm>
          <a:prstGeom prst="ellipse">
            <a:avLst/>
          </a:prstGeom>
          <a:solidFill>
            <a:srgbClr val="6F8FB5"/>
          </a:solidFill>
          <a:ln w="12700">
            <a:solidFill>
              <a:srgbClr val="6F8FB5"/>
            </a:solidFill>
            <a:prstDash val="solid"/>
          </a:ln>
        </p:spPr>
      </p:sp>
      <p:sp>
        <p:nvSpPr>
          <p:cNvPr id="4" name="Shape 2"/>
          <p:cNvSpPr/>
          <p:nvPr/>
        </p:nvSpPr>
        <p:spPr>
          <a:xfrm>
            <a:off x="1115568" y="685800"/>
            <a:ext cx="77724" cy="77724"/>
          </a:xfrm>
          <a:prstGeom prst="ellipse">
            <a:avLst/>
          </a:prstGeom>
          <a:solidFill>
            <a:srgbClr val="B9CCE0"/>
          </a:solidFill>
          <a:ln w="12700">
            <a:solidFill>
              <a:srgbClr val="B9CCE0"/>
            </a:solidFill>
            <a:prstDash val="solid"/>
          </a:ln>
        </p:spPr>
      </p:sp>
      <p:sp>
        <p:nvSpPr>
          <p:cNvPr id="5" name="Text 3"/>
          <p:cNvSpPr txBox="1"/>
          <p:nvPr/>
        </p:nvSpPr>
        <p:spPr>
          <a:xfrm>
            <a:off x="822960" y="1417320"/>
            <a:ext cx="5943600" cy="411480"/>
          </a:xfrm>
          <a:prstGeom prst="rect">
            <a:avLst/>
          </a:prstGeom>
          <a:noFill/>
          <a:ln/>
        </p:spPr>
        <p:txBody>
          <a:bodyPr wrap="square" lIns="0" tIns="0" rIns="0" bIns="0" rtlCol="0" anchor="t"/>
          <a:lstStyle/>
          <a:p>
            <a:pPr indent="0" marL="0">
              <a:buNone/>
            </a:pPr>
            <a:r>
              <a:rPr lang="en-US" sz="1900" b="1" dirty="0">
                <a:solidFill>
                  <a:srgbClr val="1B3A5C"/>
                </a:solidFill>
                <a:latin typeface="맑은 고딕" pitchFamily="34" charset="0"/>
                <a:ea typeface="맑은 고딕" pitchFamily="34" charset="-122"/>
                <a:cs typeface="맑은 고딕" pitchFamily="34" charset="-120"/>
              </a:rPr>
              <a:t>AI 기반 금속 열화 예측 플랫폼</a:t>
            </a:r>
            <a:endParaRPr lang="en-US" sz="1900" dirty="0"/>
          </a:p>
        </p:txBody>
      </p:sp>
      <p:sp>
        <p:nvSpPr>
          <p:cNvPr id="6" name="Text 4"/>
          <p:cNvSpPr txBox="1"/>
          <p:nvPr/>
        </p:nvSpPr>
        <p:spPr>
          <a:xfrm>
            <a:off x="777240" y="1828800"/>
            <a:ext cx="5486400" cy="1188720"/>
          </a:xfrm>
          <a:prstGeom prst="rect">
            <a:avLst/>
          </a:prstGeom>
          <a:noFill/>
          <a:ln/>
        </p:spPr>
        <p:txBody>
          <a:bodyPr wrap="square" lIns="0" tIns="0" rIns="0" bIns="0" rtlCol="0" anchor="ctr"/>
          <a:lstStyle/>
          <a:p>
            <a:pPr indent="0" marL="0">
              <a:buNone/>
            </a:pPr>
            <a:r>
              <a:rPr lang="en-US" sz="8800" b="1" dirty="0">
                <a:solidFill>
                  <a:srgbClr val="1B3A5C"/>
                </a:solidFill>
                <a:latin typeface="맑은 고딕" pitchFamily="34" charset="0"/>
                <a:ea typeface="맑은 고딕" pitchFamily="34" charset="-122"/>
                <a:cs typeface="맑은 고딕" pitchFamily="34" charset="-120"/>
              </a:rPr>
              <a:t>ML</a:t>
            </a:r>
            <a:r>
              <a:rPr lang="en-US" sz="8800" b="1" dirty="0">
                <a:solidFill>
                  <a:srgbClr val="B5501F"/>
                </a:solidFill>
                <a:latin typeface="맑은 고딕" pitchFamily="34" charset="0"/>
                <a:ea typeface="맑은 고딕" pitchFamily="34" charset="-122"/>
                <a:cs typeface="맑은 고딕" pitchFamily="34" charset="-120"/>
              </a:rPr>
              <a:t>C</a:t>
            </a:r>
            <a:endParaRPr lang="en-US" sz="8800" dirty="0"/>
          </a:p>
        </p:txBody>
      </p:sp>
      <p:sp>
        <p:nvSpPr>
          <p:cNvPr id="7" name="Text 5"/>
          <p:cNvSpPr txBox="1"/>
          <p:nvPr/>
        </p:nvSpPr>
        <p:spPr>
          <a:xfrm>
            <a:off x="822960" y="3520440"/>
            <a:ext cx="5943600" cy="868680"/>
          </a:xfrm>
          <a:prstGeom prst="rect">
            <a:avLst/>
          </a:prstGeom>
          <a:noFill/>
          <a:ln/>
        </p:spPr>
        <p:txBody>
          <a:bodyPr wrap="square" lIns="0" tIns="0" rIns="0" bIns="0" rtlCol="0" anchor="t"/>
          <a:lstStyle/>
          <a:p>
            <a:pPr indent="0" marL="0">
              <a:lnSpc>
                <a:spcPct val="110000"/>
              </a:lnSpc>
              <a:buNone/>
            </a:pPr>
            <a:r>
              <a:rPr lang="en-US" sz="2100" dirty="0">
                <a:solidFill>
                  <a:srgbClr val="2B2D31"/>
                </a:solidFill>
                <a:latin typeface="맑은 고딕" pitchFamily="34" charset="0"/>
                <a:ea typeface="맑은 고딕" pitchFamily="34" charset="-122"/>
                <a:cs typeface="맑은 고딕" pitchFamily="34" charset="-120"/>
              </a:rPr>
              <a:t>녹의 색으로 읽는</a:t>
            </a:r>
            <a:endParaRPr lang="en-US" sz="2100" dirty="0"/>
          </a:p>
          <a:p>
            <a:pPr indent="0" marL="0">
              <a:lnSpc>
                <a:spcPct val="110000"/>
              </a:lnSpc>
              <a:buNone/>
            </a:pPr>
            <a:r>
              <a:rPr lang="en-US" sz="2100" dirty="0">
                <a:solidFill>
                  <a:srgbClr val="2B2D31"/>
                </a:solidFill>
                <a:latin typeface="맑은 고딕" pitchFamily="34" charset="0"/>
                <a:ea typeface="맑은 고딕" pitchFamily="34" charset="-122"/>
                <a:cs typeface="맑은 고딕" pitchFamily="34" charset="-120"/>
              </a:rPr>
              <a:t>해양 구조물 부식 위험도</a:t>
            </a:r>
            <a:endParaRPr lang="en-US" sz="2100" dirty="0"/>
          </a:p>
        </p:txBody>
      </p:sp>
      <p:sp>
        <p:nvSpPr>
          <p:cNvPr id="8" name="Text 6"/>
          <p:cNvSpPr txBox="1"/>
          <p:nvPr/>
        </p:nvSpPr>
        <p:spPr>
          <a:xfrm>
            <a:off x="822960" y="4480560"/>
            <a:ext cx="5486400" cy="320040"/>
          </a:xfrm>
          <a:prstGeom prst="rect">
            <a:avLst/>
          </a:prstGeom>
          <a:noFill/>
          <a:ln/>
        </p:spPr>
        <p:txBody>
          <a:bodyPr wrap="square" lIns="0" tIns="0" rIns="0" bIns="0" rtlCol="0" anchor="t"/>
          <a:lstStyle/>
          <a:p>
            <a:pPr indent="0" marL="0">
              <a:buNone/>
            </a:pPr>
            <a:r>
              <a:rPr lang="en-US" sz="1400" dirty="0">
                <a:solidFill>
                  <a:srgbClr val="6B6F76"/>
                </a:solidFill>
                <a:latin typeface="맑은 고딕" pitchFamily="34" charset="0"/>
                <a:ea typeface="맑은 고딕" pitchFamily="34" charset="-122"/>
                <a:cs typeface="맑은 고딕" pitchFamily="34" charset="-120"/>
              </a:rPr>
              <a:t>우성훈, 창업팀 대표</a:t>
            </a:r>
            <a:endParaRPr lang="en-US" sz="1400" dirty="0"/>
          </a:p>
        </p:txBody>
      </p:sp>
      <p:sp>
        <p:nvSpPr>
          <p:cNvPr id="9" name="Text 7"/>
          <p:cNvSpPr txBox="1"/>
          <p:nvPr/>
        </p:nvSpPr>
        <p:spPr>
          <a:xfrm>
            <a:off x="822960" y="5257800"/>
            <a:ext cx="6400800" cy="365760"/>
          </a:xfrm>
          <a:prstGeom prst="rect">
            <a:avLst/>
          </a:prstGeom>
          <a:noFill/>
          <a:ln/>
        </p:spPr>
        <p:txBody>
          <a:bodyPr wrap="square" lIns="0" tIns="0" rIns="0" bIns="0" rtlCol="0" anchor="t"/>
          <a:lstStyle/>
          <a:p>
            <a:pPr indent="0" marL="0">
              <a:buNone/>
            </a:pPr>
            <a:r>
              <a:rPr lang="en-US" sz="1500" b="1" dirty="0">
                <a:solidFill>
                  <a:srgbClr val="1B3A5C"/>
                </a:solidFill>
                <a:latin typeface="맑은 고딕" pitchFamily="34" charset="0"/>
                <a:ea typeface="맑은 고딕" pitchFamily="34" charset="-122"/>
                <a:cs typeface="맑은 고딕" pitchFamily="34" charset="-120"/>
              </a:rPr>
              <a:t>경상국립대학교  ·  Tex-Corps 제주 A-STREAM 2026</a:t>
            </a:r>
            <a:endParaRPr lang="en-US" sz="1500" dirty="0"/>
          </a:p>
        </p:txBody>
      </p:sp>
      <p:pic>
        <p:nvPicPr>
          <p:cNvPr id="10" name="Image 0" descr="/home/user/PPT/src/img/offshore_legs.png">    </p:cNvPr>
          <p:cNvPicPr>
            <a:picLocks noChangeAspect="1"/>
          </p:cNvPicPr>
          <p:nvPr/>
        </p:nvPicPr>
        <p:blipFill>
          <a:blip r:embed="rId1"/>
          <a:stretch>
            <a:fillRect/>
          </a:stretch>
        </p:blipFill>
        <p:spPr>
          <a:xfrm>
            <a:off x="6613855" y="1234440"/>
            <a:ext cx="4846320" cy="3565686"/>
          </a:xfrm>
          <a:prstGeom prst="rect">
            <a:avLst/>
          </a:prstGeom>
        </p:spPr>
      </p:pic>
      <p:sp>
        <p:nvSpPr>
          <p:cNvPr id="11" name="Shape 8"/>
          <p:cNvSpPr/>
          <p:nvPr/>
        </p:nvSpPr>
        <p:spPr>
          <a:xfrm>
            <a:off x="6613855" y="4983006"/>
            <a:ext cx="473456" cy="384048"/>
          </a:xfrm>
          <a:prstGeom prst="rect">
            <a:avLst/>
          </a:prstGeom>
          <a:solidFill>
            <a:srgbClr val="4F4F50"/>
          </a:solidFill>
          <a:ln w="9525">
            <a:solidFill>
              <a:srgbClr val="FFFFFF"/>
            </a:solidFill>
            <a:prstDash val="solid"/>
          </a:ln>
        </p:spPr>
      </p:sp>
      <p:sp>
        <p:nvSpPr>
          <p:cNvPr id="12" name="Shape 9"/>
          <p:cNvSpPr/>
          <p:nvPr/>
        </p:nvSpPr>
        <p:spPr>
          <a:xfrm>
            <a:off x="7160463" y="4983006"/>
            <a:ext cx="473456" cy="384048"/>
          </a:xfrm>
          <a:prstGeom prst="rect">
            <a:avLst/>
          </a:prstGeom>
          <a:solidFill>
            <a:srgbClr val="484744"/>
          </a:solidFill>
          <a:ln w="9525">
            <a:solidFill>
              <a:srgbClr val="FFFFFF"/>
            </a:solidFill>
            <a:prstDash val="solid"/>
          </a:ln>
        </p:spPr>
      </p:sp>
      <p:sp>
        <p:nvSpPr>
          <p:cNvPr id="13" name="Shape 10"/>
          <p:cNvSpPr/>
          <p:nvPr/>
        </p:nvSpPr>
        <p:spPr>
          <a:xfrm>
            <a:off x="7707071" y="4983006"/>
            <a:ext cx="473456" cy="384048"/>
          </a:xfrm>
          <a:prstGeom prst="rect">
            <a:avLst/>
          </a:prstGeom>
          <a:solidFill>
            <a:srgbClr val="4C4B47"/>
          </a:solidFill>
          <a:ln w="9525">
            <a:solidFill>
              <a:srgbClr val="FFFFFF"/>
            </a:solidFill>
            <a:prstDash val="solid"/>
          </a:ln>
        </p:spPr>
      </p:sp>
      <p:sp>
        <p:nvSpPr>
          <p:cNvPr id="14" name="Shape 11"/>
          <p:cNvSpPr/>
          <p:nvPr/>
        </p:nvSpPr>
        <p:spPr>
          <a:xfrm>
            <a:off x="8253679" y="4983006"/>
            <a:ext cx="473456" cy="384048"/>
          </a:xfrm>
          <a:prstGeom prst="rect">
            <a:avLst/>
          </a:prstGeom>
          <a:solidFill>
            <a:srgbClr val="484744"/>
          </a:solidFill>
          <a:ln w="9525">
            <a:solidFill>
              <a:srgbClr val="FFFFFF"/>
            </a:solidFill>
            <a:prstDash val="solid"/>
          </a:ln>
        </p:spPr>
      </p:sp>
      <p:sp>
        <p:nvSpPr>
          <p:cNvPr id="15" name="Shape 12"/>
          <p:cNvSpPr/>
          <p:nvPr/>
        </p:nvSpPr>
        <p:spPr>
          <a:xfrm>
            <a:off x="8800287" y="4983006"/>
            <a:ext cx="473456" cy="384048"/>
          </a:xfrm>
          <a:prstGeom prst="rect">
            <a:avLst/>
          </a:prstGeom>
          <a:solidFill>
            <a:srgbClr val="484138"/>
          </a:solidFill>
          <a:ln w="9525">
            <a:solidFill>
              <a:srgbClr val="FFFFFF"/>
            </a:solidFill>
            <a:prstDash val="solid"/>
          </a:ln>
        </p:spPr>
      </p:sp>
      <p:sp>
        <p:nvSpPr>
          <p:cNvPr id="16" name="Shape 13"/>
          <p:cNvSpPr/>
          <p:nvPr/>
        </p:nvSpPr>
        <p:spPr>
          <a:xfrm>
            <a:off x="9346895" y="4983006"/>
            <a:ext cx="473456" cy="384048"/>
          </a:xfrm>
          <a:prstGeom prst="rect">
            <a:avLst/>
          </a:prstGeom>
          <a:solidFill>
            <a:srgbClr val="4E3F2F"/>
          </a:solidFill>
          <a:ln w="9525">
            <a:solidFill>
              <a:srgbClr val="FFFFFF"/>
            </a:solidFill>
            <a:prstDash val="solid"/>
          </a:ln>
        </p:spPr>
      </p:sp>
      <p:sp>
        <p:nvSpPr>
          <p:cNvPr id="17" name="Shape 14"/>
          <p:cNvSpPr/>
          <p:nvPr/>
        </p:nvSpPr>
        <p:spPr>
          <a:xfrm>
            <a:off x="9893503" y="4983006"/>
            <a:ext cx="473456" cy="384048"/>
          </a:xfrm>
          <a:prstGeom prst="rect">
            <a:avLst/>
          </a:prstGeom>
          <a:solidFill>
            <a:srgbClr val="4E3C2C"/>
          </a:solidFill>
          <a:ln w="9525">
            <a:solidFill>
              <a:srgbClr val="FFFFFF"/>
            </a:solidFill>
            <a:prstDash val="solid"/>
          </a:ln>
        </p:spPr>
      </p:sp>
      <p:sp>
        <p:nvSpPr>
          <p:cNvPr id="18" name="Shape 15"/>
          <p:cNvSpPr/>
          <p:nvPr/>
        </p:nvSpPr>
        <p:spPr>
          <a:xfrm>
            <a:off x="10440111" y="4983006"/>
            <a:ext cx="473456" cy="384048"/>
          </a:xfrm>
          <a:prstGeom prst="rect">
            <a:avLst/>
          </a:prstGeom>
          <a:solidFill>
            <a:srgbClr val="4E3C2B"/>
          </a:solidFill>
          <a:ln w="9525">
            <a:solidFill>
              <a:srgbClr val="FFFFFF"/>
            </a:solidFill>
            <a:prstDash val="solid"/>
          </a:ln>
        </p:spPr>
      </p:sp>
      <p:sp>
        <p:nvSpPr>
          <p:cNvPr id="19" name="Shape 16"/>
          <p:cNvSpPr/>
          <p:nvPr/>
        </p:nvSpPr>
        <p:spPr>
          <a:xfrm>
            <a:off x="10986719" y="4983006"/>
            <a:ext cx="473456" cy="384048"/>
          </a:xfrm>
          <a:prstGeom prst="rect">
            <a:avLst/>
          </a:prstGeom>
          <a:solidFill>
            <a:srgbClr val="493C2C"/>
          </a:solidFill>
          <a:ln w="9525">
            <a:solidFill>
              <a:srgbClr val="FFFFFF"/>
            </a:solidFill>
            <a:prstDash val="solid"/>
          </a:ln>
        </p:spPr>
      </p:sp>
      <p:sp>
        <p:nvSpPr>
          <p:cNvPr id="20" name="Text 17"/>
          <p:cNvSpPr txBox="1"/>
          <p:nvPr/>
        </p:nvSpPr>
        <p:spPr>
          <a:xfrm>
            <a:off x="6613855" y="5421918"/>
            <a:ext cx="4846320" cy="256032"/>
          </a:xfrm>
          <a:prstGeom prst="rect">
            <a:avLst/>
          </a:prstGeom>
          <a:noFill/>
          <a:ln/>
        </p:spPr>
        <p:txBody>
          <a:bodyPr wrap="square" lIns="0" tIns="0" rIns="0" bIns="0" rtlCol="0" anchor="t"/>
          <a:lstStyle/>
          <a:p>
            <a:pPr algn="r" indent="0" marL="0">
              <a:buNone/>
            </a:pPr>
            <a:r>
              <a:rPr lang="en-US" sz="1050" dirty="0">
                <a:solidFill>
                  <a:srgbClr val="6B6F76"/>
                </a:solidFill>
                <a:latin typeface="맑은 고딕" pitchFamily="34" charset="0"/>
                <a:ea typeface="맑은 고딕" pitchFamily="34" charset="-122"/>
                <a:cs typeface="맑은 고딕" pitchFamily="34" charset="-120"/>
              </a:rPr>
              <a:t>녹 색의 변화, 0 → 240시간</a:t>
            </a:r>
            <a:endParaRPr lang="en-US" sz="1050" dirty="0"/>
          </a:p>
        </p:txBody>
      </p:sp>
      <p:sp>
        <p:nvSpPr>
          <p:cNvPr id="21" name="Shape 18"/>
          <p:cNvSpPr/>
          <p:nvPr/>
        </p:nvSpPr>
        <p:spPr>
          <a:xfrm>
            <a:off x="11076127" y="685800"/>
            <a:ext cx="77724" cy="77724"/>
          </a:xfrm>
          <a:prstGeom prst="ellipse">
            <a:avLst/>
          </a:prstGeom>
          <a:solidFill>
            <a:srgbClr val="B9CCE0"/>
          </a:solidFill>
          <a:ln w="12700">
            <a:solidFill>
              <a:srgbClr val="B9CCE0"/>
            </a:solidFill>
            <a:prstDash val="solid"/>
          </a:ln>
        </p:spPr>
      </p:sp>
      <p:sp>
        <p:nvSpPr>
          <p:cNvPr id="22" name="Shape 19"/>
          <p:cNvSpPr/>
          <p:nvPr/>
        </p:nvSpPr>
        <p:spPr>
          <a:xfrm>
            <a:off x="11222431" y="685800"/>
            <a:ext cx="77724" cy="77724"/>
          </a:xfrm>
          <a:prstGeom prst="ellipse">
            <a:avLst/>
          </a:prstGeom>
          <a:solidFill>
            <a:srgbClr val="6F8FB5"/>
          </a:solidFill>
          <a:ln w="12700">
            <a:solidFill>
              <a:srgbClr val="6F8FB5"/>
            </a:solidFill>
            <a:prstDash val="solid"/>
          </a:ln>
        </p:spPr>
      </p:sp>
      <p:sp>
        <p:nvSpPr>
          <p:cNvPr id="23" name="Shape 20"/>
          <p:cNvSpPr/>
          <p:nvPr/>
        </p:nvSpPr>
        <p:spPr>
          <a:xfrm>
            <a:off x="11368735" y="685800"/>
            <a:ext cx="77724" cy="77724"/>
          </a:xfrm>
          <a:prstGeom prst="ellipse">
            <a:avLst/>
          </a:prstGeom>
          <a:solidFill>
            <a:srgbClr val="1B3A5C"/>
          </a:solidFill>
          <a:ln w="12700">
            <a:solidFill>
              <a:srgbClr val="1B3A5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77724" cy="77724"/>
          </a:xfrm>
          <a:prstGeom prst="ellipse">
            <a:avLst/>
          </a:prstGeom>
          <a:solidFill>
            <a:srgbClr val="1B3A5C"/>
          </a:solidFill>
          <a:ln w="12700">
            <a:solidFill>
              <a:srgbClr val="1B3A5C"/>
            </a:solidFill>
            <a:prstDash val="solid"/>
          </a:ln>
        </p:spPr>
      </p:sp>
      <p:sp>
        <p:nvSpPr>
          <p:cNvPr id="3" name="Shape 1"/>
          <p:cNvSpPr/>
          <p:nvPr/>
        </p:nvSpPr>
        <p:spPr>
          <a:xfrm>
            <a:off x="694944" y="384048"/>
            <a:ext cx="77724" cy="77724"/>
          </a:xfrm>
          <a:prstGeom prst="ellipse">
            <a:avLst/>
          </a:prstGeom>
          <a:solidFill>
            <a:srgbClr val="6F8FB5"/>
          </a:solidFill>
          <a:ln w="12700">
            <a:solidFill>
              <a:srgbClr val="6F8FB5"/>
            </a:solidFill>
            <a:prstDash val="solid"/>
          </a:ln>
        </p:spPr>
      </p:sp>
      <p:sp>
        <p:nvSpPr>
          <p:cNvPr id="4" name="Shape 2"/>
          <p:cNvSpPr/>
          <p:nvPr/>
        </p:nvSpPr>
        <p:spPr>
          <a:xfrm>
            <a:off x="841248" y="384048"/>
            <a:ext cx="77724" cy="77724"/>
          </a:xfrm>
          <a:prstGeom prst="ellipse">
            <a:avLst/>
          </a:prstGeom>
          <a:solidFill>
            <a:srgbClr val="B9CCE0"/>
          </a:solidFill>
          <a:ln w="12700">
            <a:solidFill>
              <a:srgbClr val="B9CCE0"/>
            </a:solidFill>
            <a:prstDash val="solid"/>
          </a:ln>
        </p:spPr>
      </p:sp>
      <p:sp>
        <p:nvSpPr>
          <p:cNvPr id="5" name="Text 3"/>
          <p:cNvSpPr txBox="1"/>
          <p:nvPr/>
        </p:nvSpPr>
        <p:spPr>
          <a:xfrm>
            <a:off x="1097280" y="301752"/>
            <a:ext cx="5486400" cy="256032"/>
          </a:xfrm>
          <a:prstGeom prst="rect">
            <a:avLst/>
          </a:prstGeom>
          <a:noFill/>
          <a:ln/>
        </p:spPr>
        <p:txBody>
          <a:bodyPr wrap="square" lIns="0" tIns="0" rIns="0" bIns="0" rtlCol="0" anchor="t"/>
          <a:lstStyle/>
          <a:p>
            <a:pPr indent="0" marL="0">
              <a:buNone/>
            </a:pPr>
            <a:r>
              <a:rPr lang="en-US" sz="1100" dirty="0">
                <a:solidFill>
                  <a:srgbClr val="1B3A5C"/>
                </a:solidFill>
                <a:latin typeface="맑은 고딕" pitchFamily="34" charset="0"/>
                <a:ea typeface="맑은 고딕" pitchFamily="34" charset="-122"/>
                <a:cs typeface="맑은 고딕" pitchFamily="34" charset="-120"/>
              </a:rPr>
              <a:t>문제점(Problem)</a:t>
            </a:r>
            <a:endParaRPr lang="en-US" sz="1100" dirty="0"/>
          </a:p>
        </p:txBody>
      </p:sp>
      <p:sp>
        <p:nvSpPr>
          <p:cNvPr id="6" name="Text 4"/>
          <p:cNvSpPr txBox="1"/>
          <p:nvPr/>
        </p:nvSpPr>
        <p:spPr>
          <a:xfrm>
            <a:off x="502920" y="621792"/>
            <a:ext cx="914400" cy="685800"/>
          </a:xfrm>
          <a:prstGeom prst="rect">
            <a:avLst/>
          </a:prstGeom>
          <a:noFill/>
          <a:ln/>
        </p:spPr>
        <p:txBody>
          <a:bodyPr wrap="square" lIns="0" tIns="0" rIns="0" bIns="0" rtlCol="0" anchor="ctr"/>
          <a:lstStyle/>
          <a:p>
            <a:pPr indent="0" marL="0">
              <a:buNone/>
            </a:pPr>
            <a:r>
              <a:rPr lang="en-US" sz="4000" b="1" dirty="0">
                <a:solidFill>
                  <a:srgbClr val="B9CCE0"/>
                </a:solidFill>
                <a:latin typeface="맑은 고딕" pitchFamily="34" charset="0"/>
                <a:ea typeface="맑은 고딕" pitchFamily="34" charset="-122"/>
                <a:cs typeface="맑은 고딕" pitchFamily="34" charset="-120"/>
              </a:rPr>
              <a:t>0</a:t>
            </a:r>
            <a:r>
              <a:rPr lang="en-US" sz="4000" b="1" dirty="0">
                <a:solidFill>
                  <a:srgbClr val="1B3A5C"/>
                </a:solidFill>
                <a:latin typeface="맑은 고딕" pitchFamily="34" charset="0"/>
                <a:ea typeface="맑은 고딕" pitchFamily="34" charset="-122"/>
                <a:cs typeface="맑은 고딕" pitchFamily="34" charset="-120"/>
              </a:rPr>
              <a:t>1</a:t>
            </a:r>
            <a:endParaRPr lang="en-US" sz="4000" dirty="0"/>
          </a:p>
        </p:txBody>
      </p:sp>
      <p:sp>
        <p:nvSpPr>
          <p:cNvPr id="7" name="Text 5"/>
          <p:cNvSpPr txBox="1"/>
          <p:nvPr/>
        </p:nvSpPr>
        <p:spPr>
          <a:xfrm>
            <a:off x="1463040" y="621792"/>
            <a:ext cx="9509760" cy="685800"/>
          </a:xfrm>
          <a:prstGeom prst="rect">
            <a:avLst/>
          </a:prstGeom>
          <a:noFill/>
          <a:ln/>
        </p:spPr>
        <p:txBody>
          <a:bodyPr wrap="square" lIns="0" tIns="0" rIns="0" bIns="0" rtlCol="0" anchor="ctr"/>
          <a:lstStyle/>
          <a:p>
            <a:pPr indent="0" marL="0">
              <a:buNone/>
            </a:pPr>
            <a:r>
              <a:rPr lang="en-US" sz="2600" b="1" dirty="0">
                <a:solidFill>
                  <a:srgbClr val="2B2D31"/>
                </a:solidFill>
                <a:latin typeface="맑은 고딕" pitchFamily="34" charset="0"/>
                <a:ea typeface="맑은 고딕" pitchFamily="34" charset="-122"/>
                <a:cs typeface="맑은 고딕" pitchFamily="34" charset="-120"/>
              </a:rPr>
              <a:t>부식이 남기는 경제적 · 환경적 비용</a:t>
            </a:r>
            <a:endParaRPr lang="en-US" sz="2600" dirty="0"/>
          </a:p>
        </p:txBody>
      </p:sp>
      <p:sp>
        <p:nvSpPr>
          <p:cNvPr id="8" name="Shape 6"/>
          <p:cNvSpPr/>
          <p:nvPr/>
        </p:nvSpPr>
        <p:spPr>
          <a:xfrm>
            <a:off x="11259007" y="384048"/>
            <a:ext cx="77724" cy="77724"/>
          </a:xfrm>
          <a:prstGeom prst="ellipse">
            <a:avLst/>
          </a:prstGeom>
          <a:solidFill>
            <a:srgbClr val="B9CCE0"/>
          </a:solidFill>
          <a:ln w="12700">
            <a:solidFill>
              <a:srgbClr val="B9CCE0"/>
            </a:solidFill>
            <a:prstDash val="solid"/>
          </a:ln>
        </p:spPr>
      </p:sp>
      <p:sp>
        <p:nvSpPr>
          <p:cNvPr id="9" name="Shape 7"/>
          <p:cNvSpPr/>
          <p:nvPr/>
        </p:nvSpPr>
        <p:spPr>
          <a:xfrm>
            <a:off x="11405311" y="384048"/>
            <a:ext cx="77724" cy="77724"/>
          </a:xfrm>
          <a:prstGeom prst="ellipse">
            <a:avLst/>
          </a:prstGeom>
          <a:solidFill>
            <a:srgbClr val="6F8FB5"/>
          </a:solidFill>
          <a:ln w="12700">
            <a:solidFill>
              <a:srgbClr val="6F8FB5"/>
            </a:solidFill>
            <a:prstDash val="solid"/>
          </a:ln>
        </p:spPr>
      </p:sp>
      <p:sp>
        <p:nvSpPr>
          <p:cNvPr id="10" name="Shape 8"/>
          <p:cNvSpPr/>
          <p:nvPr/>
        </p:nvSpPr>
        <p:spPr>
          <a:xfrm>
            <a:off x="11551615" y="384048"/>
            <a:ext cx="77724" cy="77724"/>
          </a:xfrm>
          <a:prstGeom prst="ellipse">
            <a:avLst/>
          </a:prstGeom>
          <a:solidFill>
            <a:srgbClr val="1B3A5C"/>
          </a:solidFill>
          <a:ln w="12700">
            <a:solidFill>
              <a:srgbClr val="1B3A5C"/>
            </a:solidFill>
            <a:prstDash val="solid"/>
          </a:ln>
        </p:spPr>
      </p:sp>
      <p:sp>
        <p:nvSpPr>
          <p:cNvPr id="11" name="Shape 9"/>
          <p:cNvSpPr/>
          <p:nvPr/>
        </p:nvSpPr>
        <p:spPr>
          <a:xfrm>
            <a:off x="11185855" y="786384"/>
            <a:ext cx="0" cy="310896"/>
          </a:xfrm>
          <a:prstGeom prst="line">
            <a:avLst/>
          </a:prstGeom>
          <a:noFill/>
          <a:ln w="12700">
            <a:solidFill>
              <a:srgbClr val="D9DCE0"/>
            </a:solidFill>
            <a:prstDash val="solid"/>
          </a:ln>
        </p:spPr>
      </p:sp>
      <p:sp>
        <p:nvSpPr>
          <p:cNvPr id="12" name="Text 10"/>
          <p:cNvSpPr txBox="1"/>
          <p:nvPr/>
        </p:nvSpPr>
        <p:spPr>
          <a:xfrm>
            <a:off x="11259007" y="786384"/>
            <a:ext cx="384048" cy="310896"/>
          </a:xfrm>
          <a:prstGeom prst="rect">
            <a:avLst/>
          </a:prstGeom>
          <a:noFill/>
          <a:ln/>
        </p:spPr>
        <p:txBody>
          <a:bodyPr wrap="square" lIns="0" tIns="0" rIns="0" bIns="0" rtlCol="0" anchor="ctr"/>
          <a:lstStyle/>
          <a:p>
            <a:pPr algn="r" indent="0" marL="0">
              <a:buNone/>
            </a:pPr>
            <a:r>
              <a:rPr lang="en-US" sz="1200" b="1" dirty="0">
                <a:solidFill>
                  <a:srgbClr val="1B3A5C"/>
                </a:solidFill>
                <a:latin typeface="맑은 고딕" pitchFamily="34" charset="0"/>
                <a:ea typeface="맑은 고딕" pitchFamily="34" charset="-122"/>
                <a:cs typeface="맑은 고딕" pitchFamily="34" charset="-120"/>
              </a:rPr>
              <a:t>2</a:t>
            </a:r>
            <a:endParaRPr lang="en-US" sz="1200" dirty="0"/>
          </a:p>
        </p:txBody>
      </p:sp>
      <p:sp>
        <p:nvSpPr>
          <p:cNvPr id="13" name="Shape 11"/>
          <p:cNvSpPr/>
          <p:nvPr/>
        </p:nvSpPr>
        <p:spPr>
          <a:xfrm>
            <a:off x="548640" y="1783080"/>
            <a:ext cx="3246120" cy="4023360"/>
          </a:xfrm>
          <a:prstGeom prst="roundRect">
            <a:avLst>
              <a:gd name="adj" fmla="val 2254"/>
            </a:avLst>
          </a:prstGeom>
          <a:solidFill>
            <a:srgbClr val="FFFFFF"/>
          </a:solidFill>
          <a:ln w="12700">
            <a:solidFill>
              <a:srgbClr val="D9DCE0"/>
            </a:solidFill>
            <a:prstDash val="solid"/>
          </a:ln>
        </p:spPr>
      </p:sp>
      <p:sp>
        <p:nvSpPr>
          <p:cNvPr id="14" name="Shape 12"/>
          <p:cNvSpPr/>
          <p:nvPr/>
        </p:nvSpPr>
        <p:spPr>
          <a:xfrm>
            <a:off x="960120" y="1563624"/>
            <a:ext cx="2423160" cy="438912"/>
          </a:xfrm>
          <a:prstGeom prst="roundRect">
            <a:avLst>
              <a:gd name="adj" fmla="val 50000"/>
            </a:avLst>
          </a:prstGeom>
          <a:solidFill>
            <a:srgbClr val="1B3A5C"/>
          </a:solidFill>
          <a:ln w="12700">
            <a:solidFill>
              <a:srgbClr val="1B3A5C"/>
            </a:solidFill>
            <a:prstDash val="solid"/>
          </a:ln>
        </p:spPr>
      </p:sp>
      <p:sp>
        <p:nvSpPr>
          <p:cNvPr id="15" name="Text 13"/>
          <p:cNvSpPr txBox="1"/>
          <p:nvPr/>
        </p:nvSpPr>
        <p:spPr>
          <a:xfrm>
            <a:off x="960120" y="1563624"/>
            <a:ext cx="2423160"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경제적 손실</a:t>
            </a:r>
            <a:endParaRPr lang="en-US" sz="1500" dirty="0"/>
          </a:p>
        </p:txBody>
      </p:sp>
      <p:sp>
        <p:nvSpPr>
          <p:cNvPr id="16" name="Shape 14"/>
          <p:cNvSpPr/>
          <p:nvPr/>
        </p:nvSpPr>
        <p:spPr>
          <a:xfrm>
            <a:off x="777240" y="2194560"/>
            <a:ext cx="2788920" cy="438912"/>
          </a:xfrm>
          <a:prstGeom prst="roundRect">
            <a:avLst>
              <a:gd name="adj" fmla="val 12500"/>
            </a:avLst>
          </a:prstGeom>
          <a:solidFill>
            <a:srgbClr val="F3F5F8"/>
          </a:solidFill>
          <a:ln w="12700">
            <a:solidFill>
              <a:srgbClr val="F3F5F8"/>
            </a:solidFill>
            <a:prstDash val="solid"/>
          </a:ln>
        </p:spPr>
      </p:sp>
      <p:sp>
        <p:nvSpPr>
          <p:cNvPr id="17" name="Shape 15"/>
          <p:cNvSpPr/>
          <p:nvPr/>
        </p:nvSpPr>
        <p:spPr>
          <a:xfrm>
            <a:off x="777240" y="2194560"/>
            <a:ext cx="438912" cy="438912"/>
          </a:xfrm>
          <a:prstGeom prst="roundRect">
            <a:avLst>
              <a:gd name="adj" fmla="val 12500"/>
            </a:avLst>
          </a:prstGeom>
          <a:solidFill>
            <a:srgbClr val="1B3A5C"/>
          </a:solidFill>
          <a:ln w="12700">
            <a:solidFill>
              <a:srgbClr val="1B3A5C"/>
            </a:solidFill>
            <a:prstDash val="solid"/>
          </a:ln>
        </p:spPr>
      </p:sp>
      <p:sp>
        <p:nvSpPr>
          <p:cNvPr id="18" name="Text 16"/>
          <p:cNvSpPr txBox="1"/>
          <p:nvPr/>
        </p:nvSpPr>
        <p:spPr>
          <a:xfrm>
            <a:off x="777240" y="21945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19" name="Text 17"/>
          <p:cNvSpPr txBox="1"/>
          <p:nvPr/>
        </p:nvSpPr>
        <p:spPr>
          <a:xfrm>
            <a:off x="1325880" y="2194560"/>
            <a:ext cx="2148840" cy="438912"/>
          </a:xfrm>
          <a:prstGeom prst="rect">
            <a:avLst/>
          </a:prstGeom>
          <a:noFill/>
          <a:ln/>
        </p:spPr>
        <p:txBody>
          <a:bodyPr wrap="square" lIns="0" tIns="0" rIns="0" bIns="0" rtlCol="0" anchor="ctr"/>
          <a:lstStyle/>
          <a:p>
            <a:pPr indent="0" marL="0">
              <a:buNone/>
            </a:pPr>
            <a:r>
              <a:rPr lang="en-US" sz="1400" b="1" dirty="0">
                <a:solidFill>
                  <a:srgbClr val="1B3A5C"/>
                </a:solidFill>
                <a:latin typeface="맑은 고딕" pitchFamily="34" charset="0"/>
                <a:ea typeface="맑은 고딕" pitchFamily="34" charset="-122"/>
                <a:cs typeface="맑은 고딕" pitchFamily="34" charset="-120"/>
              </a:rPr>
              <a:t>연간 전 세계 부식 비용</a:t>
            </a:r>
            <a:endParaRPr lang="en-US" sz="1400" dirty="0"/>
          </a:p>
        </p:txBody>
      </p:sp>
      <p:sp>
        <p:nvSpPr>
          <p:cNvPr id="20" name="Shape 18"/>
          <p:cNvSpPr/>
          <p:nvPr/>
        </p:nvSpPr>
        <p:spPr>
          <a:xfrm>
            <a:off x="1787652" y="2834640"/>
            <a:ext cx="768096" cy="768096"/>
          </a:xfrm>
          <a:prstGeom prst="ellipse">
            <a:avLst/>
          </a:prstGeom>
          <a:solidFill>
            <a:srgbClr val="1B3A5C"/>
          </a:solidFill>
          <a:ln w="12700">
            <a:solidFill>
              <a:srgbClr val="1B3A5C"/>
            </a:solidFill>
            <a:prstDash val="solid"/>
          </a:ln>
        </p:spPr>
      </p:sp>
      <p:pic>
        <p:nvPicPr>
          <p:cNvPr id="21" name="Image 0" descr="preencoded.png">    </p:cNvPr>
          <p:cNvPicPr>
            <a:picLocks noChangeAspect="1"/>
          </p:cNvPicPr>
          <p:nvPr/>
        </p:nvPicPr>
        <p:blipFill>
          <a:blip r:embed="rId1"/>
          <a:stretch>
            <a:fillRect/>
          </a:stretch>
        </p:blipFill>
        <p:spPr>
          <a:xfrm>
            <a:off x="1987357" y="3034345"/>
            <a:ext cx="368686" cy="368686"/>
          </a:xfrm>
          <a:prstGeom prst="rect">
            <a:avLst/>
          </a:prstGeom>
        </p:spPr>
      </p:pic>
      <p:sp>
        <p:nvSpPr>
          <p:cNvPr id="22" name="Text 19"/>
          <p:cNvSpPr txBox="1"/>
          <p:nvPr/>
        </p:nvSpPr>
        <p:spPr>
          <a:xfrm>
            <a:off x="731520" y="3657600"/>
            <a:ext cx="2880360" cy="731520"/>
          </a:xfrm>
          <a:prstGeom prst="rect">
            <a:avLst/>
          </a:prstGeom>
          <a:noFill/>
          <a:ln/>
        </p:spPr>
        <p:txBody>
          <a:bodyPr wrap="square" lIns="0" tIns="0" rIns="0" bIns="0" rtlCol="0" anchor="ctr"/>
          <a:lstStyle/>
          <a:p>
            <a:pPr algn="ctr" indent="0" marL="0">
              <a:buNone/>
            </a:pPr>
            <a:r>
              <a:rPr lang="en-US" sz="3600" b="1" dirty="0">
                <a:solidFill>
                  <a:srgbClr val="1B3A5C"/>
                </a:solidFill>
                <a:latin typeface="맑은 고딕" pitchFamily="34" charset="0"/>
                <a:ea typeface="맑은 고딕" pitchFamily="34" charset="-122"/>
                <a:cs typeface="맑은 고딕" pitchFamily="34" charset="-120"/>
              </a:rPr>
              <a:t>US$ 2.5조</a:t>
            </a:r>
            <a:endParaRPr lang="en-US" sz="3600" dirty="0"/>
          </a:p>
        </p:txBody>
      </p:sp>
      <p:sp>
        <p:nvSpPr>
          <p:cNvPr id="23" name="Text 20"/>
          <p:cNvSpPr txBox="1"/>
          <p:nvPr/>
        </p:nvSpPr>
        <p:spPr>
          <a:xfrm>
            <a:off x="777240" y="4434840"/>
            <a:ext cx="2788920" cy="731520"/>
          </a:xfrm>
          <a:prstGeom prst="rect">
            <a:avLst/>
          </a:prstGeom>
          <a:noFill/>
          <a:ln/>
        </p:spPr>
        <p:txBody>
          <a:bodyPr wrap="square" lIns="0" tIns="0" rIns="0" bIns="0" rtlCol="0" anchor="t"/>
          <a:lstStyle/>
          <a:p>
            <a:pPr algn="ctr" indent="0" marL="0">
              <a:buNone/>
            </a:pPr>
            <a:r>
              <a:rPr lang="en-US" sz="1300" dirty="0">
                <a:solidFill>
                  <a:srgbClr val="2B2D31"/>
                </a:solidFill>
                <a:latin typeface="맑은 고딕" pitchFamily="34" charset="0"/>
                <a:ea typeface="맑은 고딕" pitchFamily="34" charset="-122"/>
                <a:cs typeface="맑은 고딕" pitchFamily="34" charset="-120"/>
              </a:rPr>
              <a:t>세계 GDP의 약 3.4%</a:t>
            </a:r>
            <a:endParaRPr lang="en-US" sz="1300" dirty="0"/>
          </a:p>
        </p:txBody>
      </p:sp>
      <p:sp>
        <p:nvSpPr>
          <p:cNvPr id="24" name="Text 21"/>
          <p:cNvSpPr txBox="1"/>
          <p:nvPr/>
        </p:nvSpPr>
        <p:spPr>
          <a:xfrm>
            <a:off x="731520" y="5422392"/>
            <a:ext cx="2880360" cy="256032"/>
          </a:xfrm>
          <a:prstGeom prst="rect">
            <a:avLst/>
          </a:prstGeom>
          <a:noFill/>
          <a:ln/>
        </p:spPr>
        <p:txBody>
          <a:bodyPr wrap="square" lIns="0" tIns="0" rIns="0" bIns="0" rtlCol="0" anchor="t"/>
          <a:lstStyle/>
          <a:p>
            <a:pPr algn="ctr" indent="0" marL="0">
              <a:buNone/>
            </a:pPr>
            <a:r>
              <a:rPr lang="en-US" sz="950" i="1" dirty="0">
                <a:solidFill>
                  <a:srgbClr val="A3A7AD"/>
                </a:solidFill>
                <a:latin typeface="맑은 고딕" pitchFamily="34" charset="0"/>
                <a:ea typeface="맑은 고딕" pitchFamily="34" charset="-122"/>
                <a:cs typeface="맑은 고딕" pitchFamily="34" charset="-120"/>
              </a:rPr>
              <a:t>NACE IMPACT (2016) · AMPP 2025 인용</a:t>
            </a:r>
            <a:endParaRPr lang="en-US" sz="950" dirty="0"/>
          </a:p>
        </p:txBody>
      </p:sp>
      <p:pic>
        <p:nvPicPr>
          <p:cNvPr id="25" name="Image 1" descr="preencoded.png">    </p:cNvPr>
          <p:cNvPicPr>
            <a:picLocks noChangeAspect="1"/>
          </p:cNvPicPr>
          <p:nvPr/>
        </p:nvPicPr>
        <p:blipFill>
          <a:blip r:embed="rId2"/>
          <a:stretch>
            <a:fillRect/>
          </a:stretch>
        </p:blipFill>
        <p:spPr>
          <a:xfrm>
            <a:off x="3987470" y="3648456"/>
            <a:ext cx="292608" cy="292608"/>
          </a:xfrm>
          <a:prstGeom prst="rect">
            <a:avLst/>
          </a:prstGeom>
        </p:spPr>
      </p:pic>
      <p:sp>
        <p:nvSpPr>
          <p:cNvPr id="26" name="Shape 22"/>
          <p:cNvSpPr/>
          <p:nvPr/>
        </p:nvSpPr>
        <p:spPr>
          <a:xfrm>
            <a:off x="4472788" y="1783080"/>
            <a:ext cx="3246120" cy="4023360"/>
          </a:xfrm>
          <a:prstGeom prst="roundRect">
            <a:avLst>
              <a:gd name="adj" fmla="val 2254"/>
            </a:avLst>
          </a:prstGeom>
          <a:solidFill>
            <a:srgbClr val="FFFFFF"/>
          </a:solidFill>
          <a:ln w="12700">
            <a:solidFill>
              <a:srgbClr val="D9DCE0"/>
            </a:solidFill>
            <a:prstDash val="solid"/>
          </a:ln>
        </p:spPr>
      </p:sp>
      <p:sp>
        <p:nvSpPr>
          <p:cNvPr id="27" name="Shape 23"/>
          <p:cNvSpPr/>
          <p:nvPr/>
        </p:nvSpPr>
        <p:spPr>
          <a:xfrm>
            <a:off x="4884268" y="1563624"/>
            <a:ext cx="2423160" cy="438912"/>
          </a:xfrm>
          <a:prstGeom prst="roundRect">
            <a:avLst>
              <a:gd name="adj" fmla="val 50000"/>
            </a:avLst>
          </a:prstGeom>
          <a:solidFill>
            <a:srgbClr val="1F5F7A"/>
          </a:solidFill>
          <a:ln w="12700">
            <a:solidFill>
              <a:srgbClr val="1F5F7A"/>
            </a:solidFill>
            <a:prstDash val="solid"/>
          </a:ln>
        </p:spPr>
      </p:sp>
      <p:sp>
        <p:nvSpPr>
          <p:cNvPr id="28" name="Text 24"/>
          <p:cNvSpPr txBox="1"/>
          <p:nvPr/>
        </p:nvSpPr>
        <p:spPr>
          <a:xfrm>
            <a:off x="4884268" y="1563624"/>
            <a:ext cx="2423160"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탄소 배출</a:t>
            </a:r>
            <a:endParaRPr lang="en-US" sz="1500" dirty="0"/>
          </a:p>
        </p:txBody>
      </p:sp>
      <p:sp>
        <p:nvSpPr>
          <p:cNvPr id="29" name="Shape 25"/>
          <p:cNvSpPr/>
          <p:nvPr/>
        </p:nvSpPr>
        <p:spPr>
          <a:xfrm>
            <a:off x="4701388" y="2194560"/>
            <a:ext cx="2788920" cy="438912"/>
          </a:xfrm>
          <a:prstGeom prst="roundRect">
            <a:avLst>
              <a:gd name="adj" fmla="val 12500"/>
            </a:avLst>
          </a:prstGeom>
          <a:solidFill>
            <a:srgbClr val="F3F5F8"/>
          </a:solidFill>
          <a:ln w="12700">
            <a:solidFill>
              <a:srgbClr val="F3F5F8"/>
            </a:solidFill>
            <a:prstDash val="solid"/>
          </a:ln>
        </p:spPr>
      </p:sp>
      <p:sp>
        <p:nvSpPr>
          <p:cNvPr id="30" name="Shape 26"/>
          <p:cNvSpPr/>
          <p:nvPr/>
        </p:nvSpPr>
        <p:spPr>
          <a:xfrm>
            <a:off x="4701388" y="2194560"/>
            <a:ext cx="438912" cy="438912"/>
          </a:xfrm>
          <a:prstGeom prst="roundRect">
            <a:avLst>
              <a:gd name="adj" fmla="val 12500"/>
            </a:avLst>
          </a:prstGeom>
          <a:solidFill>
            <a:srgbClr val="1F5F7A"/>
          </a:solidFill>
          <a:ln w="12700">
            <a:solidFill>
              <a:srgbClr val="1F5F7A"/>
            </a:solidFill>
            <a:prstDash val="solid"/>
          </a:ln>
        </p:spPr>
      </p:sp>
      <p:sp>
        <p:nvSpPr>
          <p:cNvPr id="31" name="Text 27"/>
          <p:cNvSpPr txBox="1"/>
          <p:nvPr/>
        </p:nvSpPr>
        <p:spPr>
          <a:xfrm>
            <a:off x="4701388" y="21945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32" name="Text 28"/>
          <p:cNvSpPr txBox="1"/>
          <p:nvPr/>
        </p:nvSpPr>
        <p:spPr>
          <a:xfrm>
            <a:off x="5250028" y="2194560"/>
            <a:ext cx="2148840" cy="438912"/>
          </a:xfrm>
          <a:prstGeom prst="rect">
            <a:avLst/>
          </a:prstGeom>
          <a:noFill/>
          <a:ln/>
        </p:spPr>
        <p:txBody>
          <a:bodyPr wrap="square" lIns="0" tIns="0" rIns="0" bIns="0" rtlCol="0" anchor="ctr"/>
          <a:lstStyle/>
          <a:p>
            <a:pPr indent="0" marL="0">
              <a:buNone/>
            </a:pPr>
            <a:r>
              <a:rPr lang="en-US" sz="1400" b="1" dirty="0">
                <a:solidFill>
                  <a:srgbClr val="1F5F7A"/>
                </a:solidFill>
                <a:latin typeface="맑은 고딕" pitchFamily="34" charset="0"/>
                <a:ea typeface="맑은 고딕" pitchFamily="34" charset="-122"/>
                <a:cs typeface="맑은 고딕" pitchFamily="34" charset="-120"/>
              </a:rPr>
              <a:t>부식 강재 교체용 제강</a:t>
            </a:r>
            <a:endParaRPr lang="en-US" sz="1400" dirty="0"/>
          </a:p>
        </p:txBody>
      </p:sp>
      <p:sp>
        <p:nvSpPr>
          <p:cNvPr id="33" name="Shape 29"/>
          <p:cNvSpPr/>
          <p:nvPr/>
        </p:nvSpPr>
        <p:spPr>
          <a:xfrm>
            <a:off x="5711800" y="2834640"/>
            <a:ext cx="768096" cy="768096"/>
          </a:xfrm>
          <a:prstGeom prst="ellipse">
            <a:avLst/>
          </a:prstGeom>
          <a:solidFill>
            <a:srgbClr val="1F5F7A"/>
          </a:solidFill>
          <a:ln w="12700">
            <a:solidFill>
              <a:srgbClr val="1F5F7A"/>
            </a:solidFill>
            <a:prstDash val="solid"/>
          </a:ln>
        </p:spPr>
      </p:sp>
      <p:pic>
        <p:nvPicPr>
          <p:cNvPr id="34" name="Image 2" descr="preencoded.png">    </p:cNvPr>
          <p:cNvPicPr>
            <a:picLocks noChangeAspect="1"/>
          </p:cNvPicPr>
          <p:nvPr/>
        </p:nvPicPr>
        <p:blipFill>
          <a:blip r:embed="rId3"/>
          <a:stretch>
            <a:fillRect/>
          </a:stretch>
        </p:blipFill>
        <p:spPr>
          <a:xfrm>
            <a:off x="5911505" y="3034345"/>
            <a:ext cx="368686" cy="368686"/>
          </a:xfrm>
          <a:prstGeom prst="rect">
            <a:avLst/>
          </a:prstGeom>
        </p:spPr>
      </p:pic>
      <p:sp>
        <p:nvSpPr>
          <p:cNvPr id="35" name="Text 30"/>
          <p:cNvSpPr txBox="1"/>
          <p:nvPr/>
        </p:nvSpPr>
        <p:spPr>
          <a:xfrm>
            <a:off x="4655668" y="3657600"/>
            <a:ext cx="2880360" cy="731520"/>
          </a:xfrm>
          <a:prstGeom prst="rect">
            <a:avLst/>
          </a:prstGeom>
          <a:noFill/>
          <a:ln/>
        </p:spPr>
        <p:txBody>
          <a:bodyPr wrap="square" lIns="0" tIns="0" rIns="0" bIns="0" rtlCol="0" anchor="ctr"/>
          <a:lstStyle/>
          <a:p>
            <a:pPr algn="ctr" indent="0" marL="0">
              <a:buNone/>
            </a:pPr>
            <a:r>
              <a:rPr lang="en-US" sz="3600" b="1" dirty="0">
                <a:solidFill>
                  <a:srgbClr val="1F5F7A"/>
                </a:solidFill>
                <a:latin typeface="맑은 고딕" pitchFamily="34" charset="0"/>
                <a:ea typeface="맑은 고딕" pitchFamily="34" charset="-122"/>
                <a:cs typeface="맑은 고딕" pitchFamily="34" charset="-120"/>
              </a:rPr>
              <a:t>1.6–3.4%</a:t>
            </a:r>
            <a:endParaRPr lang="en-US" sz="3600" dirty="0"/>
          </a:p>
        </p:txBody>
      </p:sp>
      <p:sp>
        <p:nvSpPr>
          <p:cNvPr id="36" name="Text 31"/>
          <p:cNvSpPr txBox="1"/>
          <p:nvPr/>
        </p:nvSpPr>
        <p:spPr>
          <a:xfrm>
            <a:off x="4701388" y="4434840"/>
            <a:ext cx="2788920" cy="731520"/>
          </a:xfrm>
          <a:prstGeom prst="rect">
            <a:avLst/>
          </a:prstGeom>
          <a:noFill/>
          <a:ln/>
        </p:spPr>
        <p:txBody>
          <a:bodyPr wrap="square" lIns="0" tIns="0" rIns="0" bIns="0" rtlCol="0" anchor="t"/>
          <a:lstStyle/>
          <a:p>
            <a:pPr algn="ctr" indent="0" marL="0">
              <a:buNone/>
            </a:pPr>
            <a:r>
              <a:rPr lang="en-US" sz="1300" dirty="0">
                <a:solidFill>
                  <a:srgbClr val="2B2D31"/>
                </a:solidFill>
                <a:latin typeface="맑은 고딕" pitchFamily="34" charset="0"/>
                <a:ea typeface="맑은 고딕" pitchFamily="34" charset="-122"/>
                <a:cs typeface="맑은 고딕" pitchFamily="34" charset="-120"/>
              </a:rPr>
              <a:t>전 세계 CO₂ 배출 중 비중</a:t>
            </a:r>
            <a:endParaRPr lang="en-US" sz="1300" dirty="0"/>
          </a:p>
          <a:p>
            <a:pPr algn="ctr" indent="0" marL="0">
              <a:buNone/>
            </a:pPr>
            <a:r>
              <a:rPr lang="en-US" sz="1300" dirty="0">
                <a:solidFill>
                  <a:srgbClr val="2B2D31"/>
                </a:solidFill>
                <a:latin typeface="맑은 고딕" pitchFamily="34" charset="0"/>
                <a:ea typeface="맑은 고딕" pitchFamily="34" charset="-122"/>
                <a:cs typeface="맑은 고딕" pitchFamily="34" charset="-120"/>
              </a:rPr>
              <a:t>2030년 4.1–9.1% 전망</a:t>
            </a:r>
            <a:endParaRPr lang="en-US" sz="1300" dirty="0"/>
          </a:p>
        </p:txBody>
      </p:sp>
      <p:sp>
        <p:nvSpPr>
          <p:cNvPr id="37" name="Text 32"/>
          <p:cNvSpPr txBox="1"/>
          <p:nvPr/>
        </p:nvSpPr>
        <p:spPr>
          <a:xfrm>
            <a:off x="4655668" y="5422392"/>
            <a:ext cx="2880360" cy="256032"/>
          </a:xfrm>
          <a:prstGeom prst="rect">
            <a:avLst/>
          </a:prstGeom>
          <a:noFill/>
          <a:ln/>
        </p:spPr>
        <p:txBody>
          <a:bodyPr wrap="square" lIns="0" tIns="0" rIns="0" bIns="0" rtlCol="0" anchor="t"/>
          <a:lstStyle/>
          <a:p>
            <a:pPr algn="ctr" indent="0" marL="0">
              <a:buNone/>
            </a:pPr>
            <a:r>
              <a:rPr lang="en-US" sz="950" i="1" dirty="0">
                <a:solidFill>
                  <a:srgbClr val="A3A7AD"/>
                </a:solidFill>
                <a:latin typeface="맑은 고딕" pitchFamily="34" charset="0"/>
                <a:ea typeface="맑은 고딕" pitchFamily="34" charset="-122"/>
                <a:cs typeface="맑은 고딕" pitchFamily="34" charset="-120"/>
              </a:rPr>
              <a:t>Iannuzzi &amp; Frankel (2022)</a:t>
            </a:r>
            <a:endParaRPr lang="en-US" sz="950" dirty="0"/>
          </a:p>
        </p:txBody>
      </p:sp>
      <p:pic>
        <p:nvPicPr>
          <p:cNvPr id="38" name="Image 3" descr="preencoded.png">    </p:cNvPr>
          <p:cNvPicPr>
            <a:picLocks noChangeAspect="1"/>
          </p:cNvPicPr>
          <p:nvPr/>
        </p:nvPicPr>
        <p:blipFill>
          <a:blip r:embed="rId4"/>
          <a:stretch>
            <a:fillRect/>
          </a:stretch>
        </p:blipFill>
        <p:spPr>
          <a:xfrm>
            <a:off x="7911617" y="3648456"/>
            <a:ext cx="292608" cy="292608"/>
          </a:xfrm>
          <a:prstGeom prst="rect">
            <a:avLst/>
          </a:prstGeom>
        </p:spPr>
      </p:pic>
      <p:sp>
        <p:nvSpPr>
          <p:cNvPr id="39" name="Shape 33"/>
          <p:cNvSpPr/>
          <p:nvPr/>
        </p:nvSpPr>
        <p:spPr>
          <a:xfrm>
            <a:off x="8396935" y="1783080"/>
            <a:ext cx="3246120" cy="4023360"/>
          </a:xfrm>
          <a:prstGeom prst="roundRect">
            <a:avLst>
              <a:gd name="adj" fmla="val 2254"/>
            </a:avLst>
          </a:prstGeom>
          <a:solidFill>
            <a:srgbClr val="FFFFFF"/>
          </a:solidFill>
          <a:ln w="12700">
            <a:solidFill>
              <a:srgbClr val="D9DCE0"/>
            </a:solidFill>
            <a:prstDash val="solid"/>
          </a:ln>
        </p:spPr>
      </p:sp>
      <p:sp>
        <p:nvSpPr>
          <p:cNvPr id="40" name="Shape 34"/>
          <p:cNvSpPr/>
          <p:nvPr/>
        </p:nvSpPr>
        <p:spPr>
          <a:xfrm>
            <a:off x="8808415" y="1563624"/>
            <a:ext cx="2423160" cy="438912"/>
          </a:xfrm>
          <a:prstGeom prst="roundRect">
            <a:avLst>
              <a:gd name="adj" fmla="val 50000"/>
            </a:avLst>
          </a:prstGeom>
          <a:solidFill>
            <a:srgbClr val="B5501F"/>
          </a:solidFill>
          <a:ln w="12700">
            <a:solidFill>
              <a:srgbClr val="B5501F"/>
            </a:solidFill>
            <a:prstDash val="solid"/>
          </a:ln>
        </p:spPr>
      </p:sp>
      <p:sp>
        <p:nvSpPr>
          <p:cNvPr id="41" name="Text 35"/>
          <p:cNvSpPr txBox="1"/>
          <p:nvPr/>
        </p:nvSpPr>
        <p:spPr>
          <a:xfrm>
            <a:off x="8808415" y="1563624"/>
            <a:ext cx="2423160"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자원 낭비</a:t>
            </a:r>
            <a:endParaRPr lang="en-US" sz="1500" dirty="0"/>
          </a:p>
        </p:txBody>
      </p:sp>
      <p:sp>
        <p:nvSpPr>
          <p:cNvPr id="42" name="Shape 36"/>
          <p:cNvSpPr/>
          <p:nvPr/>
        </p:nvSpPr>
        <p:spPr>
          <a:xfrm>
            <a:off x="8625535" y="2194560"/>
            <a:ext cx="2788920" cy="438912"/>
          </a:xfrm>
          <a:prstGeom prst="roundRect">
            <a:avLst>
              <a:gd name="adj" fmla="val 12500"/>
            </a:avLst>
          </a:prstGeom>
          <a:solidFill>
            <a:srgbClr val="F3F5F8"/>
          </a:solidFill>
          <a:ln w="12700">
            <a:solidFill>
              <a:srgbClr val="F3F5F8"/>
            </a:solidFill>
            <a:prstDash val="solid"/>
          </a:ln>
        </p:spPr>
      </p:sp>
      <p:sp>
        <p:nvSpPr>
          <p:cNvPr id="43" name="Shape 37"/>
          <p:cNvSpPr/>
          <p:nvPr/>
        </p:nvSpPr>
        <p:spPr>
          <a:xfrm>
            <a:off x="8625535" y="2194560"/>
            <a:ext cx="438912" cy="438912"/>
          </a:xfrm>
          <a:prstGeom prst="roundRect">
            <a:avLst>
              <a:gd name="adj" fmla="val 12500"/>
            </a:avLst>
          </a:prstGeom>
          <a:solidFill>
            <a:srgbClr val="B5501F"/>
          </a:solidFill>
          <a:ln w="12700">
            <a:solidFill>
              <a:srgbClr val="B5501F"/>
            </a:solidFill>
            <a:prstDash val="solid"/>
          </a:ln>
        </p:spPr>
      </p:sp>
      <p:sp>
        <p:nvSpPr>
          <p:cNvPr id="44" name="Text 38"/>
          <p:cNvSpPr txBox="1"/>
          <p:nvPr/>
        </p:nvSpPr>
        <p:spPr>
          <a:xfrm>
            <a:off x="8625535" y="21945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45" name="Text 39"/>
          <p:cNvSpPr txBox="1"/>
          <p:nvPr/>
        </p:nvSpPr>
        <p:spPr>
          <a:xfrm>
            <a:off x="9174175" y="2194560"/>
            <a:ext cx="2148840" cy="438912"/>
          </a:xfrm>
          <a:prstGeom prst="rect">
            <a:avLst/>
          </a:prstGeom>
          <a:noFill/>
          <a:ln/>
        </p:spPr>
        <p:txBody>
          <a:bodyPr wrap="square" lIns="0" tIns="0" rIns="0" bIns="0" rtlCol="0" anchor="ctr"/>
          <a:lstStyle/>
          <a:p>
            <a:pPr indent="0" marL="0">
              <a:buNone/>
            </a:pPr>
            <a:r>
              <a:rPr lang="en-US" sz="1400" b="1" dirty="0">
                <a:solidFill>
                  <a:srgbClr val="B5501F"/>
                </a:solidFill>
                <a:latin typeface="맑은 고딕" pitchFamily="34" charset="0"/>
                <a:ea typeface="맑은 고딕" pitchFamily="34" charset="-122"/>
                <a:cs typeface="맑은 고딕" pitchFamily="34" charset="-120"/>
              </a:rPr>
              <a:t>부식 손실 보충</a:t>
            </a:r>
            <a:endParaRPr lang="en-US" sz="1400" dirty="0"/>
          </a:p>
        </p:txBody>
      </p:sp>
      <p:sp>
        <p:nvSpPr>
          <p:cNvPr id="46" name="Shape 40"/>
          <p:cNvSpPr/>
          <p:nvPr/>
        </p:nvSpPr>
        <p:spPr>
          <a:xfrm>
            <a:off x="9635947" y="2834640"/>
            <a:ext cx="768096" cy="768096"/>
          </a:xfrm>
          <a:prstGeom prst="ellipse">
            <a:avLst/>
          </a:prstGeom>
          <a:solidFill>
            <a:srgbClr val="B5501F"/>
          </a:solidFill>
          <a:ln w="12700">
            <a:solidFill>
              <a:srgbClr val="B5501F"/>
            </a:solidFill>
            <a:prstDash val="solid"/>
          </a:ln>
        </p:spPr>
      </p:sp>
      <p:pic>
        <p:nvPicPr>
          <p:cNvPr id="47" name="Image 4" descr="preencoded.png">    </p:cNvPr>
          <p:cNvPicPr>
            <a:picLocks noChangeAspect="1"/>
          </p:cNvPicPr>
          <p:nvPr/>
        </p:nvPicPr>
        <p:blipFill>
          <a:blip r:embed="rId5"/>
          <a:stretch>
            <a:fillRect/>
          </a:stretch>
        </p:blipFill>
        <p:spPr>
          <a:xfrm>
            <a:off x="9835652" y="3034345"/>
            <a:ext cx="368686" cy="368686"/>
          </a:xfrm>
          <a:prstGeom prst="rect">
            <a:avLst/>
          </a:prstGeom>
        </p:spPr>
      </p:pic>
      <p:sp>
        <p:nvSpPr>
          <p:cNvPr id="48" name="Text 41"/>
          <p:cNvSpPr txBox="1"/>
          <p:nvPr/>
        </p:nvSpPr>
        <p:spPr>
          <a:xfrm>
            <a:off x="8579815" y="3657600"/>
            <a:ext cx="2880360" cy="731520"/>
          </a:xfrm>
          <a:prstGeom prst="rect">
            <a:avLst/>
          </a:prstGeom>
          <a:noFill/>
          <a:ln/>
        </p:spPr>
        <p:txBody>
          <a:bodyPr wrap="square" lIns="0" tIns="0" rIns="0" bIns="0" rtlCol="0" anchor="ctr"/>
          <a:lstStyle/>
          <a:p>
            <a:pPr algn="ctr" indent="0" marL="0">
              <a:buNone/>
            </a:pPr>
            <a:r>
              <a:rPr lang="en-US" sz="3600" b="1" dirty="0">
                <a:solidFill>
                  <a:srgbClr val="B5501F"/>
                </a:solidFill>
                <a:latin typeface="맑은 고딕" pitchFamily="34" charset="0"/>
                <a:ea typeface="맑은 고딕" pitchFamily="34" charset="-122"/>
                <a:cs typeface="맑은 고딕" pitchFamily="34" charset="-120"/>
              </a:rPr>
              <a:t>25–33%</a:t>
            </a:r>
            <a:endParaRPr lang="en-US" sz="3600" dirty="0"/>
          </a:p>
        </p:txBody>
      </p:sp>
      <p:sp>
        <p:nvSpPr>
          <p:cNvPr id="49" name="Text 42"/>
          <p:cNvSpPr txBox="1"/>
          <p:nvPr/>
        </p:nvSpPr>
        <p:spPr>
          <a:xfrm>
            <a:off x="8625535" y="4434840"/>
            <a:ext cx="2788920" cy="731520"/>
          </a:xfrm>
          <a:prstGeom prst="rect">
            <a:avLst/>
          </a:prstGeom>
          <a:noFill/>
          <a:ln/>
        </p:spPr>
        <p:txBody>
          <a:bodyPr wrap="square" lIns="0" tIns="0" rIns="0" bIns="0" rtlCol="0" anchor="t"/>
          <a:lstStyle/>
          <a:p>
            <a:pPr algn="ctr" indent="0" marL="0">
              <a:buNone/>
            </a:pPr>
            <a:r>
              <a:rPr lang="en-US" sz="1300" dirty="0">
                <a:solidFill>
                  <a:srgbClr val="2B2D31"/>
                </a:solidFill>
                <a:latin typeface="맑은 고딕" pitchFamily="34" charset="0"/>
                <a:ea typeface="맑은 고딕" pitchFamily="34" charset="-122"/>
                <a:cs typeface="맑은 고딕" pitchFamily="34" charset="-120"/>
              </a:rPr>
              <a:t>매년 생산되는 철강 중</a:t>
            </a:r>
            <a:endParaRPr lang="en-US" sz="1300" dirty="0"/>
          </a:p>
          <a:p>
            <a:pPr algn="ctr" indent="0" marL="0">
              <a:buNone/>
            </a:pPr>
            <a:r>
              <a:rPr lang="en-US" sz="1300" dirty="0">
                <a:solidFill>
                  <a:srgbClr val="2B2D31"/>
                </a:solidFill>
                <a:latin typeface="맑은 고딕" pitchFamily="34" charset="0"/>
                <a:ea typeface="맑은 고딕" pitchFamily="34" charset="-122"/>
                <a:cs typeface="맑은 고딕" pitchFamily="34" charset="-120"/>
              </a:rPr>
              <a:t>부식 손실을 메우는 데 쓰이는 비율</a:t>
            </a:r>
            <a:endParaRPr lang="en-US" sz="1300" dirty="0"/>
          </a:p>
        </p:txBody>
      </p:sp>
      <p:sp>
        <p:nvSpPr>
          <p:cNvPr id="50" name="Text 43"/>
          <p:cNvSpPr txBox="1"/>
          <p:nvPr/>
        </p:nvSpPr>
        <p:spPr>
          <a:xfrm>
            <a:off x="8579815" y="5422392"/>
            <a:ext cx="2880360" cy="256032"/>
          </a:xfrm>
          <a:prstGeom prst="rect">
            <a:avLst/>
          </a:prstGeom>
          <a:noFill/>
          <a:ln/>
        </p:spPr>
        <p:txBody>
          <a:bodyPr wrap="square" lIns="0" tIns="0" rIns="0" bIns="0" rtlCol="0" anchor="t"/>
          <a:lstStyle/>
          <a:p>
            <a:pPr algn="ctr" indent="0" marL="0">
              <a:buNone/>
            </a:pPr>
            <a:r>
              <a:rPr lang="en-US" sz="950" i="1" dirty="0">
                <a:solidFill>
                  <a:srgbClr val="A3A7AD"/>
                </a:solidFill>
                <a:latin typeface="맑은 고딕" pitchFamily="34" charset="0"/>
                <a:ea typeface="맑은 고딕" pitchFamily="34" charset="-122"/>
                <a:cs typeface="맑은 고딕" pitchFamily="34" charset="-120"/>
              </a:rPr>
              <a:t>Iannuzzi &amp; Frankel (2022)</a:t>
            </a:r>
            <a:endParaRPr lang="en-US" sz="950" dirty="0"/>
          </a:p>
        </p:txBody>
      </p:sp>
      <p:sp>
        <p:nvSpPr>
          <p:cNvPr id="51" name="Shape 44"/>
          <p:cNvSpPr/>
          <p:nvPr/>
        </p:nvSpPr>
        <p:spPr>
          <a:xfrm>
            <a:off x="0" y="6144768"/>
            <a:ext cx="12191695" cy="713232"/>
          </a:xfrm>
          <a:prstGeom prst="rect">
            <a:avLst/>
          </a:prstGeom>
          <a:solidFill>
            <a:srgbClr val="1B3A5C"/>
          </a:solidFill>
          <a:ln w="12700">
            <a:solidFill>
              <a:srgbClr val="1B3A5C"/>
            </a:solidFill>
            <a:prstDash val="solid"/>
          </a:ln>
        </p:spPr>
      </p:sp>
      <p:sp>
        <p:nvSpPr>
          <p:cNvPr id="52" name="Text 45"/>
          <p:cNvSpPr txBox="1"/>
          <p:nvPr/>
        </p:nvSpPr>
        <p:spPr>
          <a:xfrm>
            <a:off x="548640" y="6144768"/>
            <a:ext cx="11094415" cy="713232"/>
          </a:xfrm>
          <a:prstGeom prst="rect">
            <a:avLst/>
          </a:prstGeom>
          <a:noFill/>
          <a:ln/>
        </p:spPr>
        <p:txBody>
          <a:bodyPr wrap="square" lIns="0" tIns="0" rIns="0" bIns="0" rtlCol="0" anchor="ctr"/>
          <a:lstStyle/>
          <a:p>
            <a:pPr algn="ctr" indent="0" marL="0">
              <a:buNone/>
            </a:pPr>
            <a:r>
              <a:rPr lang="en-US" sz="1900" dirty="0">
                <a:solidFill>
                  <a:srgbClr val="FFFFFF"/>
                </a:solidFill>
                <a:latin typeface="맑은 고딕" pitchFamily="34" charset="0"/>
                <a:ea typeface="맑은 고딕" pitchFamily="34" charset="-122"/>
                <a:cs typeface="맑은 고딕" pitchFamily="34" charset="-120"/>
              </a:rPr>
              <a:t>제때 찾아 관리하면 </a:t>
            </a:r>
            <a:r>
              <a:rPr lang="en-US" sz="1900" b="1" dirty="0">
                <a:solidFill>
                  <a:srgbClr val="F2B48A"/>
                </a:solidFill>
                <a:latin typeface="맑은 고딕" pitchFamily="34" charset="0"/>
                <a:ea typeface="맑은 고딕" pitchFamily="34" charset="-122"/>
                <a:cs typeface="맑은 고딕" pitchFamily="34" charset="-120"/>
              </a:rPr>
              <a:t>부식 비용의 15–35%</a:t>
            </a:r>
            <a:r>
              <a:rPr lang="en-US" sz="1900" dirty="0">
                <a:solidFill>
                  <a:srgbClr val="FFFFFF"/>
                </a:solidFill>
                <a:latin typeface="맑은 고딕" pitchFamily="34" charset="0"/>
                <a:ea typeface="맑은 고딕" pitchFamily="34" charset="-122"/>
                <a:cs typeface="맑은 고딕" pitchFamily="34" charset="-120"/>
              </a:rPr>
              <a:t> (연 US$ 3,750–8,750억)를 줄일 수 있습니다</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77724" cy="77724"/>
          </a:xfrm>
          <a:prstGeom prst="ellipse">
            <a:avLst/>
          </a:prstGeom>
          <a:solidFill>
            <a:srgbClr val="1B3A5C"/>
          </a:solidFill>
          <a:ln w="12700">
            <a:solidFill>
              <a:srgbClr val="1B3A5C"/>
            </a:solidFill>
            <a:prstDash val="solid"/>
          </a:ln>
        </p:spPr>
      </p:sp>
      <p:sp>
        <p:nvSpPr>
          <p:cNvPr id="3" name="Shape 1"/>
          <p:cNvSpPr/>
          <p:nvPr/>
        </p:nvSpPr>
        <p:spPr>
          <a:xfrm>
            <a:off x="694944" y="384048"/>
            <a:ext cx="77724" cy="77724"/>
          </a:xfrm>
          <a:prstGeom prst="ellipse">
            <a:avLst/>
          </a:prstGeom>
          <a:solidFill>
            <a:srgbClr val="6F8FB5"/>
          </a:solidFill>
          <a:ln w="12700">
            <a:solidFill>
              <a:srgbClr val="6F8FB5"/>
            </a:solidFill>
            <a:prstDash val="solid"/>
          </a:ln>
        </p:spPr>
      </p:sp>
      <p:sp>
        <p:nvSpPr>
          <p:cNvPr id="4" name="Shape 2"/>
          <p:cNvSpPr/>
          <p:nvPr/>
        </p:nvSpPr>
        <p:spPr>
          <a:xfrm>
            <a:off x="841248" y="384048"/>
            <a:ext cx="77724" cy="77724"/>
          </a:xfrm>
          <a:prstGeom prst="ellipse">
            <a:avLst/>
          </a:prstGeom>
          <a:solidFill>
            <a:srgbClr val="B9CCE0"/>
          </a:solidFill>
          <a:ln w="12700">
            <a:solidFill>
              <a:srgbClr val="B9CCE0"/>
            </a:solidFill>
            <a:prstDash val="solid"/>
          </a:ln>
        </p:spPr>
      </p:sp>
      <p:sp>
        <p:nvSpPr>
          <p:cNvPr id="5" name="Text 3"/>
          <p:cNvSpPr txBox="1"/>
          <p:nvPr/>
        </p:nvSpPr>
        <p:spPr>
          <a:xfrm>
            <a:off x="1097280" y="301752"/>
            <a:ext cx="5486400" cy="256032"/>
          </a:xfrm>
          <a:prstGeom prst="rect">
            <a:avLst/>
          </a:prstGeom>
          <a:noFill/>
          <a:ln/>
        </p:spPr>
        <p:txBody>
          <a:bodyPr wrap="square" lIns="0" tIns="0" rIns="0" bIns="0" rtlCol="0" anchor="t"/>
          <a:lstStyle/>
          <a:p>
            <a:pPr indent="0" marL="0">
              <a:buNone/>
            </a:pPr>
            <a:r>
              <a:rPr lang="en-US" sz="1100" dirty="0">
                <a:solidFill>
                  <a:srgbClr val="1B3A5C"/>
                </a:solidFill>
                <a:latin typeface="맑은 고딕" pitchFamily="34" charset="0"/>
                <a:ea typeface="맑은 고딕" pitchFamily="34" charset="-122"/>
                <a:cs typeface="맑은 고딕" pitchFamily="34" charset="-120"/>
              </a:rPr>
              <a:t>문제점(Problem)</a:t>
            </a:r>
            <a:endParaRPr lang="en-US" sz="1100" dirty="0"/>
          </a:p>
        </p:txBody>
      </p:sp>
      <p:sp>
        <p:nvSpPr>
          <p:cNvPr id="6" name="Text 4"/>
          <p:cNvSpPr txBox="1"/>
          <p:nvPr/>
        </p:nvSpPr>
        <p:spPr>
          <a:xfrm>
            <a:off x="502920" y="621792"/>
            <a:ext cx="914400" cy="685800"/>
          </a:xfrm>
          <a:prstGeom prst="rect">
            <a:avLst/>
          </a:prstGeom>
          <a:noFill/>
          <a:ln/>
        </p:spPr>
        <p:txBody>
          <a:bodyPr wrap="square" lIns="0" tIns="0" rIns="0" bIns="0" rtlCol="0" anchor="ctr"/>
          <a:lstStyle/>
          <a:p>
            <a:pPr indent="0" marL="0">
              <a:buNone/>
            </a:pPr>
            <a:r>
              <a:rPr lang="en-US" sz="4000" b="1" dirty="0">
                <a:solidFill>
                  <a:srgbClr val="B9CCE0"/>
                </a:solidFill>
                <a:latin typeface="맑은 고딕" pitchFamily="34" charset="0"/>
                <a:ea typeface="맑은 고딕" pitchFamily="34" charset="-122"/>
                <a:cs typeface="맑은 고딕" pitchFamily="34" charset="-120"/>
              </a:rPr>
              <a:t>0</a:t>
            </a:r>
            <a:r>
              <a:rPr lang="en-US" sz="4000" b="1" dirty="0">
                <a:solidFill>
                  <a:srgbClr val="1B3A5C"/>
                </a:solidFill>
                <a:latin typeface="맑은 고딕" pitchFamily="34" charset="0"/>
                <a:ea typeface="맑은 고딕" pitchFamily="34" charset="-122"/>
                <a:cs typeface="맑은 고딕" pitchFamily="34" charset="-120"/>
              </a:rPr>
              <a:t>2</a:t>
            </a:r>
            <a:endParaRPr lang="en-US" sz="4000" dirty="0"/>
          </a:p>
        </p:txBody>
      </p:sp>
      <p:sp>
        <p:nvSpPr>
          <p:cNvPr id="7" name="Text 5"/>
          <p:cNvSpPr txBox="1"/>
          <p:nvPr/>
        </p:nvSpPr>
        <p:spPr>
          <a:xfrm>
            <a:off x="1463040" y="621792"/>
            <a:ext cx="9509760" cy="685800"/>
          </a:xfrm>
          <a:prstGeom prst="rect">
            <a:avLst/>
          </a:prstGeom>
          <a:noFill/>
          <a:ln/>
        </p:spPr>
        <p:txBody>
          <a:bodyPr wrap="square" lIns="0" tIns="0" rIns="0" bIns="0" rtlCol="0" anchor="ctr"/>
          <a:lstStyle/>
          <a:p>
            <a:pPr indent="0" marL="0">
              <a:buNone/>
            </a:pPr>
            <a:r>
              <a:rPr lang="en-US" sz="2600" b="1" dirty="0">
                <a:solidFill>
                  <a:srgbClr val="2B2D31"/>
                </a:solidFill>
                <a:latin typeface="맑은 고딕" pitchFamily="34" charset="0"/>
                <a:ea typeface="맑은 고딕" pitchFamily="34" charset="-122"/>
                <a:cs typeface="맑은 고딕" pitchFamily="34" charset="-120"/>
              </a:rPr>
              <a:t>해양 구조물 점검의 한계: 접근</a:t>
            </a:r>
            <a:endParaRPr lang="en-US" sz="2600" dirty="0"/>
          </a:p>
        </p:txBody>
      </p:sp>
      <p:sp>
        <p:nvSpPr>
          <p:cNvPr id="8" name="Shape 6"/>
          <p:cNvSpPr/>
          <p:nvPr/>
        </p:nvSpPr>
        <p:spPr>
          <a:xfrm>
            <a:off x="11259007" y="384048"/>
            <a:ext cx="77724" cy="77724"/>
          </a:xfrm>
          <a:prstGeom prst="ellipse">
            <a:avLst/>
          </a:prstGeom>
          <a:solidFill>
            <a:srgbClr val="B9CCE0"/>
          </a:solidFill>
          <a:ln w="12700">
            <a:solidFill>
              <a:srgbClr val="B9CCE0"/>
            </a:solidFill>
            <a:prstDash val="solid"/>
          </a:ln>
        </p:spPr>
      </p:sp>
      <p:sp>
        <p:nvSpPr>
          <p:cNvPr id="9" name="Shape 7"/>
          <p:cNvSpPr/>
          <p:nvPr/>
        </p:nvSpPr>
        <p:spPr>
          <a:xfrm>
            <a:off x="11405311" y="384048"/>
            <a:ext cx="77724" cy="77724"/>
          </a:xfrm>
          <a:prstGeom prst="ellipse">
            <a:avLst/>
          </a:prstGeom>
          <a:solidFill>
            <a:srgbClr val="6F8FB5"/>
          </a:solidFill>
          <a:ln w="12700">
            <a:solidFill>
              <a:srgbClr val="6F8FB5"/>
            </a:solidFill>
            <a:prstDash val="solid"/>
          </a:ln>
        </p:spPr>
      </p:sp>
      <p:sp>
        <p:nvSpPr>
          <p:cNvPr id="10" name="Shape 8"/>
          <p:cNvSpPr/>
          <p:nvPr/>
        </p:nvSpPr>
        <p:spPr>
          <a:xfrm>
            <a:off x="11551615" y="384048"/>
            <a:ext cx="77724" cy="77724"/>
          </a:xfrm>
          <a:prstGeom prst="ellipse">
            <a:avLst/>
          </a:prstGeom>
          <a:solidFill>
            <a:srgbClr val="1B3A5C"/>
          </a:solidFill>
          <a:ln w="12700">
            <a:solidFill>
              <a:srgbClr val="1B3A5C"/>
            </a:solidFill>
            <a:prstDash val="solid"/>
          </a:ln>
        </p:spPr>
      </p:sp>
      <p:sp>
        <p:nvSpPr>
          <p:cNvPr id="11" name="Shape 9"/>
          <p:cNvSpPr/>
          <p:nvPr/>
        </p:nvSpPr>
        <p:spPr>
          <a:xfrm>
            <a:off x="11185855" y="786384"/>
            <a:ext cx="0" cy="310896"/>
          </a:xfrm>
          <a:prstGeom prst="line">
            <a:avLst/>
          </a:prstGeom>
          <a:noFill/>
          <a:ln w="12700">
            <a:solidFill>
              <a:srgbClr val="D9DCE0"/>
            </a:solidFill>
            <a:prstDash val="solid"/>
          </a:ln>
        </p:spPr>
      </p:sp>
      <p:sp>
        <p:nvSpPr>
          <p:cNvPr id="12" name="Text 10"/>
          <p:cNvSpPr txBox="1"/>
          <p:nvPr/>
        </p:nvSpPr>
        <p:spPr>
          <a:xfrm>
            <a:off x="11259007" y="786384"/>
            <a:ext cx="384048" cy="310896"/>
          </a:xfrm>
          <a:prstGeom prst="rect">
            <a:avLst/>
          </a:prstGeom>
          <a:noFill/>
          <a:ln/>
        </p:spPr>
        <p:txBody>
          <a:bodyPr wrap="square" lIns="0" tIns="0" rIns="0" bIns="0" rtlCol="0" anchor="ctr"/>
          <a:lstStyle/>
          <a:p>
            <a:pPr algn="r" indent="0" marL="0">
              <a:buNone/>
            </a:pPr>
            <a:r>
              <a:rPr lang="en-US" sz="1200" b="1" dirty="0">
                <a:solidFill>
                  <a:srgbClr val="1B3A5C"/>
                </a:solidFill>
                <a:latin typeface="맑은 고딕" pitchFamily="34" charset="0"/>
                <a:ea typeface="맑은 고딕" pitchFamily="34" charset="-122"/>
                <a:cs typeface="맑은 고딕" pitchFamily="34" charset="-120"/>
              </a:rPr>
              <a:t>3</a:t>
            </a:r>
            <a:endParaRPr lang="en-US" sz="1200" dirty="0"/>
          </a:p>
        </p:txBody>
      </p:sp>
      <p:pic>
        <p:nvPicPr>
          <p:cNvPr id="13" name="Image 0" descr="/home/user/PPT/src/img/offshore_zones.png">    </p:cNvPr>
          <p:cNvPicPr>
            <a:picLocks noChangeAspect="1"/>
          </p:cNvPicPr>
          <p:nvPr/>
        </p:nvPicPr>
        <p:blipFill>
          <a:blip r:embed="rId1"/>
          <a:stretch>
            <a:fillRect/>
          </a:stretch>
        </p:blipFill>
        <p:spPr>
          <a:xfrm>
            <a:off x="548640" y="1554480"/>
            <a:ext cx="4160520" cy="4142192"/>
          </a:xfrm>
          <a:prstGeom prst="rect">
            <a:avLst/>
          </a:prstGeom>
        </p:spPr>
      </p:pic>
      <p:sp>
        <p:nvSpPr>
          <p:cNvPr id="14" name="Shape 11"/>
          <p:cNvSpPr/>
          <p:nvPr/>
        </p:nvSpPr>
        <p:spPr>
          <a:xfrm>
            <a:off x="5074920" y="1554480"/>
            <a:ext cx="6568135" cy="1234440"/>
          </a:xfrm>
          <a:prstGeom prst="roundRect">
            <a:avLst>
              <a:gd name="adj" fmla="val 5926"/>
            </a:avLst>
          </a:prstGeom>
          <a:solidFill>
            <a:srgbClr val="F3F5F8"/>
          </a:solidFill>
          <a:ln w="12700">
            <a:solidFill>
              <a:srgbClr val="F3F5F8"/>
            </a:solidFill>
            <a:prstDash val="solid"/>
          </a:ln>
        </p:spPr>
      </p:sp>
      <p:sp>
        <p:nvSpPr>
          <p:cNvPr id="15" name="Shape 12"/>
          <p:cNvSpPr/>
          <p:nvPr/>
        </p:nvSpPr>
        <p:spPr>
          <a:xfrm>
            <a:off x="5349240" y="1828800"/>
            <a:ext cx="685800" cy="685800"/>
          </a:xfrm>
          <a:prstGeom prst="ellipse">
            <a:avLst/>
          </a:prstGeom>
          <a:solidFill>
            <a:srgbClr val="1B3A5C"/>
          </a:solidFill>
          <a:ln w="12700">
            <a:solidFill>
              <a:srgbClr val="1B3A5C"/>
            </a:solidFill>
            <a:prstDash val="solid"/>
          </a:ln>
        </p:spPr>
      </p:sp>
      <p:pic>
        <p:nvPicPr>
          <p:cNvPr id="16" name="Image 1" descr="preencoded.png">    </p:cNvPr>
          <p:cNvPicPr>
            <a:picLocks noChangeAspect="1"/>
          </p:cNvPicPr>
          <p:nvPr/>
        </p:nvPicPr>
        <p:blipFill>
          <a:blip r:embed="rId2"/>
          <a:stretch>
            <a:fillRect/>
          </a:stretch>
        </p:blipFill>
        <p:spPr>
          <a:xfrm>
            <a:off x="5527548" y="2007108"/>
            <a:ext cx="329184" cy="329184"/>
          </a:xfrm>
          <a:prstGeom prst="rect">
            <a:avLst/>
          </a:prstGeom>
        </p:spPr>
      </p:pic>
      <p:sp>
        <p:nvSpPr>
          <p:cNvPr id="17" name="Text 13"/>
          <p:cNvSpPr txBox="1"/>
          <p:nvPr/>
        </p:nvSpPr>
        <p:spPr>
          <a:xfrm>
            <a:off x="6263640" y="1709928"/>
            <a:ext cx="5196535" cy="365760"/>
          </a:xfrm>
          <a:prstGeom prst="rect">
            <a:avLst/>
          </a:prstGeom>
          <a:noFill/>
          <a:ln/>
        </p:spPr>
        <p:txBody>
          <a:bodyPr wrap="square" lIns="0" tIns="0" rIns="0" bIns="0" rtlCol="0" anchor="t"/>
          <a:lstStyle/>
          <a:p>
            <a:pPr indent="0" marL="0">
              <a:buNone/>
            </a:pPr>
            <a:r>
              <a:rPr lang="en-US" sz="1700" b="1" dirty="0">
                <a:solidFill>
                  <a:srgbClr val="2B2D31"/>
                </a:solidFill>
                <a:latin typeface="맑은 고딕" pitchFamily="34" charset="0"/>
                <a:ea typeface="맑은 고딕" pitchFamily="34" charset="-122"/>
                <a:cs typeface="맑은 고딕" pitchFamily="34" charset="-120"/>
              </a:rPr>
              <a:t>모든 지점을 똑같이 순회</a:t>
            </a:r>
            <a:endParaRPr lang="en-US" sz="1700" dirty="0"/>
          </a:p>
        </p:txBody>
      </p:sp>
      <p:sp>
        <p:nvSpPr>
          <p:cNvPr id="18" name="Text 14"/>
          <p:cNvSpPr txBox="1"/>
          <p:nvPr/>
        </p:nvSpPr>
        <p:spPr>
          <a:xfrm>
            <a:off x="6263640" y="2084832"/>
            <a:ext cx="5196535" cy="320040"/>
          </a:xfrm>
          <a:prstGeom prst="rect">
            <a:avLst/>
          </a:prstGeom>
          <a:noFill/>
          <a:ln/>
        </p:spPr>
        <p:txBody>
          <a:bodyPr wrap="square" lIns="0" tIns="0" rIns="0" bIns="0" rtlCol="0" anchor="t"/>
          <a:lstStyle/>
          <a:p>
            <a:pPr indent="0" marL="0">
              <a:buNone/>
            </a:pPr>
            <a:r>
              <a:rPr lang="en-US" sz="1350" dirty="0">
                <a:solidFill>
                  <a:srgbClr val="6B6F76"/>
                </a:solidFill>
                <a:latin typeface="맑은 고딕" pitchFamily="34" charset="0"/>
                <a:ea typeface="맑은 고딕" pitchFamily="34" charset="-122"/>
                <a:cs typeface="맑은 고딕" pitchFamily="34" charset="-120"/>
              </a:rPr>
              <a:t>상태와 관계없이 정해진 목록을 전부 방문</a:t>
            </a:r>
            <a:endParaRPr lang="en-US" sz="1350" dirty="0"/>
          </a:p>
        </p:txBody>
      </p:sp>
      <p:sp>
        <p:nvSpPr>
          <p:cNvPr id="19" name="Text 15"/>
          <p:cNvSpPr txBox="1"/>
          <p:nvPr/>
        </p:nvSpPr>
        <p:spPr>
          <a:xfrm>
            <a:off x="6263640" y="2423160"/>
            <a:ext cx="5196535" cy="256032"/>
          </a:xfrm>
          <a:prstGeom prst="rect">
            <a:avLst/>
          </a:prstGeom>
          <a:noFill/>
          <a:ln/>
        </p:spPr>
        <p:txBody>
          <a:bodyPr wrap="square" lIns="0" tIns="0" rIns="0" bIns="0" rtlCol="0" anchor="t"/>
          <a:lstStyle/>
          <a:p>
            <a:pPr indent="0" marL="0">
              <a:buNone/>
            </a:pPr>
            <a:r>
              <a:rPr lang="en-US" sz="1050" i="1" dirty="0">
                <a:solidFill>
                  <a:srgbClr val="A3A7AD"/>
                </a:solidFill>
                <a:latin typeface="맑은 고딕" pitchFamily="34" charset="0"/>
                <a:ea typeface="맑은 고딕" pitchFamily="34" charset="-122"/>
                <a:cs typeface="맑은 고딕" pitchFamily="34" charset="-120"/>
              </a:rPr>
              <a:t>— Williams · 점검 관리자</a:t>
            </a:r>
            <a:endParaRPr lang="en-US" sz="1050" dirty="0"/>
          </a:p>
        </p:txBody>
      </p:sp>
      <p:sp>
        <p:nvSpPr>
          <p:cNvPr id="20" name="Shape 16"/>
          <p:cNvSpPr/>
          <p:nvPr/>
        </p:nvSpPr>
        <p:spPr>
          <a:xfrm>
            <a:off x="5074920" y="2953512"/>
            <a:ext cx="6568135" cy="1234440"/>
          </a:xfrm>
          <a:prstGeom prst="roundRect">
            <a:avLst>
              <a:gd name="adj" fmla="val 5926"/>
            </a:avLst>
          </a:prstGeom>
          <a:solidFill>
            <a:srgbClr val="F3F5F8"/>
          </a:solidFill>
          <a:ln w="12700">
            <a:solidFill>
              <a:srgbClr val="F3F5F8"/>
            </a:solidFill>
            <a:prstDash val="solid"/>
          </a:ln>
        </p:spPr>
      </p:sp>
      <p:sp>
        <p:nvSpPr>
          <p:cNvPr id="21" name="Shape 17"/>
          <p:cNvSpPr/>
          <p:nvPr/>
        </p:nvSpPr>
        <p:spPr>
          <a:xfrm>
            <a:off x="5349240" y="3227832"/>
            <a:ext cx="685800" cy="685800"/>
          </a:xfrm>
          <a:prstGeom prst="ellipse">
            <a:avLst/>
          </a:prstGeom>
          <a:solidFill>
            <a:srgbClr val="1B3A5C"/>
          </a:solidFill>
          <a:ln w="12700">
            <a:solidFill>
              <a:srgbClr val="1B3A5C"/>
            </a:solidFill>
            <a:prstDash val="solid"/>
          </a:ln>
        </p:spPr>
      </p:sp>
      <p:pic>
        <p:nvPicPr>
          <p:cNvPr id="22" name="Image 2" descr="preencoded.png">    </p:cNvPr>
          <p:cNvPicPr>
            <a:picLocks noChangeAspect="1"/>
          </p:cNvPicPr>
          <p:nvPr/>
        </p:nvPicPr>
        <p:blipFill>
          <a:blip r:embed="rId3"/>
          <a:stretch>
            <a:fillRect/>
          </a:stretch>
        </p:blipFill>
        <p:spPr>
          <a:xfrm>
            <a:off x="5527548" y="3406140"/>
            <a:ext cx="329184" cy="329184"/>
          </a:xfrm>
          <a:prstGeom prst="rect">
            <a:avLst/>
          </a:prstGeom>
        </p:spPr>
      </p:pic>
      <p:sp>
        <p:nvSpPr>
          <p:cNvPr id="23" name="Text 18"/>
          <p:cNvSpPr txBox="1"/>
          <p:nvPr/>
        </p:nvSpPr>
        <p:spPr>
          <a:xfrm>
            <a:off x="6263640" y="3108960"/>
            <a:ext cx="5196535" cy="365760"/>
          </a:xfrm>
          <a:prstGeom prst="rect">
            <a:avLst/>
          </a:prstGeom>
          <a:noFill/>
          <a:ln/>
        </p:spPr>
        <p:txBody>
          <a:bodyPr wrap="square" lIns="0" tIns="0" rIns="0" bIns="0" rtlCol="0" anchor="t"/>
          <a:lstStyle/>
          <a:p>
            <a:pPr indent="0" marL="0">
              <a:buNone/>
            </a:pPr>
            <a:r>
              <a:rPr lang="en-US" sz="1700" b="1" dirty="0">
                <a:solidFill>
                  <a:srgbClr val="2B2D31"/>
                </a:solidFill>
                <a:latin typeface="맑은 고딕" pitchFamily="34" charset="0"/>
                <a:ea typeface="맑은 고딕" pitchFamily="34" charset="-122"/>
                <a:cs typeface="맑은 고딕" pitchFamily="34" charset="-120"/>
              </a:rPr>
              <a:t>비말대 · 해저 구간은 접근 자체가 어려움</a:t>
            </a:r>
            <a:endParaRPr lang="en-US" sz="1700" dirty="0"/>
          </a:p>
        </p:txBody>
      </p:sp>
      <p:sp>
        <p:nvSpPr>
          <p:cNvPr id="24" name="Text 19"/>
          <p:cNvSpPr txBox="1"/>
          <p:nvPr/>
        </p:nvSpPr>
        <p:spPr>
          <a:xfrm>
            <a:off x="6263640" y="3483864"/>
            <a:ext cx="5196535" cy="320040"/>
          </a:xfrm>
          <a:prstGeom prst="rect">
            <a:avLst/>
          </a:prstGeom>
          <a:noFill/>
          <a:ln/>
        </p:spPr>
        <p:txBody>
          <a:bodyPr wrap="square" lIns="0" tIns="0" rIns="0" bIns="0" rtlCol="0" anchor="t"/>
          <a:lstStyle/>
          <a:p>
            <a:pPr indent="0" marL="0">
              <a:buNone/>
            </a:pPr>
            <a:r>
              <a:rPr lang="en-US" sz="1350" dirty="0">
                <a:solidFill>
                  <a:srgbClr val="6B6F76"/>
                </a:solidFill>
                <a:latin typeface="맑은 고딕" pitchFamily="34" charset="0"/>
                <a:ea typeface="맑은 고딕" pitchFamily="34" charset="-122"/>
                <a:cs typeface="맑은 고딕" pitchFamily="34" charset="-120"/>
              </a:rPr>
              <a:t>로프 액세스 · 잠수 · ROV를 미리 일정 잡아야만 확인 가능</a:t>
            </a:r>
            <a:endParaRPr lang="en-US" sz="1350" dirty="0"/>
          </a:p>
        </p:txBody>
      </p:sp>
      <p:sp>
        <p:nvSpPr>
          <p:cNvPr id="25" name="Text 20"/>
          <p:cNvSpPr txBox="1"/>
          <p:nvPr/>
        </p:nvSpPr>
        <p:spPr>
          <a:xfrm>
            <a:off x="6263640" y="3822192"/>
            <a:ext cx="5196535" cy="256032"/>
          </a:xfrm>
          <a:prstGeom prst="rect">
            <a:avLst/>
          </a:prstGeom>
          <a:noFill/>
          <a:ln/>
        </p:spPr>
        <p:txBody>
          <a:bodyPr wrap="square" lIns="0" tIns="0" rIns="0" bIns="0" rtlCol="0" anchor="t"/>
          <a:lstStyle/>
          <a:p>
            <a:pPr indent="0" marL="0">
              <a:buNone/>
            </a:pPr>
            <a:r>
              <a:rPr lang="en-US" sz="1050" i="1" dirty="0">
                <a:solidFill>
                  <a:srgbClr val="A3A7AD"/>
                </a:solidFill>
                <a:latin typeface="맑은 고딕" pitchFamily="34" charset="0"/>
                <a:ea typeface="맑은 고딕" pitchFamily="34" charset="-122"/>
                <a:cs typeface="맑은 고딕" pitchFamily="34" charset="-120"/>
              </a:rPr>
              <a:t>— Deepwater Corrosion Services · CTO</a:t>
            </a:r>
            <a:endParaRPr lang="en-US" sz="1050" dirty="0"/>
          </a:p>
        </p:txBody>
      </p:sp>
      <p:sp>
        <p:nvSpPr>
          <p:cNvPr id="26" name="Shape 21"/>
          <p:cNvSpPr/>
          <p:nvPr/>
        </p:nvSpPr>
        <p:spPr>
          <a:xfrm>
            <a:off x="5074920" y="4352544"/>
            <a:ext cx="6568135" cy="1234440"/>
          </a:xfrm>
          <a:prstGeom prst="roundRect">
            <a:avLst>
              <a:gd name="adj" fmla="val 5926"/>
            </a:avLst>
          </a:prstGeom>
          <a:solidFill>
            <a:srgbClr val="F3F5F8"/>
          </a:solidFill>
          <a:ln w="12700">
            <a:solidFill>
              <a:srgbClr val="F3F5F8"/>
            </a:solidFill>
            <a:prstDash val="solid"/>
          </a:ln>
        </p:spPr>
      </p:sp>
      <p:sp>
        <p:nvSpPr>
          <p:cNvPr id="27" name="Shape 22"/>
          <p:cNvSpPr/>
          <p:nvPr/>
        </p:nvSpPr>
        <p:spPr>
          <a:xfrm>
            <a:off x="5349240" y="4626864"/>
            <a:ext cx="685800" cy="685800"/>
          </a:xfrm>
          <a:prstGeom prst="ellipse">
            <a:avLst/>
          </a:prstGeom>
          <a:solidFill>
            <a:srgbClr val="1B3A5C"/>
          </a:solidFill>
          <a:ln w="12700">
            <a:solidFill>
              <a:srgbClr val="1B3A5C"/>
            </a:solidFill>
            <a:prstDash val="solid"/>
          </a:ln>
        </p:spPr>
      </p:sp>
      <p:pic>
        <p:nvPicPr>
          <p:cNvPr id="28" name="Image 3" descr="preencoded.png">    </p:cNvPr>
          <p:cNvPicPr>
            <a:picLocks noChangeAspect="1"/>
          </p:cNvPicPr>
          <p:nvPr/>
        </p:nvPicPr>
        <p:blipFill>
          <a:blip r:embed="rId4"/>
          <a:stretch>
            <a:fillRect/>
          </a:stretch>
        </p:blipFill>
        <p:spPr>
          <a:xfrm>
            <a:off x="5527548" y="4805172"/>
            <a:ext cx="329184" cy="329184"/>
          </a:xfrm>
          <a:prstGeom prst="rect">
            <a:avLst/>
          </a:prstGeom>
        </p:spPr>
      </p:pic>
      <p:sp>
        <p:nvSpPr>
          <p:cNvPr id="29" name="Text 23"/>
          <p:cNvSpPr txBox="1"/>
          <p:nvPr/>
        </p:nvSpPr>
        <p:spPr>
          <a:xfrm>
            <a:off x="6263640" y="4507992"/>
            <a:ext cx="5196535" cy="365760"/>
          </a:xfrm>
          <a:prstGeom prst="rect">
            <a:avLst/>
          </a:prstGeom>
          <a:noFill/>
          <a:ln/>
        </p:spPr>
        <p:txBody>
          <a:bodyPr wrap="square" lIns="0" tIns="0" rIns="0" bIns="0" rtlCol="0" anchor="t"/>
          <a:lstStyle/>
          <a:p>
            <a:pPr indent="0" marL="0">
              <a:buNone/>
            </a:pPr>
            <a:r>
              <a:rPr lang="en-US" sz="1700" b="1" dirty="0">
                <a:solidFill>
                  <a:srgbClr val="2B2D31"/>
                </a:solidFill>
                <a:latin typeface="맑은 고딕" pitchFamily="34" charset="0"/>
                <a:ea typeface="맑은 고딕" pitchFamily="34" charset="-122"/>
                <a:cs typeface="맑은 고딕" pitchFamily="34" charset="-120"/>
              </a:rPr>
              <a:t>비용은 '검사'가 아니라 '이동 · 대기'</a:t>
            </a:r>
            <a:endParaRPr lang="en-US" sz="1700" dirty="0"/>
          </a:p>
        </p:txBody>
      </p:sp>
      <p:sp>
        <p:nvSpPr>
          <p:cNvPr id="30" name="Text 24"/>
          <p:cNvSpPr txBox="1"/>
          <p:nvPr/>
        </p:nvSpPr>
        <p:spPr>
          <a:xfrm>
            <a:off x="6263640" y="4882896"/>
            <a:ext cx="5196535" cy="320040"/>
          </a:xfrm>
          <a:prstGeom prst="rect">
            <a:avLst/>
          </a:prstGeom>
          <a:noFill/>
          <a:ln/>
        </p:spPr>
        <p:txBody>
          <a:bodyPr wrap="square" lIns="0" tIns="0" rIns="0" bIns="0" rtlCol="0" anchor="t"/>
          <a:lstStyle/>
          <a:p>
            <a:pPr indent="0" marL="0">
              <a:buNone/>
            </a:pPr>
            <a:r>
              <a:rPr lang="en-US" sz="1350" dirty="0">
                <a:solidFill>
                  <a:srgbClr val="6B6F76"/>
                </a:solidFill>
                <a:latin typeface="맑은 고딕" pitchFamily="34" charset="0"/>
                <a:ea typeface="맑은 고딕" pitchFamily="34" charset="-122"/>
                <a:cs typeface="맑은 고딕" pitchFamily="34" charset="-120"/>
              </a:rPr>
              <a:t>선박 용선일 · 기상 대기 · 리프트 · 비계 임대가 실제 비용</a:t>
            </a:r>
            <a:endParaRPr lang="en-US" sz="1350" dirty="0"/>
          </a:p>
        </p:txBody>
      </p:sp>
      <p:sp>
        <p:nvSpPr>
          <p:cNvPr id="31" name="Text 25"/>
          <p:cNvSpPr txBox="1"/>
          <p:nvPr/>
        </p:nvSpPr>
        <p:spPr>
          <a:xfrm>
            <a:off x="6263640" y="5221224"/>
            <a:ext cx="5196535" cy="256032"/>
          </a:xfrm>
          <a:prstGeom prst="rect">
            <a:avLst/>
          </a:prstGeom>
          <a:noFill/>
          <a:ln/>
        </p:spPr>
        <p:txBody>
          <a:bodyPr wrap="square" lIns="0" tIns="0" rIns="0" bIns="0" rtlCol="0" anchor="t"/>
          <a:lstStyle/>
          <a:p>
            <a:pPr indent="0" marL="0">
              <a:buNone/>
            </a:pPr>
            <a:r>
              <a:rPr lang="en-US" sz="1050" i="1" dirty="0">
                <a:solidFill>
                  <a:srgbClr val="A3A7AD"/>
                </a:solidFill>
                <a:latin typeface="맑은 고딕" pitchFamily="34" charset="0"/>
                <a:ea typeface="맑은 고딕" pitchFamily="34" charset="-122"/>
                <a:cs typeface="맑은 고딕" pitchFamily="34" charset="-120"/>
              </a:rPr>
              <a:t>— Deepwater · Brown Corrosion · MISTRAS</a:t>
            </a:r>
            <a:endParaRPr lang="en-US" sz="1050" dirty="0"/>
          </a:p>
        </p:txBody>
      </p:sp>
      <p:sp>
        <p:nvSpPr>
          <p:cNvPr id="32" name="Shape 26"/>
          <p:cNvSpPr/>
          <p:nvPr/>
        </p:nvSpPr>
        <p:spPr>
          <a:xfrm>
            <a:off x="0" y="6144768"/>
            <a:ext cx="12191695" cy="713232"/>
          </a:xfrm>
          <a:prstGeom prst="rect">
            <a:avLst/>
          </a:prstGeom>
          <a:solidFill>
            <a:srgbClr val="1B3A5C"/>
          </a:solidFill>
          <a:ln w="12700">
            <a:solidFill>
              <a:srgbClr val="1B3A5C"/>
            </a:solidFill>
            <a:prstDash val="solid"/>
          </a:ln>
        </p:spPr>
      </p:sp>
      <p:sp>
        <p:nvSpPr>
          <p:cNvPr id="33" name="Text 27"/>
          <p:cNvSpPr txBox="1"/>
          <p:nvPr/>
        </p:nvSpPr>
        <p:spPr>
          <a:xfrm>
            <a:off x="548640" y="6144768"/>
            <a:ext cx="11094415" cy="713232"/>
          </a:xfrm>
          <a:prstGeom prst="rect">
            <a:avLst/>
          </a:prstGeom>
          <a:noFill/>
          <a:ln/>
        </p:spPr>
        <p:txBody>
          <a:bodyPr wrap="square" lIns="0" tIns="0" rIns="0" bIns="0" rtlCol="0" anchor="ctr"/>
          <a:lstStyle/>
          <a:p>
            <a:pPr algn="ctr" indent="0" marL="0">
              <a:buNone/>
            </a:pPr>
            <a:r>
              <a:rPr lang="en-US" sz="1900" dirty="0">
                <a:solidFill>
                  <a:srgbClr val="FFFFFF"/>
                </a:solidFill>
                <a:latin typeface="맑은 고딕" pitchFamily="34" charset="0"/>
                <a:ea typeface="맑은 고딕" pitchFamily="34" charset="-122"/>
                <a:cs typeface="맑은 고딕" pitchFamily="34" charset="-120"/>
              </a:rPr>
              <a:t>점검 주기는 규제로 고정 — 문제는 </a:t>
            </a:r>
            <a:r>
              <a:rPr lang="en-US" sz="1900" b="1" dirty="0">
                <a:solidFill>
                  <a:srgbClr val="F2B48A"/>
                </a:solidFill>
                <a:latin typeface="맑은 고딕" pitchFamily="34" charset="0"/>
                <a:ea typeface="맑은 고딕" pitchFamily="34" charset="-122"/>
                <a:cs typeface="맑은 고딕" pitchFamily="34" charset="-120"/>
              </a:rPr>
              <a:t>어디에 사람과 배를 먼저 보내느냐</a:t>
            </a:r>
            <a:r>
              <a:rPr lang="en-US" sz="1900" dirty="0">
                <a:solidFill>
                  <a:srgbClr val="FFFFFF"/>
                </a:solidFill>
                <a:latin typeface="맑은 고딕" pitchFamily="34" charset="0"/>
                <a:ea typeface="맑은 고딕" pitchFamily="34" charset="-122"/>
                <a:cs typeface="맑은 고딕" pitchFamily="34" charset="-120"/>
              </a:rPr>
              <a:t>입니다</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77724" cy="77724"/>
          </a:xfrm>
          <a:prstGeom prst="ellipse">
            <a:avLst/>
          </a:prstGeom>
          <a:solidFill>
            <a:srgbClr val="1B3A5C"/>
          </a:solidFill>
          <a:ln w="12700">
            <a:solidFill>
              <a:srgbClr val="1B3A5C"/>
            </a:solidFill>
            <a:prstDash val="solid"/>
          </a:ln>
        </p:spPr>
      </p:sp>
      <p:sp>
        <p:nvSpPr>
          <p:cNvPr id="3" name="Shape 1"/>
          <p:cNvSpPr/>
          <p:nvPr/>
        </p:nvSpPr>
        <p:spPr>
          <a:xfrm>
            <a:off x="694944" y="384048"/>
            <a:ext cx="77724" cy="77724"/>
          </a:xfrm>
          <a:prstGeom prst="ellipse">
            <a:avLst/>
          </a:prstGeom>
          <a:solidFill>
            <a:srgbClr val="6F8FB5"/>
          </a:solidFill>
          <a:ln w="12700">
            <a:solidFill>
              <a:srgbClr val="6F8FB5"/>
            </a:solidFill>
            <a:prstDash val="solid"/>
          </a:ln>
        </p:spPr>
      </p:sp>
      <p:sp>
        <p:nvSpPr>
          <p:cNvPr id="4" name="Shape 2"/>
          <p:cNvSpPr/>
          <p:nvPr/>
        </p:nvSpPr>
        <p:spPr>
          <a:xfrm>
            <a:off x="841248" y="384048"/>
            <a:ext cx="77724" cy="77724"/>
          </a:xfrm>
          <a:prstGeom prst="ellipse">
            <a:avLst/>
          </a:prstGeom>
          <a:solidFill>
            <a:srgbClr val="B9CCE0"/>
          </a:solidFill>
          <a:ln w="12700">
            <a:solidFill>
              <a:srgbClr val="B9CCE0"/>
            </a:solidFill>
            <a:prstDash val="solid"/>
          </a:ln>
        </p:spPr>
      </p:sp>
      <p:sp>
        <p:nvSpPr>
          <p:cNvPr id="5" name="Text 3"/>
          <p:cNvSpPr txBox="1"/>
          <p:nvPr/>
        </p:nvSpPr>
        <p:spPr>
          <a:xfrm>
            <a:off x="1097280" y="301752"/>
            <a:ext cx="5486400" cy="256032"/>
          </a:xfrm>
          <a:prstGeom prst="rect">
            <a:avLst/>
          </a:prstGeom>
          <a:noFill/>
          <a:ln/>
        </p:spPr>
        <p:txBody>
          <a:bodyPr wrap="square" lIns="0" tIns="0" rIns="0" bIns="0" rtlCol="0" anchor="t"/>
          <a:lstStyle/>
          <a:p>
            <a:pPr indent="0" marL="0">
              <a:buNone/>
            </a:pPr>
            <a:r>
              <a:rPr lang="en-US" sz="1100" dirty="0">
                <a:solidFill>
                  <a:srgbClr val="1B3A5C"/>
                </a:solidFill>
                <a:latin typeface="맑은 고딕" pitchFamily="34" charset="0"/>
                <a:ea typeface="맑은 고딕" pitchFamily="34" charset="-122"/>
                <a:cs typeface="맑은 고딕" pitchFamily="34" charset="-120"/>
              </a:rPr>
              <a:t>고객 검증(Customer Discovery)</a:t>
            </a:r>
            <a:endParaRPr lang="en-US" sz="1100" dirty="0"/>
          </a:p>
        </p:txBody>
      </p:sp>
      <p:sp>
        <p:nvSpPr>
          <p:cNvPr id="6" name="Text 4"/>
          <p:cNvSpPr txBox="1"/>
          <p:nvPr/>
        </p:nvSpPr>
        <p:spPr>
          <a:xfrm>
            <a:off x="502920" y="621792"/>
            <a:ext cx="914400" cy="685800"/>
          </a:xfrm>
          <a:prstGeom prst="rect">
            <a:avLst/>
          </a:prstGeom>
          <a:noFill/>
          <a:ln/>
        </p:spPr>
        <p:txBody>
          <a:bodyPr wrap="square" lIns="0" tIns="0" rIns="0" bIns="0" rtlCol="0" anchor="ctr"/>
          <a:lstStyle/>
          <a:p>
            <a:pPr indent="0" marL="0">
              <a:buNone/>
            </a:pPr>
            <a:r>
              <a:rPr lang="en-US" sz="4000" b="1" dirty="0">
                <a:solidFill>
                  <a:srgbClr val="B9CCE0"/>
                </a:solidFill>
                <a:latin typeface="맑은 고딕" pitchFamily="34" charset="0"/>
                <a:ea typeface="맑은 고딕" pitchFamily="34" charset="-122"/>
                <a:cs typeface="맑은 고딕" pitchFamily="34" charset="-120"/>
              </a:rPr>
              <a:t>0</a:t>
            </a:r>
            <a:r>
              <a:rPr lang="en-US" sz="4000" b="1" dirty="0">
                <a:solidFill>
                  <a:srgbClr val="1B3A5C"/>
                </a:solidFill>
                <a:latin typeface="맑은 고딕" pitchFamily="34" charset="0"/>
                <a:ea typeface="맑은 고딕" pitchFamily="34" charset="-122"/>
                <a:cs typeface="맑은 고딕" pitchFamily="34" charset="-120"/>
              </a:rPr>
              <a:t>3</a:t>
            </a:r>
            <a:endParaRPr lang="en-US" sz="4000" dirty="0"/>
          </a:p>
        </p:txBody>
      </p:sp>
      <p:sp>
        <p:nvSpPr>
          <p:cNvPr id="7" name="Text 5"/>
          <p:cNvSpPr txBox="1"/>
          <p:nvPr/>
        </p:nvSpPr>
        <p:spPr>
          <a:xfrm>
            <a:off x="1463040" y="621792"/>
            <a:ext cx="9509760" cy="685800"/>
          </a:xfrm>
          <a:prstGeom prst="rect">
            <a:avLst/>
          </a:prstGeom>
          <a:noFill/>
          <a:ln/>
        </p:spPr>
        <p:txBody>
          <a:bodyPr wrap="square" lIns="0" tIns="0" rIns="0" bIns="0" rtlCol="0" anchor="ctr"/>
          <a:lstStyle/>
          <a:p>
            <a:pPr indent="0" marL="0">
              <a:buNone/>
            </a:pPr>
            <a:r>
              <a:rPr lang="en-US" sz="2600" b="1" dirty="0">
                <a:solidFill>
                  <a:srgbClr val="2B2D31"/>
                </a:solidFill>
                <a:latin typeface="맑은 고딕" pitchFamily="34" charset="0"/>
                <a:ea typeface="맑은 고딕" pitchFamily="34" charset="-122"/>
                <a:cs typeface="맑은 고딕" pitchFamily="34" charset="-120"/>
              </a:rPr>
              <a:t>미국 현장 인터뷰 35건으로 찾은 진짜 수요</a:t>
            </a:r>
            <a:endParaRPr lang="en-US" sz="2600" dirty="0"/>
          </a:p>
        </p:txBody>
      </p:sp>
      <p:sp>
        <p:nvSpPr>
          <p:cNvPr id="8" name="Shape 6"/>
          <p:cNvSpPr/>
          <p:nvPr/>
        </p:nvSpPr>
        <p:spPr>
          <a:xfrm>
            <a:off x="11259007" y="384048"/>
            <a:ext cx="77724" cy="77724"/>
          </a:xfrm>
          <a:prstGeom prst="ellipse">
            <a:avLst/>
          </a:prstGeom>
          <a:solidFill>
            <a:srgbClr val="B9CCE0"/>
          </a:solidFill>
          <a:ln w="12700">
            <a:solidFill>
              <a:srgbClr val="B9CCE0"/>
            </a:solidFill>
            <a:prstDash val="solid"/>
          </a:ln>
        </p:spPr>
      </p:sp>
      <p:sp>
        <p:nvSpPr>
          <p:cNvPr id="9" name="Shape 7"/>
          <p:cNvSpPr/>
          <p:nvPr/>
        </p:nvSpPr>
        <p:spPr>
          <a:xfrm>
            <a:off x="11405311" y="384048"/>
            <a:ext cx="77724" cy="77724"/>
          </a:xfrm>
          <a:prstGeom prst="ellipse">
            <a:avLst/>
          </a:prstGeom>
          <a:solidFill>
            <a:srgbClr val="6F8FB5"/>
          </a:solidFill>
          <a:ln w="12700">
            <a:solidFill>
              <a:srgbClr val="6F8FB5"/>
            </a:solidFill>
            <a:prstDash val="solid"/>
          </a:ln>
        </p:spPr>
      </p:sp>
      <p:sp>
        <p:nvSpPr>
          <p:cNvPr id="10" name="Shape 8"/>
          <p:cNvSpPr/>
          <p:nvPr/>
        </p:nvSpPr>
        <p:spPr>
          <a:xfrm>
            <a:off x="11551615" y="384048"/>
            <a:ext cx="77724" cy="77724"/>
          </a:xfrm>
          <a:prstGeom prst="ellipse">
            <a:avLst/>
          </a:prstGeom>
          <a:solidFill>
            <a:srgbClr val="1B3A5C"/>
          </a:solidFill>
          <a:ln w="12700">
            <a:solidFill>
              <a:srgbClr val="1B3A5C"/>
            </a:solidFill>
            <a:prstDash val="solid"/>
          </a:ln>
        </p:spPr>
      </p:sp>
      <p:sp>
        <p:nvSpPr>
          <p:cNvPr id="11" name="Shape 9"/>
          <p:cNvSpPr/>
          <p:nvPr/>
        </p:nvSpPr>
        <p:spPr>
          <a:xfrm>
            <a:off x="11185855" y="786384"/>
            <a:ext cx="0" cy="310896"/>
          </a:xfrm>
          <a:prstGeom prst="line">
            <a:avLst/>
          </a:prstGeom>
          <a:noFill/>
          <a:ln w="12700">
            <a:solidFill>
              <a:srgbClr val="D9DCE0"/>
            </a:solidFill>
            <a:prstDash val="solid"/>
          </a:ln>
        </p:spPr>
      </p:sp>
      <p:sp>
        <p:nvSpPr>
          <p:cNvPr id="12" name="Text 10"/>
          <p:cNvSpPr txBox="1"/>
          <p:nvPr/>
        </p:nvSpPr>
        <p:spPr>
          <a:xfrm>
            <a:off x="11259007" y="786384"/>
            <a:ext cx="384048" cy="310896"/>
          </a:xfrm>
          <a:prstGeom prst="rect">
            <a:avLst/>
          </a:prstGeom>
          <a:noFill/>
          <a:ln/>
        </p:spPr>
        <p:txBody>
          <a:bodyPr wrap="square" lIns="0" tIns="0" rIns="0" bIns="0" rtlCol="0" anchor="ctr"/>
          <a:lstStyle/>
          <a:p>
            <a:pPr algn="r" indent="0" marL="0">
              <a:buNone/>
            </a:pPr>
            <a:r>
              <a:rPr lang="en-US" sz="1200" b="1" dirty="0">
                <a:solidFill>
                  <a:srgbClr val="1B3A5C"/>
                </a:solidFill>
                <a:latin typeface="맑은 고딕" pitchFamily="34" charset="0"/>
                <a:ea typeface="맑은 고딕" pitchFamily="34" charset="-122"/>
                <a:cs typeface="맑은 고딕" pitchFamily="34" charset="-120"/>
              </a:rPr>
              <a:t>4</a:t>
            </a:r>
            <a:endParaRPr lang="en-US" sz="1200" dirty="0"/>
          </a:p>
        </p:txBody>
      </p:sp>
      <p:sp>
        <p:nvSpPr>
          <p:cNvPr id="13" name="Shape 11"/>
          <p:cNvSpPr/>
          <p:nvPr/>
        </p:nvSpPr>
        <p:spPr>
          <a:xfrm>
            <a:off x="548640" y="1554480"/>
            <a:ext cx="5074920" cy="2331720"/>
          </a:xfrm>
          <a:prstGeom prst="roundRect">
            <a:avLst>
              <a:gd name="adj" fmla="val 3137"/>
            </a:avLst>
          </a:prstGeom>
          <a:solidFill>
            <a:srgbClr val="F3F5F8"/>
          </a:solidFill>
          <a:ln w="12700">
            <a:solidFill>
              <a:srgbClr val="F3F5F8"/>
            </a:solidFill>
            <a:prstDash val="solid"/>
          </a:ln>
        </p:spPr>
      </p:sp>
      <p:sp>
        <p:nvSpPr>
          <p:cNvPr id="14" name="Shape 12"/>
          <p:cNvSpPr/>
          <p:nvPr/>
        </p:nvSpPr>
        <p:spPr>
          <a:xfrm>
            <a:off x="868680" y="1828800"/>
            <a:ext cx="1371600" cy="292608"/>
          </a:xfrm>
          <a:prstGeom prst="roundRect">
            <a:avLst>
              <a:gd name="adj" fmla="val 50000"/>
            </a:avLst>
          </a:prstGeom>
          <a:solidFill>
            <a:srgbClr val="A3A7AD"/>
          </a:solidFill>
          <a:ln w="12700">
            <a:solidFill>
              <a:srgbClr val="A3A7AD"/>
            </a:solidFill>
            <a:prstDash val="solid"/>
          </a:ln>
        </p:spPr>
      </p:sp>
      <p:sp>
        <p:nvSpPr>
          <p:cNvPr id="15" name="Text 13"/>
          <p:cNvSpPr txBox="1"/>
          <p:nvPr/>
        </p:nvSpPr>
        <p:spPr>
          <a:xfrm>
            <a:off x="868680" y="1828800"/>
            <a:ext cx="137160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처음 가설</a:t>
            </a:r>
            <a:endParaRPr lang="en-US" sz="1200" dirty="0"/>
          </a:p>
        </p:txBody>
      </p:sp>
      <p:sp>
        <p:nvSpPr>
          <p:cNvPr id="16" name="Text 14"/>
          <p:cNvSpPr txBox="1"/>
          <p:nvPr/>
        </p:nvSpPr>
        <p:spPr>
          <a:xfrm>
            <a:off x="868680" y="2286000"/>
            <a:ext cx="4434840" cy="822960"/>
          </a:xfrm>
          <a:prstGeom prst="rect">
            <a:avLst/>
          </a:prstGeom>
          <a:noFill/>
          <a:ln/>
        </p:spPr>
        <p:txBody>
          <a:bodyPr wrap="square" lIns="0" tIns="0" rIns="0" bIns="0" rtlCol="0" anchor="t"/>
          <a:lstStyle/>
          <a:p>
            <a:pPr indent="0" marL="0">
              <a:buNone/>
            </a:pPr>
            <a:r>
              <a:rPr lang="en-US" sz="1800" b="1" dirty="0">
                <a:solidFill>
                  <a:srgbClr val="6B6F76"/>
                </a:solidFill>
                <a:latin typeface="맑은 고딕" pitchFamily="34" charset="0"/>
                <a:ea typeface="맑은 고딕" pitchFamily="34" charset="-122"/>
                <a:cs typeface="맑은 고딕" pitchFamily="34" charset="-120"/>
              </a:rPr>
              <a:t>검사원마다 부식 판단이 달라</a:t>
            </a:r>
            <a:endParaRPr lang="en-US" sz="1800" dirty="0"/>
          </a:p>
          <a:p>
            <a:pPr indent="0" marL="0">
              <a:buNone/>
            </a:pPr>
            <a:r>
              <a:rPr lang="en-US" sz="1800" b="1" dirty="0">
                <a:solidFill>
                  <a:srgbClr val="6B6F76"/>
                </a:solidFill>
                <a:latin typeface="맑은 고딕" pitchFamily="34" charset="0"/>
                <a:ea typeface="맑은 고딕" pitchFamily="34" charset="-122"/>
                <a:cs typeface="맑은 고딕" pitchFamily="34" charset="-120"/>
              </a:rPr>
              <a:t>'판단 보정' 도구가 필요하다</a:t>
            </a:r>
            <a:endParaRPr lang="en-US" sz="1800" dirty="0"/>
          </a:p>
        </p:txBody>
      </p:sp>
      <p:sp>
        <p:nvSpPr>
          <p:cNvPr id="17" name="Shape 15"/>
          <p:cNvSpPr/>
          <p:nvPr/>
        </p:nvSpPr>
        <p:spPr>
          <a:xfrm>
            <a:off x="868680" y="3246120"/>
            <a:ext cx="438912" cy="438912"/>
          </a:xfrm>
          <a:prstGeom prst="ellipse">
            <a:avLst/>
          </a:prstGeom>
          <a:solidFill>
            <a:srgbClr val="B23A2E"/>
          </a:solidFill>
          <a:ln w="12700">
            <a:solidFill>
              <a:srgbClr val="B23A2E"/>
            </a:solidFill>
            <a:prstDash val="solid"/>
          </a:ln>
        </p:spPr>
      </p:sp>
      <p:pic>
        <p:nvPicPr>
          <p:cNvPr id="18" name="Image 0" descr="preencoded.png">    </p:cNvPr>
          <p:cNvPicPr>
            <a:picLocks noChangeAspect="1"/>
          </p:cNvPicPr>
          <p:nvPr/>
        </p:nvPicPr>
        <p:blipFill>
          <a:blip r:embed="rId1"/>
          <a:stretch>
            <a:fillRect/>
          </a:stretch>
        </p:blipFill>
        <p:spPr>
          <a:xfrm>
            <a:off x="982797" y="3360237"/>
            <a:ext cx="210678" cy="210678"/>
          </a:xfrm>
          <a:prstGeom prst="rect">
            <a:avLst/>
          </a:prstGeom>
        </p:spPr>
      </p:pic>
      <p:sp>
        <p:nvSpPr>
          <p:cNvPr id="19" name="Text 16"/>
          <p:cNvSpPr txBox="1"/>
          <p:nvPr/>
        </p:nvSpPr>
        <p:spPr>
          <a:xfrm>
            <a:off x="1463040" y="3246120"/>
            <a:ext cx="3886200" cy="438912"/>
          </a:xfrm>
          <a:prstGeom prst="rect">
            <a:avLst/>
          </a:prstGeom>
          <a:noFill/>
          <a:ln/>
        </p:spPr>
        <p:txBody>
          <a:bodyPr wrap="square" lIns="0" tIns="0" rIns="0" bIns="0" rtlCol="0" anchor="ctr"/>
          <a:lstStyle/>
          <a:p>
            <a:pPr indent="0" marL="0">
              <a:buNone/>
            </a:pPr>
            <a:r>
              <a:rPr lang="en-US" sz="1400" b="1" dirty="0">
                <a:solidFill>
                  <a:srgbClr val="B23A2E"/>
                </a:solidFill>
                <a:latin typeface="맑은 고딕" pitchFamily="34" charset="0"/>
                <a:ea typeface="맑은 고딕" pitchFamily="34" charset="-122"/>
                <a:cs typeface="맑은 고딕" pitchFamily="34" charset="-120"/>
              </a:rPr>
              <a:t>기각  </a:t>
            </a:r>
            <a:r>
              <a:rPr lang="en-US" sz="1400" dirty="0">
                <a:solidFill>
                  <a:srgbClr val="2B2D31"/>
                </a:solidFill>
                <a:latin typeface="맑은 고딕" pitchFamily="34" charset="0"/>
                <a:ea typeface="맑은 고딕" pitchFamily="34" charset="-122"/>
                <a:cs typeface="맑은 고딕" pitchFamily="34" charset="-120"/>
              </a:rPr>
              <a:t>사내 매뉴얼과 인증 시험으로 이미 해결됨</a:t>
            </a:r>
            <a:endParaRPr lang="en-US" sz="1400" dirty="0"/>
          </a:p>
        </p:txBody>
      </p:sp>
      <p:pic>
        <p:nvPicPr>
          <p:cNvPr id="20" name="Image 1" descr="preencoded.png">    </p:cNvPr>
          <p:cNvPicPr>
            <a:picLocks noChangeAspect="1"/>
          </p:cNvPicPr>
          <p:nvPr/>
        </p:nvPicPr>
        <p:blipFill>
          <a:blip r:embed="rId2"/>
          <a:stretch>
            <a:fillRect/>
          </a:stretch>
        </p:blipFill>
        <p:spPr>
          <a:xfrm>
            <a:off x="5779008" y="2491740"/>
            <a:ext cx="457200" cy="457200"/>
          </a:xfrm>
          <a:prstGeom prst="rect">
            <a:avLst/>
          </a:prstGeom>
        </p:spPr>
      </p:pic>
      <p:sp>
        <p:nvSpPr>
          <p:cNvPr id="21" name="Shape 17"/>
          <p:cNvSpPr/>
          <p:nvPr/>
        </p:nvSpPr>
        <p:spPr>
          <a:xfrm>
            <a:off x="6400800" y="1554480"/>
            <a:ext cx="5242255" cy="2331720"/>
          </a:xfrm>
          <a:prstGeom prst="roundRect">
            <a:avLst>
              <a:gd name="adj" fmla="val 3137"/>
            </a:avLst>
          </a:prstGeom>
          <a:solidFill>
            <a:srgbClr val="FBEDE4"/>
          </a:solidFill>
          <a:ln w="12700">
            <a:solidFill>
              <a:srgbClr val="B5501F"/>
            </a:solidFill>
            <a:prstDash val="solid"/>
          </a:ln>
        </p:spPr>
      </p:sp>
      <p:sp>
        <p:nvSpPr>
          <p:cNvPr id="22" name="Shape 18"/>
          <p:cNvSpPr/>
          <p:nvPr/>
        </p:nvSpPr>
        <p:spPr>
          <a:xfrm>
            <a:off x="6720840" y="1828800"/>
            <a:ext cx="1737360" cy="292608"/>
          </a:xfrm>
          <a:prstGeom prst="roundRect">
            <a:avLst>
              <a:gd name="adj" fmla="val 50000"/>
            </a:avLst>
          </a:prstGeom>
          <a:solidFill>
            <a:srgbClr val="B5501F"/>
          </a:solidFill>
          <a:ln w="12700">
            <a:solidFill>
              <a:srgbClr val="B5501F"/>
            </a:solidFill>
            <a:prstDash val="solid"/>
          </a:ln>
        </p:spPr>
      </p:sp>
      <p:sp>
        <p:nvSpPr>
          <p:cNvPr id="23" name="Text 19"/>
          <p:cNvSpPr txBox="1"/>
          <p:nvPr/>
        </p:nvSpPr>
        <p:spPr>
          <a:xfrm>
            <a:off x="6720840" y="1828800"/>
            <a:ext cx="173736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현장이 원한 것</a:t>
            </a:r>
            <a:endParaRPr lang="en-US" sz="1200" dirty="0"/>
          </a:p>
        </p:txBody>
      </p:sp>
      <p:sp>
        <p:nvSpPr>
          <p:cNvPr id="24" name="Text 20"/>
          <p:cNvSpPr txBox="1"/>
          <p:nvPr/>
        </p:nvSpPr>
        <p:spPr>
          <a:xfrm>
            <a:off x="6720840" y="2286000"/>
            <a:ext cx="4693615" cy="822960"/>
          </a:xfrm>
          <a:prstGeom prst="rect">
            <a:avLst/>
          </a:prstGeom>
          <a:noFill/>
          <a:ln/>
        </p:spPr>
        <p:txBody>
          <a:bodyPr wrap="square" lIns="0" tIns="0" rIns="0" bIns="0" rtlCol="0" anchor="t"/>
          <a:lstStyle/>
          <a:p>
            <a:pPr indent="0" marL="0">
              <a:buNone/>
            </a:pPr>
            <a:r>
              <a:rPr lang="en-US" sz="1800" b="1" dirty="0">
                <a:solidFill>
                  <a:srgbClr val="2B2D31"/>
                </a:solidFill>
                <a:latin typeface="맑은 고딕" pitchFamily="34" charset="0"/>
                <a:ea typeface="맑은 고딕" pitchFamily="34" charset="-122"/>
                <a:cs typeface="맑은 고딕" pitchFamily="34" charset="-120"/>
              </a:rPr>
              <a:t>접근이 어려운 곳을 드론으로 먼저 훑어</a:t>
            </a:r>
            <a:endParaRPr lang="en-US" sz="1800" dirty="0"/>
          </a:p>
          <a:p>
            <a:pPr indent="0" marL="0">
              <a:buNone/>
            </a:pPr>
            <a:r>
              <a:rPr lang="en-US" sz="1800" b="1" dirty="0">
                <a:solidFill>
                  <a:srgbClr val="2B2D31"/>
                </a:solidFill>
                <a:latin typeface="맑은 고딕" pitchFamily="34" charset="0"/>
                <a:ea typeface="맑은 고딕" pitchFamily="34" charset="-122"/>
                <a:cs typeface="맑은 고딕" pitchFamily="34" charset="-120"/>
              </a:rPr>
              <a:t>점검할 곳의 우선순위를 정해 달라</a:t>
            </a:r>
            <a:endParaRPr lang="en-US" sz="1800" dirty="0"/>
          </a:p>
        </p:txBody>
      </p:sp>
      <p:sp>
        <p:nvSpPr>
          <p:cNvPr id="25" name="Shape 21"/>
          <p:cNvSpPr/>
          <p:nvPr/>
        </p:nvSpPr>
        <p:spPr>
          <a:xfrm>
            <a:off x="6720840" y="3246120"/>
            <a:ext cx="438912" cy="438912"/>
          </a:xfrm>
          <a:prstGeom prst="ellipse">
            <a:avLst/>
          </a:prstGeom>
          <a:solidFill>
            <a:srgbClr val="3C8D5A"/>
          </a:solidFill>
          <a:ln w="12700">
            <a:solidFill>
              <a:srgbClr val="3C8D5A"/>
            </a:solidFill>
            <a:prstDash val="solid"/>
          </a:ln>
        </p:spPr>
      </p:sp>
      <p:pic>
        <p:nvPicPr>
          <p:cNvPr id="26" name="Image 2" descr="preencoded.png">    </p:cNvPr>
          <p:cNvPicPr>
            <a:picLocks noChangeAspect="1"/>
          </p:cNvPicPr>
          <p:nvPr/>
        </p:nvPicPr>
        <p:blipFill>
          <a:blip r:embed="rId3"/>
          <a:stretch>
            <a:fillRect/>
          </a:stretch>
        </p:blipFill>
        <p:spPr>
          <a:xfrm>
            <a:off x="6834957" y="3360237"/>
            <a:ext cx="210678" cy="210678"/>
          </a:xfrm>
          <a:prstGeom prst="rect">
            <a:avLst/>
          </a:prstGeom>
        </p:spPr>
      </p:pic>
      <p:sp>
        <p:nvSpPr>
          <p:cNvPr id="27" name="Text 22"/>
          <p:cNvSpPr txBox="1"/>
          <p:nvPr/>
        </p:nvSpPr>
        <p:spPr>
          <a:xfrm>
            <a:off x="7315200" y="3246120"/>
            <a:ext cx="4053535" cy="438912"/>
          </a:xfrm>
          <a:prstGeom prst="rect">
            <a:avLst/>
          </a:prstGeom>
          <a:noFill/>
          <a:ln/>
        </p:spPr>
        <p:txBody>
          <a:bodyPr wrap="square" lIns="0" tIns="0" rIns="0" bIns="0" rtlCol="0" anchor="ctr"/>
          <a:lstStyle/>
          <a:p>
            <a:pPr indent="0" marL="0">
              <a:buNone/>
            </a:pPr>
            <a:r>
              <a:rPr lang="en-US" sz="1400" b="1" dirty="0">
                <a:solidFill>
                  <a:srgbClr val="3C8D5A"/>
                </a:solidFill>
                <a:latin typeface="맑은 고딕" pitchFamily="34" charset="0"/>
                <a:ea typeface="맑은 고딕" pitchFamily="34" charset="-122"/>
                <a:cs typeface="맑은 고딕" pitchFamily="34" charset="-120"/>
              </a:rPr>
              <a:t>검증  </a:t>
            </a:r>
            <a:r>
              <a:rPr lang="en-US" sz="1400" dirty="0">
                <a:solidFill>
                  <a:srgbClr val="2B2D31"/>
                </a:solidFill>
                <a:latin typeface="맑은 고딕" pitchFamily="34" charset="0"/>
                <a:ea typeface="맑은 고딕" pitchFamily="34" charset="-122"/>
                <a:cs typeface="맑은 고딕" pitchFamily="34" charset="-120"/>
              </a:rPr>
              <a:t>리프트 · 로프 액세스 · 선박 일수 절감</a:t>
            </a:r>
            <a:endParaRPr lang="en-US" sz="1400" dirty="0"/>
          </a:p>
        </p:txBody>
      </p:sp>
      <p:sp>
        <p:nvSpPr>
          <p:cNvPr id="28" name="Text 23"/>
          <p:cNvSpPr txBox="1"/>
          <p:nvPr/>
        </p:nvSpPr>
        <p:spPr>
          <a:xfrm>
            <a:off x="548640" y="4160520"/>
            <a:ext cx="2636444" cy="685800"/>
          </a:xfrm>
          <a:prstGeom prst="rect">
            <a:avLst/>
          </a:prstGeom>
          <a:noFill/>
          <a:ln/>
        </p:spPr>
        <p:txBody>
          <a:bodyPr wrap="square" lIns="0" tIns="0" rIns="0" bIns="0" rtlCol="0" anchor="ctr"/>
          <a:lstStyle/>
          <a:p>
            <a:pPr indent="0" marL="0">
              <a:buNone/>
            </a:pPr>
            <a:r>
              <a:rPr lang="en-US" sz="3200" b="1" dirty="0">
                <a:solidFill>
                  <a:srgbClr val="1B3A5C"/>
                </a:solidFill>
                <a:latin typeface="맑은 고딕" pitchFamily="34" charset="0"/>
                <a:ea typeface="맑은 고딕" pitchFamily="34" charset="-122"/>
                <a:cs typeface="맑은 고딕" pitchFamily="34" charset="-120"/>
              </a:rPr>
              <a:t>35건</a:t>
            </a:r>
            <a:endParaRPr lang="en-US" sz="3200" dirty="0"/>
          </a:p>
        </p:txBody>
      </p:sp>
      <p:sp>
        <p:nvSpPr>
          <p:cNvPr id="29" name="Text 24"/>
          <p:cNvSpPr txBox="1"/>
          <p:nvPr/>
        </p:nvSpPr>
        <p:spPr>
          <a:xfrm>
            <a:off x="548640" y="4846320"/>
            <a:ext cx="2636444" cy="594360"/>
          </a:xfrm>
          <a:prstGeom prst="rect">
            <a:avLst/>
          </a:prstGeom>
          <a:noFill/>
          <a:ln/>
        </p:spPr>
        <p:txBody>
          <a:bodyPr wrap="square" lIns="0" tIns="0" rIns="0" bIns="0" rtlCol="0" anchor="t"/>
          <a:lstStyle/>
          <a:p>
            <a:pPr indent="0" marL="0">
              <a:buNone/>
            </a:pPr>
            <a:r>
              <a:rPr lang="en-US" sz="1300" dirty="0">
                <a:solidFill>
                  <a:srgbClr val="2B2D31"/>
                </a:solidFill>
                <a:latin typeface="맑은 고딕" pitchFamily="34" charset="0"/>
                <a:ea typeface="맑은 고딕" pitchFamily="34" charset="-122"/>
                <a:cs typeface="맑은 고딕" pitchFamily="34" charset="-120"/>
              </a:rPr>
              <a:t>미국 고객 인터뷰</a:t>
            </a:r>
            <a:endParaRPr lang="en-US" sz="1300" dirty="0"/>
          </a:p>
          <a:p>
            <a:pPr indent="0" marL="0">
              <a:buNone/>
            </a:pPr>
            <a:r>
              <a:rPr lang="en-US" sz="1300" dirty="0">
                <a:solidFill>
                  <a:srgbClr val="2B2D31"/>
                </a:solidFill>
                <a:latin typeface="맑은 고딕" pitchFamily="34" charset="0"/>
                <a:ea typeface="맑은 고딕" pitchFamily="34" charset="-122"/>
                <a:cs typeface="맑은 고딕" pitchFamily="34" charset="-120"/>
              </a:rPr>
              <a:t>대면 24 · 화상 11 (2026.7)</a:t>
            </a:r>
            <a:endParaRPr lang="en-US" sz="1300" dirty="0"/>
          </a:p>
        </p:txBody>
      </p:sp>
      <p:sp>
        <p:nvSpPr>
          <p:cNvPr id="30" name="Text 25"/>
          <p:cNvSpPr txBox="1"/>
          <p:nvPr/>
        </p:nvSpPr>
        <p:spPr>
          <a:xfrm>
            <a:off x="3367964" y="4160520"/>
            <a:ext cx="2636444" cy="685800"/>
          </a:xfrm>
          <a:prstGeom prst="rect">
            <a:avLst/>
          </a:prstGeom>
          <a:noFill/>
          <a:ln/>
        </p:spPr>
        <p:txBody>
          <a:bodyPr wrap="square" lIns="0" tIns="0" rIns="0" bIns="0" rtlCol="0" anchor="ctr"/>
          <a:lstStyle/>
          <a:p>
            <a:pPr indent="0" marL="0">
              <a:buNone/>
            </a:pPr>
            <a:r>
              <a:rPr lang="en-US" sz="3200" b="1" dirty="0">
                <a:solidFill>
                  <a:srgbClr val="6B6F76"/>
                </a:solidFill>
                <a:latin typeface="맑은 고딕" pitchFamily="34" charset="0"/>
                <a:ea typeface="맑은 고딕" pitchFamily="34" charset="-122"/>
                <a:cs typeface="맑은 고딕" pitchFamily="34" charset="-120"/>
              </a:rPr>
              <a:t>11 / 11</a:t>
            </a:r>
            <a:endParaRPr lang="en-US" sz="3200" dirty="0"/>
          </a:p>
        </p:txBody>
      </p:sp>
      <p:sp>
        <p:nvSpPr>
          <p:cNvPr id="31" name="Text 26"/>
          <p:cNvSpPr txBox="1"/>
          <p:nvPr/>
        </p:nvSpPr>
        <p:spPr>
          <a:xfrm>
            <a:off x="3367964" y="4846320"/>
            <a:ext cx="2636444" cy="594360"/>
          </a:xfrm>
          <a:prstGeom prst="rect">
            <a:avLst/>
          </a:prstGeom>
          <a:noFill/>
          <a:ln/>
        </p:spPr>
        <p:txBody>
          <a:bodyPr wrap="square" lIns="0" tIns="0" rIns="0" bIns="0" rtlCol="0" anchor="t"/>
          <a:lstStyle/>
          <a:p>
            <a:pPr indent="0" marL="0">
              <a:buNone/>
            </a:pPr>
            <a:r>
              <a:rPr lang="en-US" sz="1300" dirty="0">
                <a:solidFill>
                  <a:srgbClr val="2B2D31"/>
                </a:solidFill>
                <a:latin typeface="맑은 고딕" pitchFamily="34" charset="0"/>
                <a:ea typeface="맑은 고딕" pitchFamily="34" charset="-122"/>
                <a:cs typeface="맑은 고딕" pitchFamily="34" charset="-120"/>
              </a:rPr>
              <a:t>현장 인력 모두</a:t>
            </a:r>
            <a:endParaRPr lang="en-US" sz="1300" dirty="0"/>
          </a:p>
          <a:p>
            <a:pPr indent="0" marL="0">
              <a:buNone/>
            </a:pPr>
            <a:r>
              <a:rPr lang="en-US" sz="1300" dirty="0">
                <a:solidFill>
                  <a:srgbClr val="2B2D31"/>
                </a:solidFill>
                <a:latin typeface="맑은 고딕" pitchFamily="34" charset="0"/>
                <a:ea typeface="맑은 고딕" pitchFamily="34" charset="-122"/>
                <a:cs typeface="맑은 고딕" pitchFamily="34" charset="-120"/>
              </a:rPr>
              <a:t>'판단 보정' 가설 기각</a:t>
            </a:r>
            <a:endParaRPr lang="en-US" sz="1300" dirty="0"/>
          </a:p>
        </p:txBody>
      </p:sp>
      <p:sp>
        <p:nvSpPr>
          <p:cNvPr id="32" name="Text 27"/>
          <p:cNvSpPr txBox="1"/>
          <p:nvPr/>
        </p:nvSpPr>
        <p:spPr>
          <a:xfrm>
            <a:off x="6187288" y="4160520"/>
            <a:ext cx="2636444" cy="685800"/>
          </a:xfrm>
          <a:prstGeom prst="rect">
            <a:avLst/>
          </a:prstGeom>
          <a:noFill/>
          <a:ln/>
        </p:spPr>
        <p:txBody>
          <a:bodyPr wrap="square" lIns="0" tIns="0" rIns="0" bIns="0" rtlCol="0" anchor="ctr"/>
          <a:lstStyle/>
          <a:p>
            <a:pPr indent="0" marL="0">
              <a:buNone/>
            </a:pPr>
            <a:r>
              <a:rPr lang="en-US" sz="3200" b="1" dirty="0">
                <a:solidFill>
                  <a:srgbClr val="B5501F"/>
                </a:solidFill>
                <a:latin typeface="맑은 고딕" pitchFamily="34" charset="0"/>
                <a:ea typeface="맑은 고딕" pitchFamily="34" charset="-122"/>
                <a:cs typeface="맑은 고딕" pitchFamily="34" charset="-120"/>
              </a:rPr>
              <a:t>10 / 11</a:t>
            </a:r>
            <a:endParaRPr lang="en-US" sz="3200" dirty="0"/>
          </a:p>
        </p:txBody>
      </p:sp>
      <p:sp>
        <p:nvSpPr>
          <p:cNvPr id="33" name="Text 28"/>
          <p:cNvSpPr txBox="1"/>
          <p:nvPr/>
        </p:nvSpPr>
        <p:spPr>
          <a:xfrm>
            <a:off x="6187288" y="4846320"/>
            <a:ext cx="2636444" cy="594360"/>
          </a:xfrm>
          <a:prstGeom prst="rect">
            <a:avLst/>
          </a:prstGeom>
          <a:noFill/>
          <a:ln/>
        </p:spPr>
        <p:txBody>
          <a:bodyPr wrap="square" lIns="0" tIns="0" rIns="0" bIns="0" rtlCol="0" anchor="t"/>
          <a:lstStyle/>
          <a:p>
            <a:pPr indent="0" marL="0">
              <a:buNone/>
            </a:pPr>
            <a:r>
              <a:rPr lang="en-US" sz="1300" dirty="0">
                <a:solidFill>
                  <a:srgbClr val="2B2D31"/>
                </a:solidFill>
                <a:latin typeface="맑은 고딕" pitchFamily="34" charset="0"/>
                <a:ea typeface="맑은 고딕" pitchFamily="34" charset="-122"/>
                <a:cs typeface="맑은 고딕" pitchFamily="34" charset="-120"/>
              </a:rPr>
              <a:t>현장 인력이 '드론 사전 스캔'</a:t>
            </a:r>
            <a:endParaRPr lang="en-US" sz="1300" dirty="0"/>
          </a:p>
          <a:p>
            <a:pPr indent="0" marL="0">
              <a:buNone/>
            </a:pPr>
            <a:r>
              <a:rPr lang="en-US" sz="1300" dirty="0">
                <a:solidFill>
                  <a:srgbClr val="2B2D31"/>
                </a:solidFill>
                <a:latin typeface="맑은 고딕" pitchFamily="34" charset="0"/>
                <a:ea typeface="맑은 고딕" pitchFamily="34" charset="-122"/>
                <a:cs typeface="맑은 고딕" pitchFamily="34" charset="-120"/>
              </a:rPr>
              <a:t>필요성에 공감</a:t>
            </a:r>
            <a:endParaRPr lang="en-US" sz="1300" dirty="0"/>
          </a:p>
        </p:txBody>
      </p:sp>
      <p:sp>
        <p:nvSpPr>
          <p:cNvPr id="34" name="Text 29"/>
          <p:cNvSpPr txBox="1"/>
          <p:nvPr/>
        </p:nvSpPr>
        <p:spPr>
          <a:xfrm>
            <a:off x="9006611" y="4160520"/>
            <a:ext cx="2636444" cy="685800"/>
          </a:xfrm>
          <a:prstGeom prst="rect">
            <a:avLst/>
          </a:prstGeom>
          <a:noFill/>
          <a:ln/>
        </p:spPr>
        <p:txBody>
          <a:bodyPr wrap="square" lIns="0" tIns="0" rIns="0" bIns="0" rtlCol="0" anchor="ctr"/>
          <a:lstStyle/>
          <a:p>
            <a:pPr indent="0" marL="0">
              <a:buNone/>
            </a:pPr>
            <a:r>
              <a:rPr lang="en-US" sz="3200" b="1" dirty="0">
                <a:solidFill>
                  <a:srgbClr val="B5501F"/>
                </a:solidFill>
                <a:latin typeface="맑은 고딕" pitchFamily="34" charset="0"/>
                <a:ea typeface="맑은 고딕" pitchFamily="34" charset="-122"/>
                <a:cs typeface="맑은 고딕" pitchFamily="34" charset="-120"/>
              </a:rPr>
              <a:t>5 / 5</a:t>
            </a:r>
            <a:endParaRPr lang="en-US" sz="3200" dirty="0"/>
          </a:p>
        </p:txBody>
      </p:sp>
      <p:sp>
        <p:nvSpPr>
          <p:cNvPr id="35" name="Text 30"/>
          <p:cNvSpPr txBox="1"/>
          <p:nvPr/>
        </p:nvSpPr>
        <p:spPr>
          <a:xfrm>
            <a:off x="9006611" y="4846320"/>
            <a:ext cx="2636444" cy="594360"/>
          </a:xfrm>
          <a:prstGeom prst="rect">
            <a:avLst/>
          </a:prstGeom>
          <a:noFill/>
          <a:ln/>
        </p:spPr>
        <p:txBody>
          <a:bodyPr wrap="square" lIns="0" tIns="0" rIns="0" bIns="0" rtlCol="0" anchor="t"/>
          <a:lstStyle/>
          <a:p>
            <a:pPr indent="0" marL="0">
              <a:buNone/>
            </a:pPr>
            <a:r>
              <a:rPr lang="en-US" sz="1300" dirty="0">
                <a:solidFill>
                  <a:srgbClr val="2B2D31"/>
                </a:solidFill>
                <a:latin typeface="맑은 고딕" pitchFamily="34" charset="0"/>
                <a:ea typeface="맑은 고딕" pitchFamily="34" charset="-122"/>
                <a:cs typeface="맑은 고딕" pitchFamily="34" charset="-120"/>
              </a:rPr>
              <a:t>의사결정권자 관심</a:t>
            </a:r>
            <a:endParaRPr lang="en-US" sz="1300" dirty="0"/>
          </a:p>
          <a:p>
            <a:pPr indent="0" marL="0">
              <a:buNone/>
            </a:pPr>
            <a:r>
              <a:rPr lang="en-US" sz="1300" dirty="0">
                <a:solidFill>
                  <a:srgbClr val="2B2D31"/>
                </a:solidFill>
                <a:latin typeface="맑은 고딕" pitchFamily="34" charset="0"/>
                <a:ea typeface="맑은 고딕" pitchFamily="34" charset="-122"/>
                <a:cs typeface="맑은 고딕" pitchFamily="34" charset="-120"/>
              </a:rPr>
              <a:t>파일럿 조건까지 제시</a:t>
            </a:r>
            <a:endParaRPr lang="en-US" sz="1300" dirty="0"/>
          </a:p>
        </p:txBody>
      </p:sp>
      <p:sp>
        <p:nvSpPr>
          <p:cNvPr id="36" name="Text 31"/>
          <p:cNvSpPr txBox="1"/>
          <p:nvPr/>
        </p:nvSpPr>
        <p:spPr>
          <a:xfrm>
            <a:off x="548640" y="5623560"/>
            <a:ext cx="11094415" cy="274320"/>
          </a:xfrm>
          <a:prstGeom prst="rect">
            <a:avLst/>
          </a:prstGeom>
          <a:noFill/>
          <a:ln/>
        </p:spPr>
        <p:txBody>
          <a:bodyPr wrap="square" lIns="0" tIns="0" rIns="0" bIns="0" rtlCol="0" anchor="t"/>
          <a:lstStyle/>
          <a:p>
            <a:pPr indent="0" marL="0">
              <a:buNone/>
            </a:pPr>
            <a:r>
              <a:rPr lang="en-US" sz="1050" dirty="0">
                <a:solidFill>
                  <a:srgbClr val="A3A7AD"/>
                </a:solidFill>
                <a:latin typeface="맑은 고딕" pitchFamily="34" charset="0"/>
                <a:ea typeface="맑은 고딕" pitchFamily="34" charset="-122"/>
                <a:cs typeface="맑은 고딕" pitchFamily="34" charset="-120"/>
              </a:rPr>
              <a:t>현장 인력 = MISTRAS · Williams 부식 엔지니어 · 검사원 11명 / 의사결정권자 = 해양 · 에너지 분야 CEO · 대표 5명</a:t>
            </a:r>
            <a:endParaRPr lang="en-US" sz="1050" dirty="0"/>
          </a:p>
        </p:txBody>
      </p:sp>
      <p:sp>
        <p:nvSpPr>
          <p:cNvPr id="37" name="Shape 32"/>
          <p:cNvSpPr/>
          <p:nvPr/>
        </p:nvSpPr>
        <p:spPr>
          <a:xfrm>
            <a:off x="0" y="6144768"/>
            <a:ext cx="12191695" cy="713232"/>
          </a:xfrm>
          <a:prstGeom prst="rect">
            <a:avLst/>
          </a:prstGeom>
          <a:solidFill>
            <a:srgbClr val="1B3A5C"/>
          </a:solidFill>
          <a:ln w="12700">
            <a:solidFill>
              <a:srgbClr val="1B3A5C"/>
            </a:solidFill>
            <a:prstDash val="solid"/>
          </a:ln>
        </p:spPr>
      </p:sp>
      <p:sp>
        <p:nvSpPr>
          <p:cNvPr id="38" name="Text 33"/>
          <p:cNvSpPr txBox="1"/>
          <p:nvPr/>
        </p:nvSpPr>
        <p:spPr>
          <a:xfrm>
            <a:off x="548640" y="6144768"/>
            <a:ext cx="11094415" cy="713232"/>
          </a:xfrm>
          <a:prstGeom prst="rect">
            <a:avLst/>
          </a:prstGeom>
          <a:noFill/>
          <a:ln/>
        </p:spPr>
        <p:txBody>
          <a:bodyPr wrap="square" lIns="0" tIns="0" rIns="0" bIns="0" rtlCol="0" anchor="ctr"/>
          <a:lstStyle/>
          <a:p>
            <a:pPr algn="ctr" indent="0" marL="0">
              <a:buNone/>
            </a:pPr>
            <a:r>
              <a:rPr lang="en-US" sz="1900" dirty="0">
                <a:solidFill>
                  <a:srgbClr val="FFFFFF"/>
                </a:solidFill>
                <a:latin typeface="맑은 고딕" pitchFamily="34" charset="0"/>
                <a:ea typeface="맑은 고딕" pitchFamily="34" charset="-122"/>
                <a:cs typeface="맑은 고딕" pitchFamily="34" charset="-120"/>
              </a:rPr>
              <a:t>현장이 원한 것은 판단 보정이 아니라 </a:t>
            </a:r>
            <a:r>
              <a:rPr lang="en-US" sz="1900" b="1" dirty="0">
                <a:solidFill>
                  <a:srgbClr val="F2B48A"/>
                </a:solidFill>
                <a:latin typeface="맑은 고딕" pitchFamily="34" charset="0"/>
                <a:ea typeface="맑은 고딕" pitchFamily="34" charset="-122"/>
                <a:cs typeface="맑은 고딕" pitchFamily="34" charset="-120"/>
              </a:rPr>
              <a:t>'어디부터 볼지'에 대한 답</a:t>
            </a:r>
            <a:r>
              <a:rPr lang="en-US" sz="1900" dirty="0">
                <a:solidFill>
                  <a:srgbClr val="FFFFFF"/>
                </a:solidFill>
                <a:latin typeface="맑은 고딕" pitchFamily="34" charset="0"/>
                <a:ea typeface="맑은 고딕" pitchFamily="34" charset="-122"/>
                <a:cs typeface="맑은 고딕" pitchFamily="34" charset="-120"/>
              </a:rPr>
              <a:t>이었습니다</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77724" cy="77724"/>
          </a:xfrm>
          <a:prstGeom prst="ellipse">
            <a:avLst/>
          </a:prstGeom>
          <a:solidFill>
            <a:srgbClr val="1B3A5C"/>
          </a:solidFill>
          <a:ln w="12700">
            <a:solidFill>
              <a:srgbClr val="1B3A5C"/>
            </a:solidFill>
            <a:prstDash val="solid"/>
          </a:ln>
        </p:spPr>
      </p:sp>
      <p:sp>
        <p:nvSpPr>
          <p:cNvPr id="3" name="Shape 1"/>
          <p:cNvSpPr/>
          <p:nvPr/>
        </p:nvSpPr>
        <p:spPr>
          <a:xfrm>
            <a:off x="694944" y="384048"/>
            <a:ext cx="77724" cy="77724"/>
          </a:xfrm>
          <a:prstGeom prst="ellipse">
            <a:avLst/>
          </a:prstGeom>
          <a:solidFill>
            <a:srgbClr val="6F8FB5"/>
          </a:solidFill>
          <a:ln w="12700">
            <a:solidFill>
              <a:srgbClr val="6F8FB5"/>
            </a:solidFill>
            <a:prstDash val="solid"/>
          </a:ln>
        </p:spPr>
      </p:sp>
      <p:sp>
        <p:nvSpPr>
          <p:cNvPr id="4" name="Shape 2"/>
          <p:cNvSpPr/>
          <p:nvPr/>
        </p:nvSpPr>
        <p:spPr>
          <a:xfrm>
            <a:off x="841248" y="384048"/>
            <a:ext cx="77724" cy="77724"/>
          </a:xfrm>
          <a:prstGeom prst="ellipse">
            <a:avLst/>
          </a:prstGeom>
          <a:solidFill>
            <a:srgbClr val="B9CCE0"/>
          </a:solidFill>
          <a:ln w="12700">
            <a:solidFill>
              <a:srgbClr val="B9CCE0"/>
            </a:solidFill>
            <a:prstDash val="solid"/>
          </a:ln>
        </p:spPr>
      </p:sp>
      <p:sp>
        <p:nvSpPr>
          <p:cNvPr id="5" name="Text 3"/>
          <p:cNvSpPr txBox="1"/>
          <p:nvPr/>
        </p:nvSpPr>
        <p:spPr>
          <a:xfrm>
            <a:off x="1097280" y="301752"/>
            <a:ext cx="5486400" cy="256032"/>
          </a:xfrm>
          <a:prstGeom prst="rect">
            <a:avLst/>
          </a:prstGeom>
          <a:noFill/>
          <a:ln/>
        </p:spPr>
        <p:txBody>
          <a:bodyPr wrap="square" lIns="0" tIns="0" rIns="0" bIns="0" rtlCol="0" anchor="t"/>
          <a:lstStyle/>
          <a:p>
            <a:pPr indent="0" marL="0">
              <a:buNone/>
            </a:pPr>
            <a:r>
              <a:rPr lang="en-US" sz="1100" dirty="0">
                <a:solidFill>
                  <a:srgbClr val="1B3A5C"/>
                </a:solidFill>
                <a:latin typeface="맑은 고딕" pitchFamily="34" charset="0"/>
                <a:ea typeface="맑은 고딕" pitchFamily="34" charset="-122"/>
                <a:cs typeface="맑은 고딕" pitchFamily="34" charset="-120"/>
              </a:rPr>
              <a:t>해결방안(Solution)</a:t>
            </a:r>
            <a:endParaRPr lang="en-US" sz="1100" dirty="0"/>
          </a:p>
        </p:txBody>
      </p:sp>
      <p:sp>
        <p:nvSpPr>
          <p:cNvPr id="6" name="Text 4"/>
          <p:cNvSpPr txBox="1"/>
          <p:nvPr/>
        </p:nvSpPr>
        <p:spPr>
          <a:xfrm>
            <a:off x="502920" y="621792"/>
            <a:ext cx="914400" cy="685800"/>
          </a:xfrm>
          <a:prstGeom prst="rect">
            <a:avLst/>
          </a:prstGeom>
          <a:noFill/>
          <a:ln/>
        </p:spPr>
        <p:txBody>
          <a:bodyPr wrap="square" lIns="0" tIns="0" rIns="0" bIns="0" rtlCol="0" anchor="ctr"/>
          <a:lstStyle/>
          <a:p>
            <a:pPr indent="0" marL="0">
              <a:buNone/>
            </a:pPr>
            <a:r>
              <a:rPr lang="en-US" sz="4000" b="1" dirty="0">
                <a:solidFill>
                  <a:srgbClr val="B9CCE0"/>
                </a:solidFill>
                <a:latin typeface="맑은 고딕" pitchFamily="34" charset="0"/>
                <a:ea typeface="맑은 고딕" pitchFamily="34" charset="-122"/>
                <a:cs typeface="맑은 고딕" pitchFamily="34" charset="-120"/>
              </a:rPr>
              <a:t>0</a:t>
            </a:r>
            <a:r>
              <a:rPr lang="en-US" sz="4000" b="1" dirty="0">
                <a:solidFill>
                  <a:srgbClr val="1B3A5C"/>
                </a:solidFill>
                <a:latin typeface="맑은 고딕" pitchFamily="34" charset="0"/>
                <a:ea typeface="맑은 고딕" pitchFamily="34" charset="-122"/>
                <a:cs typeface="맑은 고딕" pitchFamily="34" charset="-120"/>
              </a:rPr>
              <a:t>4</a:t>
            </a:r>
            <a:endParaRPr lang="en-US" sz="4000" dirty="0"/>
          </a:p>
        </p:txBody>
      </p:sp>
      <p:sp>
        <p:nvSpPr>
          <p:cNvPr id="7" name="Text 5"/>
          <p:cNvSpPr txBox="1"/>
          <p:nvPr/>
        </p:nvSpPr>
        <p:spPr>
          <a:xfrm>
            <a:off x="1463040" y="621792"/>
            <a:ext cx="9509760" cy="685800"/>
          </a:xfrm>
          <a:prstGeom prst="rect">
            <a:avLst/>
          </a:prstGeom>
          <a:noFill/>
          <a:ln/>
        </p:spPr>
        <p:txBody>
          <a:bodyPr wrap="square" lIns="0" tIns="0" rIns="0" bIns="0" rtlCol="0" anchor="ctr"/>
          <a:lstStyle/>
          <a:p>
            <a:pPr indent="0" marL="0">
              <a:buNone/>
            </a:pPr>
            <a:r>
              <a:rPr lang="en-US" sz="2600" b="1" dirty="0">
                <a:solidFill>
                  <a:srgbClr val="2B2D31"/>
                </a:solidFill>
                <a:latin typeface="맑은 고딕" pitchFamily="34" charset="0"/>
                <a:ea typeface="맑은 고딕" pitchFamily="34" charset="-122"/>
                <a:cs typeface="맑은 고딕" pitchFamily="34" charset="-120"/>
              </a:rPr>
              <a:t>녹의 색으로 점검 우선순위를 정하는 MLC</a:t>
            </a:r>
            <a:endParaRPr lang="en-US" sz="2600" dirty="0"/>
          </a:p>
        </p:txBody>
      </p:sp>
      <p:sp>
        <p:nvSpPr>
          <p:cNvPr id="8" name="Shape 6"/>
          <p:cNvSpPr/>
          <p:nvPr/>
        </p:nvSpPr>
        <p:spPr>
          <a:xfrm>
            <a:off x="11259007" y="384048"/>
            <a:ext cx="77724" cy="77724"/>
          </a:xfrm>
          <a:prstGeom prst="ellipse">
            <a:avLst/>
          </a:prstGeom>
          <a:solidFill>
            <a:srgbClr val="B9CCE0"/>
          </a:solidFill>
          <a:ln w="12700">
            <a:solidFill>
              <a:srgbClr val="B9CCE0"/>
            </a:solidFill>
            <a:prstDash val="solid"/>
          </a:ln>
        </p:spPr>
      </p:sp>
      <p:sp>
        <p:nvSpPr>
          <p:cNvPr id="9" name="Shape 7"/>
          <p:cNvSpPr/>
          <p:nvPr/>
        </p:nvSpPr>
        <p:spPr>
          <a:xfrm>
            <a:off x="11405311" y="384048"/>
            <a:ext cx="77724" cy="77724"/>
          </a:xfrm>
          <a:prstGeom prst="ellipse">
            <a:avLst/>
          </a:prstGeom>
          <a:solidFill>
            <a:srgbClr val="6F8FB5"/>
          </a:solidFill>
          <a:ln w="12700">
            <a:solidFill>
              <a:srgbClr val="6F8FB5"/>
            </a:solidFill>
            <a:prstDash val="solid"/>
          </a:ln>
        </p:spPr>
      </p:sp>
      <p:sp>
        <p:nvSpPr>
          <p:cNvPr id="10" name="Shape 8"/>
          <p:cNvSpPr/>
          <p:nvPr/>
        </p:nvSpPr>
        <p:spPr>
          <a:xfrm>
            <a:off x="11551615" y="384048"/>
            <a:ext cx="77724" cy="77724"/>
          </a:xfrm>
          <a:prstGeom prst="ellipse">
            <a:avLst/>
          </a:prstGeom>
          <a:solidFill>
            <a:srgbClr val="1B3A5C"/>
          </a:solidFill>
          <a:ln w="12700">
            <a:solidFill>
              <a:srgbClr val="1B3A5C"/>
            </a:solidFill>
            <a:prstDash val="solid"/>
          </a:ln>
        </p:spPr>
      </p:sp>
      <p:sp>
        <p:nvSpPr>
          <p:cNvPr id="11" name="Shape 9"/>
          <p:cNvSpPr/>
          <p:nvPr/>
        </p:nvSpPr>
        <p:spPr>
          <a:xfrm>
            <a:off x="11185855" y="786384"/>
            <a:ext cx="0" cy="310896"/>
          </a:xfrm>
          <a:prstGeom prst="line">
            <a:avLst/>
          </a:prstGeom>
          <a:noFill/>
          <a:ln w="12700">
            <a:solidFill>
              <a:srgbClr val="D9DCE0"/>
            </a:solidFill>
            <a:prstDash val="solid"/>
          </a:ln>
        </p:spPr>
      </p:sp>
      <p:sp>
        <p:nvSpPr>
          <p:cNvPr id="12" name="Text 10"/>
          <p:cNvSpPr txBox="1"/>
          <p:nvPr/>
        </p:nvSpPr>
        <p:spPr>
          <a:xfrm>
            <a:off x="11259007" y="786384"/>
            <a:ext cx="384048" cy="310896"/>
          </a:xfrm>
          <a:prstGeom prst="rect">
            <a:avLst/>
          </a:prstGeom>
          <a:noFill/>
          <a:ln/>
        </p:spPr>
        <p:txBody>
          <a:bodyPr wrap="square" lIns="0" tIns="0" rIns="0" bIns="0" rtlCol="0" anchor="ctr"/>
          <a:lstStyle/>
          <a:p>
            <a:pPr algn="r" indent="0" marL="0">
              <a:buNone/>
            </a:pPr>
            <a:r>
              <a:rPr lang="en-US" sz="1200" b="1" dirty="0">
                <a:solidFill>
                  <a:srgbClr val="1B3A5C"/>
                </a:solidFill>
                <a:latin typeface="맑은 고딕" pitchFamily="34" charset="0"/>
                <a:ea typeface="맑은 고딕" pitchFamily="34" charset="-122"/>
                <a:cs typeface="맑은 고딕" pitchFamily="34" charset="-120"/>
              </a:rPr>
              <a:t>5</a:t>
            </a:r>
            <a:endParaRPr lang="en-US" sz="1200" dirty="0"/>
          </a:p>
        </p:txBody>
      </p:sp>
      <p:sp>
        <p:nvSpPr>
          <p:cNvPr id="13" name="Shape 11"/>
          <p:cNvSpPr/>
          <p:nvPr/>
        </p:nvSpPr>
        <p:spPr>
          <a:xfrm>
            <a:off x="0" y="1463040"/>
            <a:ext cx="12191695" cy="2606040"/>
          </a:xfrm>
          <a:prstGeom prst="rect">
            <a:avLst/>
          </a:prstGeom>
          <a:solidFill>
            <a:srgbClr val="4A4F57"/>
          </a:solidFill>
          <a:ln w="12700">
            <a:solidFill>
              <a:srgbClr val="4A4F57"/>
            </a:solidFill>
            <a:prstDash val="solid"/>
          </a:ln>
        </p:spPr>
      </p:sp>
      <p:pic>
        <p:nvPicPr>
          <p:cNvPr id="14" name="Image 0" descr="/home/user/PPT/src/img/photo_15.png">    </p:cNvPr>
          <p:cNvPicPr>
            <a:picLocks noChangeAspect="1"/>
          </p:cNvPicPr>
          <p:nvPr/>
        </p:nvPicPr>
        <p:blipFill>
          <a:blip r:embed="rId1"/>
          <a:stretch>
            <a:fillRect/>
          </a:stretch>
        </p:blipFill>
        <p:spPr>
          <a:xfrm>
            <a:off x="1135342" y="1664208"/>
            <a:ext cx="1600200" cy="1600200"/>
          </a:xfrm>
          <a:prstGeom prst="rect">
            <a:avLst/>
          </a:prstGeom>
        </p:spPr>
      </p:pic>
      <p:pic>
        <p:nvPicPr>
          <p:cNvPr id="15" name="Image 1" descr="preencoded.png">    </p:cNvPr>
          <p:cNvPicPr>
            <a:picLocks noChangeAspect="1"/>
          </p:cNvPicPr>
          <p:nvPr/>
        </p:nvPicPr>
        <p:blipFill>
          <a:blip r:embed="rId2"/>
          <a:stretch>
            <a:fillRect/>
          </a:stretch>
        </p:blipFill>
        <p:spPr>
          <a:xfrm>
            <a:off x="3166796" y="2308860"/>
            <a:ext cx="310896" cy="310896"/>
          </a:xfrm>
          <a:prstGeom prst="rect">
            <a:avLst/>
          </a:prstGeom>
        </p:spPr>
      </p:pic>
      <p:sp>
        <p:nvSpPr>
          <p:cNvPr id="16" name="Shape 12"/>
          <p:cNvSpPr/>
          <p:nvPr/>
        </p:nvSpPr>
        <p:spPr>
          <a:xfrm>
            <a:off x="594360" y="3447288"/>
            <a:ext cx="2682164" cy="457200"/>
          </a:xfrm>
          <a:prstGeom prst="homePlate">
            <a:avLst/>
          </a:prstGeom>
          <a:solidFill>
            <a:srgbClr val="FFFFFF"/>
          </a:solidFill>
          <a:ln w="12700">
            <a:solidFill>
              <a:srgbClr val="FFFFFF"/>
            </a:solidFill>
            <a:prstDash val="solid"/>
          </a:ln>
        </p:spPr>
      </p:sp>
      <p:sp>
        <p:nvSpPr>
          <p:cNvPr id="17" name="Text 13"/>
          <p:cNvSpPr txBox="1"/>
          <p:nvPr/>
        </p:nvSpPr>
        <p:spPr>
          <a:xfrm>
            <a:off x="640080" y="3447288"/>
            <a:ext cx="2407844" cy="457200"/>
          </a:xfrm>
          <a:prstGeom prst="rect">
            <a:avLst/>
          </a:prstGeom>
          <a:noFill/>
          <a:ln/>
        </p:spPr>
        <p:txBody>
          <a:bodyPr wrap="square" lIns="0" tIns="0" rIns="0" bIns="0" rtlCol="0" anchor="ctr"/>
          <a:lstStyle/>
          <a:p>
            <a:pPr algn="ctr" indent="0" marL="0">
              <a:buNone/>
            </a:pPr>
            <a:r>
              <a:rPr lang="en-US" sz="1400" b="1" dirty="0">
                <a:solidFill>
                  <a:srgbClr val="2B2D31"/>
                </a:solidFill>
                <a:latin typeface="맑은 고딕" pitchFamily="34" charset="0"/>
                <a:ea typeface="맑은 고딕" pitchFamily="34" charset="-122"/>
                <a:cs typeface="맑은 고딕" pitchFamily="34" charset="-120"/>
              </a:rPr>
              <a:t>드론 · 카메라 촬영</a:t>
            </a:r>
            <a:endParaRPr lang="en-US" sz="1400" dirty="0"/>
          </a:p>
        </p:txBody>
      </p:sp>
      <p:pic>
        <p:nvPicPr>
          <p:cNvPr id="18" name="Image 2" descr="/home/user/PPT/src/img/mask_15.png">    </p:cNvPr>
          <p:cNvPicPr>
            <a:picLocks noChangeAspect="1"/>
          </p:cNvPicPr>
          <p:nvPr/>
        </p:nvPicPr>
        <p:blipFill>
          <a:blip r:embed="rId3"/>
          <a:stretch>
            <a:fillRect/>
          </a:stretch>
        </p:blipFill>
        <p:spPr>
          <a:xfrm>
            <a:off x="3908946" y="1664208"/>
            <a:ext cx="1600200" cy="1600200"/>
          </a:xfrm>
          <a:prstGeom prst="rect">
            <a:avLst/>
          </a:prstGeom>
        </p:spPr>
      </p:pic>
      <p:pic>
        <p:nvPicPr>
          <p:cNvPr id="19" name="Image 3" descr="preencoded.png">    </p:cNvPr>
          <p:cNvPicPr>
            <a:picLocks noChangeAspect="1"/>
          </p:cNvPicPr>
          <p:nvPr/>
        </p:nvPicPr>
        <p:blipFill>
          <a:blip r:embed="rId4"/>
          <a:stretch>
            <a:fillRect/>
          </a:stretch>
        </p:blipFill>
        <p:spPr>
          <a:xfrm>
            <a:off x="5940400" y="2308860"/>
            <a:ext cx="310896" cy="310896"/>
          </a:xfrm>
          <a:prstGeom prst="rect">
            <a:avLst/>
          </a:prstGeom>
        </p:spPr>
      </p:pic>
      <p:sp>
        <p:nvSpPr>
          <p:cNvPr id="20" name="Shape 14"/>
          <p:cNvSpPr/>
          <p:nvPr/>
        </p:nvSpPr>
        <p:spPr>
          <a:xfrm>
            <a:off x="3367964" y="3447288"/>
            <a:ext cx="2682164" cy="457200"/>
          </a:xfrm>
          <a:prstGeom prst="homePlate">
            <a:avLst/>
          </a:prstGeom>
          <a:solidFill>
            <a:srgbClr val="FFFFFF"/>
          </a:solidFill>
          <a:ln w="12700">
            <a:solidFill>
              <a:srgbClr val="FFFFFF"/>
            </a:solidFill>
            <a:prstDash val="solid"/>
          </a:ln>
        </p:spPr>
      </p:sp>
      <p:sp>
        <p:nvSpPr>
          <p:cNvPr id="21" name="Text 15"/>
          <p:cNvSpPr txBox="1"/>
          <p:nvPr/>
        </p:nvSpPr>
        <p:spPr>
          <a:xfrm>
            <a:off x="3413684" y="3447288"/>
            <a:ext cx="2407844" cy="457200"/>
          </a:xfrm>
          <a:prstGeom prst="rect">
            <a:avLst/>
          </a:prstGeom>
          <a:noFill/>
          <a:ln/>
        </p:spPr>
        <p:txBody>
          <a:bodyPr wrap="square" lIns="0" tIns="0" rIns="0" bIns="0" rtlCol="0" anchor="ctr"/>
          <a:lstStyle/>
          <a:p>
            <a:pPr algn="ctr" indent="0" marL="0">
              <a:buNone/>
            </a:pPr>
            <a:r>
              <a:rPr lang="en-US" sz="1400" b="1" dirty="0">
                <a:solidFill>
                  <a:srgbClr val="2B2D31"/>
                </a:solidFill>
                <a:latin typeface="맑은 고딕" pitchFamily="34" charset="0"/>
                <a:ea typeface="맑은 고딕" pitchFamily="34" charset="-122"/>
                <a:cs typeface="맑은 고딕" pitchFamily="34" charset="-120"/>
              </a:rPr>
              <a:t>녹 영역 자동 추출</a:t>
            </a:r>
            <a:endParaRPr lang="en-US" sz="1400" dirty="0"/>
          </a:p>
        </p:txBody>
      </p:sp>
      <p:sp>
        <p:nvSpPr>
          <p:cNvPr id="22" name="Shape 16"/>
          <p:cNvSpPr/>
          <p:nvPr/>
        </p:nvSpPr>
        <p:spPr>
          <a:xfrm>
            <a:off x="6682550" y="1664208"/>
            <a:ext cx="1600200" cy="1600200"/>
          </a:xfrm>
          <a:prstGeom prst="rect">
            <a:avLst/>
          </a:prstGeom>
          <a:solidFill>
            <a:srgbClr val="4E3F2F"/>
          </a:solidFill>
          <a:ln w="12700">
            <a:solidFill>
              <a:srgbClr val="FFFFFF"/>
            </a:solidFill>
            <a:prstDash val="solid"/>
          </a:ln>
        </p:spPr>
      </p:sp>
      <p:sp>
        <p:nvSpPr>
          <p:cNvPr id="23" name="Text 17"/>
          <p:cNvSpPr txBox="1"/>
          <p:nvPr/>
        </p:nvSpPr>
        <p:spPr>
          <a:xfrm>
            <a:off x="6682550" y="1984248"/>
            <a:ext cx="1600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맑은 고딕" pitchFamily="34" charset="0"/>
                <a:ea typeface="맑은 고딕" pitchFamily="34" charset="-122"/>
                <a:cs typeface="맑은 고딕" pitchFamily="34" charset="-120"/>
              </a:rPr>
              <a:t>b* 12.2</a:t>
            </a:r>
            <a:endParaRPr lang="en-US" sz="2200" dirty="0"/>
          </a:p>
        </p:txBody>
      </p:sp>
      <p:sp>
        <p:nvSpPr>
          <p:cNvPr id="24" name="Shape 18"/>
          <p:cNvSpPr/>
          <p:nvPr/>
        </p:nvSpPr>
        <p:spPr>
          <a:xfrm>
            <a:off x="6911150" y="2624328"/>
            <a:ext cx="1143000" cy="329184"/>
          </a:xfrm>
          <a:prstGeom prst="roundRect">
            <a:avLst>
              <a:gd name="adj" fmla="val 50000"/>
            </a:avLst>
          </a:prstGeom>
          <a:solidFill>
            <a:srgbClr val="3C8D5A"/>
          </a:solidFill>
          <a:ln w="12700">
            <a:solidFill>
              <a:srgbClr val="3C8D5A"/>
            </a:solidFill>
            <a:prstDash val="solid"/>
          </a:ln>
        </p:spPr>
      </p:sp>
      <p:sp>
        <p:nvSpPr>
          <p:cNvPr id="25" name="Text 19"/>
          <p:cNvSpPr txBox="1"/>
          <p:nvPr/>
        </p:nvSpPr>
        <p:spPr>
          <a:xfrm>
            <a:off x="6911150" y="2624328"/>
            <a:ext cx="114300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위험도 중간</a:t>
            </a:r>
            <a:endParaRPr lang="en-US" sz="1150" dirty="0"/>
          </a:p>
        </p:txBody>
      </p:sp>
      <p:pic>
        <p:nvPicPr>
          <p:cNvPr id="26" name="Image 4" descr="preencoded.png">    </p:cNvPr>
          <p:cNvPicPr>
            <a:picLocks noChangeAspect="1"/>
          </p:cNvPicPr>
          <p:nvPr/>
        </p:nvPicPr>
        <p:blipFill>
          <a:blip r:embed="rId5"/>
          <a:stretch>
            <a:fillRect/>
          </a:stretch>
        </p:blipFill>
        <p:spPr>
          <a:xfrm>
            <a:off x="8714003" y="2308860"/>
            <a:ext cx="310896" cy="310896"/>
          </a:xfrm>
          <a:prstGeom prst="rect">
            <a:avLst/>
          </a:prstGeom>
        </p:spPr>
      </p:pic>
      <p:sp>
        <p:nvSpPr>
          <p:cNvPr id="27" name="Shape 20"/>
          <p:cNvSpPr/>
          <p:nvPr/>
        </p:nvSpPr>
        <p:spPr>
          <a:xfrm>
            <a:off x="6141568" y="3447288"/>
            <a:ext cx="2682164" cy="457200"/>
          </a:xfrm>
          <a:prstGeom prst="homePlate">
            <a:avLst/>
          </a:prstGeom>
          <a:solidFill>
            <a:srgbClr val="FFFFFF"/>
          </a:solidFill>
          <a:ln w="12700">
            <a:solidFill>
              <a:srgbClr val="FFFFFF"/>
            </a:solidFill>
            <a:prstDash val="solid"/>
          </a:ln>
        </p:spPr>
      </p:sp>
      <p:sp>
        <p:nvSpPr>
          <p:cNvPr id="28" name="Text 21"/>
          <p:cNvSpPr txBox="1"/>
          <p:nvPr/>
        </p:nvSpPr>
        <p:spPr>
          <a:xfrm>
            <a:off x="6187288" y="3447288"/>
            <a:ext cx="2407844" cy="457200"/>
          </a:xfrm>
          <a:prstGeom prst="rect">
            <a:avLst/>
          </a:prstGeom>
          <a:noFill/>
          <a:ln/>
        </p:spPr>
        <p:txBody>
          <a:bodyPr wrap="square" lIns="0" tIns="0" rIns="0" bIns="0" rtlCol="0" anchor="ctr"/>
          <a:lstStyle/>
          <a:p>
            <a:pPr algn="ctr" indent="0" marL="0">
              <a:buNone/>
            </a:pPr>
            <a:r>
              <a:rPr lang="en-US" sz="1400" b="1" dirty="0">
                <a:solidFill>
                  <a:srgbClr val="2B2D31"/>
                </a:solidFill>
                <a:latin typeface="맑은 고딕" pitchFamily="34" charset="0"/>
                <a:ea typeface="맑은 고딕" pitchFamily="34" charset="-122"/>
                <a:cs typeface="맑은 고딕" pitchFamily="34" charset="-120"/>
              </a:rPr>
              <a:t>색(b*)으로 위험도 판정</a:t>
            </a:r>
            <a:endParaRPr lang="en-US" sz="1400" dirty="0"/>
          </a:p>
        </p:txBody>
      </p:sp>
      <p:pic>
        <p:nvPicPr>
          <p:cNvPr id="29" name="Image 5" descr="/home/user/PPT/src/img/offshore_legs.png">    </p:cNvPr>
          <p:cNvPicPr>
            <a:picLocks noChangeAspect="1"/>
          </p:cNvPicPr>
          <p:nvPr/>
        </p:nvPicPr>
        <p:blipFill>
          <a:blip r:embed="rId6"/>
          <a:srcRect l="0" r="0" t="0" b="0"/>
          <a:stretch/>
        </p:blipFill>
        <p:spPr>
          <a:xfrm>
            <a:off x="9456153" y="1664208"/>
            <a:ext cx="1600200" cy="1600200"/>
          </a:xfrm>
          <a:prstGeom prst="rect">
            <a:avLst/>
          </a:prstGeom>
        </p:spPr>
      </p:pic>
      <p:sp>
        <p:nvSpPr>
          <p:cNvPr id="30" name="Shape 22"/>
          <p:cNvSpPr/>
          <p:nvPr/>
        </p:nvSpPr>
        <p:spPr>
          <a:xfrm>
            <a:off x="9732759" y="2532888"/>
            <a:ext cx="310896" cy="310896"/>
          </a:xfrm>
          <a:prstGeom prst="ellipse">
            <a:avLst/>
          </a:prstGeom>
          <a:solidFill>
            <a:srgbClr val="B23A2E"/>
          </a:solidFill>
          <a:ln w="19050">
            <a:solidFill>
              <a:srgbClr val="FFFFFF"/>
            </a:solidFill>
            <a:prstDash val="solid"/>
          </a:ln>
        </p:spPr>
      </p:sp>
      <p:sp>
        <p:nvSpPr>
          <p:cNvPr id="31" name="Text 23"/>
          <p:cNvSpPr txBox="1"/>
          <p:nvPr/>
        </p:nvSpPr>
        <p:spPr>
          <a:xfrm>
            <a:off x="9732759" y="25328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a:t>
            </a:r>
            <a:endParaRPr lang="en-US" sz="1200" dirty="0"/>
          </a:p>
        </p:txBody>
      </p:sp>
      <p:sp>
        <p:nvSpPr>
          <p:cNvPr id="32" name="Shape 24"/>
          <p:cNvSpPr/>
          <p:nvPr/>
        </p:nvSpPr>
        <p:spPr>
          <a:xfrm>
            <a:off x="10548861" y="2180844"/>
            <a:ext cx="310896" cy="310896"/>
          </a:xfrm>
          <a:prstGeom prst="ellipse">
            <a:avLst/>
          </a:prstGeom>
          <a:solidFill>
            <a:srgbClr val="3C8D5A"/>
          </a:solidFill>
          <a:ln w="19050">
            <a:solidFill>
              <a:srgbClr val="FFFFFF"/>
            </a:solidFill>
            <a:prstDash val="solid"/>
          </a:ln>
        </p:spPr>
      </p:sp>
      <p:sp>
        <p:nvSpPr>
          <p:cNvPr id="33" name="Text 25"/>
          <p:cNvSpPr txBox="1"/>
          <p:nvPr/>
        </p:nvSpPr>
        <p:spPr>
          <a:xfrm>
            <a:off x="10548861" y="218084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2</a:t>
            </a:r>
            <a:endParaRPr lang="en-US" sz="1200" dirty="0"/>
          </a:p>
        </p:txBody>
      </p:sp>
      <p:sp>
        <p:nvSpPr>
          <p:cNvPr id="34" name="Shape 26"/>
          <p:cNvSpPr/>
          <p:nvPr/>
        </p:nvSpPr>
        <p:spPr>
          <a:xfrm>
            <a:off x="9972789" y="1764792"/>
            <a:ext cx="310896" cy="310896"/>
          </a:xfrm>
          <a:prstGeom prst="ellipse">
            <a:avLst/>
          </a:prstGeom>
          <a:solidFill>
            <a:srgbClr val="3A6EA5"/>
          </a:solidFill>
          <a:ln w="19050">
            <a:solidFill>
              <a:srgbClr val="FFFFFF"/>
            </a:solidFill>
            <a:prstDash val="solid"/>
          </a:ln>
        </p:spPr>
      </p:sp>
      <p:sp>
        <p:nvSpPr>
          <p:cNvPr id="35" name="Text 27"/>
          <p:cNvSpPr txBox="1"/>
          <p:nvPr/>
        </p:nvSpPr>
        <p:spPr>
          <a:xfrm>
            <a:off x="9972789" y="17647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3</a:t>
            </a:r>
            <a:endParaRPr lang="en-US" sz="1200" dirty="0"/>
          </a:p>
        </p:txBody>
      </p:sp>
      <p:sp>
        <p:nvSpPr>
          <p:cNvPr id="36" name="Shape 28"/>
          <p:cNvSpPr/>
          <p:nvPr/>
        </p:nvSpPr>
        <p:spPr>
          <a:xfrm>
            <a:off x="8915171" y="3447288"/>
            <a:ext cx="2682164" cy="457200"/>
          </a:xfrm>
          <a:prstGeom prst="homePlate">
            <a:avLst/>
          </a:prstGeom>
          <a:solidFill>
            <a:srgbClr val="1B3A5C"/>
          </a:solidFill>
          <a:ln w="12700">
            <a:solidFill>
              <a:srgbClr val="1B3A5C"/>
            </a:solidFill>
            <a:prstDash val="solid"/>
          </a:ln>
        </p:spPr>
      </p:sp>
      <p:sp>
        <p:nvSpPr>
          <p:cNvPr id="37" name="Text 29"/>
          <p:cNvSpPr txBox="1"/>
          <p:nvPr/>
        </p:nvSpPr>
        <p:spPr>
          <a:xfrm>
            <a:off x="8960891" y="3447288"/>
            <a:ext cx="2407844"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점검 우선순위 지도</a:t>
            </a:r>
            <a:endParaRPr lang="en-US" sz="1400" dirty="0"/>
          </a:p>
        </p:txBody>
      </p:sp>
      <p:sp>
        <p:nvSpPr>
          <p:cNvPr id="38" name="Text 30"/>
          <p:cNvSpPr txBox="1"/>
          <p:nvPr/>
        </p:nvSpPr>
        <p:spPr>
          <a:xfrm>
            <a:off x="9357055" y="1188720"/>
            <a:ext cx="2286000" cy="228600"/>
          </a:xfrm>
          <a:prstGeom prst="rect">
            <a:avLst/>
          </a:prstGeom>
          <a:noFill/>
          <a:ln/>
        </p:spPr>
        <p:txBody>
          <a:bodyPr wrap="square" lIns="0" tIns="0" rIns="0" bIns="0" rtlCol="0" anchor="t"/>
          <a:lstStyle/>
          <a:p>
            <a:pPr algn="r" indent="0" marL="0">
              <a:buNone/>
            </a:pPr>
            <a:r>
              <a:rPr lang="en-US" sz="1000" i="1" dirty="0">
                <a:solidFill>
                  <a:srgbClr val="A3A7AD"/>
                </a:solidFill>
                <a:latin typeface="맑은 고딕" pitchFamily="34" charset="0"/>
                <a:ea typeface="맑은 고딕" pitchFamily="34" charset="-122"/>
                <a:cs typeface="맑은 고딕" pitchFamily="34" charset="-120"/>
              </a:rPr>
              <a:t>예시 화면 (개념도)</a:t>
            </a:r>
            <a:endParaRPr lang="en-US" sz="1000" dirty="0"/>
          </a:p>
        </p:txBody>
      </p:sp>
      <p:sp>
        <p:nvSpPr>
          <p:cNvPr id="39" name="Shape 31"/>
          <p:cNvSpPr/>
          <p:nvPr/>
        </p:nvSpPr>
        <p:spPr>
          <a:xfrm>
            <a:off x="868680" y="4526280"/>
            <a:ext cx="4998568" cy="1417320"/>
          </a:xfrm>
          <a:prstGeom prst="roundRect">
            <a:avLst>
              <a:gd name="adj" fmla="val 5161"/>
            </a:avLst>
          </a:prstGeom>
          <a:solidFill>
            <a:srgbClr val="FFFFFF"/>
          </a:solidFill>
          <a:ln w="12700">
            <a:solidFill>
              <a:srgbClr val="D9DCE0"/>
            </a:solidFill>
            <a:prstDash val="solid"/>
          </a:ln>
        </p:spPr>
      </p:sp>
      <p:sp>
        <p:nvSpPr>
          <p:cNvPr id="40" name="Shape 32"/>
          <p:cNvSpPr/>
          <p:nvPr/>
        </p:nvSpPr>
        <p:spPr>
          <a:xfrm>
            <a:off x="868680" y="4526280"/>
            <a:ext cx="4998568" cy="438912"/>
          </a:xfrm>
          <a:prstGeom prst="rect">
            <a:avLst/>
          </a:prstGeom>
          <a:solidFill>
            <a:srgbClr val="1B3A5C"/>
          </a:solidFill>
          <a:ln w="12700">
            <a:solidFill>
              <a:srgbClr val="1B3A5C"/>
            </a:solidFill>
            <a:prstDash val="solid"/>
          </a:ln>
        </p:spPr>
      </p:sp>
      <p:sp>
        <p:nvSpPr>
          <p:cNvPr id="41" name="Text 33"/>
          <p:cNvSpPr txBox="1"/>
          <p:nvPr/>
        </p:nvSpPr>
        <p:spPr>
          <a:xfrm>
            <a:off x="1920240" y="4526280"/>
            <a:ext cx="4129888" cy="438912"/>
          </a:xfrm>
          <a:prstGeom prst="rect">
            <a:avLst/>
          </a:prstGeom>
          <a:noFill/>
          <a:ln/>
        </p:spPr>
        <p:txBody>
          <a:bodyPr wrap="square" lIns="0" tIns="0" rIns="0" bIns="0"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사진 한 장으로 비파괴 · 원격 판정</a:t>
            </a:r>
            <a:endParaRPr lang="en-US" sz="1500" dirty="0"/>
          </a:p>
        </p:txBody>
      </p:sp>
      <p:sp>
        <p:nvSpPr>
          <p:cNvPr id="42" name="Shape 34"/>
          <p:cNvSpPr/>
          <p:nvPr/>
        </p:nvSpPr>
        <p:spPr>
          <a:xfrm>
            <a:off x="548640" y="4343400"/>
            <a:ext cx="960120" cy="960120"/>
          </a:xfrm>
          <a:prstGeom prst="ellipse">
            <a:avLst/>
          </a:prstGeom>
          <a:solidFill>
            <a:srgbClr val="1B3A5C"/>
          </a:solidFill>
          <a:ln w="38100">
            <a:solidFill>
              <a:srgbClr val="FFFFFF"/>
            </a:solidFill>
            <a:prstDash val="solid"/>
          </a:ln>
        </p:spPr>
      </p:sp>
      <p:sp>
        <p:nvSpPr>
          <p:cNvPr id="43" name="Text 35"/>
          <p:cNvSpPr txBox="1"/>
          <p:nvPr/>
        </p:nvSpPr>
        <p:spPr>
          <a:xfrm>
            <a:off x="548640" y="4343400"/>
            <a:ext cx="960120"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차별성 1</a:t>
            </a:r>
            <a:endParaRPr lang="en-US" sz="1300" dirty="0"/>
          </a:p>
        </p:txBody>
      </p:sp>
      <p:sp>
        <p:nvSpPr>
          <p:cNvPr id="44" name="Shape 36"/>
          <p:cNvSpPr/>
          <p:nvPr/>
        </p:nvSpPr>
        <p:spPr>
          <a:xfrm>
            <a:off x="1920240" y="5120640"/>
            <a:ext cx="329184" cy="329184"/>
          </a:xfrm>
          <a:prstGeom prst="ellipse">
            <a:avLst/>
          </a:prstGeom>
          <a:solidFill>
            <a:srgbClr val="1B3A5C"/>
          </a:solidFill>
          <a:ln w="12700">
            <a:solidFill>
              <a:srgbClr val="1B3A5C"/>
            </a:solidFill>
            <a:prstDash val="solid"/>
          </a:ln>
        </p:spPr>
      </p:sp>
      <p:pic>
        <p:nvPicPr>
          <p:cNvPr id="45" name="Image 6" descr="preencoded.png">    </p:cNvPr>
          <p:cNvPicPr>
            <a:picLocks noChangeAspect="1"/>
          </p:cNvPicPr>
          <p:nvPr/>
        </p:nvPicPr>
        <p:blipFill>
          <a:blip r:embed="rId7"/>
          <a:stretch>
            <a:fillRect/>
          </a:stretch>
        </p:blipFill>
        <p:spPr>
          <a:xfrm>
            <a:off x="2005828" y="5206228"/>
            <a:ext cx="158008" cy="158008"/>
          </a:xfrm>
          <a:prstGeom prst="rect">
            <a:avLst/>
          </a:prstGeom>
        </p:spPr>
      </p:pic>
      <p:sp>
        <p:nvSpPr>
          <p:cNvPr id="46" name="Text 37"/>
          <p:cNvSpPr txBox="1"/>
          <p:nvPr/>
        </p:nvSpPr>
        <p:spPr>
          <a:xfrm>
            <a:off x="2359152" y="5120640"/>
            <a:ext cx="3398368" cy="329184"/>
          </a:xfrm>
          <a:prstGeom prst="rect">
            <a:avLst/>
          </a:prstGeom>
          <a:noFill/>
          <a:ln/>
        </p:spPr>
        <p:txBody>
          <a:bodyPr wrap="square" lIns="0" tIns="0" rIns="0" bIns="0" rtlCol="0" anchor="ctr"/>
          <a:lstStyle/>
          <a:p>
            <a:pPr indent="0" marL="0">
              <a:buNone/>
            </a:pPr>
            <a:r>
              <a:rPr lang="en-US" sz="1350" dirty="0">
                <a:solidFill>
                  <a:srgbClr val="2B2D31"/>
                </a:solidFill>
                <a:latin typeface="맑은 고딕" pitchFamily="34" charset="0"/>
                <a:ea typeface="맑은 고딕" pitchFamily="34" charset="-122"/>
                <a:cs typeface="맑은 고딕" pitchFamily="34" charset="-120"/>
              </a:rPr>
              <a:t>시편 절단 · 실험실 분석 없이 판정</a:t>
            </a:r>
            <a:endParaRPr lang="en-US" sz="1350" dirty="0"/>
          </a:p>
        </p:txBody>
      </p:sp>
      <p:sp>
        <p:nvSpPr>
          <p:cNvPr id="47" name="Shape 38"/>
          <p:cNvSpPr/>
          <p:nvPr/>
        </p:nvSpPr>
        <p:spPr>
          <a:xfrm>
            <a:off x="1920240" y="5532120"/>
            <a:ext cx="329184" cy="329184"/>
          </a:xfrm>
          <a:prstGeom prst="ellipse">
            <a:avLst/>
          </a:prstGeom>
          <a:solidFill>
            <a:srgbClr val="1B3A5C"/>
          </a:solidFill>
          <a:ln w="12700">
            <a:solidFill>
              <a:srgbClr val="1B3A5C"/>
            </a:solidFill>
            <a:prstDash val="solid"/>
          </a:ln>
        </p:spPr>
      </p:sp>
      <p:pic>
        <p:nvPicPr>
          <p:cNvPr id="48" name="Image 7" descr="preencoded.png">    </p:cNvPr>
          <p:cNvPicPr>
            <a:picLocks noChangeAspect="1"/>
          </p:cNvPicPr>
          <p:nvPr/>
        </p:nvPicPr>
        <p:blipFill>
          <a:blip r:embed="rId8"/>
          <a:stretch>
            <a:fillRect/>
          </a:stretch>
        </p:blipFill>
        <p:spPr>
          <a:xfrm>
            <a:off x="2005828" y="5617708"/>
            <a:ext cx="158008" cy="158008"/>
          </a:xfrm>
          <a:prstGeom prst="rect">
            <a:avLst/>
          </a:prstGeom>
        </p:spPr>
      </p:pic>
      <p:sp>
        <p:nvSpPr>
          <p:cNvPr id="49" name="Text 39"/>
          <p:cNvSpPr txBox="1"/>
          <p:nvPr/>
        </p:nvSpPr>
        <p:spPr>
          <a:xfrm>
            <a:off x="2359152" y="5532120"/>
            <a:ext cx="3398368" cy="329184"/>
          </a:xfrm>
          <a:prstGeom prst="rect">
            <a:avLst/>
          </a:prstGeom>
          <a:noFill/>
          <a:ln/>
        </p:spPr>
        <p:txBody>
          <a:bodyPr wrap="square" lIns="0" tIns="0" rIns="0" bIns="0" rtlCol="0" anchor="ctr"/>
          <a:lstStyle/>
          <a:p>
            <a:pPr indent="0" marL="0">
              <a:buNone/>
            </a:pPr>
            <a:r>
              <a:rPr lang="en-US" sz="1350" dirty="0">
                <a:solidFill>
                  <a:srgbClr val="2B2D31"/>
                </a:solidFill>
                <a:latin typeface="맑은 고딕" pitchFamily="34" charset="0"/>
                <a:ea typeface="맑은 고딕" pitchFamily="34" charset="-122"/>
                <a:cs typeface="맑은 고딕" pitchFamily="34" charset="-120"/>
              </a:rPr>
              <a:t>접근 어려운 비말대도 드론으로 촬영</a:t>
            </a:r>
            <a:endParaRPr lang="en-US" sz="1350" dirty="0"/>
          </a:p>
        </p:txBody>
      </p:sp>
      <p:sp>
        <p:nvSpPr>
          <p:cNvPr id="50" name="Shape 40"/>
          <p:cNvSpPr/>
          <p:nvPr/>
        </p:nvSpPr>
        <p:spPr>
          <a:xfrm>
            <a:off x="6644488" y="4526280"/>
            <a:ext cx="4998568" cy="1417320"/>
          </a:xfrm>
          <a:prstGeom prst="roundRect">
            <a:avLst>
              <a:gd name="adj" fmla="val 5161"/>
            </a:avLst>
          </a:prstGeom>
          <a:solidFill>
            <a:srgbClr val="FFFFFF"/>
          </a:solidFill>
          <a:ln w="12700">
            <a:solidFill>
              <a:srgbClr val="D9DCE0"/>
            </a:solidFill>
            <a:prstDash val="solid"/>
          </a:ln>
        </p:spPr>
      </p:sp>
      <p:sp>
        <p:nvSpPr>
          <p:cNvPr id="51" name="Shape 41"/>
          <p:cNvSpPr/>
          <p:nvPr/>
        </p:nvSpPr>
        <p:spPr>
          <a:xfrm>
            <a:off x="6644488" y="4526280"/>
            <a:ext cx="4998568" cy="438912"/>
          </a:xfrm>
          <a:prstGeom prst="rect">
            <a:avLst/>
          </a:prstGeom>
          <a:solidFill>
            <a:srgbClr val="4A4F57"/>
          </a:solidFill>
          <a:ln w="12700">
            <a:solidFill>
              <a:srgbClr val="4A4F57"/>
            </a:solidFill>
            <a:prstDash val="solid"/>
          </a:ln>
        </p:spPr>
      </p:sp>
      <p:sp>
        <p:nvSpPr>
          <p:cNvPr id="52" name="Text 42"/>
          <p:cNvSpPr txBox="1"/>
          <p:nvPr/>
        </p:nvSpPr>
        <p:spPr>
          <a:xfrm>
            <a:off x="7696048" y="4526280"/>
            <a:ext cx="4129888" cy="438912"/>
          </a:xfrm>
          <a:prstGeom prst="rect">
            <a:avLst/>
          </a:prstGeom>
          <a:noFill/>
          <a:ln/>
        </p:spPr>
        <p:txBody>
          <a:bodyPr wrap="square" lIns="0" tIns="0" rIns="0" bIns="0"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규제 주기 안에서 자원 배치 최적화</a:t>
            </a:r>
            <a:endParaRPr lang="en-US" sz="1500" dirty="0"/>
          </a:p>
        </p:txBody>
      </p:sp>
      <p:sp>
        <p:nvSpPr>
          <p:cNvPr id="53" name="Shape 43"/>
          <p:cNvSpPr/>
          <p:nvPr/>
        </p:nvSpPr>
        <p:spPr>
          <a:xfrm>
            <a:off x="6324448" y="4343400"/>
            <a:ext cx="960120" cy="960120"/>
          </a:xfrm>
          <a:prstGeom prst="ellipse">
            <a:avLst/>
          </a:prstGeom>
          <a:solidFill>
            <a:srgbClr val="4A4F57"/>
          </a:solidFill>
          <a:ln w="38100">
            <a:solidFill>
              <a:srgbClr val="FFFFFF"/>
            </a:solidFill>
            <a:prstDash val="solid"/>
          </a:ln>
        </p:spPr>
      </p:sp>
      <p:sp>
        <p:nvSpPr>
          <p:cNvPr id="54" name="Text 44"/>
          <p:cNvSpPr txBox="1"/>
          <p:nvPr/>
        </p:nvSpPr>
        <p:spPr>
          <a:xfrm>
            <a:off x="6324448" y="4343400"/>
            <a:ext cx="960120"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차별성 2</a:t>
            </a:r>
            <a:endParaRPr lang="en-US" sz="1300" dirty="0"/>
          </a:p>
        </p:txBody>
      </p:sp>
      <p:sp>
        <p:nvSpPr>
          <p:cNvPr id="55" name="Shape 45"/>
          <p:cNvSpPr/>
          <p:nvPr/>
        </p:nvSpPr>
        <p:spPr>
          <a:xfrm>
            <a:off x="7696048" y="5120640"/>
            <a:ext cx="329184" cy="329184"/>
          </a:xfrm>
          <a:prstGeom prst="ellipse">
            <a:avLst/>
          </a:prstGeom>
          <a:solidFill>
            <a:srgbClr val="4A4F57"/>
          </a:solidFill>
          <a:ln w="12700">
            <a:solidFill>
              <a:srgbClr val="4A4F57"/>
            </a:solidFill>
            <a:prstDash val="solid"/>
          </a:ln>
        </p:spPr>
      </p:sp>
      <p:pic>
        <p:nvPicPr>
          <p:cNvPr id="56" name="Image 8" descr="preencoded.png">    </p:cNvPr>
          <p:cNvPicPr>
            <a:picLocks noChangeAspect="1"/>
          </p:cNvPicPr>
          <p:nvPr/>
        </p:nvPicPr>
        <p:blipFill>
          <a:blip r:embed="rId9"/>
          <a:stretch>
            <a:fillRect/>
          </a:stretch>
        </p:blipFill>
        <p:spPr>
          <a:xfrm>
            <a:off x="7781635" y="5206228"/>
            <a:ext cx="158008" cy="158008"/>
          </a:xfrm>
          <a:prstGeom prst="rect">
            <a:avLst/>
          </a:prstGeom>
        </p:spPr>
      </p:pic>
      <p:sp>
        <p:nvSpPr>
          <p:cNvPr id="57" name="Text 46"/>
          <p:cNvSpPr txBox="1"/>
          <p:nvPr/>
        </p:nvSpPr>
        <p:spPr>
          <a:xfrm>
            <a:off x="8134960" y="5120640"/>
            <a:ext cx="3398368" cy="329184"/>
          </a:xfrm>
          <a:prstGeom prst="rect">
            <a:avLst/>
          </a:prstGeom>
          <a:noFill/>
          <a:ln/>
        </p:spPr>
        <p:txBody>
          <a:bodyPr wrap="square" lIns="0" tIns="0" rIns="0" bIns="0" rtlCol="0" anchor="ctr"/>
          <a:lstStyle/>
          <a:p>
            <a:pPr indent="0" marL="0">
              <a:buNone/>
            </a:pPr>
            <a:r>
              <a:rPr lang="en-US" sz="1350" dirty="0">
                <a:solidFill>
                  <a:srgbClr val="2B2D31"/>
                </a:solidFill>
                <a:latin typeface="맑은 고딕" pitchFamily="34" charset="0"/>
                <a:ea typeface="맑은 고딕" pitchFamily="34" charset="-122"/>
                <a:cs typeface="맑은 고딕" pitchFamily="34" charset="-120"/>
              </a:rPr>
              <a:t>위험 지점부터 사람 · 배 · 리프트 투입</a:t>
            </a:r>
            <a:endParaRPr lang="en-US" sz="1350" dirty="0"/>
          </a:p>
        </p:txBody>
      </p:sp>
      <p:sp>
        <p:nvSpPr>
          <p:cNvPr id="58" name="Shape 47"/>
          <p:cNvSpPr/>
          <p:nvPr/>
        </p:nvSpPr>
        <p:spPr>
          <a:xfrm>
            <a:off x="7696048" y="5532120"/>
            <a:ext cx="329184" cy="329184"/>
          </a:xfrm>
          <a:prstGeom prst="ellipse">
            <a:avLst/>
          </a:prstGeom>
          <a:solidFill>
            <a:srgbClr val="4A4F57"/>
          </a:solidFill>
          <a:ln w="12700">
            <a:solidFill>
              <a:srgbClr val="4A4F57"/>
            </a:solidFill>
            <a:prstDash val="solid"/>
          </a:ln>
        </p:spPr>
      </p:sp>
      <p:pic>
        <p:nvPicPr>
          <p:cNvPr id="59" name="Image 9" descr="preencoded.png">    </p:cNvPr>
          <p:cNvPicPr>
            <a:picLocks noChangeAspect="1"/>
          </p:cNvPicPr>
          <p:nvPr/>
        </p:nvPicPr>
        <p:blipFill>
          <a:blip r:embed="rId10"/>
          <a:stretch>
            <a:fillRect/>
          </a:stretch>
        </p:blipFill>
        <p:spPr>
          <a:xfrm>
            <a:off x="7781635" y="5617708"/>
            <a:ext cx="158008" cy="158008"/>
          </a:xfrm>
          <a:prstGeom prst="rect">
            <a:avLst/>
          </a:prstGeom>
        </p:spPr>
      </p:pic>
      <p:sp>
        <p:nvSpPr>
          <p:cNvPr id="60" name="Text 48"/>
          <p:cNvSpPr txBox="1"/>
          <p:nvPr/>
        </p:nvSpPr>
        <p:spPr>
          <a:xfrm>
            <a:off x="8134960" y="5532120"/>
            <a:ext cx="3398368" cy="329184"/>
          </a:xfrm>
          <a:prstGeom prst="rect">
            <a:avLst/>
          </a:prstGeom>
          <a:noFill/>
          <a:ln/>
        </p:spPr>
        <p:txBody>
          <a:bodyPr wrap="square" lIns="0" tIns="0" rIns="0" bIns="0" rtlCol="0" anchor="ctr"/>
          <a:lstStyle/>
          <a:p>
            <a:pPr indent="0" marL="0">
              <a:buNone/>
            </a:pPr>
            <a:r>
              <a:rPr lang="en-US" sz="1350" dirty="0">
                <a:solidFill>
                  <a:srgbClr val="2B2D31"/>
                </a:solidFill>
                <a:latin typeface="맑은 고딕" pitchFamily="34" charset="0"/>
                <a:ea typeface="맑은 고딕" pitchFamily="34" charset="-122"/>
                <a:cs typeface="맑은 고딕" pitchFamily="34" charset="-120"/>
              </a:rPr>
              <a:t>로프 액세스 출동 여부 사전 판단</a:t>
            </a:r>
            <a:endParaRPr lang="en-US" sz="1350" dirty="0"/>
          </a:p>
        </p:txBody>
      </p:sp>
      <p:sp>
        <p:nvSpPr>
          <p:cNvPr id="61" name="Shape 49"/>
          <p:cNvSpPr/>
          <p:nvPr/>
        </p:nvSpPr>
        <p:spPr>
          <a:xfrm>
            <a:off x="0" y="6144768"/>
            <a:ext cx="12191695" cy="713232"/>
          </a:xfrm>
          <a:prstGeom prst="rect">
            <a:avLst/>
          </a:prstGeom>
          <a:solidFill>
            <a:srgbClr val="1B3A5C"/>
          </a:solidFill>
          <a:ln w="12700">
            <a:solidFill>
              <a:srgbClr val="1B3A5C"/>
            </a:solidFill>
            <a:prstDash val="solid"/>
          </a:ln>
        </p:spPr>
      </p:sp>
      <p:sp>
        <p:nvSpPr>
          <p:cNvPr id="62" name="Text 50"/>
          <p:cNvSpPr txBox="1"/>
          <p:nvPr/>
        </p:nvSpPr>
        <p:spPr>
          <a:xfrm>
            <a:off x="548640" y="6144768"/>
            <a:ext cx="11094415" cy="713232"/>
          </a:xfrm>
          <a:prstGeom prst="rect">
            <a:avLst/>
          </a:prstGeom>
          <a:noFill/>
          <a:ln/>
        </p:spPr>
        <p:txBody>
          <a:bodyPr wrap="square" lIns="0" tIns="0" rIns="0" bIns="0" rtlCol="0" anchor="ctr"/>
          <a:lstStyle/>
          <a:p>
            <a:pPr algn="ctr" indent="0" marL="0">
              <a:buNone/>
            </a:pPr>
            <a:r>
              <a:rPr lang="en-US" sz="1900" dirty="0">
                <a:solidFill>
                  <a:srgbClr val="FFFFFF"/>
                </a:solidFill>
                <a:latin typeface="맑은 고딕" pitchFamily="34" charset="0"/>
                <a:ea typeface="맑은 고딕" pitchFamily="34" charset="-122"/>
                <a:cs typeface="맑은 고딕" pitchFamily="34" charset="-120"/>
              </a:rPr>
              <a:t>사진 한 장 → 위험도 → </a:t>
            </a:r>
            <a:r>
              <a:rPr lang="en-US" sz="1900" b="1" dirty="0">
                <a:solidFill>
                  <a:srgbClr val="F2B48A"/>
                </a:solidFill>
                <a:latin typeface="맑은 고딕" pitchFamily="34" charset="0"/>
                <a:ea typeface="맑은 고딕" pitchFamily="34" charset="-122"/>
                <a:cs typeface="맑은 고딕" pitchFamily="34" charset="-120"/>
              </a:rPr>
              <a:t>점검 우선순위</a:t>
            </a:r>
            <a:r>
              <a:rPr lang="en-US" sz="1900" dirty="0">
                <a:solidFill>
                  <a:srgbClr val="FFFFFF"/>
                </a:solidFill>
                <a:latin typeface="맑은 고딕" pitchFamily="34" charset="0"/>
                <a:ea typeface="맑은 고딕" pitchFamily="34" charset="-122"/>
                <a:cs typeface="맑은 고딕" pitchFamily="34" charset="-120"/>
              </a:rPr>
              <a:t>까지, 현장에서 바로</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77724" cy="77724"/>
          </a:xfrm>
          <a:prstGeom prst="ellipse">
            <a:avLst/>
          </a:prstGeom>
          <a:solidFill>
            <a:srgbClr val="1B3A5C"/>
          </a:solidFill>
          <a:ln w="12700">
            <a:solidFill>
              <a:srgbClr val="1B3A5C"/>
            </a:solidFill>
            <a:prstDash val="solid"/>
          </a:ln>
        </p:spPr>
      </p:sp>
      <p:sp>
        <p:nvSpPr>
          <p:cNvPr id="3" name="Shape 1"/>
          <p:cNvSpPr/>
          <p:nvPr/>
        </p:nvSpPr>
        <p:spPr>
          <a:xfrm>
            <a:off x="694944" y="384048"/>
            <a:ext cx="77724" cy="77724"/>
          </a:xfrm>
          <a:prstGeom prst="ellipse">
            <a:avLst/>
          </a:prstGeom>
          <a:solidFill>
            <a:srgbClr val="6F8FB5"/>
          </a:solidFill>
          <a:ln w="12700">
            <a:solidFill>
              <a:srgbClr val="6F8FB5"/>
            </a:solidFill>
            <a:prstDash val="solid"/>
          </a:ln>
        </p:spPr>
      </p:sp>
      <p:sp>
        <p:nvSpPr>
          <p:cNvPr id="4" name="Shape 2"/>
          <p:cNvSpPr/>
          <p:nvPr/>
        </p:nvSpPr>
        <p:spPr>
          <a:xfrm>
            <a:off x="841248" y="384048"/>
            <a:ext cx="77724" cy="77724"/>
          </a:xfrm>
          <a:prstGeom prst="ellipse">
            <a:avLst/>
          </a:prstGeom>
          <a:solidFill>
            <a:srgbClr val="B9CCE0"/>
          </a:solidFill>
          <a:ln w="12700">
            <a:solidFill>
              <a:srgbClr val="B9CCE0"/>
            </a:solidFill>
            <a:prstDash val="solid"/>
          </a:ln>
        </p:spPr>
      </p:sp>
      <p:sp>
        <p:nvSpPr>
          <p:cNvPr id="5" name="Text 3"/>
          <p:cNvSpPr txBox="1"/>
          <p:nvPr/>
        </p:nvSpPr>
        <p:spPr>
          <a:xfrm>
            <a:off x="1097280" y="301752"/>
            <a:ext cx="5486400" cy="256032"/>
          </a:xfrm>
          <a:prstGeom prst="rect">
            <a:avLst/>
          </a:prstGeom>
          <a:noFill/>
          <a:ln/>
        </p:spPr>
        <p:txBody>
          <a:bodyPr wrap="square" lIns="0" tIns="0" rIns="0" bIns="0" rtlCol="0" anchor="t"/>
          <a:lstStyle/>
          <a:p>
            <a:pPr indent="0" marL="0">
              <a:buNone/>
            </a:pPr>
            <a:r>
              <a:rPr lang="en-US" sz="1100" dirty="0">
                <a:solidFill>
                  <a:srgbClr val="1B3A5C"/>
                </a:solidFill>
                <a:latin typeface="맑은 고딕" pitchFamily="34" charset="0"/>
                <a:ea typeface="맑은 고딕" pitchFamily="34" charset="-122"/>
                <a:cs typeface="맑은 고딕" pitchFamily="34" charset="-120"/>
              </a:rPr>
              <a:t>핵심기술(Technology)</a:t>
            </a:r>
            <a:endParaRPr lang="en-US" sz="1100" dirty="0"/>
          </a:p>
        </p:txBody>
      </p:sp>
      <p:sp>
        <p:nvSpPr>
          <p:cNvPr id="6" name="Text 4"/>
          <p:cNvSpPr txBox="1"/>
          <p:nvPr/>
        </p:nvSpPr>
        <p:spPr>
          <a:xfrm>
            <a:off x="502920" y="621792"/>
            <a:ext cx="914400" cy="685800"/>
          </a:xfrm>
          <a:prstGeom prst="rect">
            <a:avLst/>
          </a:prstGeom>
          <a:noFill/>
          <a:ln/>
        </p:spPr>
        <p:txBody>
          <a:bodyPr wrap="square" lIns="0" tIns="0" rIns="0" bIns="0" rtlCol="0" anchor="ctr"/>
          <a:lstStyle/>
          <a:p>
            <a:pPr indent="0" marL="0">
              <a:buNone/>
            </a:pPr>
            <a:r>
              <a:rPr lang="en-US" sz="4000" b="1" dirty="0">
                <a:solidFill>
                  <a:srgbClr val="B9CCE0"/>
                </a:solidFill>
                <a:latin typeface="맑은 고딕" pitchFamily="34" charset="0"/>
                <a:ea typeface="맑은 고딕" pitchFamily="34" charset="-122"/>
                <a:cs typeface="맑은 고딕" pitchFamily="34" charset="-120"/>
              </a:rPr>
              <a:t>0</a:t>
            </a:r>
            <a:r>
              <a:rPr lang="en-US" sz="4000" b="1" dirty="0">
                <a:solidFill>
                  <a:srgbClr val="1B3A5C"/>
                </a:solidFill>
                <a:latin typeface="맑은 고딕" pitchFamily="34" charset="0"/>
                <a:ea typeface="맑은 고딕" pitchFamily="34" charset="-122"/>
                <a:cs typeface="맑은 고딕" pitchFamily="34" charset="-120"/>
              </a:rPr>
              <a:t>5</a:t>
            </a:r>
            <a:endParaRPr lang="en-US" sz="4000" dirty="0"/>
          </a:p>
        </p:txBody>
      </p:sp>
      <p:sp>
        <p:nvSpPr>
          <p:cNvPr id="7" name="Text 5"/>
          <p:cNvSpPr txBox="1"/>
          <p:nvPr/>
        </p:nvSpPr>
        <p:spPr>
          <a:xfrm>
            <a:off x="1463040" y="621792"/>
            <a:ext cx="9509760" cy="685800"/>
          </a:xfrm>
          <a:prstGeom prst="rect">
            <a:avLst/>
          </a:prstGeom>
          <a:noFill/>
          <a:ln/>
        </p:spPr>
        <p:txBody>
          <a:bodyPr wrap="square" lIns="0" tIns="0" rIns="0" bIns="0" rtlCol="0" anchor="ctr"/>
          <a:lstStyle/>
          <a:p>
            <a:pPr indent="0" marL="0">
              <a:buNone/>
            </a:pPr>
            <a:r>
              <a:rPr lang="en-US" sz="2600" b="1" dirty="0">
                <a:solidFill>
                  <a:srgbClr val="2B2D31"/>
                </a:solidFill>
                <a:latin typeface="맑은 고딕" pitchFamily="34" charset="0"/>
                <a:ea typeface="맑은 고딕" pitchFamily="34" charset="-122"/>
                <a:cs typeface="맑은 고딕" pitchFamily="34" charset="-120"/>
              </a:rPr>
              <a:t>색으로 추적하는 부식 속도</a:t>
            </a:r>
            <a:endParaRPr lang="en-US" sz="2600" dirty="0"/>
          </a:p>
        </p:txBody>
      </p:sp>
      <p:sp>
        <p:nvSpPr>
          <p:cNvPr id="8" name="Shape 6"/>
          <p:cNvSpPr/>
          <p:nvPr/>
        </p:nvSpPr>
        <p:spPr>
          <a:xfrm>
            <a:off x="11259007" y="384048"/>
            <a:ext cx="77724" cy="77724"/>
          </a:xfrm>
          <a:prstGeom prst="ellipse">
            <a:avLst/>
          </a:prstGeom>
          <a:solidFill>
            <a:srgbClr val="B9CCE0"/>
          </a:solidFill>
          <a:ln w="12700">
            <a:solidFill>
              <a:srgbClr val="B9CCE0"/>
            </a:solidFill>
            <a:prstDash val="solid"/>
          </a:ln>
        </p:spPr>
      </p:sp>
      <p:sp>
        <p:nvSpPr>
          <p:cNvPr id="9" name="Shape 7"/>
          <p:cNvSpPr/>
          <p:nvPr/>
        </p:nvSpPr>
        <p:spPr>
          <a:xfrm>
            <a:off x="11405311" y="384048"/>
            <a:ext cx="77724" cy="77724"/>
          </a:xfrm>
          <a:prstGeom prst="ellipse">
            <a:avLst/>
          </a:prstGeom>
          <a:solidFill>
            <a:srgbClr val="6F8FB5"/>
          </a:solidFill>
          <a:ln w="12700">
            <a:solidFill>
              <a:srgbClr val="6F8FB5"/>
            </a:solidFill>
            <a:prstDash val="solid"/>
          </a:ln>
        </p:spPr>
      </p:sp>
      <p:sp>
        <p:nvSpPr>
          <p:cNvPr id="10" name="Shape 8"/>
          <p:cNvSpPr/>
          <p:nvPr/>
        </p:nvSpPr>
        <p:spPr>
          <a:xfrm>
            <a:off x="11551615" y="384048"/>
            <a:ext cx="77724" cy="77724"/>
          </a:xfrm>
          <a:prstGeom prst="ellipse">
            <a:avLst/>
          </a:prstGeom>
          <a:solidFill>
            <a:srgbClr val="1B3A5C"/>
          </a:solidFill>
          <a:ln w="12700">
            <a:solidFill>
              <a:srgbClr val="1B3A5C"/>
            </a:solidFill>
            <a:prstDash val="solid"/>
          </a:ln>
        </p:spPr>
      </p:sp>
      <p:sp>
        <p:nvSpPr>
          <p:cNvPr id="11" name="Shape 9"/>
          <p:cNvSpPr/>
          <p:nvPr/>
        </p:nvSpPr>
        <p:spPr>
          <a:xfrm>
            <a:off x="11185855" y="786384"/>
            <a:ext cx="0" cy="310896"/>
          </a:xfrm>
          <a:prstGeom prst="line">
            <a:avLst/>
          </a:prstGeom>
          <a:noFill/>
          <a:ln w="12700">
            <a:solidFill>
              <a:srgbClr val="D9DCE0"/>
            </a:solidFill>
            <a:prstDash val="solid"/>
          </a:ln>
        </p:spPr>
      </p:sp>
      <p:sp>
        <p:nvSpPr>
          <p:cNvPr id="12" name="Text 10"/>
          <p:cNvSpPr txBox="1"/>
          <p:nvPr/>
        </p:nvSpPr>
        <p:spPr>
          <a:xfrm>
            <a:off x="11259007" y="786384"/>
            <a:ext cx="384048" cy="310896"/>
          </a:xfrm>
          <a:prstGeom prst="rect">
            <a:avLst/>
          </a:prstGeom>
          <a:noFill/>
          <a:ln/>
        </p:spPr>
        <p:txBody>
          <a:bodyPr wrap="square" lIns="0" tIns="0" rIns="0" bIns="0" rtlCol="0" anchor="ctr"/>
          <a:lstStyle/>
          <a:p>
            <a:pPr algn="r" indent="0" marL="0">
              <a:buNone/>
            </a:pPr>
            <a:r>
              <a:rPr lang="en-US" sz="1200" b="1" dirty="0">
                <a:solidFill>
                  <a:srgbClr val="1B3A5C"/>
                </a:solidFill>
                <a:latin typeface="맑은 고딕" pitchFamily="34" charset="0"/>
                <a:ea typeface="맑은 고딕" pitchFamily="34" charset="-122"/>
                <a:cs typeface="맑은 고딕" pitchFamily="34" charset="-120"/>
              </a:rPr>
              <a:t>6</a:t>
            </a:r>
            <a:endParaRPr lang="en-US" sz="1200" dirty="0"/>
          </a:p>
        </p:txBody>
      </p:sp>
      <p:sp>
        <p:nvSpPr>
          <p:cNvPr id="13" name="Text 11"/>
          <p:cNvSpPr txBox="1"/>
          <p:nvPr/>
        </p:nvSpPr>
        <p:spPr>
          <a:xfrm>
            <a:off x="548640" y="2423160"/>
            <a:ext cx="1417320" cy="365760"/>
          </a:xfrm>
          <a:prstGeom prst="rect">
            <a:avLst/>
          </a:prstGeom>
          <a:noFill/>
          <a:ln/>
        </p:spPr>
        <p:txBody>
          <a:bodyPr wrap="square" lIns="0" tIns="0" rIns="0" bIns="0" rtlCol="0" anchor="ctr"/>
          <a:lstStyle/>
          <a:p>
            <a:pPr indent="0" marL="0">
              <a:buNone/>
            </a:pPr>
            <a:r>
              <a:rPr lang="en-US" sz="1400" b="1" dirty="0">
                <a:solidFill>
                  <a:srgbClr val="6B6F76"/>
                </a:solidFill>
                <a:latin typeface="맑은 고딕" pitchFamily="34" charset="0"/>
                <a:ea typeface="맑은 고딕" pitchFamily="34" charset="-122"/>
                <a:cs typeface="맑은 고딕" pitchFamily="34" charset="-120"/>
              </a:rPr>
              <a:t>표면 사진</a:t>
            </a:r>
            <a:endParaRPr lang="en-US" sz="1400" dirty="0"/>
          </a:p>
        </p:txBody>
      </p:sp>
      <p:sp>
        <p:nvSpPr>
          <p:cNvPr id="14" name="Text 12"/>
          <p:cNvSpPr txBox="1"/>
          <p:nvPr/>
        </p:nvSpPr>
        <p:spPr>
          <a:xfrm>
            <a:off x="548640" y="3456432"/>
            <a:ext cx="1417320" cy="365760"/>
          </a:xfrm>
          <a:prstGeom prst="rect">
            <a:avLst/>
          </a:prstGeom>
          <a:noFill/>
          <a:ln/>
        </p:spPr>
        <p:txBody>
          <a:bodyPr wrap="square" lIns="0" tIns="0" rIns="0" bIns="0" rtlCol="0" anchor="ctr"/>
          <a:lstStyle/>
          <a:p>
            <a:pPr indent="0" marL="0">
              <a:buNone/>
            </a:pPr>
            <a:r>
              <a:rPr lang="en-US" sz="1400" b="1" dirty="0">
                <a:solidFill>
                  <a:srgbClr val="6B6F76"/>
                </a:solidFill>
                <a:latin typeface="맑은 고딕" pitchFamily="34" charset="0"/>
                <a:ea typeface="맑은 고딕" pitchFamily="34" charset="-122"/>
                <a:cs typeface="맑은 고딕" pitchFamily="34" charset="-120"/>
              </a:rPr>
              <a:t>녹의 색</a:t>
            </a:r>
            <a:endParaRPr lang="en-US" sz="1400" dirty="0"/>
          </a:p>
        </p:txBody>
      </p:sp>
      <p:sp>
        <p:nvSpPr>
          <p:cNvPr id="15" name="Text 13"/>
          <p:cNvSpPr txBox="1"/>
          <p:nvPr/>
        </p:nvSpPr>
        <p:spPr>
          <a:xfrm>
            <a:off x="548640" y="4754880"/>
            <a:ext cx="1417320" cy="365760"/>
          </a:xfrm>
          <a:prstGeom prst="rect">
            <a:avLst/>
          </a:prstGeom>
          <a:noFill/>
          <a:ln/>
        </p:spPr>
        <p:txBody>
          <a:bodyPr wrap="square" lIns="0" tIns="0" rIns="0" bIns="0" rtlCol="0" anchor="ctr"/>
          <a:lstStyle/>
          <a:p>
            <a:pPr indent="0" marL="0">
              <a:buNone/>
            </a:pPr>
            <a:r>
              <a:rPr lang="en-US" sz="1400" b="1" dirty="0">
                <a:solidFill>
                  <a:srgbClr val="6B6F76"/>
                </a:solidFill>
                <a:latin typeface="맑은 고딕" pitchFamily="34" charset="0"/>
                <a:ea typeface="맑은 고딕" pitchFamily="34" charset="-122"/>
                <a:cs typeface="맑은 고딕" pitchFamily="34" charset="-120"/>
              </a:rPr>
              <a:t>부식 속도</a:t>
            </a:r>
            <a:endParaRPr lang="en-US" sz="1400" dirty="0"/>
          </a:p>
        </p:txBody>
      </p:sp>
      <p:sp>
        <p:nvSpPr>
          <p:cNvPr id="16" name="Shape 14"/>
          <p:cNvSpPr/>
          <p:nvPr/>
        </p:nvSpPr>
        <p:spPr>
          <a:xfrm>
            <a:off x="2923489" y="1463040"/>
            <a:ext cx="1463040" cy="310896"/>
          </a:xfrm>
          <a:prstGeom prst="roundRect">
            <a:avLst>
              <a:gd name="adj" fmla="val 50000"/>
            </a:avLst>
          </a:prstGeom>
          <a:solidFill>
            <a:srgbClr val="3A6EA5"/>
          </a:solidFill>
          <a:ln w="12700">
            <a:solidFill>
              <a:srgbClr val="3A6EA5"/>
            </a:solidFill>
            <a:prstDash val="solid"/>
          </a:ln>
        </p:spPr>
      </p:sp>
      <p:sp>
        <p:nvSpPr>
          <p:cNvPr id="17" name="Text 15"/>
          <p:cNvSpPr txBox="1"/>
          <p:nvPr/>
        </p:nvSpPr>
        <p:spPr>
          <a:xfrm>
            <a:off x="2923489" y="1463040"/>
            <a:ext cx="1463040"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맑은 고딕" pitchFamily="34" charset="0"/>
                <a:ea typeface="맑은 고딕" pitchFamily="34" charset="-122"/>
                <a:cs typeface="맑은 고딕" pitchFamily="34" charset="-120"/>
              </a:rPr>
              <a:t>위험도  낮음</a:t>
            </a:r>
            <a:endParaRPr lang="en-US" sz="1250" dirty="0"/>
          </a:p>
        </p:txBody>
      </p:sp>
      <p:pic>
        <p:nvPicPr>
          <p:cNvPr id="18" name="Image 0" descr="/home/user/PPT/src/img/photo_3.png">    </p:cNvPr>
          <p:cNvPicPr>
            <a:picLocks noChangeAspect="1"/>
          </p:cNvPicPr>
          <p:nvPr/>
        </p:nvPicPr>
        <p:blipFill>
          <a:blip r:embed="rId1"/>
          <a:stretch>
            <a:fillRect/>
          </a:stretch>
        </p:blipFill>
        <p:spPr>
          <a:xfrm>
            <a:off x="2923489" y="1847088"/>
            <a:ext cx="1463040" cy="1463040"/>
          </a:xfrm>
          <a:prstGeom prst="rect">
            <a:avLst/>
          </a:prstGeom>
        </p:spPr>
      </p:pic>
      <p:sp>
        <p:nvSpPr>
          <p:cNvPr id="19" name="Text 16"/>
          <p:cNvSpPr txBox="1"/>
          <p:nvPr/>
        </p:nvSpPr>
        <p:spPr>
          <a:xfrm>
            <a:off x="2923489" y="3035808"/>
            <a:ext cx="1389888" cy="237744"/>
          </a:xfrm>
          <a:prstGeom prst="rect">
            <a:avLst/>
          </a:prstGeom>
          <a:noFill/>
          <a:ln/>
        </p:spPr>
        <p:txBody>
          <a:bodyPr wrap="square" lIns="0" tIns="0" rIns="0" bIns="0" rtlCol="0" anchor="ctr"/>
          <a:lstStyle/>
          <a:p>
            <a:pPr algn="r" indent="0" marL="0">
              <a:buNone/>
            </a:pPr>
            <a:r>
              <a:rPr lang="en-US" sz="1000" b="1" dirty="0">
                <a:solidFill>
                  <a:srgbClr val="FFFFFF"/>
                </a:solidFill>
                <a:latin typeface="맑은 고딕" pitchFamily="34" charset="0"/>
                <a:ea typeface="맑은 고딕" pitchFamily="34" charset="-122"/>
                <a:cs typeface="맑은 고딕" pitchFamily="34" charset="-120"/>
              </a:rPr>
              <a:t>24 h</a:t>
            </a:r>
            <a:endParaRPr lang="en-US" sz="1000" dirty="0"/>
          </a:p>
        </p:txBody>
      </p:sp>
      <p:sp>
        <p:nvSpPr>
          <p:cNvPr id="20" name="Shape 17"/>
          <p:cNvSpPr/>
          <p:nvPr/>
        </p:nvSpPr>
        <p:spPr>
          <a:xfrm>
            <a:off x="2923489" y="3438144"/>
            <a:ext cx="1463040" cy="411480"/>
          </a:xfrm>
          <a:prstGeom prst="rect">
            <a:avLst/>
          </a:prstGeom>
          <a:solidFill>
            <a:srgbClr val="4B4A48"/>
          </a:solidFill>
          <a:ln w="12700">
            <a:solidFill>
              <a:srgbClr val="D9DCE0"/>
            </a:solidFill>
            <a:prstDash val="solid"/>
          </a:ln>
        </p:spPr>
      </p:sp>
      <p:sp>
        <p:nvSpPr>
          <p:cNvPr id="21" name="Text 18"/>
          <p:cNvSpPr txBox="1"/>
          <p:nvPr/>
        </p:nvSpPr>
        <p:spPr>
          <a:xfrm>
            <a:off x="2923489" y="3438144"/>
            <a:ext cx="146304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b*  1.7</a:t>
            </a:r>
            <a:endParaRPr lang="en-US" sz="1500" dirty="0"/>
          </a:p>
        </p:txBody>
      </p:sp>
      <p:sp>
        <p:nvSpPr>
          <p:cNvPr id="22" name="Shape 19"/>
          <p:cNvSpPr/>
          <p:nvPr/>
        </p:nvSpPr>
        <p:spPr>
          <a:xfrm>
            <a:off x="3197809" y="5516985"/>
            <a:ext cx="914400" cy="289455"/>
          </a:xfrm>
          <a:prstGeom prst="rect">
            <a:avLst/>
          </a:prstGeom>
          <a:solidFill>
            <a:srgbClr val="3A6EA5"/>
          </a:solidFill>
          <a:ln w="12700">
            <a:solidFill>
              <a:srgbClr val="3A6EA5"/>
            </a:solidFill>
            <a:prstDash val="solid"/>
          </a:ln>
        </p:spPr>
      </p:sp>
      <p:sp>
        <p:nvSpPr>
          <p:cNvPr id="23" name="Text 20"/>
          <p:cNvSpPr txBox="1"/>
          <p:nvPr/>
        </p:nvSpPr>
        <p:spPr>
          <a:xfrm>
            <a:off x="2740609" y="5224377"/>
            <a:ext cx="1828800" cy="256032"/>
          </a:xfrm>
          <a:prstGeom prst="rect">
            <a:avLst/>
          </a:prstGeom>
          <a:noFill/>
          <a:ln/>
        </p:spPr>
        <p:txBody>
          <a:bodyPr wrap="square" lIns="0" tIns="0" rIns="0" bIns="0" rtlCol="0" anchor="t"/>
          <a:lstStyle/>
          <a:p>
            <a:pPr algn="ctr" indent="0" marL="0">
              <a:buNone/>
            </a:pPr>
            <a:r>
              <a:rPr lang="en-US" sz="1300" b="1" dirty="0">
                <a:solidFill>
                  <a:srgbClr val="3A6EA5"/>
                </a:solidFill>
                <a:latin typeface="맑은 고딕" pitchFamily="34" charset="0"/>
                <a:ea typeface="맑은 고딕" pitchFamily="34" charset="-122"/>
                <a:cs typeface="맑은 고딕" pitchFamily="34" charset="-120"/>
              </a:rPr>
              <a:t>0.34 mm/년</a:t>
            </a:r>
            <a:endParaRPr lang="en-US" sz="1300" dirty="0"/>
          </a:p>
        </p:txBody>
      </p:sp>
      <p:pic>
        <p:nvPicPr>
          <p:cNvPr id="24" name="Image 1" descr="preencoded.png">    </p:cNvPr>
          <p:cNvPicPr>
            <a:picLocks noChangeAspect="1"/>
          </p:cNvPicPr>
          <p:nvPr/>
        </p:nvPicPr>
        <p:blipFill>
          <a:blip r:embed="rId2"/>
          <a:stretch>
            <a:fillRect/>
          </a:stretch>
        </p:blipFill>
        <p:spPr>
          <a:xfrm>
            <a:off x="5106314" y="2432304"/>
            <a:ext cx="292608" cy="292608"/>
          </a:xfrm>
          <a:prstGeom prst="rect">
            <a:avLst/>
          </a:prstGeom>
        </p:spPr>
      </p:pic>
      <p:sp>
        <p:nvSpPr>
          <p:cNvPr id="25" name="Shape 21"/>
          <p:cNvSpPr/>
          <p:nvPr/>
        </p:nvSpPr>
        <p:spPr>
          <a:xfrm>
            <a:off x="6118708" y="1463040"/>
            <a:ext cx="1463040" cy="310896"/>
          </a:xfrm>
          <a:prstGeom prst="roundRect">
            <a:avLst>
              <a:gd name="adj" fmla="val 50000"/>
            </a:avLst>
          </a:prstGeom>
          <a:solidFill>
            <a:srgbClr val="3C8D5A"/>
          </a:solidFill>
          <a:ln w="12700">
            <a:solidFill>
              <a:srgbClr val="3C8D5A"/>
            </a:solidFill>
            <a:prstDash val="solid"/>
          </a:ln>
        </p:spPr>
      </p:sp>
      <p:sp>
        <p:nvSpPr>
          <p:cNvPr id="26" name="Text 22"/>
          <p:cNvSpPr txBox="1"/>
          <p:nvPr/>
        </p:nvSpPr>
        <p:spPr>
          <a:xfrm>
            <a:off x="6118708" y="1463040"/>
            <a:ext cx="1463040"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맑은 고딕" pitchFamily="34" charset="0"/>
                <a:ea typeface="맑은 고딕" pitchFamily="34" charset="-122"/>
                <a:cs typeface="맑은 고딕" pitchFamily="34" charset="-120"/>
              </a:rPr>
              <a:t>위험도  중간</a:t>
            </a:r>
            <a:endParaRPr lang="en-US" sz="1250" dirty="0"/>
          </a:p>
        </p:txBody>
      </p:sp>
      <p:pic>
        <p:nvPicPr>
          <p:cNvPr id="27" name="Image 2" descr="/home/user/PPT/src/img/photo_15.png">    </p:cNvPr>
          <p:cNvPicPr>
            <a:picLocks noChangeAspect="1"/>
          </p:cNvPicPr>
          <p:nvPr/>
        </p:nvPicPr>
        <p:blipFill>
          <a:blip r:embed="rId3"/>
          <a:stretch>
            <a:fillRect/>
          </a:stretch>
        </p:blipFill>
        <p:spPr>
          <a:xfrm>
            <a:off x="6118708" y="1847088"/>
            <a:ext cx="1463040" cy="1463040"/>
          </a:xfrm>
          <a:prstGeom prst="rect">
            <a:avLst/>
          </a:prstGeom>
        </p:spPr>
      </p:pic>
      <p:sp>
        <p:nvSpPr>
          <p:cNvPr id="28" name="Text 23"/>
          <p:cNvSpPr txBox="1"/>
          <p:nvPr/>
        </p:nvSpPr>
        <p:spPr>
          <a:xfrm>
            <a:off x="6118708" y="3035808"/>
            <a:ext cx="1389888" cy="237744"/>
          </a:xfrm>
          <a:prstGeom prst="rect">
            <a:avLst/>
          </a:prstGeom>
          <a:noFill/>
          <a:ln/>
        </p:spPr>
        <p:txBody>
          <a:bodyPr wrap="square" lIns="0" tIns="0" rIns="0" bIns="0" rtlCol="0" anchor="ctr"/>
          <a:lstStyle/>
          <a:p>
            <a:pPr algn="r" indent="0" marL="0">
              <a:buNone/>
            </a:pPr>
            <a:r>
              <a:rPr lang="en-US" sz="1000" b="1" dirty="0">
                <a:solidFill>
                  <a:srgbClr val="FFFFFF"/>
                </a:solidFill>
                <a:latin typeface="맑은 고딕" pitchFamily="34" charset="0"/>
                <a:ea typeface="맑은 고딕" pitchFamily="34" charset="-122"/>
                <a:cs typeface="맑은 고딕" pitchFamily="34" charset="-120"/>
              </a:rPr>
              <a:t>120 h</a:t>
            </a:r>
            <a:endParaRPr lang="en-US" sz="1000" dirty="0"/>
          </a:p>
        </p:txBody>
      </p:sp>
      <p:sp>
        <p:nvSpPr>
          <p:cNvPr id="29" name="Shape 24"/>
          <p:cNvSpPr/>
          <p:nvPr/>
        </p:nvSpPr>
        <p:spPr>
          <a:xfrm>
            <a:off x="6118708" y="3438144"/>
            <a:ext cx="1463040" cy="411480"/>
          </a:xfrm>
          <a:prstGeom prst="rect">
            <a:avLst/>
          </a:prstGeom>
          <a:solidFill>
            <a:srgbClr val="4B4034"/>
          </a:solidFill>
          <a:ln w="12700">
            <a:solidFill>
              <a:srgbClr val="D9DCE0"/>
            </a:solidFill>
            <a:prstDash val="solid"/>
          </a:ln>
        </p:spPr>
      </p:sp>
      <p:sp>
        <p:nvSpPr>
          <p:cNvPr id="30" name="Text 25"/>
          <p:cNvSpPr txBox="1"/>
          <p:nvPr/>
        </p:nvSpPr>
        <p:spPr>
          <a:xfrm>
            <a:off x="6118708" y="3438144"/>
            <a:ext cx="146304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b*  9.4</a:t>
            </a:r>
            <a:endParaRPr lang="en-US" sz="1500" dirty="0"/>
          </a:p>
        </p:txBody>
      </p:sp>
      <p:sp>
        <p:nvSpPr>
          <p:cNvPr id="31" name="Shape 26"/>
          <p:cNvSpPr/>
          <p:nvPr/>
        </p:nvSpPr>
        <p:spPr>
          <a:xfrm>
            <a:off x="6393028" y="5227530"/>
            <a:ext cx="914400" cy="578910"/>
          </a:xfrm>
          <a:prstGeom prst="rect">
            <a:avLst/>
          </a:prstGeom>
          <a:solidFill>
            <a:srgbClr val="3C8D5A"/>
          </a:solidFill>
          <a:ln w="12700">
            <a:solidFill>
              <a:srgbClr val="3C8D5A"/>
            </a:solidFill>
            <a:prstDash val="solid"/>
          </a:ln>
        </p:spPr>
      </p:sp>
      <p:sp>
        <p:nvSpPr>
          <p:cNvPr id="32" name="Text 27"/>
          <p:cNvSpPr txBox="1"/>
          <p:nvPr/>
        </p:nvSpPr>
        <p:spPr>
          <a:xfrm>
            <a:off x="5935828" y="4934922"/>
            <a:ext cx="1828800" cy="256032"/>
          </a:xfrm>
          <a:prstGeom prst="rect">
            <a:avLst/>
          </a:prstGeom>
          <a:noFill/>
          <a:ln/>
        </p:spPr>
        <p:txBody>
          <a:bodyPr wrap="square" lIns="0" tIns="0" rIns="0" bIns="0" rtlCol="0" anchor="t"/>
          <a:lstStyle/>
          <a:p>
            <a:pPr algn="ctr" indent="0" marL="0">
              <a:buNone/>
            </a:pPr>
            <a:r>
              <a:rPr lang="en-US" sz="1300" b="1" dirty="0">
                <a:solidFill>
                  <a:srgbClr val="3C8D5A"/>
                </a:solidFill>
                <a:latin typeface="맑은 고딕" pitchFamily="34" charset="0"/>
                <a:ea typeface="맑은 고딕" pitchFamily="34" charset="-122"/>
                <a:cs typeface="맑은 고딕" pitchFamily="34" charset="-120"/>
              </a:rPr>
              <a:t>0.68 mm/년</a:t>
            </a:r>
            <a:endParaRPr lang="en-US" sz="1300" dirty="0"/>
          </a:p>
        </p:txBody>
      </p:sp>
      <p:pic>
        <p:nvPicPr>
          <p:cNvPr id="33" name="Image 3" descr="preencoded.png">    </p:cNvPr>
          <p:cNvPicPr>
            <a:picLocks noChangeAspect="1"/>
          </p:cNvPicPr>
          <p:nvPr/>
        </p:nvPicPr>
        <p:blipFill>
          <a:blip r:embed="rId4"/>
          <a:stretch>
            <a:fillRect/>
          </a:stretch>
        </p:blipFill>
        <p:spPr>
          <a:xfrm>
            <a:off x="8301533" y="2432304"/>
            <a:ext cx="292608" cy="292608"/>
          </a:xfrm>
          <a:prstGeom prst="rect">
            <a:avLst/>
          </a:prstGeom>
        </p:spPr>
      </p:pic>
      <p:sp>
        <p:nvSpPr>
          <p:cNvPr id="34" name="Shape 28"/>
          <p:cNvSpPr/>
          <p:nvPr/>
        </p:nvSpPr>
        <p:spPr>
          <a:xfrm>
            <a:off x="9313926" y="1463040"/>
            <a:ext cx="1463040" cy="310896"/>
          </a:xfrm>
          <a:prstGeom prst="roundRect">
            <a:avLst>
              <a:gd name="adj" fmla="val 50000"/>
            </a:avLst>
          </a:prstGeom>
          <a:solidFill>
            <a:srgbClr val="B23A2E"/>
          </a:solidFill>
          <a:ln w="12700">
            <a:solidFill>
              <a:srgbClr val="B23A2E"/>
            </a:solidFill>
            <a:prstDash val="solid"/>
          </a:ln>
        </p:spPr>
      </p:sp>
      <p:sp>
        <p:nvSpPr>
          <p:cNvPr id="35" name="Text 29"/>
          <p:cNvSpPr txBox="1"/>
          <p:nvPr/>
        </p:nvSpPr>
        <p:spPr>
          <a:xfrm>
            <a:off x="9313926" y="1463040"/>
            <a:ext cx="1463040"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맑은 고딕" pitchFamily="34" charset="0"/>
                <a:ea typeface="맑은 고딕" pitchFamily="34" charset="-122"/>
                <a:cs typeface="맑은 고딕" pitchFamily="34" charset="-120"/>
              </a:rPr>
              <a:t>위험도  높음</a:t>
            </a:r>
            <a:endParaRPr lang="en-US" sz="1250" dirty="0"/>
          </a:p>
        </p:txBody>
      </p:sp>
      <p:pic>
        <p:nvPicPr>
          <p:cNvPr id="36" name="Image 4" descr="/home/user/PPT/src/img/photo_30.png">    </p:cNvPr>
          <p:cNvPicPr>
            <a:picLocks noChangeAspect="1"/>
          </p:cNvPicPr>
          <p:nvPr/>
        </p:nvPicPr>
        <p:blipFill>
          <a:blip r:embed="rId5"/>
          <a:stretch>
            <a:fillRect/>
          </a:stretch>
        </p:blipFill>
        <p:spPr>
          <a:xfrm>
            <a:off x="9313926" y="1847088"/>
            <a:ext cx="1463040" cy="1463040"/>
          </a:xfrm>
          <a:prstGeom prst="rect">
            <a:avLst/>
          </a:prstGeom>
        </p:spPr>
      </p:pic>
      <p:sp>
        <p:nvSpPr>
          <p:cNvPr id="37" name="Text 30"/>
          <p:cNvSpPr txBox="1"/>
          <p:nvPr/>
        </p:nvSpPr>
        <p:spPr>
          <a:xfrm>
            <a:off x="9313926" y="3035808"/>
            <a:ext cx="1389888" cy="237744"/>
          </a:xfrm>
          <a:prstGeom prst="rect">
            <a:avLst/>
          </a:prstGeom>
          <a:noFill/>
          <a:ln/>
        </p:spPr>
        <p:txBody>
          <a:bodyPr wrap="square" lIns="0" tIns="0" rIns="0" bIns="0" rtlCol="0" anchor="ctr"/>
          <a:lstStyle/>
          <a:p>
            <a:pPr algn="r" indent="0" marL="0">
              <a:buNone/>
            </a:pPr>
            <a:r>
              <a:rPr lang="en-US" sz="1000" b="1" dirty="0">
                <a:solidFill>
                  <a:srgbClr val="FFFFFF"/>
                </a:solidFill>
                <a:latin typeface="맑은 고딕" pitchFamily="34" charset="0"/>
                <a:ea typeface="맑은 고딕" pitchFamily="34" charset="-122"/>
                <a:cs typeface="맑은 고딕" pitchFamily="34" charset="-120"/>
              </a:rPr>
              <a:t>240 h</a:t>
            </a:r>
            <a:endParaRPr lang="en-US" sz="1000" dirty="0"/>
          </a:p>
        </p:txBody>
      </p:sp>
      <p:sp>
        <p:nvSpPr>
          <p:cNvPr id="38" name="Shape 31"/>
          <p:cNvSpPr/>
          <p:nvPr/>
        </p:nvSpPr>
        <p:spPr>
          <a:xfrm>
            <a:off x="9313926" y="3438144"/>
            <a:ext cx="1463040" cy="411480"/>
          </a:xfrm>
          <a:prstGeom prst="rect">
            <a:avLst/>
          </a:prstGeom>
          <a:solidFill>
            <a:srgbClr val="4C3C2C"/>
          </a:solidFill>
          <a:ln w="12700">
            <a:solidFill>
              <a:srgbClr val="D9DCE0"/>
            </a:solidFill>
            <a:prstDash val="solid"/>
          </a:ln>
        </p:spPr>
      </p:sp>
      <p:sp>
        <p:nvSpPr>
          <p:cNvPr id="39" name="Text 32"/>
          <p:cNvSpPr txBox="1"/>
          <p:nvPr/>
        </p:nvSpPr>
        <p:spPr>
          <a:xfrm>
            <a:off x="9313926" y="3438144"/>
            <a:ext cx="146304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b*  13.1</a:t>
            </a:r>
            <a:endParaRPr lang="en-US" sz="1500" dirty="0"/>
          </a:p>
        </p:txBody>
      </p:sp>
      <p:sp>
        <p:nvSpPr>
          <p:cNvPr id="40" name="Shape 33"/>
          <p:cNvSpPr/>
          <p:nvPr/>
        </p:nvSpPr>
        <p:spPr>
          <a:xfrm>
            <a:off x="9588246" y="4572000"/>
            <a:ext cx="914400" cy="1234440"/>
          </a:xfrm>
          <a:prstGeom prst="rect">
            <a:avLst/>
          </a:prstGeom>
          <a:solidFill>
            <a:srgbClr val="B23A2E"/>
          </a:solidFill>
          <a:ln w="12700">
            <a:solidFill>
              <a:srgbClr val="B23A2E"/>
            </a:solidFill>
            <a:prstDash val="solid"/>
          </a:ln>
        </p:spPr>
      </p:sp>
      <p:sp>
        <p:nvSpPr>
          <p:cNvPr id="41" name="Text 34"/>
          <p:cNvSpPr txBox="1"/>
          <p:nvPr/>
        </p:nvSpPr>
        <p:spPr>
          <a:xfrm>
            <a:off x="9131046" y="4279392"/>
            <a:ext cx="1828800" cy="256032"/>
          </a:xfrm>
          <a:prstGeom prst="rect">
            <a:avLst/>
          </a:prstGeom>
          <a:noFill/>
          <a:ln/>
        </p:spPr>
        <p:txBody>
          <a:bodyPr wrap="square" lIns="0" tIns="0" rIns="0" bIns="0" rtlCol="0" anchor="t"/>
          <a:lstStyle/>
          <a:p>
            <a:pPr algn="ctr" indent="0" marL="0">
              <a:buNone/>
            </a:pPr>
            <a:r>
              <a:rPr lang="en-US" sz="1300" b="1" dirty="0">
                <a:solidFill>
                  <a:srgbClr val="B23A2E"/>
                </a:solidFill>
                <a:latin typeface="맑은 고딕" pitchFamily="34" charset="0"/>
                <a:ea typeface="맑은 고딕" pitchFamily="34" charset="-122"/>
                <a:cs typeface="맑은 고딕" pitchFamily="34" charset="-120"/>
              </a:rPr>
              <a:t>1.45 mm/년</a:t>
            </a:r>
            <a:endParaRPr lang="en-US" sz="1300" dirty="0"/>
          </a:p>
        </p:txBody>
      </p:sp>
      <p:sp>
        <p:nvSpPr>
          <p:cNvPr id="42" name="Shape 35"/>
          <p:cNvSpPr/>
          <p:nvPr/>
        </p:nvSpPr>
        <p:spPr>
          <a:xfrm>
            <a:off x="2240280" y="5806440"/>
            <a:ext cx="9219895" cy="0"/>
          </a:xfrm>
          <a:prstGeom prst="line">
            <a:avLst/>
          </a:prstGeom>
          <a:noFill/>
          <a:ln w="12700">
            <a:solidFill>
              <a:srgbClr val="A3A7AD"/>
            </a:solidFill>
            <a:prstDash val="solid"/>
          </a:ln>
        </p:spPr>
      </p:sp>
      <p:sp>
        <p:nvSpPr>
          <p:cNvPr id="43" name="Text 36"/>
          <p:cNvSpPr txBox="1"/>
          <p:nvPr/>
        </p:nvSpPr>
        <p:spPr>
          <a:xfrm>
            <a:off x="10454335" y="4526280"/>
            <a:ext cx="1188720" cy="365760"/>
          </a:xfrm>
          <a:prstGeom prst="rect">
            <a:avLst/>
          </a:prstGeom>
          <a:noFill/>
          <a:ln/>
        </p:spPr>
        <p:txBody>
          <a:bodyPr wrap="square" lIns="0" tIns="0" rIns="0" bIns="0" rtlCol="0" anchor="t"/>
          <a:lstStyle/>
          <a:p>
            <a:pPr algn="r" indent="0" marL="0">
              <a:buNone/>
            </a:pPr>
            <a:r>
              <a:rPr lang="en-US" sz="1800" b="1" dirty="0">
                <a:solidFill>
                  <a:srgbClr val="B23A2E"/>
                </a:solidFill>
                <a:latin typeface="맑은 고딕" pitchFamily="34" charset="0"/>
                <a:ea typeface="맑은 고딕" pitchFamily="34" charset="-122"/>
                <a:cs typeface="맑은 고딕" pitchFamily="34" charset="-120"/>
              </a:rPr>
              <a:t>약 4배</a:t>
            </a:r>
            <a:endParaRPr lang="en-US" sz="1800" dirty="0"/>
          </a:p>
        </p:txBody>
      </p:sp>
      <p:sp>
        <p:nvSpPr>
          <p:cNvPr id="44" name="Text 37"/>
          <p:cNvSpPr txBox="1"/>
          <p:nvPr/>
        </p:nvSpPr>
        <p:spPr>
          <a:xfrm>
            <a:off x="7528255" y="1188720"/>
            <a:ext cx="4114800" cy="228600"/>
          </a:xfrm>
          <a:prstGeom prst="rect">
            <a:avLst/>
          </a:prstGeom>
          <a:noFill/>
          <a:ln/>
        </p:spPr>
        <p:txBody>
          <a:bodyPr wrap="square" lIns="0" tIns="0" rIns="0" bIns="0" rtlCol="0" anchor="t"/>
          <a:lstStyle/>
          <a:p>
            <a:pPr algn="r" indent="0" marL="0">
              <a:buNone/>
            </a:pPr>
            <a:r>
              <a:rPr lang="en-US" sz="1000" i="1" dirty="0">
                <a:solidFill>
                  <a:srgbClr val="A3A7AD"/>
                </a:solidFill>
                <a:latin typeface="맑은 고딕" pitchFamily="34" charset="0"/>
                <a:ea typeface="맑은 고딕" pitchFamily="34" charset="-122"/>
                <a:cs typeface="맑은 고딕" pitchFamily="34" charset="-120"/>
              </a:rPr>
              <a:t>탄소강 · 240시간 촉진부식 · 단계별 평균값</a:t>
            </a:r>
            <a:endParaRPr lang="en-US" sz="1000" dirty="0"/>
          </a:p>
        </p:txBody>
      </p:sp>
      <p:sp>
        <p:nvSpPr>
          <p:cNvPr id="45" name="Shape 38"/>
          <p:cNvSpPr/>
          <p:nvPr/>
        </p:nvSpPr>
        <p:spPr>
          <a:xfrm>
            <a:off x="0" y="6144768"/>
            <a:ext cx="12191695" cy="713232"/>
          </a:xfrm>
          <a:prstGeom prst="rect">
            <a:avLst/>
          </a:prstGeom>
          <a:solidFill>
            <a:srgbClr val="1B3A5C"/>
          </a:solidFill>
          <a:ln w="12700">
            <a:solidFill>
              <a:srgbClr val="1B3A5C"/>
            </a:solidFill>
            <a:prstDash val="solid"/>
          </a:ln>
        </p:spPr>
      </p:sp>
      <p:sp>
        <p:nvSpPr>
          <p:cNvPr id="46" name="Text 39"/>
          <p:cNvSpPr txBox="1"/>
          <p:nvPr/>
        </p:nvSpPr>
        <p:spPr>
          <a:xfrm>
            <a:off x="548640" y="6144768"/>
            <a:ext cx="11094415" cy="713232"/>
          </a:xfrm>
          <a:prstGeom prst="rect">
            <a:avLst/>
          </a:prstGeom>
          <a:noFill/>
          <a:ln/>
        </p:spPr>
        <p:txBody>
          <a:bodyPr wrap="square" lIns="0" tIns="0" rIns="0" bIns="0" rtlCol="0" anchor="ctr"/>
          <a:lstStyle/>
          <a:p>
            <a:pPr algn="ctr" indent="0" marL="0">
              <a:buNone/>
            </a:pPr>
            <a:r>
              <a:rPr lang="en-US" sz="1900" dirty="0">
                <a:solidFill>
                  <a:srgbClr val="FFFFFF"/>
                </a:solidFill>
                <a:latin typeface="맑은 고딕" pitchFamily="34" charset="0"/>
                <a:ea typeface="맑은 고딕" pitchFamily="34" charset="-122"/>
                <a:cs typeface="맑은 고딕" pitchFamily="34" charset="-120"/>
              </a:rPr>
              <a:t>녹 색(b*)과 부식 속도 순위 상관 </a:t>
            </a:r>
            <a:r>
              <a:rPr lang="en-US" sz="1900" b="1" dirty="0">
                <a:solidFill>
                  <a:srgbClr val="F2B48A"/>
                </a:solidFill>
                <a:latin typeface="맑은 고딕" pitchFamily="34" charset="0"/>
                <a:ea typeface="맑은 고딕" pitchFamily="34" charset="-122"/>
                <a:cs typeface="맑은 고딕" pitchFamily="34" charset="-120"/>
              </a:rPr>
              <a:t>ρ = 0.88</a:t>
            </a:r>
            <a:r>
              <a:rPr lang="en-US" sz="1900" dirty="0">
                <a:solidFill>
                  <a:srgbClr val="FFFFFF"/>
                </a:solidFill>
                <a:latin typeface="맑은 고딕" pitchFamily="34" charset="0"/>
                <a:ea typeface="맑은 고딕" pitchFamily="34" charset="-122"/>
                <a:cs typeface="맑은 고딕" pitchFamily="34" charset="-120"/>
              </a:rPr>
              <a:t>  ·  6가지 분석으로 교차 검증</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77724" cy="77724"/>
          </a:xfrm>
          <a:prstGeom prst="ellipse">
            <a:avLst/>
          </a:prstGeom>
          <a:solidFill>
            <a:srgbClr val="1B3A5C"/>
          </a:solidFill>
          <a:ln w="12700">
            <a:solidFill>
              <a:srgbClr val="1B3A5C"/>
            </a:solidFill>
            <a:prstDash val="solid"/>
          </a:ln>
        </p:spPr>
      </p:sp>
      <p:sp>
        <p:nvSpPr>
          <p:cNvPr id="3" name="Shape 1"/>
          <p:cNvSpPr/>
          <p:nvPr/>
        </p:nvSpPr>
        <p:spPr>
          <a:xfrm>
            <a:off x="694944" y="384048"/>
            <a:ext cx="77724" cy="77724"/>
          </a:xfrm>
          <a:prstGeom prst="ellipse">
            <a:avLst/>
          </a:prstGeom>
          <a:solidFill>
            <a:srgbClr val="6F8FB5"/>
          </a:solidFill>
          <a:ln w="12700">
            <a:solidFill>
              <a:srgbClr val="6F8FB5"/>
            </a:solidFill>
            <a:prstDash val="solid"/>
          </a:ln>
        </p:spPr>
      </p:sp>
      <p:sp>
        <p:nvSpPr>
          <p:cNvPr id="4" name="Shape 2"/>
          <p:cNvSpPr/>
          <p:nvPr/>
        </p:nvSpPr>
        <p:spPr>
          <a:xfrm>
            <a:off x="841248" y="384048"/>
            <a:ext cx="77724" cy="77724"/>
          </a:xfrm>
          <a:prstGeom prst="ellipse">
            <a:avLst/>
          </a:prstGeom>
          <a:solidFill>
            <a:srgbClr val="B9CCE0"/>
          </a:solidFill>
          <a:ln w="12700">
            <a:solidFill>
              <a:srgbClr val="B9CCE0"/>
            </a:solidFill>
            <a:prstDash val="solid"/>
          </a:ln>
        </p:spPr>
      </p:sp>
      <p:sp>
        <p:nvSpPr>
          <p:cNvPr id="5" name="Text 3"/>
          <p:cNvSpPr txBox="1"/>
          <p:nvPr/>
        </p:nvSpPr>
        <p:spPr>
          <a:xfrm>
            <a:off x="1097280" y="301752"/>
            <a:ext cx="5486400" cy="256032"/>
          </a:xfrm>
          <a:prstGeom prst="rect">
            <a:avLst/>
          </a:prstGeom>
          <a:noFill/>
          <a:ln/>
        </p:spPr>
        <p:txBody>
          <a:bodyPr wrap="square" lIns="0" tIns="0" rIns="0" bIns="0" rtlCol="0" anchor="t"/>
          <a:lstStyle/>
          <a:p>
            <a:pPr indent="0" marL="0">
              <a:buNone/>
            </a:pPr>
            <a:r>
              <a:rPr lang="en-US" sz="1100" dirty="0">
                <a:solidFill>
                  <a:srgbClr val="1B3A5C"/>
                </a:solidFill>
                <a:latin typeface="맑은 고딕" pitchFamily="34" charset="0"/>
                <a:ea typeface="맑은 고딕" pitchFamily="34" charset="-122"/>
                <a:cs typeface="맑은 고딕" pitchFamily="34" charset="-120"/>
              </a:rPr>
              <a:t>시장(Market)</a:t>
            </a:r>
            <a:endParaRPr lang="en-US" sz="1100" dirty="0"/>
          </a:p>
        </p:txBody>
      </p:sp>
      <p:sp>
        <p:nvSpPr>
          <p:cNvPr id="6" name="Text 4"/>
          <p:cNvSpPr txBox="1"/>
          <p:nvPr/>
        </p:nvSpPr>
        <p:spPr>
          <a:xfrm>
            <a:off x="502920" y="621792"/>
            <a:ext cx="914400" cy="685800"/>
          </a:xfrm>
          <a:prstGeom prst="rect">
            <a:avLst/>
          </a:prstGeom>
          <a:noFill/>
          <a:ln/>
        </p:spPr>
        <p:txBody>
          <a:bodyPr wrap="square" lIns="0" tIns="0" rIns="0" bIns="0" rtlCol="0" anchor="ctr"/>
          <a:lstStyle/>
          <a:p>
            <a:pPr indent="0" marL="0">
              <a:buNone/>
            </a:pPr>
            <a:r>
              <a:rPr lang="en-US" sz="4000" b="1" dirty="0">
                <a:solidFill>
                  <a:srgbClr val="B9CCE0"/>
                </a:solidFill>
                <a:latin typeface="맑은 고딕" pitchFamily="34" charset="0"/>
                <a:ea typeface="맑은 고딕" pitchFamily="34" charset="-122"/>
                <a:cs typeface="맑은 고딕" pitchFamily="34" charset="-120"/>
              </a:rPr>
              <a:t>0</a:t>
            </a:r>
            <a:r>
              <a:rPr lang="en-US" sz="4000" b="1" dirty="0">
                <a:solidFill>
                  <a:srgbClr val="1B3A5C"/>
                </a:solidFill>
                <a:latin typeface="맑은 고딕" pitchFamily="34" charset="0"/>
                <a:ea typeface="맑은 고딕" pitchFamily="34" charset="-122"/>
                <a:cs typeface="맑은 고딕" pitchFamily="34" charset="-120"/>
              </a:rPr>
              <a:t>6</a:t>
            </a:r>
            <a:endParaRPr lang="en-US" sz="4000" dirty="0"/>
          </a:p>
        </p:txBody>
      </p:sp>
      <p:sp>
        <p:nvSpPr>
          <p:cNvPr id="7" name="Text 5"/>
          <p:cNvSpPr txBox="1"/>
          <p:nvPr/>
        </p:nvSpPr>
        <p:spPr>
          <a:xfrm>
            <a:off x="1463040" y="621792"/>
            <a:ext cx="9509760" cy="685800"/>
          </a:xfrm>
          <a:prstGeom prst="rect">
            <a:avLst/>
          </a:prstGeom>
          <a:noFill/>
          <a:ln/>
        </p:spPr>
        <p:txBody>
          <a:bodyPr wrap="square" lIns="0" tIns="0" rIns="0" bIns="0" rtlCol="0" anchor="ctr"/>
          <a:lstStyle/>
          <a:p>
            <a:pPr indent="0" marL="0">
              <a:buNone/>
            </a:pPr>
            <a:r>
              <a:rPr lang="en-US" sz="2600" b="1" dirty="0">
                <a:solidFill>
                  <a:srgbClr val="2B2D31"/>
                </a:solidFill>
                <a:latin typeface="맑은 고딕" pitchFamily="34" charset="0"/>
                <a:ea typeface="맑은 고딕" pitchFamily="34" charset="-122"/>
                <a:cs typeface="맑은 고딕" pitchFamily="34" charset="-120"/>
              </a:rPr>
              <a:t>규제가 만드는 반복 수요</a:t>
            </a:r>
            <a:endParaRPr lang="en-US" sz="2600" dirty="0"/>
          </a:p>
        </p:txBody>
      </p:sp>
      <p:sp>
        <p:nvSpPr>
          <p:cNvPr id="8" name="Shape 6"/>
          <p:cNvSpPr/>
          <p:nvPr/>
        </p:nvSpPr>
        <p:spPr>
          <a:xfrm>
            <a:off x="11259007" y="384048"/>
            <a:ext cx="77724" cy="77724"/>
          </a:xfrm>
          <a:prstGeom prst="ellipse">
            <a:avLst/>
          </a:prstGeom>
          <a:solidFill>
            <a:srgbClr val="B9CCE0"/>
          </a:solidFill>
          <a:ln w="12700">
            <a:solidFill>
              <a:srgbClr val="B9CCE0"/>
            </a:solidFill>
            <a:prstDash val="solid"/>
          </a:ln>
        </p:spPr>
      </p:sp>
      <p:sp>
        <p:nvSpPr>
          <p:cNvPr id="9" name="Shape 7"/>
          <p:cNvSpPr/>
          <p:nvPr/>
        </p:nvSpPr>
        <p:spPr>
          <a:xfrm>
            <a:off x="11405311" y="384048"/>
            <a:ext cx="77724" cy="77724"/>
          </a:xfrm>
          <a:prstGeom prst="ellipse">
            <a:avLst/>
          </a:prstGeom>
          <a:solidFill>
            <a:srgbClr val="6F8FB5"/>
          </a:solidFill>
          <a:ln w="12700">
            <a:solidFill>
              <a:srgbClr val="6F8FB5"/>
            </a:solidFill>
            <a:prstDash val="solid"/>
          </a:ln>
        </p:spPr>
      </p:sp>
      <p:sp>
        <p:nvSpPr>
          <p:cNvPr id="10" name="Shape 8"/>
          <p:cNvSpPr/>
          <p:nvPr/>
        </p:nvSpPr>
        <p:spPr>
          <a:xfrm>
            <a:off x="11551615" y="384048"/>
            <a:ext cx="77724" cy="77724"/>
          </a:xfrm>
          <a:prstGeom prst="ellipse">
            <a:avLst/>
          </a:prstGeom>
          <a:solidFill>
            <a:srgbClr val="1B3A5C"/>
          </a:solidFill>
          <a:ln w="12700">
            <a:solidFill>
              <a:srgbClr val="1B3A5C"/>
            </a:solidFill>
            <a:prstDash val="solid"/>
          </a:ln>
        </p:spPr>
      </p:sp>
      <p:sp>
        <p:nvSpPr>
          <p:cNvPr id="11" name="Shape 9"/>
          <p:cNvSpPr/>
          <p:nvPr/>
        </p:nvSpPr>
        <p:spPr>
          <a:xfrm>
            <a:off x="11185855" y="786384"/>
            <a:ext cx="0" cy="310896"/>
          </a:xfrm>
          <a:prstGeom prst="line">
            <a:avLst/>
          </a:prstGeom>
          <a:noFill/>
          <a:ln w="12700">
            <a:solidFill>
              <a:srgbClr val="D9DCE0"/>
            </a:solidFill>
            <a:prstDash val="solid"/>
          </a:ln>
        </p:spPr>
      </p:sp>
      <p:sp>
        <p:nvSpPr>
          <p:cNvPr id="12" name="Text 10"/>
          <p:cNvSpPr txBox="1"/>
          <p:nvPr/>
        </p:nvSpPr>
        <p:spPr>
          <a:xfrm>
            <a:off x="11259007" y="786384"/>
            <a:ext cx="384048" cy="310896"/>
          </a:xfrm>
          <a:prstGeom prst="rect">
            <a:avLst/>
          </a:prstGeom>
          <a:noFill/>
          <a:ln/>
        </p:spPr>
        <p:txBody>
          <a:bodyPr wrap="square" lIns="0" tIns="0" rIns="0" bIns="0" rtlCol="0" anchor="ctr"/>
          <a:lstStyle/>
          <a:p>
            <a:pPr algn="r" indent="0" marL="0">
              <a:buNone/>
            </a:pPr>
            <a:r>
              <a:rPr lang="en-US" sz="1200" b="1" dirty="0">
                <a:solidFill>
                  <a:srgbClr val="1B3A5C"/>
                </a:solidFill>
                <a:latin typeface="맑은 고딕" pitchFamily="34" charset="0"/>
                <a:ea typeface="맑은 고딕" pitchFamily="34" charset="-122"/>
                <a:cs typeface="맑은 고딕" pitchFamily="34" charset="-120"/>
              </a:rPr>
              <a:t>7</a:t>
            </a:r>
            <a:endParaRPr lang="en-US" sz="1200" dirty="0"/>
          </a:p>
        </p:txBody>
      </p:sp>
      <p:sp>
        <p:nvSpPr>
          <p:cNvPr id="13" name="Shape 11"/>
          <p:cNvSpPr/>
          <p:nvPr/>
        </p:nvSpPr>
        <p:spPr>
          <a:xfrm>
            <a:off x="548640" y="1463040"/>
            <a:ext cx="3545738" cy="1280160"/>
          </a:xfrm>
          <a:prstGeom prst="roundRect">
            <a:avLst>
              <a:gd name="adj" fmla="val 5714"/>
            </a:avLst>
          </a:prstGeom>
          <a:solidFill>
            <a:srgbClr val="F3F5F8"/>
          </a:solidFill>
          <a:ln w="12700">
            <a:solidFill>
              <a:srgbClr val="F3F5F8"/>
            </a:solidFill>
            <a:prstDash val="solid"/>
          </a:ln>
        </p:spPr>
      </p:sp>
      <p:sp>
        <p:nvSpPr>
          <p:cNvPr id="14" name="Text 12"/>
          <p:cNvSpPr txBox="1"/>
          <p:nvPr/>
        </p:nvSpPr>
        <p:spPr>
          <a:xfrm>
            <a:off x="822960" y="1600200"/>
            <a:ext cx="1828800" cy="292608"/>
          </a:xfrm>
          <a:prstGeom prst="rect">
            <a:avLst/>
          </a:prstGeom>
          <a:noFill/>
          <a:ln/>
        </p:spPr>
        <p:txBody>
          <a:bodyPr wrap="square" lIns="0" tIns="0" rIns="0" bIns="0" rtlCol="0" anchor="t"/>
          <a:lstStyle/>
          <a:p>
            <a:pPr indent="0" marL="0">
              <a:buNone/>
            </a:pPr>
            <a:r>
              <a:rPr lang="en-US" sz="1300" b="1" dirty="0">
                <a:solidFill>
                  <a:srgbClr val="B5501F"/>
                </a:solidFill>
                <a:latin typeface="맑은 고딕" pitchFamily="34" charset="0"/>
                <a:ea typeface="맑은 고딕" pitchFamily="34" charset="-122"/>
                <a:cs typeface="맑은 고딕" pitchFamily="34" charset="-120"/>
              </a:rPr>
              <a:t>Level I</a:t>
            </a:r>
            <a:endParaRPr lang="en-US" sz="1300" dirty="0"/>
          </a:p>
        </p:txBody>
      </p:sp>
      <p:sp>
        <p:nvSpPr>
          <p:cNvPr id="15" name="Text 13"/>
          <p:cNvSpPr txBox="1"/>
          <p:nvPr/>
        </p:nvSpPr>
        <p:spPr>
          <a:xfrm>
            <a:off x="2448458" y="1536192"/>
            <a:ext cx="1371600" cy="411480"/>
          </a:xfrm>
          <a:prstGeom prst="rect">
            <a:avLst/>
          </a:prstGeom>
          <a:noFill/>
          <a:ln/>
        </p:spPr>
        <p:txBody>
          <a:bodyPr wrap="square" lIns="0" tIns="0" rIns="0" bIns="0" rtlCol="0" anchor="t"/>
          <a:lstStyle/>
          <a:p>
            <a:pPr algn="r" indent="0" marL="0">
              <a:buNone/>
            </a:pPr>
            <a:r>
              <a:rPr lang="en-US" sz="2100" b="1" dirty="0">
                <a:solidFill>
                  <a:srgbClr val="B5501F"/>
                </a:solidFill>
                <a:latin typeface="맑은 고딕" pitchFamily="34" charset="0"/>
                <a:ea typeface="맑은 고딕" pitchFamily="34" charset="-122"/>
                <a:cs typeface="맑은 고딕" pitchFamily="34" charset="-120"/>
              </a:rPr>
              <a:t>매년</a:t>
            </a:r>
            <a:endParaRPr lang="en-US" sz="2100" dirty="0"/>
          </a:p>
        </p:txBody>
      </p:sp>
      <p:sp>
        <p:nvSpPr>
          <p:cNvPr id="16" name="Text 14"/>
          <p:cNvSpPr txBox="1"/>
          <p:nvPr/>
        </p:nvSpPr>
        <p:spPr>
          <a:xfrm>
            <a:off x="822960" y="1965960"/>
            <a:ext cx="2997098" cy="320040"/>
          </a:xfrm>
          <a:prstGeom prst="rect">
            <a:avLst/>
          </a:prstGeom>
          <a:noFill/>
          <a:ln/>
        </p:spPr>
        <p:txBody>
          <a:bodyPr wrap="square" lIns="0" tIns="0" rIns="0" bIns="0" rtlCol="0" anchor="t"/>
          <a:lstStyle/>
          <a:p>
            <a:pPr indent="0" marL="0">
              <a:buNone/>
            </a:pPr>
            <a:r>
              <a:rPr lang="en-US" sz="1500" b="1" dirty="0">
                <a:solidFill>
                  <a:srgbClr val="2B2D31"/>
                </a:solidFill>
                <a:latin typeface="맑은 고딕" pitchFamily="34" charset="0"/>
                <a:ea typeface="맑은 고딕" pitchFamily="34" charset="-122"/>
                <a:cs typeface="맑은 고딕" pitchFamily="34" charset="-120"/>
              </a:rPr>
              <a:t>수상 육안 점검</a:t>
            </a:r>
            <a:endParaRPr lang="en-US" sz="1500" dirty="0"/>
          </a:p>
        </p:txBody>
      </p:sp>
      <p:sp>
        <p:nvSpPr>
          <p:cNvPr id="17" name="Text 15"/>
          <p:cNvSpPr txBox="1"/>
          <p:nvPr/>
        </p:nvSpPr>
        <p:spPr>
          <a:xfrm>
            <a:off x="822960" y="2304288"/>
            <a:ext cx="2997098" cy="320040"/>
          </a:xfrm>
          <a:prstGeom prst="rect">
            <a:avLst/>
          </a:prstGeom>
          <a:noFill/>
          <a:ln/>
        </p:spPr>
        <p:txBody>
          <a:bodyPr wrap="square" lIns="0" tIns="0" rIns="0" bIns="0" rtlCol="0" anchor="t"/>
          <a:lstStyle/>
          <a:p>
            <a:pPr indent="0" marL="0">
              <a:buNone/>
            </a:pPr>
            <a:r>
              <a:rPr lang="en-US" sz="1200" dirty="0">
                <a:solidFill>
                  <a:srgbClr val="6B6F76"/>
                </a:solidFill>
                <a:latin typeface="맑은 고딕" pitchFamily="34" charset="0"/>
                <a:ea typeface="맑은 고딕" pitchFamily="34" charset="-122"/>
                <a:cs typeface="맑은 고딕" pitchFamily="34" charset="-120"/>
              </a:rPr>
              <a:t>도장 · 구조 · 비말대 육안 스캔</a:t>
            </a:r>
            <a:endParaRPr lang="en-US" sz="1200" dirty="0"/>
          </a:p>
        </p:txBody>
      </p:sp>
      <p:sp>
        <p:nvSpPr>
          <p:cNvPr id="18" name="Shape 16"/>
          <p:cNvSpPr/>
          <p:nvPr/>
        </p:nvSpPr>
        <p:spPr>
          <a:xfrm>
            <a:off x="4322978" y="1463040"/>
            <a:ext cx="3545738" cy="1280160"/>
          </a:xfrm>
          <a:prstGeom prst="roundRect">
            <a:avLst>
              <a:gd name="adj" fmla="val 5714"/>
            </a:avLst>
          </a:prstGeom>
          <a:solidFill>
            <a:srgbClr val="F3F5F8"/>
          </a:solidFill>
          <a:ln w="12700">
            <a:solidFill>
              <a:srgbClr val="F3F5F8"/>
            </a:solidFill>
            <a:prstDash val="solid"/>
          </a:ln>
        </p:spPr>
      </p:sp>
      <p:sp>
        <p:nvSpPr>
          <p:cNvPr id="19" name="Text 17"/>
          <p:cNvSpPr txBox="1"/>
          <p:nvPr/>
        </p:nvSpPr>
        <p:spPr>
          <a:xfrm>
            <a:off x="4597298" y="1600200"/>
            <a:ext cx="1828800" cy="292608"/>
          </a:xfrm>
          <a:prstGeom prst="rect">
            <a:avLst/>
          </a:prstGeom>
          <a:noFill/>
          <a:ln/>
        </p:spPr>
        <p:txBody>
          <a:bodyPr wrap="square" lIns="0" tIns="0" rIns="0" bIns="0" rtlCol="0" anchor="t"/>
          <a:lstStyle/>
          <a:p>
            <a:pPr indent="0" marL="0">
              <a:buNone/>
            </a:pPr>
            <a:r>
              <a:rPr lang="en-US" sz="1300" b="1" dirty="0">
                <a:solidFill>
                  <a:srgbClr val="1F5F7A"/>
                </a:solidFill>
                <a:latin typeface="맑은 고딕" pitchFamily="34" charset="0"/>
                <a:ea typeface="맑은 고딕" pitchFamily="34" charset="-122"/>
                <a:cs typeface="맑은 고딕" pitchFamily="34" charset="-120"/>
              </a:rPr>
              <a:t>Level II</a:t>
            </a:r>
            <a:endParaRPr lang="en-US" sz="1300" dirty="0"/>
          </a:p>
        </p:txBody>
      </p:sp>
      <p:sp>
        <p:nvSpPr>
          <p:cNvPr id="20" name="Text 18"/>
          <p:cNvSpPr txBox="1"/>
          <p:nvPr/>
        </p:nvSpPr>
        <p:spPr>
          <a:xfrm>
            <a:off x="6222797" y="1536192"/>
            <a:ext cx="1371600" cy="411480"/>
          </a:xfrm>
          <a:prstGeom prst="rect">
            <a:avLst/>
          </a:prstGeom>
          <a:noFill/>
          <a:ln/>
        </p:spPr>
        <p:txBody>
          <a:bodyPr wrap="square" lIns="0" tIns="0" rIns="0" bIns="0" rtlCol="0" anchor="t"/>
          <a:lstStyle/>
          <a:p>
            <a:pPr algn="r" indent="0" marL="0">
              <a:buNone/>
            </a:pPr>
            <a:r>
              <a:rPr lang="en-US" sz="2100" b="1" dirty="0">
                <a:solidFill>
                  <a:srgbClr val="1F5F7A"/>
                </a:solidFill>
                <a:latin typeface="맑은 고딕" pitchFamily="34" charset="0"/>
                <a:ea typeface="맑은 고딕" pitchFamily="34" charset="-122"/>
                <a:cs typeface="맑은 고딕" pitchFamily="34" charset="-120"/>
              </a:rPr>
              <a:t>3–5년</a:t>
            </a:r>
            <a:endParaRPr lang="en-US" sz="2100" dirty="0"/>
          </a:p>
        </p:txBody>
      </p:sp>
      <p:sp>
        <p:nvSpPr>
          <p:cNvPr id="21" name="Text 19"/>
          <p:cNvSpPr txBox="1"/>
          <p:nvPr/>
        </p:nvSpPr>
        <p:spPr>
          <a:xfrm>
            <a:off x="4597298" y="1965960"/>
            <a:ext cx="2997098" cy="320040"/>
          </a:xfrm>
          <a:prstGeom prst="rect">
            <a:avLst/>
          </a:prstGeom>
          <a:noFill/>
          <a:ln/>
        </p:spPr>
        <p:txBody>
          <a:bodyPr wrap="square" lIns="0" tIns="0" rIns="0" bIns="0" rtlCol="0" anchor="t"/>
          <a:lstStyle/>
          <a:p>
            <a:pPr indent="0" marL="0">
              <a:buNone/>
            </a:pPr>
            <a:r>
              <a:rPr lang="en-US" sz="1500" b="1" dirty="0">
                <a:solidFill>
                  <a:srgbClr val="2B2D31"/>
                </a:solidFill>
                <a:latin typeface="맑은 고딕" pitchFamily="34" charset="0"/>
                <a:ea typeface="맑은 고딕" pitchFamily="34" charset="-122"/>
                <a:cs typeface="맑은 고딕" pitchFamily="34" charset="-120"/>
              </a:rPr>
              <a:t>수중 일반 점검</a:t>
            </a:r>
            <a:endParaRPr lang="en-US" sz="1500" dirty="0"/>
          </a:p>
        </p:txBody>
      </p:sp>
      <p:sp>
        <p:nvSpPr>
          <p:cNvPr id="22" name="Text 20"/>
          <p:cNvSpPr txBox="1"/>
          <p:nvPr/>
        </p:nvSpPr>
        <p:spPr>
          <a:xfrm>
            <a:off x="4597298" y="2304288"/>
            <a:ext cx="2997098" cy="320040"/>
          </a:xfrm>
          <a:prstGeom prst="rect">
            <a:avLst/>
          </a:prstGeom>
          <a:noFill/>
          <a:ln/>
        </p:spPr>
        <p:txBody>
          <a:bodyPr wrap="square" lIns="0" tIns="0" rIns="0" bIns="0" rtlCol="0" anchor="t"/>
          <a:lstStyle/>
          <a:p>
            <a:pPr indent="0" marL="0">
              <a:buNone/>
            </a:pPr>
            <a:r>
              <a:rPr lang="en-US" sz="1200" dirty="0">
                <a:solidFill>
                  <a:srgbClr val="6B6F76"/>
                </a:solidFill>
                <a:latin typeface="맑은 고딕" pitchFamily="34" charset="0"/>
                <a:ea typeface="맑은 고딕" pitchFamily="34" charset="-122"/>
                <a:cs typeface="맑은 고딕" pitchFamily="34" charset="-120"/>
              </a:rPr>
              <a:t>잠수부 · ROV 조사</a:t>
            </a:r>
            <a:endParaRPr lang="en-US" sz="1200" dirty="0"/>
          </a:p>
        </p:txBody>
      </p:sp>
      <p:sp>
        <p:nvSpPr>
          <p:cNvPr id="23" name="Shape 21"/>
          <p:cNvSpPr/>
          <p:nvPr/>
        </p:nvSpPr>
        <p:spPr>
          <a:xfrm>
            <a:off x="8097317" y="1463040"/>
            <a:ext cx="3545738" cy="1280160"/>
          </a:xfrm>
          <a:prstGeom prst="roundRect">
            <a:avLst>
              <a:gd name="adj" fmla="val 5714"/>
            </a:avLst>
          </a:prstGeom>
          <a:solidFill>
            <a:srgbClr val="F3F5F8"/>
          </a:solidFill>
          <a:ln w="12700">
            <a:solidFill>
              <a:srgbClr val="F3F5F8"/>
            </a:solidFill>
            <a:prstDash val="solid"/>
          </a:ln>
        </p:spPr>
      </p:sp>
      <p:sp>
        <p:nvSpPr>
          <p:cNvPr id="24" name="Text 22"/>
          <p:cNvSpPr txBox="1"/>
          <p:nvPr/>
        </p:nvSpPr>
        <p:spPr>
          <a:xfrm>
            <a:off x="8371637" y="1600200"/>
            <a:ext cx="1828800" cy="292608"/>
          </a:xfrm>
          <a:prstGeom prst="rect">
            <a:avLst/>
          </a:prstGeom>
          <a:noFill/>
          <a:ln/>
        </p:spPr>
        <p:txBody>
          <a:bodyPr wrap="square" lIns="0" tIns="0" rIns="0" bIns="0" rtlCol="0" anchor="t"/>
          <a:lstStyle/>
          <a:p>
            <a:pPr indent="0" marL="0">
              <a:buNone/>
            </a:pPr>
            <a:r>
              <a:rPr lang="en-US" sz="1300" b="1" dirty="0">
                <a:solidFill>
                  <a:srgbClr val="1B3A5C"/>
                </a:solidFill>
                <a:latin typeface="맑은 고딕" pitchFamily="34" charset="0"/>
                <a:ea typeface="맑은 고딕" pitchFamily="34" charset="-122"/>
                <a:cs typeface="맑은 고딕" pitchFamily="34" charset="-120"/>
              </a:rPr>
              <a:t>Level III</a:t>
            </a:r>
            <a:endParaRPr lang="en-US" sz="1300" dirty="0"/>
          </a:p>
        </p:txBody>
      </p:sp>
      <p:sp>
        <p:nvSpPr>
          <p:cNvPr id="25" name="Text 23"/>
          <p:cNvSpPr txBox="1"/>
          <p:nvPr/>
        </p:nvSpPr>
        <p:spPr>
          <a:xfrm>
            <a:off x="9997135" y="1536192"/>
            <a:ext cx="1371600" cy="411480"/>
          </a:xfrm>
          <a:prstGeom prst="rect">
            <a:avLst/>
          </a:prstGeom>
          <a:noFill/>
          <a:ln/>
        </p:spPr>
        <p:txBody>
          <a:bodyPr wrap="square" lIns="0" tIns="0" rIns="0" bIns="0" rtlCol="0" anchor="t"/>
          <a:lstStyle/>
          <a:p>
            <a:pPr algn="r" indent="0" marL="0">
              <a:buNone/>
            </a:pPr>
            <a:r>
              <a:rPr lang="en-US" sz="2100" b="1" dirty="0">
                <a:solidFill>
                  <a:srgbClr val="1B3A5C"/>
                </a:solidFill>
                <a:latin typeface="맑은 고딕" pitchFamily="34" charset="0"/>
                <a:ea typeface="맑은 고딕" pitchFamily="34" charset="-122"/>
                <a:cs typeface="맑은 고딕" pitchFamily="34" charset="-120"/>
              </a:rPr>
              <a:t>6–10년</a:t>
            </a:r>
            <a:endParaRPr lang="en-US" sz="2100" dirty="0"/>
          </a:p>
        </p:txBody>
      </p:sp>
      <p:sp>
        <p:nvSpPr>
          <p:cNvPr id="26" name="Text 24"/>
          <p:cNvSpPr txBox="1"/>
          <p:nvPr/>
        </p:nvSpPr>
        <p:spPr>
          <a:xfrm>
            <a:off x="8371637" y="1965960"/>
            <a:ext cx="2997098" cy="320040"/>
          </a:xfrm>
          <a:prstGeom prst="rect">
            <a:avLst/>
          </a:prstGeom>
          <a:noFill/>
          <a:ln/>
        </p:spPr>
        <p:txBody>
          <a:bodyPr wrap="square" lIns="0" tIns="0" rIns="0" bIns="0" rtlCol="0" anchor="t"/>
          <a:lstStyle/>
          <a:p>
            <a:pPr indent="0" marL="0">
              <a:buNone/>
            </a:pPr>
            <a:r>
              <a:rPr lang="en-US" sz="1500" b="1" dirty="0">
                <a:solidFill>
                  <a:srgbClr val="2B2D31"/>
                </a:solidFill>
                <a:latin typeface="맑은 고딕" pitchFamily="34" charset="0"/>
                <a:ea typeface="맑은 고딕" pitchFamily="34" charset="-122"/>
                <a:cs typeface="맑은 고딕" pitchFamily="34" charset="-120"/>
              </a:rPr>
              <a:t>수중 정밀 점검</a:t>
            </a:r>
            <a:endParaRPr lang="en-US" sz="1500" dirty="0"/>
          </a:p>
        </p:txBody>
      </p:sp>
      <p:sp>
        <p:nvSpPr>
          <p:cNvPr id="27" name="Text 25"/>
          <p:cNvSpPr txBox="1"/>
          <p:nvPr/>
        </p:nvSpPr>
        <p:spPr>
          <a:xfrm>
            <a:off x="8371637" y="2304288"/>
            <a:ext cx="2997098" cy="320040"/>
          </a:xfrm>
          <a:prstGeom prst="rect">
            <a:avLst/>
          </a:prstGeom>
          <a:noFill/>
          <a:ln/>
        </p:spPr>
        <p:txBody>
          <a:bodyPr wrap="square" lIns="0" tIns="0" rIns="0" bIns="0" rtlCol="0" anchor="t"/>
          <a:lstStyle/>
          <a:p>
            <a:pPr indent="0" marL="0">
              <a:buNone/>
            </a:pPr>
            <a:r>
              <a:rPr lang="en-US" sz="1200" dirty="0">
                <a:solidFill>
                  <a:srgbClr val="6B6F76"/>
                </a:solidFill>
                <a:latin typeface="맑은 고딕" pitchFamily="34" charset="0"/>
                <a:ea typeface="맑은 고딕" pitchFamily="34" charset="-122"/>
                <a:cs typeface="맑은 고딕" pitchFamily="34" charset="-120"/>
              </a:rPr>
              <a:t>지정 부위 세척 후 근접 육안 · 피트 계측</a:t>
            </a:r>
            <a:endParaRPr lang="en-US" sz="1200" dirty="0"/>
          </a:p>
        </p:txBody>
      </p:sp>
      <p:sp>
        <p:nvSpPr>
          <p:cNvPr id="28" name="Text 26"/>
          <p:cNvSpPr txBox="1"/>
          <p:nvPr/>
        </p:nvSpPr>
        <p:spPr>
          <a:xfrm>
            <a:off x="548640" y="2880360"/>
            <a:ext cx="5486400" cy="274320"/>
          </a:xfrm>
          <a:prstGeom prst="rect">
            <a:avLst/>
          </a:prstGeom>
          <a:noFill/>
          <a:ln/>
        </p:spPr>
        <p:txBody>
          <a:bodyPr wrap="square" lIns="0" tIns="0" rIns="0" bIns="0" rtlCol="0" anchor="t"/>
          <a:lstStyle/>
          <a:p>
            <a:pPr indent="0" marL="0">
              <a:buNone/>
            </a:pPr>
            <a:r>
              <a:rPr lang="en-US" sz="1200" dirty="0">
                <a:solidFill>
                  <a:srgbClr val="6B6F76"/>
                </a:solidFill>
                <a:latin typeface="맑은 고딕" pitchFamily="34" charset="0"/>
                <a:ea typeface="맑은 고딕" pitchFamily="34" charset="-122"/>
                <a:cs typeface="맑은 고딕" pitchFamily="34" charset="-120"/>
              </a:rPr>
              <a:t>미국 해양 구조물 점검 체계 — 4개 기관이 겹쳐 규제</a:t>
            </a:r>
            <a:endParaRPr lang="en-US" sz="1200" dirty="0"/>
          </a:p>
        </p:txBody>
      </p:sp>
      <p:sp>
        <p:nvSpPr>
          <p:cNvPr id="29" name="Shape 27"/>
          <p:cNvSpPr/>
          <p:nvPr/>
        </p:nvSpPr>
        <p:spPr>
          <a:xfrm>
            <a:off x="5394960" y="2862072"/>
            <a:ext cx="868680" cy="310896"/>
          </a:xfrm>
          <a:prstGeom prst="roundRect">
            <a:avLst>
              <a:gd name="adj" fmla="val 50000"/>
            </a:avLst>
          </a:prstGeom>
          <a:solidFill>
            <a:srgbClr val="1F5F7A"/>
          </a:solidFill>
          <a:ln w="12700">
            <a:solidFill>
              <a:srgbClr val="1F5F7A"/>
            </a:solidFill>
            <a:prstDash val="solid"/>
          </a:ln>
        </p:spPr>
      </p:sp>
      <p:sp>
        <p:nvSpPr>
          <p:cNvPr id="30" name="Text 28"/>
          <p:cNvSpPr txBox="1"/>
          <p:nvPr/>
        </p:nvSpPr>
        <p:spPr>
          <a:xfrm>
            <a:off x="5394960" y="2862072"/>
            <a:ext cx="86868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BSEE</a:t>
            </a:r>
            <a:endParaRPr lang="en-US" sz="1100" dirty="0"/>
          </a:p>
        </p:txBody>
      </p:sp>
      <p:sp>
        <p:nvSpPr>
          <p:cNvPr id="31" name="Shape 29"/>
          <p:cNvSpPr/>
          <p:nvPr/>
        </p:nvSpPr>
        <p:spPr>
          <a:xfrm>
            <a:off x="6355080" y="2862072"/>
            <a:ext cx="868680" cy="310896"/>
          </a:xfrm>
          <a:prstGeom prst="roundRect">
            <a:avLst>
              <a:gd name="adj" fmla="val 50000"/>
            </a:avLst>
          </a:prstGeom>
          <a:solidFill>
            <a:srgbClr val="1F5F7A"/>
          </a:solidFill>
          <a:ln w="12700">
            <a:solidFill>
              <a:srgbClr val="1F5F7A"/>
            </a:solidFill>
            <a:prstDash val="solid"/>
          </a:ln>
        </p:spPr>
      </p:sp>
      <p:sp>
        <p:nvSpPr>
          <p:cNvPr id="32" name="Text 30"/>
          <p:cNvSpPr txBox="1"/>
          <p:nvPr/>
        </p:nvSpPr>
        <p:spPr>
          <a:xfrm>
            <a:off x="6355080" y="2862072"/>
            <a:ext cx="86868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PHMSA</a:t>
            </a:r>
            <a:endParaRPr lang="en-US" sz="1100" dirty="0"/>
          </a:p>
        </p:txBody>
      </p:sp>
      <p:sp>
        <p:nvSpPr>
          <p:cNvPr id="33" name="Shape 31"/>
          <p:cNvSpPr/>
          <p:nvPr/>
        </p:nvSpPr>
        <p:spPr>
          <a:xfrm>
            <a:off x="7315200" y="2862072"/>
            <a:ext cx="868680" cy="310896"/>
          </a:xfrm>
          <a:prstGeom prst="roundRect">
            <a:avLst>
              <a:gd name="adj" fmla="val 50000"/>
            </a:avLst>
          </a:prstGeom>
          <a:solidFill>
            <a:srgbClr val="1F5F7A"/>
          </a:solidFill>
          <a:ln w="12700">
            <a:solidFill>
              <a:srgbClr val="1F5F7A"/>
            </a:solidFill>
            <a:prstDash val="solid"/>
          </a:ln>
        </p:spPr>
      </p:sp>
      <p:sp>
        <p:nvSpPr>
          <p:cNvPr id="34" name="Text 32"/>
          <p:cNvSpPr txBox="1"/>
          <p:nvPr/>
        </p:nvSpPr>
        <p:spPr>
          <a:xfrm>
            <a:off x="7315200" y="2862072"/>
            <a:ext cx="86868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USCG</a:t>
            </a:r>
            <a:endParaRPr lang="en-US" sz="1100" dirty="0"/>
          </a:p>
        </p:txBody>
      </p:sp>
      <p:sp>
        <p:nvSpPr>
          <p:cNvPr id="35" name="Shape 33"/>
          <p:cNvSpPr/>
          <p:nvPr/>
        </p:nvSpPr>
        <p:spPr>
          <a:xfrm>
            <a:off x="8275320" y="2862072"/>
            <a:ext cx="868680" cy="310896"/>
          </a:xfrm>
          <a:prstGeom prst="roundRect">
            <a:avLst>
              <a:gd name="adj" fmla="val 50000"/>
            </a:avLst>
          </a:prstGeom>
          <a:solidFill>
            <a:srgbClr val="1F5F7A"/>
          </a:solidFill>
          <a:ln w="12700">
            <a:solidFill>
              <a:srgbClr val="1F5F7A"/>
            </a:solidFill>
            <a:prstDash val="solid"/>
          </a:ln>
        </p:spPr>
      </p:sp>
      <p:sp>
        <p:nvSpPr>
          <p:cNvPr id="36" name="Text 34"/>
          <p:cNvSpPr txBox="1"/>
          <p:nvPr/>
        </p:nvSpPr>
        <p:spPr>
          <a:xfrm>
            <a:off x="8275320" y="2862072"/>
            <a:ext cx="86868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ABS</a:t>
            </a:r>
            <a:endParaRPr lang="en-US" sz="1100" dirty="0"/>
          </a:p>
        </p:txBody>
      </p:sp>
      <p:sp>
        <p:nvSpPr>
          <p:cNvPr id="37" name="Shape 35"/>
          <p:cNvSpPr/>
          <p:nvPr/>
        </p:nvSpPr>
        <p:spPr>
          <a:xfrm>
            <a:off x="548640" y="3337560"/>
            <a:ext cx="5410048" cy="2560320"/>
          </a:xfrm>
          <a:prstGeom prst="roundRect">
            <a:avLst>
              <a:gd name="adj" fmla="val 2857"/>
            </a:avLst>
          </a:prstGeom>
          <a:solidFill>
            <a:srgbClr val="F3F5F8"/>
          </a:solidFill>
          <a:ln w="12700">
            <a:solidFill>
              <a:srgbClr val="F3F5F8"/>
            </a:solidFill>
            <a:prstDash val="solid"/>
          </a:ln>
        </p:spPr>
      </p:sp>
      <p:sp>
        <p:nvSpPr>
          <p:cNvPr id="38" name="Text 36"/>
          <p:cNvSpPr txBox="1"/>
          <p:nvPr/>
        </p:nvSpPr>
        <p:spPr>
          <a:xfrm>
            <a:off x="822960" y="3520440"/>
            <a:ext cx="4952848" cy="292608"/>
          </a:xfrm>
          <a:prstGeom prst="rect">
            <a:avLst/>
          </a:prstGeom>
          <a:noFill/>
          <a:ln/>
        </p:spPr>
        <p:txBody>
          <a:bodyPr wrap="square" lIns="0" tIns="0" rIns="0" bIns="0" rtlCol="0" anchor="t"/>
          <a:lstStyle/>
          <a:p>
            <a:pPr indent="0" marL="0">
              <a:buNone/>
            </a:pPr>
            <a:r>
              <a:rPr lang="en-US" sz="1300" b="1" dirty="0">
                <a:solidFill>
                  <a:srgbClr val="1F5F7A"/>
                </a:solidFill>
                <a:latin typeface="맑은 고딕" pitchFamily="34" charset="0"/>
                <a:ea typeface="맑은 고딕" pitchFamily="34" charset="-122"/>
                <a:cs typeface="맑은 고딕" pitchFamily="34" charset="-120"/>
              </a:rPr>
              <a:t>구매를 움직이는 3가지 동기</a:t>
            </a:r>
            <a:endParaRPr lang="en-US" sz="1300" dirty="0"/>
          </a:p>
        </p:txBody>
      </p:sp>
      <p:sp>
        <p:nvSpPr>
          <p:cNvPr id="39" name="Shape 37"/>
          <p:cNvSpPr/>
          <p:nvPr/>
        </p:nvSpPr>
        <p:spPr>
          <a:xfrm>
            <a:off x="822960" y="3995928"/>
            <a:ext cx="438912" cy="438912"/>
          </a:xfrm>
          <a:prstGeom prst="ellipse">
            <a:avLst/>
          </a:prstGeom>
          <a:solidFill>
            <a:srgbClr val="1B3A5C"/>
          </a:solidFill>
          <a:ln w="12700">
            <a:solidFill>
              <a:srgbClr val="1B3A5C"/>
            </a:solidFill>
            <a:prstDash val="solid"/>
          </a:ln>
        </p:spPr>
      </p:sp>
      <p:pic>
        <p:nvPicPr>
          <p:cNvPr id="40" name="Image 0" descr="preencoded.png">    </p:cNvPr>
          <p:cNvPicPr>
            <a:picLocks noChangeAspect="1"/>
          </p:cNvPicPr>
          <p:nvPr/>
        </p:nvPicPr>
        <p:blipFill>
          <a:blip r:embed="rId1"/>
          <a:stretch>
            <a:fillRect/>
          </a:stretch>
        </p:blipFill>
        <p:spPr>
          <a:xfrm>
            <a:off x="937077" y="4110045"/>
            <a:ext cx="210678" cy="210678"/>
          </a:xfrm>
          <a:prstGeom prst="rect">
            <a:avLst/>
          </a:prstGeom>
        </p:spPr>
      </p:pic>
      <p:sp>
        <p:nvSpPr>
          <p:cNvPr id="41" name="Text 38"/>
          <p:cNvSpPr txBox="1"/>
          <p:nvPr/>
        </p:nvSpPr>
        <p:spPr>
          <a:xfrm>
            <a:off x="1417320" y="3995928"/>
            <a:ext cx="4358488" cy="438912"/>
          </a:xfrm>
          <a:prstGeom prst="rect">
            <a:avLst/>
          </a:prstGeom>
          <a:noFill/>
          <a:ln/>
        </p:spPr>
        <p:txBody>
          <a:bodyPr wrap="square" lIns="0" tIns="0" rIns="0" bIns="0" rtlCol="0" anchor="ctr"/>
          <a:lstStyle/>
          <a:p>
            <a:pPr indent="0" marL="0">
              <a:buNone/>
            </a:pPr>
            <a:r>
              <a:rPr lang="en-US" sz="1500" b="1" dirty="0">
                <a:solidFill>
                  <a:srgbClr val="2B2D31"/>
                </a:solidFill>
                <a:latin typeface="맑은 고딕" pitchFamily="34" charset="0"/>
                <a:ea typeface="맑은 고딕" pitchFamily="34" charset="-122"/>
                <a:cs typeface="맑은 고딕" pitchFamily="34" charset="-120"/>
              </a:rPr>
              <a:t>안전   </a:t>
            </a:r>
            <a:r>
              <a:rPr lang="en-US" sz="1300" dirty="0">
                <a:solidFill>
                  <a:srgbClr val="6B6F76"/>
                </a:solidFill>
                <a:latin typeface="맑은 고딕" pitchFamily="34" charset="0"/>
                <a:ea typeface="맑은 고딕" pitchFamily="34" charset="-122"/>
                <a:cs typeface="맑은 고딕" pitchFamily="34" charset="-120"/>
              </a:rPr>
              <a:t>놓친 부식 → 사고</a:t>
            </a:r>
            <a:endParaRPr lang="en-US" sz="1400" dirty="0"/>
          </a:p>
        </p:txBody>
      </p:sp>
      <p:sp>
        <p:nvSpPr>
          <p:cNvPr id="42" name="Shape 39"/>
          <p:cNvSpPr/>
          <p:nvPr/>
        </p:nvSpPr>
        <p:spPr>
          <a:xfrm>
            <a:off x="822960" y="4599432"/>
            <a:ext cx="438912" cy="438912"/>
          </a:xfrm>
          <a:prstGeom prst="ellipse">
            <a:avLst/>
          </a:prstGeom>
          <a:solidFill>
            <a:srgbClr val="1B3A5C"/>
          </a:solidFill>
          <a:ln w="12700">
            <a:solidFill>
              <a:srgbClr val="1B3A5C"/>
            </a:solidFill>
            <a:prstDash val="solid"/>
          </a:ln>
        </p:spPr>
      </p:sp>
      <p:pic>
        <p:nvPicPr>
          <p:cNvPr id="43" name="Image 1" descr="preencoded.png">    </p:cNvPr>
          <p:cNvPicPr>
            <a:picLocks noChangeAspect="1"/>
          </p:cNvPicPr>
          <p:nvPr/>
        </p:nvPicPr>
        <p:blipFill>
          <a:blip r:embed="rId2"/>
          <a:stretch>
            <a:fillRect/>
          </a:stretch>
        </p:blipFill>
        <p:spPr>
          <a:xfrm>
            <a:off x="937077" y="4713549"/>
            <a:ext cx="210678" cy="210678"/>
          </a:xfrm>
          <a:prstGeom prst="rect">
            <a:avLst/>
          </a:prstGeom>
        </p:spPr>
      </p:pic>
      <p:sp>
        <p:nvSpPr>
          <p:cNvPr id="44" name="Text 40"/>
          <p:cNvSpPr txBox="1"/>
          <p:nvPr/>
        </p:nvSpPr>
        <p:spPr>
          <a:xfrm>
            <a:off x="1417320" y="4599432"/>
            <a:ext cx="4358488" cy="438912"/>
          </a:xfrm>
          <a:prstGeom prst="rect">
            <a:avLst/>
          </a:prstGeom>
          <a:noFill/>
          <a:ln/>
        </p:spPr>
        <p:txBody>
          <a:bodyPr wrap="square" lIns="0" tIns="0" rIns="0" bIns="0" rtlCol="0" anchor="ctr"/>
          <a:lstStyle/>
          <a:p>
            <a:pPr indent="0" marL="0">
              <a:buNone/>
            </a:pPr>
            <a:r>
              <a:rPr lang="en-US" sz="1500" b="1" dirty="0">
                <a:solidFill>
                  <a:srgbClr val="2B2D31"/>
                </a:solidFill>
                <a:latin typeface="맑은 고딕" pitchFamily="34" charset="0"/>
                <a:ea typeface="맑은 고딕" pitchFamily="34" charset="-122"/>
                <a:cs typeface="맑은 고딕" pitchFamily="34" charset="-120"/>
              </a:rPr>
              <a:t>비용   </a:t>
            </a:r>
            <a:r>
              <a:rPr lang="en-US" sz="1300" dirty="0">
                <a:solidFill>
                  <a:srgbClr val="6B6F76"/>
                </a:solidFill>
                <a:latin typeface="맑은 고딕" pitchFamily="34" charset="0"/>
                <a:ea typeface="맑은 고딕" pitchFamily="34" charset="-122"/>
                <a:cs typeface="맑은 고딕" pitchFamily="34" charset="-120"/>
              </a:rPr>
              <a:t>선박 · 리프트 일수</a:t>
            </a:r>
            <a:endParaRPr lang="en-US" sz="1400" dirty="0"/>
          </a:p>
        </p:txBody>
      </p:sp>
      <p:sp>
        <p:nvSpPr>
          <p:cNvPr id="45" name="Shape 41"/>
          <p:cNvSpPr/>
          <p:nvPr/>
        </p:nvSpPr>
        <p:spPr>
          <a:xfrm>
            <a:off x="822960" y="5202936"/>
            <a:ext cx="438912" cy="438912"/>
          </a:xfrm>
          <a:prstGeom prst="ellipse">
            <a:avLst/>
          </a:prstGeom>
          <a:solidFill>
            <a:srgbClr val="1B3A5C"/>
          </a:solidFill>
          <a:ln w="12700">
            <a:solidFill>
              <a:srgbClr val="1B3A5C"/>
            </a:solidFill>
            <a:prstDash val="solid"/>
          </a:ln>
        </p:spPr>
      </p:sp>
      <p:pic>
        <p:nvPicPr>
          <p:cNvPr id="46" name="Image 2" descr="preencoded.png">    </p:cNvPr>
          <p:cNvPicPr>
            <a:picLocks noChangeAspect="1"/>
          </p:cNvPicPr>
          <p:nvPr/>
        </p:nvPicPr>
        <p:blipFill>
          <a:blip r:embed="rId3"/>
          <a:stretch>
            <a:fillRect/>
          </a:stretch>
        </p:blipFill>
        <p:spPr>
          <a:xfrm>
            <a:off x="937077" y="5317053"/>
            <a:ext cx="210678" cy="210678"/>
          </a:xfrm>
          <a:prstGeom prst="rect">
            <a:avLst/>
          </a:prstGeom>
        </p:spPr>
      </p:pic>
      <p:sp>
        <p:nvSpPr>
          <p:cNvPr id="47" name="Text 42"/>
          <p:cNvSpPr txBox="1"/>
          <p:nvPr/>
        </p:nvSpPr>
        <p:spPr>
          <a:xfrm>
            <a:off x="1417320" y="5202936"/>
            <a:ext cx="4358488" cy="438912"/>
          </a:xfrm>
          <a:prstGeom prst="rect">
            <a:avLst/>
          </a:prstGeom>
          <a:noFill/>
          <a:ln/>
        </p:spPr>
        <p:txBody>
          <a:bodyPr wrap="square" lIns="0" tIns="0" rIns="0" bIns="0" rtlCol="0" anchor="ctr"/>
          <a:lstStyle/>
          <a:p>
            <a:pPr indent="0" marL="0">
              <a:buNone/>
            </a:pPr>
            <a:r>
              <a:rPr lang="en-US" sz="1500" b="1" dirty="0">
                <a:solidFill>
                  <a:srgbClr val="2B2D31"/>
                </a:solidFill>
                <a:latin typeface="맑은 고딕" pitchFamily="34" charset="0"/>
                <a:ea typeface="맑은 고딕" pitchFamily="34" charset="-122"/>
                <a:cs typeface="맑은 고딕" pitchFamily="34" charset="-120"/>
              </a:rPr>
              <a:t>규제 · 보험   </a:t>
            </a:r>
            <a:r>
              <a:rPr lang="en-US" sz="1300" dirty="0">
                <a:solidFill>
                  <a:srgbClr val="6B6F76"/>
                </a:solidFill>
                <a:latin typeface="맑은 고딕" pitchFamily="34" charset="0"/>
                <a:ea typeface="맑은 고딕" pitchFamily="34" charset="-122"/>
                <a:cs typeface="맑은 고딕" pitchFamily="34" charset="-120"/>
              </a:rPr>
              <a:t>기한 내 기록 제출</a:t>
            </a:r>
            <a:endParaRPr lang="en-US" sz="1400" dirty="0"/>
          </a:p>
        </p:txBody>
      </p:sp>
      <p:sp>
        <p:nvSpPr>
          <p:cNvPr id="48" name="Shape 43"/>
          <p:cNvSpPr/>
          <p:nvPr/>
        </p:nvSpPr>
        <p:spPr>
          <a:xfrm>
            <a:off x="6233008" y="3337560"/>
            <a:ext cx="5410048" cy="2560320"/>
          </a:xfrm>
          <a:prstGeom prst="roundRect">
            <a:avLst>
              <a:gd name="adj" fmla="val 2857"/>
            </a:avLst>
          </a:prstGeom>
          <a:solidFill>
            <a:srgbClr val="FBEDE4"/>
          </a:solidFill>
          <a:ln w="12700">
            <a:solidFill>
              <a:srgbClr val="FBEDE4"/>
            </a:solidFill>
            <a:prstDash val="solid"/>
          </a:ln>
        </p:spPr>
      </p:sp>
      <p:sp>
        <p:nvSpPr>
          <p:cNvPr id="49" name="Text 44"/>
          <p:cNvSpPr txBox="1"/>
          <p:nvPr/>
        </p:nvSpPr>
        <p:spPr>
          <a:xfrm>
            <a:off x="6507328" y="3520440"/>
            <a:ext cx="4952848" cy="292608"/>
          </a:xfrm>
          <a:prstGeom prst="rect">
            <a:avLst/>
          </a:prstGeom>
          <a:noFill/>
          <a:ln/>
        </p:spPr>
        <p:txBody>
          <a:bodyPr wrap="square" lIns="0" tIns="0" rIns="0" bIns="0" rtlCol="0" anchor="t"/>
          <a:lstStyle/>
          <a:p>
            <a:pPr indent="0" marL="0">
              <a:buNone/>
            </a:pPr>
            <a:r>
              <a:rPr lang="en-US" sz="1300" b="1" dirty="0">
                <a:solidFill>
                  <a:srgbClr val="B5501F"/>
                </a:solidFill>
                <a:latin typeface="맑은 고딕" pitchFamily="34" charset="0"/>
                <a:ea typeface="맑은 고딕" pitchFamily="34" charset="-122"/>
                <a:cs typeface="맑은 고딕" pitchFamily="34" charset="-120"/>
              </a:rPr>
              <a:t>MLC가 줄이는 비용</a:t>
            </a:r>
            <a:endParaRPr lang="en-US" sz="1300" dirty="0"/>
          </a:p>
        </p:txBody>
      </p:sp>
      <p:sp>
        <p:nvSpPr>
          <p:cNvPr id="50" name="Shape 45"/>
          <p:cNvSpPr/>
          <p:nvPr/>
        </p:nvSpPr>
        <p:spPr>
          <a:xfrm>
            <a:off x="6507328" y="4014216"/>
            <a:ext cx="420624" cy="420624"/>
          </a:xfrm>
          <a:prstGeom prst="ellipse">
            <a:avLst/>
          </a:prstGeom>
          <a:solidFill>
            <a:srgbClr val="B5501F"/>
          </a:solidFill>
          <a:ln w="12700">
            <a:solidFill>
              <a:srgbClr val="B5501F"/>
            </a:solidFill>
            <a:prstDash val="solid"/>
          </a:ln>
        </p:spPr>
      </p:sp>
      <p:pic>
        <p:nvPicPr>
          <p:cNvPr id="51" name="Image 3" descr="preencoded.png">    </p:cNvPr>
          <p:cNvPicPr>
            <a:picLocks noChangeAspect="1"/>
          </p:cNvPicPr>
          <p:nvPr/>
        </p:nvPicPr>
        <p:blipFill>
          <a:blip r:embed="rId4"/>
          <a:stretch>
            <a:fillRect/>
          </a:stretch>
        </p:blipFill>
        <p:spPr>
          <a:xfrm>
            <a:off x="6616690" y="4123578"/>
            <a:ext cx="201900" cy="201900"/>
          </a:xfrm>
          <a:prstGeom prst="rect">
            <a:avLst/>
          </a:prstGeom>
        </p:spPr>
      </p:pic>
      <p:sp>
        <p:nvSpPr>
          <p:cNvPr id="52" name="Text 46"/>
          <p:cNvSpPr txBox="1"/>
          <p:nvPr/>
        </p:nvSpPr>
        <p:spPr>
          <a:xfrm>
            <a:off x="7037680" y="3995928"/>
            <a:ext cx="1836344" cy="274320"/>
          </a:xfrm>
          <a:prstGeom prst="rect">
            <a:avLst/>
          </a:prstGeom>
          <a:noFill/>
          <a:ln/>
        </p:spPr>
        <p:txBody>
          <a:bodyPr wrap="square" lIns="0" tIns="0" rIns="0" bIns="0" rtlCol="0" anchor="t"/>
          <a:lstStyle/>
          <a:p>
            <a:pPr indent="0" marL="0">
              <a:buNone/>
            </a:pPr>
            <a:r>
              <a:rPr lang="en-US" sz="1300" b="1" dirty="0">
                <a:solidFill>
                  <a:srgbClr val="2B2D31"/>
                </a:solidFill>
                <a:latin typeface="맑은 고딕" pitchFamily="34" charset="0"/>
                <a:ea typeface="맑은 고딕" pitchFamily="34" charset="-122"/>
                <a:cs typeface="맑은 고딕" pitchFamily="34" charset="-120"/>
              </a:rPr>
              <a:t>선박 용선 · 기상 대기</a:t>
            </a:r>
            <a:endParaRPr lang="en-US" sz="1300" dirty="0"/>
          </a:p>
        </p:txBody>
      </p:sp>
      <p:sp>
        <p:nvSpPr>
          <p:cNvPr id="53" name="Text 47"/>
          <p:cNvSpPr txBox="1"/>
          <p:nvPr/>
        </p:nvSpPr>
        <p:spPr>
          <a:xfrm>
            <a:off x="7037680" y="4270248"/>
            <a:ext cx="1836344" cy="274320"/>
          </a:xfrm>
          <a:prstGeom prst="rect">
            <a:avLst/>
          </a:prstGeom>
          <a:noFill/>
          <a:ln/>
        </p:spPr>
        <p:txBody>
          <a:bodyPr wrap="square" lIns="0" tIns="0" rIns="0" bIns="0" rtlCol="0" anchor="t"/>
          <a:lstStyle/>
          <a:p>
            <a:pPr indent="0" marL="0">
              <a:buNone/>
            </a:pPr>
            <a:r>
              <a:rPr lang="en-US" sz="1100" dirty="0">
                <a:solidFill>
                  <a:srgbClr val="6B6F76"/>
                </a:solidFill>
                <a:latin typeface="맑은 고딕" pitchFamily="34" charset="0"/>
                <a:ea typeface="맑은 고딕" pitchFamily="34" charset="-122"/>
                <a:cs typeface="맑은 고딕" pitchFamily="34" charset="-120"/>
              </a:rPr>
              <a:t>위험 지점부터 배 투입</a:t>
            </a:r>
            <a:endParaRPr lang="en-US" sz="1100" dirty="0"/>
          </a:p>
        </p:txBody>
      </p:sp>
      <p:sp>
        <p:nvSpPr>
          <p:cNvPr id="54" name="Shape 48"/>
          <p:cNvSpPr/>
          <p:nvPr/>
        </p:nvSpPr>
        <p:spPr>
          <a:xfrm>
            <a:off x="8938031" y="4014216"/>
            <a:ext cx="420624" cy="420624"/>
          </a:xfrm>
          <a:prstGeom prst="ellipse">
            <a:avLst/>
          </a:prstGeom>
          <a:solidFill>
            <a:srgbClr val="B5501F"/>
          </a:solidFill>
          <a:ln w="12700">
            <a:solidFill>
              <a:srgbClr val="B5501F"/>
            </a:solidFill>
            <a:prstDash val="solid"/>
          </a:ln>
        </p:spPr>
      </p:sp>
      <p:pic>
        <p:nvPicPr>
          <p:cNvPr id="55" name="Image 4" descr="preencoded.png">    </p:cNvPr>
          <p:cNvPicPr>
            <a:picLocks noChangeAspect="1"/>
          </p:cNvPicPr>
          <p:nvPr/>
        </p:nvPicPr>
        <p:blipFill>
          <a:blip r:embed="rId5"/>
          <a:stretch>
            <a:fillRect/>
          </a:stretch>
        </p:blipFill>
        <p:spPr>
          <a:xfrm>
            <a:off x="9047394" y="4123578"/>
            <a:ext cx="201900" cy="201900"/>
          </a:xfrm>
          <a:prstGeom prst="rect">
            <a:avLst/>
          </a:prstGeom>
        </p:spPr>
      </p:pic>
      <p:sp>
        <p:nvSpPr>
          <p:cNvPr id="56" name="Text 49"/>
          <p:cNvSpPr txBox="1"/>
          <p:nvPr/>
        </p:nvSpPr>
        <p:spPr>
          <a:xfrm>
            <a:off x="9468383" y="3995928"/>
            <a:ext cx="1836344" cy="274320"/>
          </a:xfrm>
          <a:prstGeom prst="rect">
            <a:avLst/>
          </a:prstGeom>
          <a:noFill/>
          <a:ln/>
        </p:spPr>
        <p:txBody>
          <a:bodyPr wrap="square" lIns="0" tIns="0" rIns="0" bIns="0" rtlCol="0" anchor="t"/>
          <a:lstStyle/>
          <a:p>
            <a:pPr indent="0" marL="0">
              <a:buNone/>
            </a:pPr>
            <a:r>
              <a:rPr lang="en-US" sz="1300" b="1" dirty="0">
                <a:solidFill>
                  <a:srgbClr val="2B2D31"/>
                </a:solidFill>
                <a:latin typeface="맑은 고딕" pitchFamily="34" charset="0"/>
                <a:ea typeface="맑은 고딕" pitchFamily="34" charset="-122"/>
                <a:cs typeface="맑은 고딕" pitchFamily="34" charset="-120"/>
              </a:rPr>
              <a:t>리프트 · 비계 임대</a:t>
            </a:r>
            <a:endParaRPr lang="en-US" sz="1300" dirty="0"/>
          </a:p>
        </p:txBody>
      </p:sp>
      <p:sp>
        <p:nvSpPr>
          <p:cNvPr id="57" name="Text 50"/>
          <p:cNvSpPr txBox="1"/>
          <p:nvPr/>
        </p:nvSpPr>
        <p:spPr>
          <a:xfrm>
            <a:off x="9468383" y="4270248"/>
            <a:ext cx="1836344" cy="274320"/>
          </a:xfrm>
          <a:prstGeom prst="rect">
            <a:avLst/>
          </a:prstGeom>
          <a:noFill/>
          <a:ln/>
        </p:spPr>
        <p:txBody>
          <a:bodyPr wrap="square" lIns="0" tIns="0" rIns="0" bIns="0" rtlCol="0" anchor="t"/>
          <a:lstStyle/>
          <a:p>
            <a:pPr indent="0" marL="0">
              <a:buNone/>
            </a:pPr>
            <a:r>
              <a:rPr lang="en-US" sz="1100" dirty="0">
                <a:solidFill>
                  <a:srgbClr val="6B6F76"/>
                </a:solidFill>
                <a:latin typeface="맑은 고딕" pitchFamily="34" charset="0"/>
                <a:ea typeface="맑은 고딕" pitchFamily="34" charset="-122"/>
                <a:cs typeface="맑은 고딕" pitchFamily="34" charset="-120"/>
              </a:rPr>
              <a:t>필요한 구간만 골라 임대</a:t>
            </a:r>
            <a:endParaRPr lang="en-US" sz="1100" dirty="0"/>
          </a:p>
        </p:txBody>
      </p:sp>
      <p:sp>
        <p:nvSpPr>
          <p:cNvPr id="58" name="Shape 51"/>
          <p:cNvSpPr/>
          <p:nvPr/>
        </p:nvSpPr>
        <p:spPr>
          <a:xfrm>
            <a:off x="6507328" y="4837176"/>
            <a:ext cx="420624" cy="420624"/>
          </a:xfrm>
          <a:prstGeom prst="ellipse">
            <a:avLst/>
          </a:prstGeom>
          <a:solidFill>
            <a:srgbClr val="B5501F"/>
          </a:solidFill>
          <a:ln w="12700">
            <a:solidFill>
              <a:srgbClr val="B5501F"/>
            </a:solidFill>
            <a:prstDash val="solid"/>
          </a:ln>
        </p:spPr>
      </p:sp>
      <p:pic>
        <p:nvPicPr>
          <p:cNvPr id="59" name="Image 5" descr="preencoded.png">    </p:cNvPr>
          <p:cNvPicPr>
            <a:picLocks noChangeAspect="1"/>
          </p:cNvPicPr>
          <p:nvPr/>
        </p:nvPicPr>
        <p:blipFill>
          <a:blip r:embed="rId6"/>
          <a:stretch>
            <a:fillRect/>
          </a:stretch>
        </p:blipFill>
        <p:spPr>
          <a:xfrm>
            <a:off x="6616690" y="4946538"/>
            <a:ext cx="201900" cy="201900"/>
          </a:xfrm>
          <a:prstGeom prst="rect">
            <a:avLst/>
          </a:prstGeom>
        </p:spPr>
      </p:pic>
      <p:sp>
        <p:nvSpPr>
          <p:cNvPr id="60" name="Text 52"/>
          <p:cNvSpPr txBox="1"/>
          <p:nvPr/>
        </p:nvSpPr>
        <p:spPr>
          <a:xfrm>
            <a:off x="7037680" y="4818888"/>
            <a:ext cx="1836344" cy="274320"/>
          </a:xfrm>
          <a:prstGeom prst="rect">
            <a:avLst/>
          </a:prstGeom>
          <a:noFill/>
          <a:ln/>
        </p:spPr>
        <p:txBody>
          <a:bodyPr wrap="square" lIns="0" tIns="0" rIns="0" bIns="0" rtlCol="0" anchor="t"/>
          <a:lstStyle/>
          <a:p>
            <a:pPr indent="0" marL="0">
              <a:buNone/>
            </a:pPr>
            <a:r>
              <a:rPr lang="en-US" sz="1300" b="1" dirty="0">
                <a:solidFill>
                  <a:srgbClr val="2B2D31"/>
                </a:solidFill>
                <a:latin typeface="맑은 고딕" pitchFamily="34" charset="0"/>
                <a:ea typeface="맑은 고딕" pitchFamily="34" charset="-122"/>
                <a:cs typeface="맑은 고딕" pitchFamily="34" charset="-120"/>
              </a:rPr>
              <a:t>로프 액세스 출동</a:t>
            </a:r>
            <a:endParaRPr lang="en-US" sz="1300" dirty="0"/>
          </a:p>
        </p:txBody>
      </p:sp>
      <p:sp>
        <p:nvSpPr>
          <p:cNvPr id="61" name="Text 53"/>
          <p:cNvSpPr txBox="1"/>
          <p:nvPr/>
        </p:nvSpPr>
        <p:spPr>
          <a:xfrm>
            <a:off x="7037680" y="5093208"/>
            <a:ext cx="1836344" cy="274320"/>
          </a:xfrm>
          <a:prstGeom prst="rect">
            <a:avLst/>
          </a:prstGeom>
          <a:noFill/>
          <a:ln/>
        </p:spPr>
        <p:txBody>
          <a:bodyPr wrap="square" lIns="0" tIns="0" rIns="0" bIns="0" rtlCol="0" anchor="t"/>
          <a:lstStyle/>
          <a:p>
            <a:pPr indent="0" marL="0">
              <a:buNone/>
            </a:pPr>
            <a:r>
              <a:rPr lang="en-US" sz="1100" dirty="0">
                <a:solidFill>
                  <a:srgbClr val="6B6F76"/>
                </a:solidFill>
                <a:latin typeface="맑은 고딕" pitchFamily="34" charset="0"/>
                <a:ea typeface="맑은 고딕" pitchFamily="34" charset="-122"/>
                <a:cs typeface="맑은 고딕" pitchFamily="34" charset="-120"/>
              </a:rPr>
              <a:t>출동 여부 사전 판단</a:t>
            </a:r>
            <a:endParaRPr lang="en-US" sz="1100" dirty="0"/>
          </a:p>
        </p:txBody>
      </p:sp>
      <p:sp>
        <p:nvSpPr>
          <p:cNvPr id="62" name="Shape 54"/>
          <p:cNvSpPr/>
          <p:nvPr/>
        </p:nvSpPr>
        <p:spPr>
          <a:xfrm>
            <a:off x="8938031" y="4837176"/>
            <a:ext cx="420624" cy="420624"/>
          </a:xfrm>
          <a:prstGeom prst="ellipse">
            <a:avLst/>
          </a:prstGeom>
          <a:solidFill>
            <a:srgbClr val="B5501F"/>
          </a:solidFill>
          <a:ln w="12700">
            <a:solidFill>
              <a:srgbClr val="B5501F"/>
            </a:solidFill>
            <a:prstDash val="solid"/>
          </a:ln>
        </p:spPr>
      </p:sp>
      <p:pic>
        <p:nvPicPr>
          <p:cNvPr id="63" name="Image 6" descr="preencoded.png">    </p:cNvPr>
          <p:cNvPicPr>
            <a:picLocks noChangeAspect="1"/>
          </p:cNvPicPr>
          <p:nvPr/>
        </p:nvPicPr>
        <p:blipFill>
          <a:blip r:embed="rId7"/>
          <a:stretch>
            <a:fillRect/>
          </a:stretch>
        </p:blipFill>
        <p:spPr>
          <a:xfrm>
            <a:off x="9047394" y="4946538"/>
            <a:ext cx="201900" cy="201900"/>
          </a:xfrm>
          <a:prstGeom prst="rect">
            <a:avLst/>
          </a:prstGeom>
        </p:spPr>
      </p:pic>
      <p:sp>
        <p:nvSpPr>
          <p:cNvPr id="64" name="Text 55"/>
          <p:cNvSpPr txBox="1"/>
          <p:nvPr/>
        </p:nvSpPr>
        <p:spPr>
          <a:xfrm>
            <a:off x="9468383" y="4818888"/>
            <a:ext cx="1836344" cy="274320"/>
          </a:xfrm>
          <a:prstGeom prst="rect">
            <a:avLst/>
          </a:prstGeom>
          <a:noFill/>
          <a:ln/>
        </p:spPr>
        <p:txBody>
          <a:bodyPr wrap="square" lIns="0" tIns="0" rIns="0" bIns="0" rtlCol="0" anchor="t"/>
          <a:lstStyle/>
          <a:p>
            <a:pPr indent="0" marL="0">
              <a:buNone/>
            </a:pPr>
            <a:r>
              <a:rPr lang="en-US" sz="1300" b="1" dirty="0">
                <a:solidFill>
                  <a:srgbClr val="2B2D31"/>
                </a:solidFill>
                <a:latin typeface="맑은 고딕" pitchFamily="34" charset="0"/>
                <a:ea typeface="맑은 고딕" pitchFamily="34" charset="-122"/>
                <a:cs typeface="맑은 고딕" pitchFamily="34" charset="-120"/>
              </a:rPr>
              <a:t>점검 기록 · 문서 작업</a:t>
            </a:r>
            <a:endParaRPr lang="en-US" sz="1300" dirty="0"/>
          </a:p>
        </p:txBody>
      </p:sp>
      <p:sp>
        <p:nvSpPr>
          <p:cNvPr id="65" name="Text 56"/>
          <p:cNvSpPr txBox="1"/>
          <p:nvPr/>
        </p:nvSpPr>
        <p:spPr>
          <a:xfrm>
            <a:off x="9468383" y="5093208"/>
            <a:ext cx="1836344" cy="274320"/>
          </a:xfrm>
          <a:prstGeom prst="rect">
            <a:avLst/>
          </a:prstGeom>
          <a:noFill/>
          <a:ln/>
        </p:spPr>
        <p:txBody>
          <a:bodyPr wrap="square" lIns="0" tIns="0" rIns="0" bIns="0" rtlCol="0" anchor="t"/>
          <a:lstStyle/>
          <a:p>
            <a:pPr indent="0" marL="0">
              <a:buNone/>
            </a:pPr>
            <a:r>
              <a:rPr lang="en-US" sz="1100" dirty="0">
                <a:solidFill>
                  <a:srgbClr val="6B6F76"/>
                </a:solidFill>
                <a:latin typeface="맑은 고딕" pitchFamily="34" charset="0"/>
                <a:ea typeface="맑은 고딕" pitchFamily="34" charset="-122"/>
                <a:cs typeface="맑은 고딕" pitchFamily="34" charset="-120"/>
              </a:rPr>
              <a:t>사진 리포트로 정리</a:t>
            </a:r>
            <a:endParaRPr lang="en-US" sz="1100" dirty="0"/>
          </a:p>
        </p:txBody>
      </p:sp>
      <p:sp>
        <p:nvSpPr>
          <p:cNvPr id="66" name="Text 57"/>
          <p:cNvSpPr txBox="1"/>
          <p:nvPr/>
        </p:nvSpPr>
        <p:spPr>
          <a:xfrm>
            <a:off x="6507328" y="5550408"/>
            <a:ext cx="4952848" cy="228600"/>
          </a:xfrm>
          <a:prstGeom prst="rect">
            <a:avLst/>
          </a:prstGeom>
          <a:noFill/>
          <a:ln/>
        </p:spPr>
        <p:txBody>
          <a:bodyPr wrap="square" lIns="0" tIns="0" rIns="0" bIns="0" rtlCol="0" anchor="t"/>
          <a:lstStyle/>
          <a:p>
            <a:pPr indent="0" marL="0">
              <a:buNone/>
            </a:pPr>
            <a:r>
              <a:rPr lang="en-US" sz="1000" i="1" dirty="0">
                <a:solidFill>
                  <a:srgbClr val="A3A7AD"/>
                </a:solidFill>
                <a:latin typeface="맑은 고딕" pitchFamily="34" charset="0"/>
                <a:ea typeface="맑은 고딕" pitchFamily="34" charset="-122"/>
                <a:cs typeface="맑은 고딕" pitchFamily="34" charset="-120"/>
              </a:rPr>
              <a:t>미국 현장 인터뷰 (Deepwater · MISTRAS · Brown Corrosion 등)</a:t>
            </a:r>
            <a:endParaRPr lang="en-US" sz="1000" dirty="0"/>
          </a:p>
        </p:txBody>
      </p:sp>
      <p:sp>
        <p:nvSpPr>
          <p:cNvPr id="67" name="Shape 58"/>
          <p:cNvSpPr/>
          <p:nvPr/>
        </p:nvSpPr>
        <p:spPr>
          <a:xfrm>
            <a:off x="0" y="6144768"/>
            <a:ext cx="12191695" cy="713232"/>
          </a:xfrm>
          <a:prstGeom prst="rect">
            <a:avLst/>
          </a:prstGeom>
          <a:solidFill>
            <a:srgbClr val="1B3A5C"/>
          </a:solidFill>
          <a:ln w="12700">
            <a:solidFill>
              <a:srgbClr val="1B3A5C"/>
            </a:solidFill>
            <a:prstDash val="solid"/>
          </a:ln>
        </p:spPr>
      </p:sp>
      <p:sp>
        <p:nvSpPr>
          <p:cNvPr id="68" name="Text 59"/>
          <p:cNvSpPr txBox="1"/>
          <p:nvPr/>
        </p:nvSpPr>
        <p:spPr>
          <a:xfrm>
            <a:off x="548640" y="6144768"/>
            <a:ext cx="11094415" cy="713232"/>
          </a:xfrm>
          <a:prstGeom prst="rect">
            <a:avLst/>
          </a:prstGeom>
          <a:noFill/>
          <a:ln/>
        </p:spPr>
        <p:txBody>
          <a:bodyPr wrap="square" lIns="0" tIns="0" rIns="0" bIns="0" rtlCol="0" anchor="ctr"/>
          <a:lstStyle/>
          <a:p>
            <a:pPr algn="ctr" indent="0" marL="0">
              <a:buNone/>
            </a:pPr>
            <a:r>
              <a:rPr lang="en-US" sz="1900" dirty="0">
                <a:solidFill>
                  <a:srgbClr val="FFFFFF"/>
                </a:solidFill>
                <a:latin typeface="맑은 고딕" pitchFamily="34" charset="0"/>
                <a:ea typeface="맑은 고딕" pitchFamily="34" charset="-122"/>
                <a:cs typeface="맑은 고딕" pitchFamily="34" charset="-120"/>
              </a:rPr>
              <a:t>규제로 반복되는 점검 = </a:t>
            </a:r>
            <a:r>
              <a:rPr lang="en-US" sz="1900" b="1" dirty="0">
                <a:solidFill>
                  <a:srgbClr val="F2B48A"/>
                </a:solidFill>
                <a:latin typeface="맑은 고딕" pitchFamily="34" charset="0"/>
                <a:ea typeface="맑은 고딕" pitchFamily="34" charset="-122"/>
                <a:cs typeface="맑은 고딕" pitchFamily="34" charset="-120"/>
              </a:rPr>
              <a:t>매년 돌아오는 수요</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77724" cy="77724"/>
          </a:xfrm>
          <a:prstGeom prst="ellipse">
            <a:avLst/>
          </a:prstGeom>
          <a:solidFill>
            <a:srgbClr val="1B3A5C"/>
          </a:solidFill>
          <a:ln w="12700">
            <a:solidFill>
              <a:srgbClr val="1B3A5C"/>
            </a:solidFill>
            <a:prstDash val="solid"/>
          </a:ln>
        </p:spPr>
      </p:sp>
      <p:sp>
        <p:nvSpPr>
          <p:cNvPr id="3" name="Shape 1"/>
          <p:cNvSpPr/>
          <p:nvPr/>
        </p:nvSpPr>
        <p:spPr>
          <a:xfrm>
            <a:off x="694944" y="384048"/>
            <a:ext cx="77724" cy="77724"/>
          </a:xfrm>
          <a:prstGeom prst="ellipse">
            <a:avLst/>
          </a:prstGeom>
          <a:solidFill>
            <a:srgbClr val="6F8FB5"/>
          </a:solidFill>
          <a:ln w="12700">
            <a:solidFill>
              <a:srgbClr val="6F8FB5"/>
            </a:solidFill>
            <a:prstDash val="solid"/>
          </a:ln>
        </p:spPr>
      </p:sp>
      <p:sp>
        <p:nvSpPr>
          <p:cNvPr id="4" name="Shape 2"/>
          <p:cNvSpPr/>
          <p:nvPr/>
        </p:nvSpPr>
        <p:spPr>
          <a:xfrm>
            <a:off x="841248" y="384048"/>
            <a:ext cx="77724" cy="77724"/>
          </a:xfrm>
          <a:prstGeom prst="ellipse">
            <a:avLst/>
          </a:prstGeom>
          <a:solidFill>
            <a:srgbClr val="B9CCE0"/>
          </a:solidFill>
          <a:ln w="12700">
            <a:solidFill>
              <a:srgbClr val="B9CCE0"/>
            </a:solidFill>
            <a:prstDash val="solid"/>
          </a:ln>
        </p:spPr>
      </p:sp>
      <p:sp>
        <p:nvSpPr>
          <p:cNvPr id="5" name="Text 3"/>
          <p:cNvSpPr txBox="1"/>
          <p:nvPr/>
        </p:nvSpPr>
        <p:spPr>
          <a:xfrm>
            <a:off x="1097280" y="301752"/>
            <a:ext cx="5486400" cy="256032"/>
          </a:xfrm>
          <a:prstGeom prst="rect">
            <a:avLst/>
          </a:prstGeom>
          <a:noFill/>
          <a:ln/>
        </p:spPr>
        <p:txBody>
          <a:bodyPr wrap="square" lIns="0" tIns="0" rIns="0" bIns="0" rtlCol="0" anchor="t"/>
          <a:lstStyle/>
          <a:p>
            <a:pPr indent="0" marL="0">
              <a:buNone/>
            </a:pPr>
            <a:r>
              <a:rPr lang="en-US" sz="1100" dirty="0">
                <a:solidFill>
                  <a:srgbClr val="1B3A5C"/>
                </a:solidFill>
                <a:latin typeface="맑은 고딕" pitchFamily="34" charset="0"/>
                <a:ea typeface="맑은 고딕" pitchFamily="34" charset="-122"/>
                <a:cs typeface="맑은 고딕" pitchFamily="34" charset="-120"/>
              </a:rPr>
              <a:t>비즈니스 모델(Business Model)</a:t>
            </a:r>
            <a:endParaRPr lang="en-US" sz="1100" dirty="0"/>
          </a:p>
        </p:txBody>
      </p:sp>
      <p:sp>
        <p:nvSpPr>
          <p:cNvPr id="6" name="Text 4"/>
          <p:cNvSpPr txBox="1"/>
          <p:nvPr/>
        </p:nvSpPr>
        <p:spPr>
          <a:xfrm>
            <a:off x="502920" y="621792"/>
            <a:ext cx="914400" cy="685800"/>
          </a:xfrm>
          <a:prstGeom prst="rect">
            <a:avLst/>
          </a:prstGeom>
          <a:noFill/>
          <a:ln/>
        </p:spPr>
        <p:txBody>
          <a:bodyPr wrap="square" lIns="0" tIns="0" rIns="0" bIns="0" rtlCol="0" anchor="ctr"/>
          <a:lstStyle/>
          <a:p>
            <a:pPr indent="0" marL="0">
              <a:buNone/>
            </a:pPr>
            <a:r>
              <a:rPr lang="en-US" sz="4000" b="1" dirty="0">
                <a:solidFill>
                  <a:srgbClr val="B9CCE0"/>
                </a:solidFill>
                <a:latin typeface="맑은 고딕" pitchFamily="34" charset="0"/>
                <a:ea typeface="맑은 고딕" pitchFamily="34" charset="-122"/>
                <a:cs typeface="맑은 고딕" pitchFamily="34" charset="-120"/>
              </a:rPr>
              <a:t>0</a:t>
            </a:r>
            <a:r>
              <a:rPr lang="en-US" sz="4000" b="1" dirty="0">
                <a:solidFill>
                  <a:srgbClr val="1B3A5C"/>
                </a:solidFill>
                <a:latin typeface="맑은 고딕" pitchFamily="34" charset="0"/>
                <a:ea typeface="맑은 고딕" pitchFamily="34" charset="-122"/>
                <a:cs typeface="맑은 고딕" pitchFamily="34" charset="-120"/>
              </a:rPr>
              <a:t>7</a:t>
            </a:r>
            <a:endParaRPr lang="en-US" sz="4000" dirty="0"/>
          </a:p>
        </p:txBody>
      </p:sp>
      <p:sp>
        <p:nvSpPr>
          <p:cNvPr id="7" name="Text 5"/>
          <p:cNvSpPr txBox="1"/>
          <p:nvPr/>
        </p:nvSpPr>
        <p:spPr>
          <a:xfrm>
            <a:off x="1463040" y="621792"/>
            <a:ext cx="9509760" cy="685800"/>
          </a:xfrm>
          <a:prstGeom prst="rect">
            <a:avLst/>
          </a:prstGeom>
          <a:noFill/>
          <a:ln/>
        </p:spPr>
        <p:txBody>
          <a:bodyPr wrap="square" lIns="0" tIns="0" rIns="0" bIns="0" rtlCol="0" anchor="ctr"/>
          <a:lstStyle/>
          <a:p>
            <a:pPr indent="0" marL="0">
              <a:buNone/>
            </a:pPr>
            <a:r>
              <a:rPr lang="en-US" sz="2600" b="1" dirty="0">
                <a:solidFill>
                  <a:srgbClr val="2B2D31"/>
                </a:solidFill>
                <a:latin typeface="맑은 고딕" pitchFamily="34" charset="0"/>
                <a:ea typeface="맑은 고딕" pitchFamily="34" charset="-122"/>
                <a:cs typeface="맑은 고딕" pitchFamily="34" charset="-120"/>
              </a:rPr>
              <a:t>파트너와 함께 만드는 점검 데이터 플랫폼</a:t>
            </a:r>
            <a:endParaRPr lang="en-US" sz="2600" dirty="0"/>
          </a:p>
        </p:txBody>
      </p:sp>
      <p:sp>
        <p:nvSpPr>
          <p:cNvPr id="8" name="Shape 6"/>
          <p:cNvSpPr/>
          <p:nvPr/>
        </p:nvSpPr>
        <p:spPr>
          <a:xfrm>
            <a:off x="11259007" y="384048"/>
            <a:ext cx="77724" cy="77724"/>
          </a:xfrm>
          <a:prstGeom prst="ellipse">
            <a:avLst/>
          </a:prstGeom>
          <a:solidFill>
            <a:srgbClr val="B9CCE0"/>
          </a:solidFill>
          <a:ln w="12700">
            <a:solidFill>
              <a:srgbClr val="B9CCE0"/>
            </a:solidFill>
            <a:prstDash val="solid"/>
          </a:ln>
        </p:spPr>
      </p:sp>
      <p:sp>
        <p:nvSpPr>
          <p:cNvPr id="9" name="Shape 7"/>
          <p:cNvSpPr/>
          <p:nvPr/>
        </p:nvSpPr>
        <p:spPr>
          <a:xfrm>
            <a:off x="11405311" y="384048"/>
            <a:ext cx="77724" cy="77724"/>
          </a:xfrm>
          <a:prstGeom prst="ellipse">
            <a:avLst/>
          </a:prstGeom>
          <a:solidFill>
            <a:srgbClr val="6F8FB5"/>
          </a:solidFill>
          <a:ln w="12700">
            <a:solidFill>
              <a:srgbClr val="6F8FB5"/>
            </a:solidFill>
            <a:prstDash val="solid"/>
          </a:ln>
        </p:spPr>
      </p:sp>
      <p:sp>
        <p:nvSpPr>
          <p:cNvPr id="10" name="Shape 8"/>
          <p:cNvSpPr/>
          <p:nvPr/>
        </p:nvSpPr>
        <p:spPr>
          <a:xfrm>
            <a:off x="11551615" y="384048"/>
            <a:ext cx="77724" cy="77724"/>
          </a:xfrm>
          <a:prstGeom prst="ellipse">
            <a:avLst/>
          </a:prstGeom>
          <a:solidFill>
            <a:srgbClr val="1B3A5C"/>
          </a:solidFill>
          <a:ln w="12700">
            <a:solidFill>
              <a:srgbClr val="1B3A5C"/>
            </a:solidFill>
            <a:prstDash val="solid"/>
          </a:ln>
        </p:spPr>
      </p:sp>
      <p:sp>
        <p:nvSpPr>
          <p:cNvPr id="11" name="Shape 9"/>
          <p:cNvSpPr/>
          <p:nvPr/>
        </p:nvSpPr>
        <p:spPr>
          <a:xfrm>
            <a:off x="11185855" y="786384"/>
            <a:ext cx="0" cy="310896"/>
          </a:xfrm>
          <a:prstGeom prst="line">
            <a:avLst/>
          </a:prstGeom>
          <a:noFill/>
          <a:ln w="12700">
            <a:solidFill>
              <a:srgbClr val="D9DCE0"/>
            </a:solidFill>
            <a:prstDash val="solid"/>
          </a:ln>
        </p:spPr>
      </p:sp>
      <p:sp>
        <p:nvSpPr>
          <p:cNvPr id="12" name="Text 10"/>
          <p:cNvSpPr txBox="1"/>
          <p:nvPr/>
        </p:nvSpPr>
        <p:spPr>
          <a:xfrm>
            <a:off x="11259007" y="786384"/>
            <a:ext cx="384048" cy="310896"/>
          </a:xfrm>
          <a:prstGeom prst="rect">
            <a:avLst/>
          </a:prstGeom>
          <a:noFill/>
          <a:ln/>
        </p:spPr>
        <p:txBody>
          <a:bodyPr wrap="square" lIns="0" tIns="0" rIns="0" bIns="0" rtlCol="0" anchor="ctr"/>
          <a:lstStyle/>
          <a:p>
            <a:pPr algn="r" indent="0" marL="0">
              <a:buNone/>
            </a:pPr>
            <a:r>
              <a:rPr lang="en-US" sz="1200" b="1" dirty="0">
                <a:solidFill>
                  <a:srgbClr val="1B3A5C"/>
                </a:solidFill>
                <a:latin typeface="맑은 고딕" pitchFamily="34" charset="0"/>
                <a:ea typeface="맑은 고딕" pitchFamily="34" charset="-122"/>
                <a:cs typeface="맑은 고딕" pitchFamily="34" charset="-120"/>
              </a:rPr>
              <a:t>8</a:t>
            </a:r>
            <a:endParaRPr lang="en-US" sz="1200" dirty="0"/>
          </a:p>
        </p:txBody>
      </p:sp>
      <p:sp>
        <p:nvSpPr>
          <p:cNvPr id="13" name="Shape 11"/>
          <p:cNvSpPr/>
          <p:nvPr/>
        </p:nvSpPr>
        <p:spPr>
          <a:xfrm>
            <a:off x="548640" y="1508760"/>
            <a:ext cx="11094415" cy="1783080"/>
          </a:xfrm>
          <a:prstGeom prst="roundRect">
            <a:avLst>
              <a:gd name="adj" fmla="val 48718"/>
            </a:avLst>
          </a:prstGeom>
          <a:solidFill>
            <a:srgbClr val="E3EFF4"/>
          </a:solidFill>
          <a:ln w="12700">
            <a:solidFill>
              <a:srgbClr val="E3EFF4"/>
            </a:solidFill>
            <a:prstDash val="solid"/>
          </a:ln>
        </p:spPr>
      </p:sp>
      <p:sp>
        <p:nvSpPr>
          <p:cNvPr id="14" name="Shape 12"/>
          <p:cNvSpPr/>
          <p:nvPr/>
        </p:nvSpPr>
        <p:spPr>
          <a:xfrm>
            <a:off x="731520" y="1645920"/>
            <a:ext cx="1508760" cy="1508760"/>
          </a:xfrm>
          <a:prstGeom prst="ellipse">
            <a:avLst/>
          </a:prstGeom>
          <a:solidFill>
            <a:srgbClr val="1F5F7A"/>
          </a:solidFill>
          <a:ln w="38100">
            <a:solidFill>
              <a:srgbClr val="FFFFFF"/>
            </a:solidFill>
            <a:prstDash val="solid"/>
          </a:ln>
        </p:spPr>
      </p:sp>
      <p:sp>
        <p:nvSpPr>
          <p:cNvPr id="15" name="Text 13"/>
          <p:cNvSpPr txBox="1"/>
          <p:nvPr/>
        </p:nvSpPr>
        <p:spPr>
          <a:xfrm>
            <a:off x="731520" y="1645920"/>
            <a:ext cx="1508760" cy="1508760"/>
          </a:xfrm>
          <a:prstGeom prst="rect">
            <a:avLst/>
          </a:prstGeom>
          <a:noFill/>
          <a:ln/>
        </p:spPr>
        <p:txBody>
          <a:bodyPr wrap="square" lIns="0" tIns="0" rIns="0" bIns="0" rtlCol="0" anchor="ctr"/>
          <a:lstStyle/>
          <a:p>
            <a:pPr algn="ctr" indent="0" marL="0">
              <a:buNone/>
            </a:pPr>
            <a:r>
              <a:rPr lang="en-US" sz="2100" b="1" dirty="0">
                <a:solidFill>
                  <a:srgbClr val="FFFFFF"/>
                </a:solidFill>
                <a:latin typeface="맑은 고딕" pitchFamily="34" charset="0"/>
                <a:ea typeface="맑은 고딕" pitchFamily="34" charset="-122"/>
                <a:cs typeface="맑은 고딕" pitchFamily="34" charset="-120"/>
              </a:rPr>
              <a:t>파트너</a:t>
            </a:r>
            <a:endParaRPr lang="en-US" sz="2100" dirty="0"/>
          </a:p>
        </p:txBody>
      </p:sp>
      <p:sp>
        <p:nvSpPr>
          <p:cNvPr id="16" name="Shape 14"/>
          <p:cNvSpPr/>
          <p:nvPr/>
        </p:nvSpPr>
        <p:spPr>
          <a:xfrm>
            <a:off x="5341468" y="1645920"/>
            <a:ext cx="1508760" cy="1508760"/>
          </a:xfrm>
          <a:prstGeom prst="ellipse">
            <a:avLst/>
          </a:prstGeom>
          <a:solidFill>
            <a:srgbClr val="1B3A5C"/>
          </a:solidFill>
          <a:ln w="38100">
            <a:solidFill>
              <a:srgbClr val="FFFFFF"/>
            </a:solidFill>
            <a:prstDash val="solid"/>
          </a:ln>
        </p:spPr>
      </p:sp>
      <p:sp>
        <p:nvSpPr>
          <p:cNvPr id="17" name="Text 15"/>
          <p:cNvSpPr txBox="1"/>
          <p:nvPr/>
        </p:nvSpPr>
        <p:spPr>
          <a:xfrm>
            <a:off x="5341468" y="1645920"/>
            <a:ext cx="1508760" cy="1508760"/>
          </a:xfrm>
          <a:prstGeom prst="rect">
            <a:avLst/>
          </a:prstGeom>
          <a:noFill/>
          <a:ln/>
        </p:spPr>
        <p:txBody>
          <a:bodyPr wrap="square" lIns="0" tIns="0" rIns="0" bIns="0" rtlCol="0" anchor="ctr"/>
          <a:lstStyle/>
          <a:p>
            <a:pPr algn="ctr" indent="0" marL="0">
              <a:buNone/>
            </a:pPr>
            <a:r>
              <a:rPr lang="en-US" sz="2100" b="1" dirty="0">
                <a:solidFill>
                  <a:srgbClr val="FFFFFF"/>
                </a:solidFill>
                <a:latin typeface="맑은 고딕" pitchFamily="34" charset="0"/>
                <a:ea typeface="맑은 고딕" pitchFamily="34" charset="-122"/>
                <a:cs typeface="맑은 고딕" pitchFamily="34" charset="-120"/>
              </a:rPr>
              <a:t>MLC</a:t>
            </a:r>
            <a:endParaRPr lang="en-US" sz="2100" dirty="0"/>
          </a:p>
        </p:txBody>
      </p:sp>
      <p:sp>
        <p:nvSpPr>
          <p:cNvPr id="18" name="Shape 16"/>
          <p:cNvSpPr/>
          <p:nvPr/>
        </p:nvSpPr>
        <p:spPr>
          <a:xfrm>
            <a:off x="9951415" y="1645920"/>
            <a:ext cx="1508760" cy="1508760"/>
          </a:xfrm>
          <a:prstGeom prst="ellipse">
            <a:avLst/>
          </a:prstGeom>
          <a:solidFill>
            <a:srgbClr val="B5501F"/>
          </a:solidFill>
          <a:ln w="38100">
            <a:solidFill>
              <a:srgbClr val="FFFFFF"/>
            </a:solidFill>
            <a:prstDash val="solid"/>
          </a:ln>
        </p:spPr>
      </p:sp>
      <p:sp>
        <p:nvSpPr>
          <p:cNvPr id="19" name="Text 17"/>
          <p:cNvSpPr txBox="1"/>
          <p:nvPr/>
        </p:nvSpPr>
        <p:spPr>
          <a:xfrm>
            <a:off x="9951415" y="1645920"/>
            <a:ext cx="1508760" cy="1508760"/>
          </a:xfrm>
          <a:prstGeom prst="rect">
            <a:avLst/>
          </a:prstGeom>
          <a:noFill/>
          <a:ln/>
        </p:spPr>
        <p:txBody>
          <a:bodyPr wrap="square" lIns="0" tIns="0" rIns="0" bIns="0" rtlCol="0" anchor="ctr"/>
          <a:lstStyle/>
          <a:p>
            <a:pPr algn="ctr" indent="0" marL="0">
              <a:buNone/>
            </a:pPr>
            <a:r>
              <a:rPr lang="en-US" sz="2100" b="1" dirty="0">
                <a:solidFill>
                  <a:srgbClr val="FFFFFF"/>
                </a:solidFill>
                <a:latin typeface="맑은 고딕" pitchFamily="34" charset="0"/>
                <a:ea typeface="맑은 고딕" pitchFamily="34" charset="-122"/>
                <a:cs typeface="맑은 고딕" pitchFamily="34" charset="-120"/>
              </a:rPr>
              <a:t>고객사</a:t>
            </a:r>
            <a:endParaRPr lang="en-US" sz="2100" dirty="0"/>
          </a:p>
        </p:txBody>
      </p:sp>
      <p:sp>
        <p:nvSpPr>
          <p:cNvPr id="20" name="Shape 18"/>
          <p:cNvSpPr/>
          <p:nvPr/>
        </p:nvSpPr>
        <p:spPr>
          <a:xfrm>
            <a:off x="2377440" y="2400300"/>
            <a:ext cx="2826868" cy="0"/>
          </a:xfrm>
          <a:prstGeom prst="line">
            <a:avLst/>
          </a:prstGeom>
          <a:noFill/>
          <a:ln w="25400">
            <a:solidFill>
              <a:srgbClr val="1F5F7A"/>
            </a:solidFill>
            <a:prstDash val="solid"/>
            <a:tailEnd type="triangle"/>
          </a:ln>
        </p:spPr>
      </p:sp>
      <p:sp>
        <p:nvSpPr>
          <p:cNvPr id="21" name="Text 19"/>
          <p:cNvSpPr txBox="1"/>
          <p:nvPr/>
        </p:nvSpPr>
        <p:spPr>
          <a:xfrm>
            <a:off x="2377440" y="1988820"/>
            <a:ext cx="2826868" cy="320040"/>
          </a:xfrm>
          <a:prstGeom prst="rect">
            <a:avLst/>
          </a:prstGeom>
          <a:noFill/>
          <a:ln/>
        </p:spPr>
        <p:txBody>
          <a:bodyPr wrap="square" lIns="0" tIns="0" rIns="0" bIns="0" rtlCol="0" anchor="t"/>
          <a:lstStyle/>
          <a:p>
            <a:pPr algn="ctr" indent="0" marL="0">
              <a:buNone/>
            </a:pPr>
            <a:r>
              <a:rPr lang="en-US" sz="1400" b="1" dirty="0">
                <a:solidFill>
                  <a:srgbClr val="1F5F7A"/>
                </a:solidFill>
                <a:latin typeface="맑은 고딕" pitchFamily="34" charset="0"/>
                <a:ea typeface="맑은 고딕" pitchFamily="34" charset="-122"/>
                <a:cs typeface="맑은 고딕" pitchFamily="34" charset="-120"/>
              </a:rPr>
              <a:t>현장 촬영 데이터 · 고객 소개</a:t>
            </a:r>
            <a:endParaRPr lang="en-US" sz="1400" dirty="0"/>
          </a:p>
        </p:txBody>
      </p:sp>
      <p:sp>
        <p:nvSpPr>
          <p:cNvPr id="22" name="Shape 20"/>
          <p:cNvSpPr/>
          <p:nvPr/>
        </p:nvSpPr>
        <p:spPr>
          <a:xfrm>
            <a:off x="6987388" y="2400300"/>
            <a:ext cx="2826868" cy="0"/>
          </a:xfrm>
          <a:prstGeom prst="line">
            <a:avLst/>
          </a:prstGeom>
          <a:noFill/>
          <a:ln w="25400">
            <a:solidFill>
              <a:srgbClr val="1B3A5C"/>
            </a:solidFill>
            <a:prstDash val="solid"/>
            <a:tailEnd type="triangle"/>
          </a:ln>
        </p:spPr>
      </p:sp>
      <p:sp>
        <p:nvSpPr>
          <p:cNvPr id="23" name="Text 21"/>
          <p:cNvSpPr txBox="1"/>
          <p:nvPr/>
        </p:nvSpPr>
        <p:spPr>
          <a:xfrm>
            <a:off x="6987388" y="1988820"/>
            <a:ext cx="2826868" cy="320040"/>
          </a:xfrm>
          <a:prstGeom prst="rect">
            <a:avLst/>
          </a:prstGeom>
          <a:noFill/>
          <a:ln/>
        </p:spPr>
        <p:txBody>
          <a:bodyPr wrap="square" lIns="0" tIns="0" rIns="0" bIns="0" rtlCol="0" anchor="t"/>
          <a:lstStyle/>
          <a:p>
            <a:pPr algn="ctr" indent="0" marL="0">
              <a:buNone/>
            </a:pPr>
            <a:r>
              <a:rPr lang="en-US" sz="1400" b="1" dirty="0">
                <a:solidFill>
                  <a:srgbClr val="1B3A5C"/>
                </a:solidFill>
                <a:latin typeface="맑은 고딕" pitchFamily="34" charset="0"/>
                <a:ea typeface="맑은 고딕" pitchFamily="34" charset="-122"/>
                <a:cs typeface="맑은 고딕" pitchFamily="34" charset="-120"/>
              </a:rPr>
              <a:t>점검 우선순위 리포트</a:t>
            </a:r>
            <a:endParaRPr lang="en-US" sz="1400" dirty="0"/>
          </a:p>
        </p:txBody>
      </p:sp>
      <p:sp>
        <p:nvSpPr>
          <p:cNvPr id="24" name="Text 22"/>
          <p:cNvSpPr txBox="1"/>
          <p:nvPr/>
        </p:nvSpPr>
        <p:spPr>
          <a:xfrm>
            <a:off x="6987388" y="2491740"/>
            <a:ext cx="2826868" cy="292608"/>
          </a:xfrm>
          <a:prstGeom prst="rect">
            <a:avLst/>
          </a:prstGeom>
          <a:noFill/>
          <a:ln/>
        </p:spPr>
        <p:txBody>
          <a:bodyPr wrap="square" lIns="0" tIns="0" rIns="0" bIns="0" rtlCol="0" anchor="t"/>
          <a:lstStyle/>
          <a:p>
            <a:pPr algn="ctr" indent="0" marL="0">
              <a:buNone/>
            </a:pPr>
            <a:r>
              <a:rPr lang="en-US" sz="1300" b="1" dirty="0">
                <a:solidFill>
                  <a:srgbClr val="B5501F"/>
                </a:solidFill>
                <a:latin typeface="맑은 고딕" pitchFamily="34" charset="0"/>
                <a:ea typeface="맑은 고딕" pitchFamily="34" charset="-122"/>
                <a:cs typeface="맑은 고딕" pitchFamily="34" charset="-120"/>
              </a:rPr>
              <a:t>점검 건당 · 구독형 요금</a:t>
            </a:r>
            <a:endParaRPr lang="en-US" sz="1300" dirty="0"/>
          </a:p>
        </p:txBody>
      </p:sp>
      <p:sp>
        <p:nvSpPr>
          <p:cNvPr id="25" name="Text 23"/>
          <p:cNvSpPr txBox="1"/>
          <p:nvPr/>
        </p:nvSpPr>
        <p:spPr>
          <a:xfrm>
            <a:off x="548640" y="3401568"/>
            <a:ext cx="2926080" cy="548640"/>
          </a:xfrm>
          <a:prstGeom prst="rect">
            <a:avLst/>
          </a:prstGeom>
          <a:noFill/>
          <a:ln/>
        </p:spPr>
        <p:txBody>
          <a:bodyPr wrap="square" lIns="0" tIns="0" rIns="0" bIns="0" rtlCol="0" anchor="t"/>
          <a:lstStyle/>
          <a:p>
            <a:pPr algn="l" indent="0" marL="0">
              <a:buNone/>
            </a:pPr>
            <a:r>
              <a:rPr lang="en-US" sz="1300" b="1" dirty="0">
                <a:solidFill>
                  <a:srgbClr val="2B2D31"/>
                </a:solidFill>
                <a:latin typeface="맑은 고딕" pitchFamily="34" charset="0"/>
                <a:ea typeface="맑은 고딕" pitchFamily="34" charset="-122"/>
                <a:cs typeface="맑은 고딕" pitchFamily="34" charset="-120"/>
              </a:rPr>
              <a:t>드론 운용사 · 방식 전문 업체</a:t>
            </a:r>
            <a:endParaRPr lang="en-US" sz="1300" dirty="0"/>
          </a:p>
          <a:p>
            <a:pPr algn="l" indent="0" marL="0">
              <a:buNone/>
            </a:pPr>
            <a:r>
              <a:rPr lang="en-US" sz="1150" dirty="0">
                <a:solidFill>
                  <a:srgbClr val="6B6F76"/>
                </a:solidFill>
                <a:latin typeface="맑은 고딕" pitchFamily="34" charset="0"/>
                <a:ea typeface="맑은 고딕" pitchFamily="34" charset="-122"/>
                <a:cs typeface="맑은 고딕" pitchFamily="34" charset="-120"/>
              </a:rPr>
              <a:t>Farwest Corrosion Control 등</a:t>
            </a:r>
            <a:endParaRPr lang="en-US" sz="1300" dirty="0"/>
          </a:p>
        </p:txBody>
      </p:sp>
      <p:sp>
        <p:nvSpPr>
          <p:cNvPr id="26" name="Text 24"/>
          <p:cNvSpPr txBox="1"/>
          <p:nvPr/>
        </p:nvSpPr>
        <p:spPr>
          <a:xfrm>
            <a:off x="4632808" y="3401568"/>
            <a:ext cx="2926080" cy="548640"/>
          </a:xfrm>
          <a:prstGeom prst="rect">
            <a:avLst/>
          </a:prstGeom>
          <a:noFill/>
          <a:ln/>
        </p:spPr>
        <p:txBody>
          <a:bodyPr wrap="square" lIns="0" tIns="0" rIns="0" bIns="0" rtlCol="0" anchor="t"/>
          <a:lstStyle/>
          <a:p>
            <a:pPr algn="ctr" indent="0" marL="0">
              <a:buNone/>
            </a:pPr>
            <a:r>
              <a:rPr lang="en-US" sz="1300" b="1" dirty="0">
                <a:solidFill>
                  <a:srgbClr val="2B2D31"/>
                </a:solidFill>
                <a:latin typeface="맑은 고딕" pitchFamily="34" charset="0"/>
                <a:ea typeface="맑은 고딕" pitchFamily="34" charset="-122"/>
                <a:cs typeface="맑은 고딕" pitchFamily="34" charset="-120"/>
              </a:rPr>
              <a:t>녹 색 기반 위험도 분석</a:t>
            </a:r>
            <a:endParaRPr lang="en-US" sz="1300" dirty="0"/>
          </a:p>
          <a:p>
            <a:pPr algn="ctr" indent="0" marL="0">
              <a:buNone/>
            </a:pPr>
            <a:r>
              <a:rPr lang="en-US" sz="1150" dirty="0">
                <a:solidFill>
                  <a:srgbClr val="6B6F76"/>
                </a:solidFill>
                <a:latin typeface="맑은 고딕" pitchFamily="34" charset="0"/>
                <a:ea typeface="맑은 고딕" pitchFamily="34" charset="-122"/>
                <a:cs typeface="맑은 고딕" pitchFamily="34" charset="-120"/>
              </a:rPr>
              <a:t>위험도 판정 · 우선순위 지도</a:t>
            </a:r>
            <a:endParaRPr lang="en-US" sz="1300" dirty="0"/>
          </a:p>
        </p:txBody>
      </p:sp>
      <p:sp>
        <p:nvSpPr>
          <p:cNvPr id="27" name="Text 25"/>
          <p:cNvSpPr txBox="1"/>
          <p:nvPr/>
        </p:nvSpPr>
        <p:spPr>
          <a:xfrm>
            <a:off x="8716975" y="3401568"/>
            <a:ext cx="2926080" cy="548640"/>
          </a:xfrm>
          <a:prstGeom prst="rect">
            <a:avLst/>
          </a:prstGeom>
          <a:noFill/>
          <a:ln/>
        </p:spPr>
        <p:txBody>
          <a:bodyPr wrap="square" lIns="0" tIns="0" rIns="0" bIns="0" rtlCol="0" anchor="t"/>
          <a:lstStyle/>
          <a:p>
            <a:pPr algn="r" indent="0" marL="0">
              <a:buNone/>
            </a:pPr>
            <a:r>
              <a:rPr lang="en-US" sz="1300" b="1" dirty="0">
                <a:solidFill>
                  <a:srgbClr val="2B2D31"/>
                </a:solidFill>
                <a:latin typeface="맑은 고딕" pitchFamily="34" charset="0"/>
                <a:ea typeface="맑은 고딕" pitchFamily="34" charset="-122"/>
                <a:cs typeface="맑은 고딕" pitchFamily="34" charset="-120"/>
              </a:rPr>
              <a:t>해양 석유 · 가스 운영사</a:t>
            </a:r>
            <a:endParaRPr lang="en-US" sz="1300" dirty="0"/>
          </a:p>
          <a:p>
            <a:pPr algn="r" indent="0" marL="0">
              <a:buNone/>
            </a:pPr>
            <a:r>
              <a:rPr lang="en-US" sz="1150" dirty="0">
                <a:solidFill>
                  <a:srgbClr val="6B6F76"/>
                </a:solidFill>
                <a:latin typeface="맑은 고딕" pitchFamily="34" charset="0"/>
                <a:ea typeface="맑은 고딕" pitchFamily="34" charset="-122"/>
                <a:cs typeface="맑은 고딕" pitchFamily="34" charset="-120"/>
              </a:rPr>
              <a:t>점검 프로그램 매니저</a:t>
            </a:r>
            <a:endParaRPr lang="en-US" sz="1300" dirty="0"/>
          </a:p>
        </p:txBody>
      </p:sp>
      <p:sp>
        <p:nvSpPr>
          <p:cNvPr id="28" name="Text 26"/>
          <p:cNvSpPr txBox="1"/>
          <p:nvPr/>
        </p:nvSpPr>
        <p:spPr>
          <a:xfrm>
            <a:off x="548640" y="4160520"/>
            <a:ext cx="4572000" cy="274320"/>
          </a:xfrm>
          <a:prstGeom prst="rect">
            <a:avLst/>
          </a:prstGeom>
          <a:noFill/>
          <a:ln/>
        </p:spPr>
        <p:txBody>
          <a:bodyPr wrap="square" lIns="0" tIns="0" rIns="0" bIns="0" rtlCol="0" anchor="t"/>
          <a:lstStyle/>
          <a:p>
            <a:pPr indent="0" marL="0">
              <a:buNone/>
            </a:pPr>
            <a:r>
              <a:rPr lang="en-US" sz="1300" b="1" dirty="0">
                <a:solidFill>
                  <a:srgbClr val="1F5F7A"/>
                </a:solidFill>
                <a:latin typeface="맑은 고딕" pitchFamily="34" charset="0"/>
                <a:ea typeface="맑은 고딕" pitchFamily="34" charset="-122"/>
                <a:cs typeface="맑은 고딕" pitchFamily="34" charset="-120"/>
              </a:rPr>
              <a:t>고객사 안의 의사결정 구조</a:t>
            </a:r>
            <a:endParaRPr lang="en-US" sz="1300" dirty="0"/>
          </a:p>
        </p:txBody>
      </p:sp>
      <p:sp>
        <p:nvSpPr>
          <p:cNvPr id="29" name="Shape 27"/>
          <p:cNvSpPr/>
          <p:nvPr/>
        </p:nvSpPr>
        <p:spPr>
          <a:xfrm>
            <a:off x="548640" y="4526280"/>
            <a:ext cx="2670734" cy="1371600"/>
          </a:xfrm>
          <a:prstGeom prst="roundRect">
            <a:avLst>
              <a:gd name="adj" fmla="val 5333"/>
            </a:avLst>
          </a:prstGeom>
          <a:solidFill>
            <a:srgbClr val="F3F5F8"/>
          </a:solidFill>
          <a:ln w="12700">
            <a:solidFill>
              <a:srgbClr val="F3F5F8"/>
            </a:solidFill>
            <a:prstDash val="solid"/>
          </a:ln>
        </p:spPr>
      </p:sp>
      <p:sp>
        <p:nvSpPr>
          <p:cNvPr id="30" name="Shape 28"/>
          <p:cNvSpPr/>
          <p:nvPr/>
        </p:nvSpPr>
        <p:spPr>
          <a:xfrm>
            <a:off x="731520" y="4709160"/>
            <a:ext cx="502920" cy="502920"/>
          </a:xfrm>
          <a:prstGeom prst="ellipse">
            <a:avLst/>
          </a:prstGeom>
          <a:solidFill>
            <a:srgbClr val="B5501F"/>
          </a:solidFill>
          <a:ln w="12700">
            <a:solidFill>
              <a:srgbClr val="B5501F"/>
            </a:solidFill>
            <a:prstDash val="solid"/>
          </a:ln>
        </p:spPr>
      </p:sp>
      <p:pic>
        <p:nvPicPr>
          <p:cNvPr id="31" name="Image 0" descr="preencoded.png">    </p:cNvPr>
          <p:cNvPicPr>
            <a:picLocks noChangeAspect="1"/>
          </p:cNvPicPr>
          <p:nvPr/>
        </p:nvPicPr>
        <p:blipFill>
          <a:blip r:embed="rId1"/>
          <a:stretch>
            <a:fillRect/>
          </a:stretch>
        </p:blipFill>
        <p:spPr>
          <a:xfrm>
            <a:off x="862279" y="4839919"/>
            <a:ext cx="241402" cy="241402"/>
          </a:xfrm>
          <a:prstGeom prst="rect">
            <a:avLst/>
          </a:prstGeom>
        </p:spPr>
      </p:pic>
      <p:sp>
        <p:nvSpPr>
          <p:cNvPr id="32" name="Shape 29"/>
          <p:cNvSpPr/>
          <p:nvPr/>
        </p:nvSpPr>
        <p:spPr>
          <a:xfrm>
            <a:off x="1371600" y="4809744"/>
            <a:ext cx="685800" cy="292608"/>
          </a:xfrm>
          <a:prstGeom prst="roundRect">
            <a:avLst>
              <a:gd name="adj" fmla="val 50000"/>
            </a:avLst>
          </a:prstGeom>
          <a:solidFill>
            <a:srgbClr val="B5501F"/>
          </a:solidFill>
          <a:ln w="12700">
            <a:solidFill>
              <a:srgbClr val="B5501F"/>
            </a:solidFill>
            <a:prstDash val="solid"/>
          </a:ln>
        </p:spPr>
      </p:sp>
      <p:sp>
        <p:nvSpPr>
          <p:cNvPr id="33" name="Text 30"/>
          <p:cNvSpPr txBox="1"/>
          <p:nvPr/>
        </p:nvSpPr>
        <p:spPr>
          <a:xfrm>
            <a:off x="1371600" y="4809744"/>
            <a:ext cx="6858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결정</a:t>
            </a:r>
            <a:endParaRPr lang="en-US" sz="1100" dirty="0"/>
          </a:p>
        </p:txBody>
      </p:sp>
      <p:sp>
        <p:nvSpPr>
          <p:cNvPr id="34" name="Text 31"/>
          <p:cNvSpPr txBox="1"/>
          <p:nvPr/>
        </p:nvSpPr>
        <p:spPr>
          <a:xfrm>
            <a:off x="731520" y="5303520"/>
            <a:ext cx="2396414" cy="274320"/>
          </a:xfrm>
          <a:prstGeom prst="rect">
            <a:avLst/>
          </a:prstGeom>
          <a:noFill/>
          <a:ln/>
        </p:spPr>
        <p:txBody>
          <a:bodyPr wrap="square" lIns="0" tIns="0" rIns="0" bIns="0" rtlCol="0" anchor="t"/>
          <a:lstStyle/>
          <a:p>
            <a:pPr indent="0" marL="0">
              <a:buNone/>
            </a:pPr>
            <a:r>
              <a:rPr lang="en-US" sz="1350" b="1" dirty="0">
                <a:solidFill>
                  <a:srgbClr val="2B2D31"/>
                </a:solidFill>
                <a:latin typeface="맑은 고딕" pitchFamily="34" charset="0"/>
                <a:ea typeface="맑은 고딕" pitchFamily="34" charset="-122"/>
                <a:cs typeface="맑은 고딕" pitchFamily="34" charset="-120"/>
              </a:rPr>
              <a:t>CEO · 대표</a:t>
            </a:r>
            <a:endParaRPr lang="en-US" sz="1350" dirty="0"/>
          </a:p>
        </p:txBody>
      </p:sp>
      <p:sp>
        <p:nvSpPr>
          <p:cNvPr id="35" name="Text 32"/>
          <p:cNvSpPr txBox="1"/>
          <p:nvPr/>
        </p:nvSpPr>
        <p:spPr>
          <a:xfrm>
            <a:off x="731520" y="5559552"/>
            <a:ext cx="2396414" cy="256032"/>
          </a:xfrm>
          <a:prstGeom prst="rect">
            <a:avLst/>
          </a:prstGeom>
          <a:noFill/>
          <a:ln/>
        </p:spPr>
        <p:txBody>
          <a:bodyPr wrap="square" lIns="0" tIns="0" rIns="0" bIns="0" rtlCol="0" anchor="t"/>
          <a:lstStyle/>
          <a:p>
            <a:pPr indent="0" marL="0">
              <a:buNone/>
            </a:pPr>
            <a:r>
              <a:rPr lang="en-US" sz="1150" dirty="0">
                <a:solidFill>
                  <a:srgbClr val="6B6F76"/>
                </a:solidFill>
                <a:latin typeface="맑은 고딕" pitchFamily="34" charset="0"/>
                <a:ea typeface="맑은 고딕" pitchFamily="34" charset="-122"/>
                <a:cs typeface="맑은 고딕" pitchFamily="34" charset="-120"/>
              </a:rPr>
              <a:t>안전 · 비용 · 규제 대응</a:t>
            </a:r>
            <a:endParaRPr lang="en-US" sz="1150" dirty="0"/>
          </a:p>
        </p:txBody>
      </p:sp>
      <p:sp>
        <p:nvSpPr>
          <p:cNvPr id="36" name="Shape 33"/>
          <p:cNvSpPr/>
          <p:nvPr/>
        </p:nvSpPr>
        <p:spPr>
          <a:xfrm>
            <a:off x="3356534" y="4526280"/>
            <a:ext cx="2670734" cy="1371600"/>
          </a:xfrm>
          <a:prstGeom prst="roundRect">
            <a:avLst>
              <a:gd name="adj" fmla="val 5333"/>
            </a:avLst>
          </a:prstGeom>
          <a:solidFill>
            <a:srgbClr val="F3F5F8"/>
          </a:solidFill>
          <a:ln w="12700">
            <a:solidFill>
              <a:srgbClr val="F3F5F8"/>
            </a:solidFill>
            <a:prstDash val="solid"/>
          </a:ln>
        </p:spPr>
      </p:sp>
      <p:sp>
        <p:nvSpPr>
          <p:cNvPr id="37" name="Shape 34"/>
          <p:cNvSpPr/>
          <p:nvPr/>
        </p:nvSpPr>
        <p:spPr>
          <a:xfrm>
            <a:off x="3539414" y="4709160"/>
            <a:ext cx="502920" cy="502920"/>
          </a:xfrm>
          <a:prstGeom prst="ellipse">
            <a:avLst/>
          </a:prstGeom>
          <a:solidFill>
            <a:srgbClr val="1F5F7A"/>
          </a:solidFill>
          <a:ln w="12700">
            <a:solidFill>
              <a:srgbClr val="1F5F7A"/>
            </a:solidFill>
            <a:prstDash val="solid"/>
          </a:ln>
        </p:spPr>
      </p:sp>
      <p:pic>
        <p:nvPicPr>
          <p:cNvPr id="38" name="Image 1" descr="preencoded.png">    </p:cNvPr>
          <p:cNvPicPr>
            <a:picLocks noChangeAspect="1"/>
          </p:cNvPicPr>
          <p:nvPr/>
        </p:nvPicPr>
        <p:blipFill>
          <a:blip r:embed="rId2"/>
          <a:stretch>
            <a:fillRect/>
          </a:stretch>
        </p:blipFill>
        <p:spPr>
          <a:xfrm>
            <a:off x="3670173" y="4839919"/>
            <a:ext cx="241402" cy="241402"/>
          </a:xfrm>
          <a:prstGeom prst="rect">
            <a:avLst/>
          </a:prstGeom>
        </p:spPr>
      </p:pic>
      <p:sp>
        <p:nvSpPr>
          <p:cNvPr id="39" name="Shape 35"/>
          <p:cNvSpPr/>
          <p:nvPr/>
        </p:nvSpPr>
        <p:spPr>
          <a:xfrm>
            <a:off x="4179494" y="4809744"/>
            <a:ext cx="685800" cy="292608"/>
          </a:xfrm>
          <a:prstGeom prst="roundRect">
            <a:avLst>
              <a:gd name="adj" fmla="val 50000"/>
            </a:avLst>
          </a:prstGeom>
          <a:solidFill>
            <a:srgbClr val="1F5F7A"/>
          </a:solidFill>
          <a:ln w="12700">
            <a:solidFill>
              <a:srgbClr val="1F5F7A"/>
            </a:solidFill>
            <a:prstDash val="solid"/>
          </a:ln>
        </p:spPr>
      </p:sp>
      <p:sp>
        <p:nvSpPr>
          <p:cNvPr id="40" name="Text 36"/>
          <p:cNvSpPr txBox="1"/>
          <p:nvPr/>
        </p:nvSpPr>
        <p:spPr>
          <a:xfrm>
            <a:off x="4179494" y="4809744"/>
            <a:ext cx="6858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추천</a:t>
            </a:r>
            <a:endParaRPr lang="en-US" sz="1100" dirty="0"/>
          </a:p>
        </p:txBody>
      </p:sp>
      <p:sp>
        <p:nvSpPr>
          <p:cNvPr id="41" name="Text 37"/>
          <p:cNvSpPr txBox="1"/>
          <p:nvPr/>
        </p:nvSpPr>
        <p:spPr>
          <a:xfrm>
            <a:off x="3539414" y="5303520"/>
            <a:ext cx="2396414" cy="274320"/>
          </a:xfrm>
          <a:prstGeom prst="rect">
            <a:avLst/>
          </a:prstGeom>
          <a:noFill/>
          <a:ln/>
        </p:spPr>
        <p:txBody>
          <a:bodyPr wrap="square" lIns="0" tIns="0" rIns="0" bIns="0" rtlCol="0" anchor="t"/>
          <a:lstStyle/>
          <a:p>
            <a:pPr indent="0" marL="0">
              <a:buNone/>
            </a:pPr>
            <a:r>
              <a:rPr lang="en-US" sz="1350" b="1" dirty="0">
                <a:solidFill>
                  <a:srgbClr val="2B2D31"/>
                </a:solidFill>
                <a:latin typeface="맑은 고딕" pitchFamily="34" charset="0"/>
                <a:ea typeface="맑은 고딕" pitchFamily="34" charset="-122"/>
                <a:cs typeface="맑은 고딕" pitchFamily="34" charset="-120"/>
              </a:rPr>
              <a:t>부식 엔지니어링 매니저</a:t>
            </a:r>
            <a:endParaRPr lang="en-US" sz="1350" dirty="0"/>
          </a:p>
        </p:txBody>
      </p:sp>
      <p:sp>
        <p:nvSpPr>
          <p:cNvPr id="42" name="Text 38"/>
          <p:cNvSpPr txBox="1"/>
          <p:nvPr/>
        </p:nvSpPr>
        <p:spPr>
          <a:xfrm>
            <a:off x="3539414" y="5559552"/>
            <a:ext cx="2396414" cy="256032"/>
          </a:xfrm>
          <a:prstGeom prst="rect">
            <a:avLst/>
          </a:prstGeom>
          <a:noFill/>
          <a:ln/>
        </p:spPr>
        <p:txBody>
          <a:bodyPr wrap="square" lIns="0" tIns="0" rIns="0" bIns="0" rtlCol="0" anchor="t"/>
          <a:lstStyle/>
          <a:p>
            <a:pPr indent="0" marL="0">
              <a:buNone/>
            </a:pPr>
            <a:r>
              <a:rPr lang="en-US" sz="1150" dirty="0">
                <a:solidFill>
                  <a:srgbClr val="6B6F76"/>
                </a:solidFill>
                <a:latin typeface="맑은 고딕" pitchFamily="34" charset="0"/>
                <a:ea typeface="맑은 고딕" pitchFamily="34" charset="-122"/>
                <a:cs typeface="맑은 고딕" pitchFamily="34" charset="-120"/>
              </a:rPr>
              <a:t>기술 검토 후 추천</a:t>
            </a:r>
            <a:endParaRPr lang="en-US" sz="1150" dirty="0"/>
          </a:p>
        </p:txBody>
      </p:sp>
      <p:sp>
        <p:nvSpPr>
          <p:cNvPr id="43" name="Shape 39"/>
          <p:cNvSpPr/>
          <p:nvPr/>
        </p:nvSpPr>
        <p:spPr>
          <a:xfrm>
            <a:off x="6164428" y="4526280"/>
            <a:ext cx="2670734" cy="1371600"/>
          </a:xfrm>
          <a:prstGeom prst="roundRect">
            <a:avLst>
              <a:gd name="adj" fmla="val 5333"/>
            </a:avLst>
          </a:prstGeom>
          <a:solidFill>
            <a:srgbClr val="F3F5F8"/>
          </a:solidFill>
          <a:ln w="12700">
            <a:solidFill>
              <a:srgbClr val="F3F5F8"/>
            </a:solidFill>
            <a:prstDash val="solid"/>
          </a:ln>
        </p:spPr>
      </p:sp>
      <p:sp>
        <p:nvSpPr>
          <p:cNvPr id="44" name="Shape 40"/>
          <p:cNvSpPr/>
          <p:nvPr/>
        </p:nvSpPr>
        <p:spPr>
          <a:xfrm>
            <a:off x="6347308" y="4709160"/>
            <a:ext cx="502920" cy="502920"/>
          </a:xfrm>
          <a:prstGeom prst="ellipse">
            <a:avLst/>
          </a:prstGeom>
          <a:solidFill>
            <a:srgbClr val="1F5F7A"/>
          </a:solidFill>
          <a:ln w="12700">
            <a:solidFill>
              <a:srgbClr val="1F5F7A"/>
            </a:solidFill>
            <a:prstDash val="solid"/>
          </a:ln>
        </p:spPr>
      </p:sp>
      <p:pic>
        <p:nvPicPr>
          <p:cNvPr id="45" name="Image 2" descr="preencoded.png">    </p:cNvPr>
          <p:cNvPicPr>
            <a:picLocks noChangeAspect="1"/>
          </p:cNvPicPr>
          <p:nvPr/>
        </p:nvPicPr>
        <p:blipFill>
          <a:blip r:embed="rId3"/>
          <a:stretch>
            <a:fillRect/>
          </a:stretch>
        </p:blipFill>
        <p:spPr>
          <a:xfrm>
            <a:off x="6478067" y="4839919"/>
            <a:ext cx="241402" cy="241402"/>
          </a:xfrm>
          <a:prstGeom prst="rect">
            <a:avLst/>
          </a:prstGeom>
        </p:spPr>
      </p:pic>
      <p:sp>
        <p:nvSpPr>
          <p:cNvPr id="46" name="Shape 41"/>
          <p:cNvSpPr/>
          <p:nvPr/>
        </p:nvSpPr>
        <p:spPr>
          <a:xfrm>
            <a:off x="6987388" y="4809744"/>
            <a:ext cx="685800" cy="292608"/>
          </a:xfrm>
          <a:prstGeom prst="roundRect">
            <a:avLst>
              <a:gd name="adj" fmla="val 50000"/>
            </a:avLst>
          </a:prstGeom>
          <a:solidFill>
            <a:srgbClr val="1F5F7A"/>
          </a:solidFill>
          <a:ln w="12700">
            <a:solidFill>
              <a:srgbClr val="1F5F7A"/>
            </a:solidFill>
            <a:prstDash val="solid"/>
          </a:ln>
        </p:spPr>
      </p:sp>
      <p:sp>
        <p:nvSpPr>
          <p:cNvPr id="47" name="Text 42"/>
          <p:cNvSpPr txBox="1"/>
          <p:nvPr/>
        </p:nvSpPr>
        <p:spPr>
          <a:xfrm>
            <a:off x="6987388" y="4809744"/>
            <a:ext cx="6858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사용</a:t>
            </a:r>
            <a:endParaRPr lang="en-US" sz="1100" dirty="0"/>
          </a:p>
        </p:txBody>
      </p:sp>
      <p:sp>
        <p:nvSpPr>
          <p:cNvPr id="48" name="Text 43"/>
          <p:cNvSpPr txBox="1"/>
          <p:nvPr/>
        </p:nvSpPr>
        <p:spPr>
          <a:xfrm>
            <a:off x="6347308" y="5303520"/>
            <a:ext cx="2396414" cy="274320"/>
          </a:xfrm>
          <a:prstGeom prst="rect">
            <a:avLst/>
          </a:prstGeom>
          <a:noFill/>
          <a:ln/>
        </p:spPr>
        <p:txBody>
          <a:bodyPr wrap="square" lIns="0" tIns="0" rIns="0" bIns="0" rtlCol="0" anchor="t"/>
          <a:lstStyle/>
          <a:p>
            <a:pPr indent="0" marL="0">
              <a:buNone/>
            </a:pPr>
            <a:r>
              <a:rPr lang="en-US" sz="1350" b="1" dirty="0">
                <a:solidFill>
                  <a:srgbClr val="2B2D31"/>
                </a:solidFill>
                <a:latin typeface="맑은 고딕" pitchFamily="34" charset="0"/>
                <a:ea typeface="맑은 고딕" pitchFamily="34" charset="-122"/>
                <a:cs typeface="맑은 고딕" pitchFamily="34" charset="-120"/>
              </a:rPr>
              <a:t>현장 엔지니어 · 검사원</a:t>
            </a:r>
            <a:endParaRPr lang="en-US" sz="1350" dirty="0"/>
          </a:p>
        </p:txBody>
      </p:sp>
      <p:sp>
        <p:nvSpPr>
          <p:cNvPr id="49" name="Text 44"/>
          <p:cNvSpPr txBox="1"/>
          <p:nvPr/>
        </p:nvSpPr>
        <p:spPr>
          <a:xfrm>
            <a:off x="6347308" y="5559552"/>
            <a:ext cx="2396414" cy="256032"/>
          </a:xfrm>
          <a:prstGeom prst="rect">
            <a:avLst/>
          </a:prstGeom>
          <a:noFill/>
          <a:ln/>
        </p:spPr>
        <p:txBody>
          <a:bodyPr wrap="square" lIns="0" tIns="0" rIns="0" bIns="0" rtlCol="0" anchor="t"/>
          <a:lstStyle/>
          <a:p>
            <a:pPr indent="0" marL="0">
              <a:buNone/>
            </a:pPr>
            <a:r>
              <a:rPr lang="en-US" sz="1150" dirty="0">
                <a:solidFill>
                  <a:srgbClr val="6B6F76"/>
                </a:solidFill>
                <a:latin typeface="맑은 고딕" pitchFamily="34" charset="0"/>
                <a:ea typeface="맑은 고딕" pitchFamily="34" charset="-122"/>
                <a:cs typeface="맑은 고딕" pitchFamily="34" charset="-120"/>
              </a:rPr>
              <a:t>점검 동선 · 출동 결정</a:t>
            </a:r>
            <a:endParaRPr lang="en-US" sz="1150" dirty="0"/>
          </a:p>
        </p:txBody>
      </p:sp>
      <p:sp>
        <p:nvSpPr>
          <p:cNvPr id="50" name="Shape 45"/>
          <p:cNvSpPr/>
          <p:nvPr/>
        </p:nvSpPr>
        <p:spPr>
          <a:xfrm>
            <a:off x="8972321" y="4526280"/>
            <a:ext cx="2670734" cy="1371600"/>
          </a:xfrm>
          <a:prstGeom prst="roundRect">
            <a:avLst>
              <a:gd name="adj" fmla="val 5333"/>
            </a:avLst>
          </a:prstGeom>
          <a:solidFill>
            <a:srgbClr val="F3F5F8"/>
          </a:solidFill>
          <a:ln w="12700">
            <a:solidFill>
              <a:srgbClr val="F3F5F8"/>
            </a:solidFill>
            <a:prstDash val="solid"/>
          </a:ln>
        </p:spPr>
      </p:sp>
      <p:sp>
        <p:nvSpPr>
          <p:cNvPr id="51" name="Shape 46"/>
          <p:cNvSpPr/>
          <p:nvPr/>
        </p:nvSpPr>
        <p:spPr>
          <a:xfrm>
            <a:off x="9155201" y="4709160"/>
            <a:ext cx="502920" cy="502920"/>
          </a:xfrm>
          <a:prstGeom prst="ellipse">
            <a:avLst/>
          </a:prstGeom>
          <a:solidFill>
            <a:srgbClr val="6B6F76"/>
          </a:solidFill>
          <a:ln w="12700">
            <a:solidFill>
              <a:srgbClr val="6B6F76"/>
            </a:solidFill>
            <a:prstDash val="solid"/>
          </a:ln>
        </p:spPr>
      </p:sp>
      <p:pic>
        <p:nvPicPr>
          <p:cNvPr id="52" name="Image 3" descr="preencoded.png">    </p:cNvPr>
          <p:cNvPicPr>
            <a:picLocks noChangeAspect="1"/>
          </p:cNvPicPr>
          <p:nvPr/>
        </p:nvPicPr>
        <p:blipFill>
          <a:blip r:embed="rId4"/>
          <a:stretch>
            <a:fillRect/>
          </a:stretch>
        </p:blipFill>
        <p:spPr>
          <a:xfrm>
            <a:off x="9285961" y="4839919"/>
            <a:ext cx="241402" cy="241402"/>
          </a:xfrm>
          <a:prstGeom prst="rect">
            <a:avLst/>
          </a:prstGeom>
        </p:spPr>
      </p:pic>
      <p:sp>
        <p:nvSpPr>
          <p:cNvPr id="53" name="Shape 47"/>
          <p:cNvSpPr/>
          <p:nvPr/>
        </p:nvSpPr>
        <p:spPr>
          <a:xfrm>
            <a:off x="9795281" y="4809744"/>
            <a:ext cx="685800" cy="292608"/>
          </a:xfrm>
          <a:prstGeom prst="roundRect">
            <a:avLst>
              <a:gd name="adj" fmla="val 50000"/>
            </a:avLst>
          </a:prstGeom>
          <a:solidFill>
            <a:srgbClr val="6B6F76"/>
          </a:solidFill>
          <a:ln w="12700">
            <a:solidFill>
              <a:srgbClr val="6B6F76"/>
            </a:solidFill>
            <a:prstDash val="solid"/>
          </a:ln>
        </p:spPr>
      </p:sp>
      <p:sp>
        <p:nvSpPr>
          <p:cNvPr id="54" name="Text 48"/>
          <p:cNvSpPr txBox="1"/>
          <p:nvPr/>
        </p:nvSpPr>
        <p:spPr>
          <a:xfrm>
            <a:off x="9795281" y="4809744"/>
            <a:ext cx="6858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영향</a:t>
            </a:r>
            <a:endParaRPr lang="en-US" sz="1100" dirty="0"/>
          </a:p>
        </p:txBody>
      </p:sp>
      <p:sp>
        <p:nvSpPr>
          <p:cNvPr id="55" name="Text 49"/>
          <p:cNvSpPr txBox="1"/>
          <p:nvPr/>
        </p:nvSpPr>
        <p:spPr>
          <a:xfrm>
            <a:off x="9155201" y="5303520"/>
            <a:ext cx="2396414" cy="274320"/>
          </a:xfrm>
          <a:prstGeom prst="rect">
            <a:avLst/>
          </a:prstGeom>
          <a:noFill/>
          <a:ln/>
        </p:spPr>
        <p:txBody>
          <a:bodyPr wrap="square" lIns="0" tIns="0" rIns="0" bIns="0" rtlCol="0" anchor="t"/>
          <a:lstStyle/>
          <a:p>
            <a:pPr indent="0" marL="0">
              <a:buNone/>
            </a:pPr>
            <a:r>
              <a:rPr lang="en-US" sz="1350" b="1" dirty="0">
                <a:solidFill>
                  <a:srgbClr val="2B2D31"/>
                </a:solidFill>
                <a:latin typeface="맑은 고딕" pitchFamily="34" charset="0"/>
                <a:ea typeface="맑은 고딕" pitchFamily="34" charset="-122"/>
                <a:cs typeface="맑은 고딕" pitchFamily="34" charset="-120"/>
              </a:rPr>
              <a:t>방식 전문 업체 · 연구자</a:t>
            </a:r>
            <a:endParaRPr lang="en-US" sz="1350" dirty="0"/>
          </a:p>
        </p:txBody>
      </p:sp>
      <p:sp>
        <p:nvSpPr>
          <p:cNvPr id="56" name="Text 50"/>
          <p:cNvSpPr txBox="1"/>
          <p:nvPr/>
        </p:nvSpPr>
        <p:spPr>
          <a:xfrm>
            <a:off x="9155201" y="5559552"/>
            <a:ext cx="2396414" cy="256032"/>
          </a:xfrm>
          <a:prstGeom prst="rect">
            <a:avLst/>
          </a:prstGeom>
          <a:noFill/>
          <a:ln/>
        </p:spPr>
        <p:txBody>
          <a:bodyPr wrap="square" lIns="0" tIns="0" rIns="0" bIns="0" rtlCol="0" anchor="t"/>
          <a:lstStyle/>
          <a:p>
            <a:pPr indent="0" marL="0">
              <a:buNone/>
            </a:pPr>
            <a:r>
              <a:rPr lang="en-US" sz="1150" dirty="0">
                <a:solidFill>
                  <a:srgbClr val="6B6F76"/>
                </a:solidFill>
                <a:latin typeface="맑은 고딕" pitchFamily="34" charset="0"/>
                <a:ea typeface="맑은 고딕" pitchFamily="34" charset="-122"/>
                <a:cs typeface="맑은 고딕" pitchFamily="34" charset="-120"/>
              </a:rPr>
              <a:t>기술 교차 검증 · 소개</a:t>
            </a:r>
            <a:endParaRPr lang="en-US" sz="1150" dirty="0"/>
          </a:p>
        </p:txBody>
      </p:sp>
      <p:sp>
        <p:nvSpPr>
          <p:cNvPr id="57" name="Shape 51"/>
          <p:cNvSpPr/>
          <p:nvPr/>
        </p:nvSpPr>
        <p:spPr>
          <a:xfrm>
            <a:off x="0" y="6144768"/>
            <a:ext cx="12191695" cy="713232"/>
          </a:xfrm>
          <a:prstGeom prst="rect">
            <a:avLst/>
          </a:prstGeom>
          <a:solidFill>
            <a:srgbClr val="1B3A5C"/>
          </a:solidFill>
          <a:ln w="12700">
            <a:solidFill>
              <a:srgbClr val="1B3A5C"/>
            </a:solidFill>
            <a:prstDash val="solid"/>
          </a:ln>
        </p:spPr>
      </p:sp>
      <p:sp>
        <p:nvSpPr>
          <p:cNvPr id="58" name="Text 52"/>
          <p:cNvSpPr txBox="1"/>
          <p:nvPr/>
        </p:nvSpPr>
        <p:spPr>
          <a:xfrm>
            <a:off x="548640" y="6144768"/>
            <a:ext cx="11094415" cy="713232"/>
          </a:xfrm>
          <a:prstGeom prst="rect">
            <a:avLst/>
          </a:prstGeom>
          <a:noFill/>
          <a:ln/>
        </p:spPr>
        <p:txBody>
          <a:bodyPr wrap="square" lIns="0" tIns="0" rIns="0" bIns="0" rtlCol="0" anchor="ctr"/>
          <a:lstStyle/>
          <a:p>
            <a:pPr algn="ctr" indent="0" marL="0">
              <a:buNone/>
            </a:pPr>
            <a:r>
              <a:rPr lang="en-US" sz="1900" dirty="0">
                <a:solidFill>
                  <a:srgbClr val="FFFFFF"/>
                </a:solidFill>
                <a:latin typeface="맑은 고딕" pitchFamily="34" charset="0"/>
                <a:ea typeface="맑은 고딕" pitchFamily="34" charset="-122"/>
                <a:cs typeface="맑은 고딕" pitchFamily="34" charset="-120"/>
              </a:rPr>
              <a:t>점검 건당 · 구독형 요금으로 </a:t>
            </a:r>
            <a:r>
              <a:rPr lang="en-US" sz="1900" b="1" dirty="0">
                <a:solidFill>
                  <a:srgbClr val="F2B48A"/>
                </a:solidFill>
                <a:latin typeface="맑은 고딕" pitchFamily="34" charset="0"/>
                <a:ea typeface="맑은 고딕" pitchFamily="34" charset="-122"/>
                <a:cs typeface="맑은 고딕" pitchFamily="34" charset="-120"/>
              </a:rPr>
              <a:t>매 점검 주기마다 반복 매출</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77724" cy="77724"/>
          </a:xfrm>
          <a:prstGeom prst="ellipse">
            <a:avLst/>
          </a:prstGeom>
          <a:solidFill>
            <a:srgbClr val="1B3A5C"/>
          </a:solidFill>
          <a:ln w="12700">
            <a:solidFill>
              <a:srgbClr val="1B3A5C"/>
            </a:solidFill>
            <a:prstDash val="solid"/>
          </a:ln>
        </p:spPr>
      </p:sp>
      <p:sp>
        <p:nvSpPr>
          <p:cNvPr id="3" name="Shape 1"/>
          <p:cNvSpPr/>
          <p:nvPr/>
        </p:nvSpPr>
        <p:spPr>
          <a:xfrm>
            <a:off x="694944" y="384048"/>
            <a:ext cx="77724" cy="77724"/>
          </a:xfrm>
          <a:prstGeom prst="ellipse">
            <a:avLst/>
          </a:prstGeom>
          <a:solidFill>
            <a:srgbClr val="6F8FB5"/>
          </a:solidFill>
          <a:ln w="12700">
            <a:solidFill>
              <a:srgbClr val="6F8FB5"/>
            </a:solidFill>
            <a:prstDash val="solid"/>
          </a:ln>
        </p:spPr>
      </p:sp>
      <p:sp>
        <p:nvSpPr>
          <p:cNvPr id="4" name="Shape 2"/>
          <p:cNvSpPr/>
          <p:nvPr/>
        </p:nvSpPr>
        <p:spPr>
          <a:xfrm>
            <a:off x="841248" y="384048"/>
            <a:ext cx="77724" cy="77724"/>
          </a:xfrm>
          <a:prstGeom prst="ellipse">
            <a:avLst/>
          </a:prstGeom>
          <a:solidFill>
            <a:srgbClr val="B9CCE0"/>
          </a:solidFill>
          <a:ln w="12700">
            <a:solidFill>
              <a:srgbClr val="B9CCE0"/>
            </a:solidFill>
            <a:prstDash val="solid"/>
          </a:ln>
        </p:spPr>
      </p:sp>
      <p:sp>
        <p:nvSpPr>
          <p:cNvPr id="5" name="Text 3"/>
          <p:cNvSpPr txBox="1"/>
          <p:nvPr/>
        </p:nvSpPr>
        <p:spPr>
          <a:xfrm>
            <a:off x="1097280" y="301752"/>
            <a:ext cx="5486400" cy="256032"/>
          </a:xfrm>
          <a:prstGeom prst="rect">
            <a:avLst/>
          </a:prstGeom>
          <a:noFill/>
          <a:ln/>
        </p:spPr>
        <p:txBody>
          <a:bodyPr wrap="square" lIns="0" tIns="0" rIns="0" bIns="0" rtlCol="0" anchor="t"/>
          <a:lstStyle/>
          <a:p>
            <a:pPr indent="0" marL="0">
              <a:buNone/>
            </a:pPr>
            <a:r>
              <a:rPr lang="en-US" sz="1100" dirty="0">
                <a:solidFill>
                  <a:srgbClr val="1B3A5C"/>
                </a:solidFill>
                <a:latin typeface="맑은 고딕" pitchFamily="34" charset="0"/>
                <a:ea typeface="맑은 고딕" pitchFamily="34" charset="-122"/>
                <a:cs typeface="맑은 고딕" pitchFamily="34" charset="-120"/>
              </a:rPr>
              <a:t>성과 및 계획(Milestone)</a:t>
            </a:r>
            <a:endParaRPr lang="en-US" sz="1100" dirty="0"/>
          </a:p>
        </p:txBody>
      </p:sp>
      <p:sp>
        <p:nvSpPr>
          <p:cNvPr id="6" name="Text 4"/>
          <p:cNvSpPr txBox="1"/>
          <p:nvPr/>
        </p:nvSpPr>
        <p:spPr>
          <a:xfrm>
            <a:off x="502920" y="621792"/>
            <a:ext cx="914400" cy="685800"/>
          </a:xfrm>
          <a:prstGeom prst="rect">
            <a:avLst/>
          </a:prstGeom>
          <a:noFill/>
          <a:ln/>
        </p:spPr>
        <p:txBody>
          <a:bodyPr wrap="square" lIns="0" tIns="0" rIns="0" bIns="0" rtlCol="0" anchor="ctr"/>
          <a:lstStyle/>
          <a:p>
            <a:pPr indent="0" marL="0">
              <a:buNone/>
            </a:pPr>
            <a:r>
              <a:rPr lang="en-US" sz="4000" b="1" dirty="0">
                <a:solidFill>
                  <a:srgbClr val="B9CCE0"/>
                </a:solidFill>
                <a:latin typeface="맑은 고딕" pitchFamily="34" charset="0"/>
                <a:ea typeface="맑은 고딕" pitchFamily="34" charset="-122"/>
                <a:cs typeface="맑은 고딕" pitchFamily="34" charset="-120"/>
              </a:rPr>
              <a:t>0</a:t>
            </a:r>
            <a:r>
              <a:rPr lang="en-US" sz="4000" b="1" dirty="0">
                <a:solidFill>
                  <a:srgbClr val="1B3A5C"/>
                </a:solidFill>
                <a:latin typeface="맑은 고딕" pitchFamily="34" charset="0"/>
                <a:ea typeface="맑은 고딕" pitchFamily="34" charset="-122"/>
                <a:cs typeface="맑은 고딕" pitchFamily="34" charset="-120"/>
              </a:rPr>
              <a:t>8</a:t>
            </a:r>
            <a:endParaRPr lang="en-US" sz="4000" dirty="0"/>
          </a:p>
        </p:txBody>
      </p:sp>
      <p:sp>
        <p:nvSpPr>
          <p:cNvPr id="7" name="Text 5"/>
          <p:cNvSpPr txBox="1"/>
          <p:nvPr/>
        </p:nvSpPr>
        <p:spPr>
          <a:xfrm>
            <a:off x="1463040" y="621792"/>
            <a:ext cx="9509760" cy="685800"/>
          </a:xfrm>
          <a:prstGeom prst="rect">
            <a:avLst/>
          </a:prstGeom>
          <a:noFill/>
          <a:ln/>
        </p:spPr>
        <p:txBody>
          <a:bodyPr wrap="square" lIns="0" tIns="0" rIns="0" bIns="0" rtlCol="0" anchor="ctr"/>
          <a:lstStyle/>
          <a:p>
            <a:pPr indent="0" marL="0">
              <a:buNone/>
            </a:pPr>
            <a:r>
              <a:rPr lang="en-US" sz="2600" b="1" dirty="0">
                <a:solidFill>
                  <a:srgbClr val="2B2D31"/>
                </a:solidFill>
                <a:latin typeface="맑은 고딕" pitchFamily="34" charset="0"/>
                <a:ea typeface="맑은 고딕" pitchFamily="34" charset="-122"/>
                <a:cs typeface="맑은 고딕" pitchFamily="34" charset="-120"/>
              </a:rPr>
              <a:t>지금까지의 성과와 다음 단계</a:t>
            </a:r>
            <a:endParaRPr lang="en-US" sz="2600" dirty="0"/>
          </a:p>
        </p:txBody>
      </p:sp>
      <p:sp>
        <p:nvSpPr>
          <p:cNvPr id="8" name="Shape 6"/>
          <p:cNvSpPr/>
          <p:nvPr/>
        </p:nvSpPr>
        <p:spPr>
          <a:xfrm>
            <a:off x="11259007" y="384048"/>
            <a:ext cx="77724" cy="77724"/>
          </a:xfrm>
          <a:prstGeom prst="ellipse">
            <a:avLst/>
          </a:prstGeom>
          <a:solidFill>
            <a:srgbClr val="B9CCE0"/>
          </a:solidFill>
          <a:ln w="12700">
            <a:solidFill>
              <a:srgbClr val="B9CCE0"/>
            </a:solidFill>
            <a:prstDash val="solid"/>
          </a:ln>
        </p:spPr>
      </p:sp>
      <p:sp>
        <p:nvSpPr>
          <p:cNvPr id="9" name="Shape 7"/>
          <p:cNvSpPr/>
          <p:nvPr/>
        </p:nvSpPr>
        <p:spPr>
          <a:xfrm>
            <a:off x="11405311" y="384048"/>
            <a:ext cx="77724" cy="77724"/>
          </a:xfrm>
          <a:prstGeom prst="ellipse">
            <a:avLst/>
          </a:prstGeom>
          <a:solidFill>
            <a:srgbClr val="6F8FB5"/>
          </a:solidFill>
          <a:ln w="12700">
            <a:solidFill>
              <a:srgbClr val="6F8FB5"/>
            </a:solidFill>
            <a:prstDash val="solid"/>
          </a:ln>
        </p:spPr>
      </p:sp>
      <p:sp>
        <p:nvSpPr>
          <p:cNvPr id="10" name="Shape 8"/>
          <p:cNvSpPr/>
          <p:nvPr/>
        </p:nvSpPr>
        <p:spPr>
          <a:xfrm>
            <a:off x="11551615" y="384048"/>
            <a:ext cx="77724" cy="77724"/>
          </a:xfrm>
          <a:prstGeom prst="ellipse">
            <a:avLst/>
          </a:prstGeom>
          <a:solidFill>
            <a:srgbClr val="1B3A5C"/>
          </a:solidFill>
          <a:ln w="12700">
            <a:solidFill>
              <a:srgbClr val="1B3A5C"/>
            </a:solidFill>
            <a:prstDash val="solid"/>
          </a:ln>
        </p:spPr>
      </p:sp>
      <p:sp>
        <p:nvSpPr>
          <p:cNvPr id="11" name="Shape 9"/>
          <p:cNvSpPr/>
          <p:nvPr/>
        </p:nvSpPr>
        <p:spPr>
          <a:xfrm>
            <a:off x="11185855" y="786384"/>
            <a:ext cx="0" cy="310896"/>
          </a:xfrm>
          <a:prstGeom prst="line">
            <a:avLst/>
          </a:prstGeom>
          <a:noFill/>
          <a:ln w="12700">
            <a:solidFill>
              <a:srgbClr val="D9DCE0"/>
            </a:solidFill>
            <a:prstDash val="solid"/>
          </a:ln>
        </p:spPr>
      </p:sp>
      <p:sp>
        <p:nvSpPr>
          <p:cNvPr id="12" name="Text 10"/>
          <p:cNvSpPr txBox="1"/>
          <p:nvPr/>
        </p:nvSpPr>
        <p:spPr>
          <a:xfrm>
            <a:off x="11259007" y="786384"/>
            <a:ext cx="384048" cy="310896"/>
          </a:xfrm>
          <a:prstGeom prst="rect">
            <a:avLst/>
          </a:prstGeom>
          <a:noFill/>
          <a:ln/>
        </p:spPr>
        <p:txBody>
          <a:bodyPr wrap="square" lIns="0" tIns="0" rIns="0" bIns="0" rtlCol="0" anchor="ctr"/>
          <a:lstStyle/>
          <a:p>
            <a:pPr algn="r" indent="0" marL="0">
              <a:buNone/>
            </a:pPr>
            <a:r>
              <a:rPr lang="en-US" sz="1200" b="1" dirty="0">
                <a:solidFill>
                  <a:srgbClr val="1B3A5C"/>
                </a:solidFill>
                <a:latin typeface="맑은 고딕" pitchFamily="34" charset="0"/>
                <a:ea typeface="맑은 고딕" pitchFamily="34" charset="-122"/>
                <a:cs typeface="맑은 고딕" pitchFamily="34" charset="-120"/>
              </a:rPr>
              <a:t>9</a:t>
            </a:r>
            <a:endParaRPr lang="en-US" sz="1200" dirty="0"/>
          </a:p>
        </p:txBody>
      </p:sp>
      <p:sp>
        <p:nvSpPr>
          <p:cNvPr id="13" name="Shape 11"/>
          <p:cNvSpPr/>
          <p:nvPr/>
        </p:nvSpPr>
        <p:spPr>
          <a:xfrm flipH="1">
            <a:off x="822960" y="1600200"/>
            <a:ext cx="10545775" cy="2194560"/>
          </a:xfrm>
          <a:prstGeom prst="rtTriangle">
            <a:avLst/>
          </a:prstGeom>
          <a:solidFill>
            <a:srgbClr val="E3EFF4"/>
          </a:solidFill>
          <a:ln w="12700">
            <a:solidFill>
              <a:srgbClr val="E3EFF4"/>
            </a:solidFill>
            <a:prstDash val="solid"/>
          </a:ln>
        </p:spPr>
      </p:sp>
      <p:sp>
        <p:nvSpPr>
          <p:cNvPr id="14" name="Shape 12"/>
          <p:cNvSpPr/>
          <p:nvPr/>
        </p:nvSpPr>
        <p:spPr>
          <a:xfrm>
            <a:off x="1018002" y="2560320"/>
            <a:ext cx="1280160" cy="1280160"/>
          </a:xfrm>
          <a:prstGeom prst="ellipse">
            <a:avLst/>
          </a:prstGeom>
          <a:solidFill>
            <a:srgbClr val="6F8FB5"/>
          </a:solidFill>
          <a:ln w="38100">
            <a:solidFill>
              <a:srgbClr val="FFFFFF"/>
            </a:solidFill>
            <a:prstDash val="solid"/>
          </a:ln>
        </p:spPr>
      </p:sp>
      <p:sp>
        <p:nvSpPr>
          <p:cNvPr id="15" name="Text 13"/>
          <p:cNvSpPr txBox="1"/>
          <p:nvPr/>
        </p:nvSpPr>
        <p:spPr>
          <a:xfrm>
            <a:off x="1018002" y="2560320"/>
            <a:ext cx="1280160" cy="1280160"/>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실험실</a:t>
            </a:r>
            <a:endParaRPr lang="en-US" sz="1300" dirty="0"/>
          </a:p>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기술 검증</a:t>
            </a:r>
            <a:endParaRPr lang="en-US" sz="1300" dirty="0"/>
          </a:p>
        </p:txBody>
      </p:sp>
      <p:sp>
        <p:nvSpPr>
          <p:cNvPr id="16" name="Shape 14"/>
          <p:cNvSpPr/>
          <p:nvPr/>
        </p:nvSpPr>
        <p:spPr>
          <a:xfrm>
            <a:off x="548640" y="4023360"/>
            <a:ext cx="2310323" cy="438912"/>
          </a:xfrm>
          <a:prstGeom prst="homePlate">
            <a:avLst/>
          </a:prstGeom>
          <a:solidFill>
            <a:srgbClr val="8A9099"/>
          </a:solidFill>
          <a:ln w="12700">
            <a:solidFill>
              <a:srgbClr val="8A9099"/>
            </a:solidFill>
            <a:prstDash val="solid"/>
          </a:ln>
        </p:spPr>
      </p:sp>
      <p:sp>
        <p:nvSpPr>
          <p:cNvPr id="17" name="Text 15"/>
          <p:cNvSpPr txBox="1"/>
          <p:nvPr/>
        </p:nvSpPr>
        <p:spPr>
          <a:xfrm>
            <a:off x="731520" y="4023360"/>
            <a:ext cx="1944563"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완료</a:t>
            </a:r>
            <a:endParaRPr lang="en-US" sz="1400" dirty="0"/>
          </a:p>
        </p:txBody>
      </p:sp>
      <p:sp>
        <p:nvSpPr>
          <p:cNvPr id="18" name="Text 16"/>
          <p:cNvSpPr txBox="1"/>
          <p:nvPr/>
        </p:nvSpPr>
        <p:spPr>
          <a:xfrm>
            <a:off x="594360" y="4636008"/>
            <a:ext cx="2127443" cy="685800"/>
          </a:xfrm>
          <a:prstGeom prst="rect">
            <a:avLst/>
          </a:prstGeom>
          <a:noFill/>
          <a:ln/>
        </p:spPr>
        <p:txBody>
          <a:bodyPr wrap="square" lIns="0" tIns="0" rIns="0" bIns="0" rtlCol="0" anchor="t"/>
          <a:lstStyle/>
          <a:p>
            <a:pPr algn="ctr" indent="0" marL="0">
              <a:buNone/>
            </a:pPr>
            <a:r>
              <a:rPr lang="en-US" sz="1200" dirty="0">
                <a:solidFill>
                  <a:srgbClr val="2B2D31"/>
                </a:solidFill>
                <a:latin typeface="맑은 고딕" pitchFamily="34" charset="0"/>
                <a:ea typeface="맑은 고딕" pitchFamily="34" charset="-122"/>
                <a:cs typeface="맑은 고딕" pitchFamily="34" charset="-120"/>
              </a:rPr>
              <a:t>240시간 촉진부식</a:t>
            </a:r>
            <a:endParaRPr lang="en-US" sz="1200" dirty="0"/>
          </a:p>
          <a:p>
            <a:pPr algn="ctr" indent="0" marL="0">
              <a:buNone/>
            </a:pPr>
            <a:r>
              <a:rPr lang="en-US" sz="1200" dirty="0">
                <a:solidFill>
                  <a:srgbClr val="2B2D31"/>
                </a:solidFill>
                <a:latin typeface="맑은 고딕" pitchFamily="34" charset="0"/>
                <a:ea typeface="맑은 고딕" pitchFamily="34" charset="-122"/>
                <a:cs typeface="맑은 고딕" pitchFamily="34" charset="-120"/>
              </a:rPr>
              <a:t>6가지 분석 교차 검증</a:t>
            </a:r>
            <a:endParaRPr lang="en-US" sz="1200" dirty="0"/>
          </a:p>
        </p:txBody>
      </p:sp>
      <p:sp>
        <p:nvSpPr>
          <p:cNvPr id="19" name="Shape 17"/>
          <p:cNvSpPr/>
          <p:nvPr/>
        </p:nvSpPr>
        <p:spPr>
          <a:xfrm>
            <a:off x="3145445" y="2377440"/>
            <a:ext cx="1463040" cy="1463040"/>
          </a:xfrm>
          <a:prstGeom prst="ellipse">
            <a:avLst/>
          </a:prstGeom>
          <a:solidFill>
            <a:srgbClr val="6F8FB5"/>
          </a:solidFill>
          <a:ln w="38100">
            <a:solidFill>
              <a:srgbClr val="FFFFFF"/>
            </a:solidFill>
            <a:prstDash val="solid"/>
          </a:ln>
        </p:spPr>
      </p:sp>
      <p:sp>
        <p:nvSpPr>
          <p:cNvPr id="20" name="Text 18"/>
          <p:cNvSpPr txBox="1"/>
          <p:nvPr/>
        </p:nvSpPr>
        <p:spPr>
          <a:xfrm>
            <a:off x="3145445" y="2377440"/>
            <a:ext cx="1463040" cy="1463040"/>
          </a:xfrm>
          <a:prstGeom prst="rect">
            <a:avLst/>
          </a:prstGeom>
          <a:noFill/>
          <a:ln/>
        </p:spPr>
        <p:txBody>
          <a:bodyPr wrap="square" lIns="0" tIns="0" rIns="0" bIns="0" rtlCol="0" anchor="ctr"/>
          <a:lstStyle/>
          <a:p>
            <a:pPr algn="ctr" indent="0" marL="0">
              <a:buNone/>
            </a:pPr>
            <a:r>
              <a:rPr lang="en-US" sz="1350" b="1" dirty="0">
                <a:solidFill>
                  <a:srgbClr val="FFFFFF"/>
                </a:solidFill>
                <a:latin typeface="맑은 고딕" pitchFamily="34" charset="0"/>
                <a:ea typeface="맑은 고딕" pitchFamily="34" charset="-122"/>
                <a:cs typeface="맑은 고딕" pitchFamily="34" charset="-120"/>
              </a:rPr>
              <a:t>미국 고객</a:t>
            </a:r>
            <a:endParaRPr lang="en-US" sz="1350" dirty="0"/>
          </a:p>
          <a:p>
            <a:pPr algn="ctr" indent="0" marL="0">
              <a:buNone/>
            </a:pPr>
            <a:r>
              <a:rPr lang="en-US" sz="1350" b="1" dirty="0">
                <a:solidFill>
                  <a:srgbClr val="FFFFFF"/>
                </a:solidFill>
                <a:latin typeface="맑은 고딕" pitchFamily="34" charset="0"/>
                <a:ea typeface="맑은 고딕" pitchFamily="34" charset="-122"/>
                <a:cs typeface="맑은 고딕" pitchFamily="34" charset="-120"/>
              </a:rPr>
              <a:t>인터뷰 35건</a:t>
            </a:r>
            <a:endParaRPr lang="en-US" sz="1350" dirty="0"/>
          </a:p>
        </p:txBody>
      </p:sp>
      <p:sp>
        <p:nvSpPr>
          <p:cNvPr id="21" name="Shape 19"/>
          <p:cNvSpPr/>
          <p:nvPr/>
        </p:nvSpPr>
        <p:spPr>
          <a:xfrm>
            <a:off x="2767523" y="4023360"/>
            <a:ext cx="2310323" cy="438912"/>
          </a:xfrm>
          <a:prstGeom prst="chevron">
            <a:avLst/>
          </a:prstGeom>
          <a:solidFill>
            <a:srgbClr val="8A9099"/>
          </a:solidFill>
          <a:ln w="12700">
            <a:solidFill>
              <a:srgbClr val="8A9099"/>
            </a:solidFill>
            <a:prstDash val="solid"/>
          </a:ln>
        </p:spPr>
      </p:sp>
      <p:sp>
        <p:nvSpPr>
          <p:cNvPr id="22" name="Text 20"/>
          <p:cNvSpPr txBox="1"/>
          <p:nvPr/>
        </p:nvSpPr>
        <p:spPr>
          <a:xfrm>
            <a:off x="2950403" y="4023360"/>
            <a:ext cx="1944563"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완료</a:t>
            </a:r>
            <a:endParaRPr lang="en-US" sz="1400" dirty="0"/>
          </a:p>
        </p:txBody>
      </p:sp>
      <p:sp>
        <p:nvSpPr>
          <p:cNvPr id="23" name="Text 21"/>
          <p:cNvSpPr txBox="1"/>
          <p:nvPr/>
        </p:nvSpPr>
        <p:spPr>
          <a:xfrm>
            <a:off x="2813243" y="4636008"/>
            <a:ext cx="2127443" cy="685800"/>
          </a:xfrm>
          <a:prstGeom prst="rect">
            <a:avLst/>
          </a:prstGeom>
          <a:noFill/>
          <a:ln/>
        </p:spPr>
        <p:txBody>
          <a:bodyPr wrap="square" lIns="0" tIns="0" rIns="0" bIns="0" rtlCol="0" anchor="t"/>
          <a:lstStyle/>
          <a:p>
            <a:pPr algn="ctr" indent="0" marL="0">
              <a:buNone/>
            </a:pPr>
            <a:r>
              <a:rPr lang="en-US" sz="1200" dirty="0">
                <a:solidFill>
                  <a:srgbClr val="2B2D31"/>
                </a:solidFill>
                <a:latin typeface="맑은 고딕" pitchFamily="34" charset="0"/>
                <a:ea typeface="맑은 고딕" pitchFamily="34" charset="-122"/>
                <a:cs typeface="맑은 고딕" pitchFamily="34" charset="-120"/>
              </a:rPr>
              <a:t>Tex-Corps · 2026년 7월</a:t>
            </a:r>
            <a:endParaRPr lang="en-US" sz="1200" dirty="0"/>
          </a:p>
          <a:p>
            <a:pPr algn="ctr" indent="0" marL="0">
              <a:buNone/>
            </a:pPr>
            <a:r>
              <a:rPr lang="en-US" sz="1200" dirty="0">
                <a:solidFill>
                  <a:srgbClr val="2B2D31"/>
                </a:solidFill>
                <a:latin typeface="맑은 고딕" pitchFamily="34" charset="0"/>
                <a:ea typeface="맑은 고딕" pitchFamily="34" charset="-122"/>
                <a:cs typeface="맑은 고딕" pitchFamily="34" charset="-120"/>
              </a:rPr>
              <a:t>타깃: 해양 석유 · 가스</a:t>
            </a:r>
            <a:endParaRPr lang="en-US" sz="1200" dirty="0"/>
          </a:p>
        </p:txBody>
      </p:sp>
      <p:sp>
        <p:nvSpPr>
          <p:cNvPr id="24" name="Shape 22"/>
          <p:cNvSpPr/>
          <p:nvPr/>
        </p:nvSpPr>
        <p:spPr>
          <a:xfrm>
            <a:off x="5272888" y="2194560"/>
            <a:ext cx="1645920" cy="1645920"/>
          </a:xfrm>
          <a:prstGeom prst="ellipse">
            <a:avLst/>
          </a:prstGeom>
          <a:solidFill>
            <a:srgbClr val="1F5F7A"/>
          </a:solidFill>
          <a:ln w="38100">
            <a:solidFill>
              <a:srgbClr val="FFFFFF"/>
            </a:solidFill>
            <a:prstDash val="solid"/>
          </a:ln>
        </p:spPr>
      </p:sp>
      <p:sp>
        <p:nvSpPr>
          <p:cNvPr id="25" name="Text 23"/>
          <p:cNvSpPr txBox="1"/>
          <p:nvPr/>
        </p:nvSpPr>
        <p:spPr>
          <a:xfrm>
            <a:off x="5272888" y="2194560"/>
            <a:ext cx="164592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비용 절감</a:t>
            </a:r>
            <a:endParaRPr lang="en-US" sz="1400" dirty="0"/>
          </a:p>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근거 정량화</a:t>
            </a:r>
            <a:endParaRPr lang="en-US" sz="1400" dirty="0"/>
          </a:p>
        </p:txBody>
      </p:sp>
      <p:sp>
        <p:nvSpPr>
          <p:cNvPr id="26" name="Shape 24"/>
          <p:cNvSpPr/>
          <p:nvPr/>
        </p:nvSpPr>
        <p:spPr>
          <a:xfrm>
            <a:off x="4986406" y="4023360"/>
            <a:ext cx="2310323" cy="438912"/>
          </a:xfrm>
          <a:prstGeom prst="chevron">
            <a:avLst/>
          </a:prstGeom>
          <a:solidFill>
            <a:srgbClr val="4A4F57"/>
          </a:solidFill>
          <a:ln w="12700">
            <a:solidFill>
              <a:srgbClr val="4A4F57"/>
            </a:solidFill>
            <a:prstDash val="solid"/>
          </a:ln>
        </p:spPr>
      </p:sp>
      <p:sp>
        <p:nvSpPr>
          <p:cNvPr id="27" name="Text 25"/>
          <p:cNvSpPr txBox="1"/>
          <p:nvPr/>
        </p:nvSpPr>
        <p:spPr>
          <a:xfrm>
            <a:off x="5169286" y="4023360"/>
            <a:ext cx="1944563"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다음 단계</a:t>
            </a:r>
            <a:endParaRPr lang="en-US" sz="1400" dirty="0"/>
          </a:p>
        </p:txBody>
      </p:sp>
      <p:sp>
        <p:nvSpPr>
          <p:cNvPr id="28" name="Text 26"/>
          <p:cNvSpPr txBox="1"/>
          <p:nvPr/>
        </p:nvSpPr>
        <p:spPr>
          <a:xfrm>
            <a:off x="5032126" y="4636008"/>
            <a:ext cx="2127443" cy="685800"/>
          </a:xfrm>
          <a:prstGeom prst="rect">
            <a:avLst/>
          </a:prstGeom>
          <a:noFill/>
          <a:ln/>
        </p:spPr>
        <p:txBody>
          <a:bodyPr wrap="square" lIns="0" tIns="0" rIns="0" bIns="0" rtlCol="0" anchor="t"/>
          <a:lstStyle/>
          <a:p>
            <a:pPr algn="ctr" indent="0" marL="0">
              <a:buNone/>
            </a:pPr>
            <a:r>
              <a:rPr lang="en-US" sz="1200" dirty="0">
                <a:solidFill>
                  <a:srgbClr val="2B2D31"/>
                </a:solidFill>
                <a:latin typeface="맑은 고딕" pitchFamily="34" charset="0"/>
                <a:ea typeface="맑은 고딕" pitchFamily="34" charset="-122"/>
                <a:cs typeface="맑은 고딕" pitchFamily="34" charset="-120"/>
              </a:rPr>
              <a:t>선박 · 리프트 · 문서 작업 시간</a:t>
            </a:r>
            <a:endParaRPr lang="en-US" sz="1200" dirty="0"/>
          </a:p>
          <a:p>
            <a:pPr algn="ctr" indent="0" marL="0">
              <a:buNone/>
            </a:pPr>
            <a:r>
              <a:rPr lang="en-US" sz="1200" dirty="0">
                <a:solidFill>
                  <a:srgbClr val="2B2D31"/>
                </a:solidFill>
                <a:latin typeface="맑은 고딕" pitchFamily="34" charset="0"/>
                <a:ea typeface="맑은 고딕" pitchFamily="34" charset="-122"/>
                <a:cs typeface="맑은 고딕" pitchFamily="34" charset="-120"/>
              </a:rPr>
              <a:t>절감액으로 ROI 산출</a:t>
            </a:r>
            <a:endParaRPr lang="en-US" sz="1200" dirty="0"/>
          </a:p>
        </p:txBody>
      </p:sp>
      <p:sp>
        <p:nvSpPr>
          <p:cNvPr id="29" name="Shape 27"/>
          <p:cNvSpPr/>
          <p:nvPr/>
        </p:nvSpPr>
        <p:spPr>
          <a:xfrm>
            <a:off x="7400331" y="2011680"/>
            <a:ext cx="1828800" cy="1828800"/>
          </a:xfrm>
          <a:prstGeom prst="ellipse">
            <a:avLst/>
          </a:prstGeom>
          <a:solidFill>
            <a:srgbClr val="1B3A5C"/>
          </a:solidFill>
          <a:ln w="38100">
            <a:solidFill>
              <a:srgbClr val="FFFFFF"/>
            </a:solidFill>
            <a:prstDash val="solid"/>
          </a:ln>
        </p:spPr>
      </p:sp>
      <p:sp>
        <p:nvSpPr>
          <p:cNvPr id="30" name="Text 28"/>
          <p:cNvSpPr txBox="1"/>
          <p:nvPr/>
        </p:nvSpPr>
        <p:spPr>
          <a:xfrm>
            <a:off x="7400331" y="2011680"/>
            <a:ext cx="1828800" cy="1828800"/>
          </a:xfrm>
          <a:prstGeom prst="rect">
            <a:avLst/>
          </a:prstGeom>
          <a:noFill/>
          <a:ln/>
        </p:spPr>
        <p:txBody>
          <a:bodyPr wrap="square" lIns="0" tIns="0" rIns="0" bIns="0" rtlCol="0" anchor="ctr"/>
          <a:lstStyle/>
          <a:p>
            <a:pPr algn="ctr" indent="0" marL="0">
              <a:buNone/>
            </a:pPr>
            <a:r>
              <a:rPr lang="en-US" sz="1450" b="1" dirty="0">
                <a:solidFill>
                  <a:srgbClr val="FFFFFF"/>
                </a:solidFill>
                <a:latin typeface="맑은 고딕" pitchFamily="34" charset="0"/>
                <a:ea typeface="맑은 고딕" pitchFamily="34" charset="-122"/>
                <a:cs typeface="맑은 고딕" pitchFamily="34" charset="-120"/>
              </a:rPr>
              <a:t>두께 측정</a:t>
            </a:r>
            <a:endParaRPr lang="en-US" sz="1450" dirty="0"/>
          </a:p>
          <a:p>
            <a:pPr algn="ctr" indent="0" marL="0">
              <a:buNone/>
            </a:pPr>
            <a:r>
              <a:rPr lang="en-US" sz="1450" b="1" dirty="0">
                <a:solidFill>
                  <a:srgbClr val="FFFFFF"/>
                </a:solidFill>
                <a:latin typeface="맑은 고딕" pitchFamily="34" charset="0"/>
                <a:ea typeface="맑은 고딕" pitchFamily="34" charset="-122"/>
                <a:cs typeface="맑은 고딕" pitchFamily="34" charset="-120"/>
              </a:rPr>
              <a:t>데이터 결합</a:t>
            </a:r>
            <a:endParaRPr lang="en-US" sz="1450" dirty="0"/>
          </a:p>
        </p:txBody>
      </p:sp>
      <p:sp>
        <p:nvSpPr>
          <p:cNvPr id="31" name="Shape 29"/>
          <p:cNvSpPr/>
          <p:nvPr/>
        </p:nvSpPr>
        <p:spPr>
          <a:xfrm>
            <a:off x="7205289" y="4023360"/>
            <a:ext cx="2310323" cy="438912"/>
          </a:xfrm>
          <a:prstGeom prst="chevron">
            <a:avLst/>
          </a:prstGeom>
          <a:solidFill>
            <a:srgbClr val="3A3F45"/>
          </a:solidFill>
          <a:ln w="12700">
            <a:solidFill>
              <a:srgbClr val="3A3F45"/>
            </a:solidFill>
            <a:prstDash val="solid"/>
          </a:ln>
        </p:spPr>
      </p:sp>
      <p:sp>
        <p:nvSpPr>
          <p:cNvPr id="32" name="Text 30"/>
          <p:cNvSpPr txBox="1"/>
          <p:nvPr/>
        </p:nvSpPr>
        <p:spPr>
          <a:xfrm>
            <a:off x="7388169" y="4023360"/>
            <a:ext cx="1944563"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다음 단계</a:t>
            </a:r>
            <a:endParaRPr lang="en-US" sz="1400" dirty="0"/>
          </a:p>
        </p:txBody>
      </p:sp>
      <p:sp>
        <p:nvSpPr>
          <p:cNvPr id="33" name="Text 31"/>
          <p:cNvSpPr txBox="1"/>
          <p:nvPr/>
        </p:nvSpPr>
        <p:spPr>
          <a:xfrm>
            <a:off x="7251009" y="4636008"/>
            <a:ext cx="2127443" cy="685800"/>
          </a:xfrm>
          <a:prstGeom prst="rect">
            <a:avLst/>
          </a:prstGeom>
          <a:noFill/>
          <a:ln/>
        </p:spPr>
        <p:txBody>
          <a:bodyPr wrap="square" lIns="0" tIns="0" rIns="0" bIns="0" rtlCol="0" anchor="t"/>
          <a:lstStyle/>
          <a:p>
            <a:pPr algn="ctr" indent="0" marL="0">
              <a:buNone/>
            </a:pPr>
            <a:r>
              <a:rPr lang="en-US" sz="1200" dirty="0">
                <a:solidFill>
                  <a:srgbClr val="2B2D31"/>
                </a:solidFill>
                <a:latin typeface="맑은 고딕" pitchFamily="34" charset="0"/>
                <a:ea typeface="맑은 고딕" pitchFamily="34" charset="-122"/>
                <a:cs typeface="맑은 고딕" pitchFamily="34" charset="-120"/>
              </a:rPr>
              <a:t>사진이 못 보는</a:t>
            </a:r>
            <a:endParaRPr lang="en-US" sz="1200" dirty="0"/>
          </a:p>
          <a:p>
            <a:pPr algn="ctr" indent="0" marL="0">
              <a:buNone/>
            </a:pPr>
            <a:r>
              <a:rPr lang="en-US" sz="1200" dirty="0">
                <a:solidFill>
                  <a:srgbClr val="2B2D31"/>
                </a:solidFill>
                <a:latin typeface="맑은 고딕" pitchFamily="34" charset="0"/>
                <a:ea typeface="맑은 고딕" pitchFamily="34" charset="-122"/>
                <a:cs typeface="맑은 고딕" pitchFamily="34" charset="-120"/>
              </a:rPr>
              <a:t>두께 감소를 보정</a:t>
            </a:r>
            <a:endParaRPr lang="en-US" sz="1200" dirty="0"/>
          </a:p>
        </p:txBody>
      </p:sp>
      <p:sp>
        <p:nvSpPr>
          <p:cNvPr id="34" name="Shape 32"/>
          <p:cNvSpPr/>
          <p:nvPr/>
        </p:nvSpPr>
        <p:spPr>
          <a:xfrm>
            <a:off x="9527774" y="1828800"/>
            <a:ext cx="2011680" cy="2011680"/>
          </a:xfrm>
          <a:prstGeom prst="ellipse">
            <a:avLst/>
          </a:prstGeom>
          <a:solidFill>
            <a:srgbClr val="1B3A5C"/>
          </a:solidFill>
          <a:ln w="38100">
            <a:solidFill>
              <a:srgbClr val="FFFFFF"/>
            </a:solidFill>
            <a:prstDash val="solid"/>
          </a:ln>
        </p:spPr>
      </p:sp>
      <p:sp>
        <p:nvSpPr>
          <p:cNvPr id="35" name="Text 33"/>
          <p:cNvSpPr txBox="1"/>
          <p:nvPr/>
        </p:nvSpPr>
        <p:spPr>
          <a:xfrm>
            <a:off x="9527774" y="1828800"/>
            <a:ext cx="2011680" cy="2011680"/>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유망 현장</a:t>
            </a:r>
            <a:endParaRPr lang="en-US" sz="1500" dirty="0"/>
          </a:p>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심화</a:t>
            </a:r>
            <a:endParaRPr lang="en-US" sz="1500" dirty="0"/>
          </a:p>
        </p:txBody>
      </p:sp>
      <p:sp>
        <p:nvSpPr>
          <p:cNvPr id="36" name="Shape 34"/>
          <p:cNvSpPr/>
          <p:nvPr/>
        </p:nvSpPr>
        <p:spPr>
          <a:xfrm>
            <a:off x="9424172" y="4023360"/>
            <a:ext cx="2310323" cy="438912"/>
          </a:xfrm>
          <a:prstGeom prst="chevron">
            <a:avLst/>
          </a:prstGeom>
          <a:solidFill>
            <a:srgbClr val="2E3238"/>
          </a:solidFill>
          <a:ln w="12700">
            <a:solidFill>
              <a:srgbClr val="2E3238"/>
            </a:solidFill>
            <a:prstDash val="solid"/>
          </a:ln>
        </p:spPr>
      </p:sp>
      <p:sp>
        <p:nvSpPr>
          <p:cNvPr id="37" name="Text 35"/>
          <p:cNvSpPr txBox="1"/>
          <p:nvPr/>
        </p:nvSpPr>
        <p:spPr>
          <a:xfrm>
            <a:off x="9607052" y="4023360"/>
            <a:ext cx="1944563"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다음 단계</a:t>
            </a:r>
            <a:endParaRPr lang="en-US" sz="1400" dirty="0"/>
          </a:p>
        </p:txBody>
      </p:sp>
      <p:sp>
        <p:nvSpPr>
          <p:cNvPr id="38" name="Text 36"/>
          <p:cNvSpPr txBox="1"/>
          <p:nvPr/>
        </p:nvSpPr>
        <p:spPr>
          <a:xfrm>
            <a:off x="9469892" y="4636008"/>
            <a:ext cx="2127443" cy="685800"/>
          </a:xfrm>
          <a:prstGeom prst="rect">
            <a:avLst/>
          </a:prstGeom>
          <a:noFill/>
          <a:ln/>
        </p:spPr>
        <p:txBody>
          <a:bodyPr wrap="square" lIns="0" tIns="0" rIns="0" bIns="0" rtlCol="0" anchor="t"/>
          <a:lstStyle/>
          <a:p>
            <a:pPr algn="ctr" indent="0" marL="0">
              <a:buNone/>
            </a:pPr>
            <a:r>
              <a:rPr lang="en-US" sz="1200" dirty="0">
                <a:solidFill>
                  <a:srgbClr val="2B2D31"/>
                </a:solidFill>
                <a:latin typeface="맑은 고딕" pitchFamily="34" charset="0"/>
                <a:ea typeface="맑은 고딕" pitchFamily="34" charset="-122"/>
                <a:cs typeface="맑은 고딕" pitchFamily="34" charset="-120"/>
              </a:rPr>
              <a:t>미드스트림 압축 기지 · 비말대</a:t>
            </a:r>
            <a:endParaRPr lang="en-US" sz="1200" dirty="0"/>
          </a:p>
          <a:p>
            <a:pPr algn="ctr" indent="0" marL="0">
              <a:buNone/>
            </a:pPr>
            <a:r>
              <a:rPr lang="en-US" sz="1200" dirty="0">
                <a:solidFill>
                  <a:srgbClr val="2B2D31"/>
                </a:solidFill>
                <a:latin typeface="맑은 고딕" pitchFamily="34" charset="0"/>
                <a:ea typeface="맑은 고딕" pitchFamily="34" charset="-122"/>
                <a:cs typeface="맑은 고딕" pitchFamily="34" charset="-120"/>
              </a:rPr>
              <a:t>라이저 지지 프레임</a:t>
            </a:r>
            <a:endParaRPr lang="en-US" sz="1200" dirty="0"/>
          </a:p>
        </p:txBody>
      </p:sp>
      <p:sp>
        <p:nvSpPr>
          <p:cNvPr id="39" name="Shape 37"/>
          <p:cNvSpPr/>
          <p:nvPr/>
        </p:nvSpPr>
        <p:spPr>
          <a:xfrm>
            <a:off x="0" y="6144768"/>
            <a:ext cx="12191695" cy="713232"/>
          </a:xfrm>
          <a:prstGeom prst="rect">
            <a:avLst/>
          </a:prstGeom>
          <a:solidFill>
            <a:srgbClr val="1B3A5C"/>
          </a:solidFill>
          <a:ln w="12700">
            <a:solidFill>
              <a:srgbClr val="1B3A5C"/>
            </a:solidFill>
            <a:prstDash val="solid"/>
          </a:ln>
        </p:spPr>
      </p:sp>
      <p:sp>
        <p:nvSpPr>
          <p:cNvPr id="40" name="Text 38"/>
          <p:cNvSpPr txBox="1"/>
          <p:nvPr/>
        </p:nvSpPr>
        <p:spPr>
          <a:xfrm>
            <a:off x="548640" y="6144768"/>
            <a:ext cx="11094415" cy="713232"/>
          </a:xfrm>
          <a:prstGeom prst="rect">
            <a:avLst/>
          </a:prstGeom>
          <a:noFill/>
          <a:ln/>
        </p:spPr>
        <p:txBody>
          <a:bodyPr wrap="square" lIns="0" tIns="0" rIns="0" bIns="0" rtlCol="0" anchor="ctr"/>
          <a:lstStyle/>
          <a:p>
            <a:pPr algn="ctr" indent="0" marL="0">
              <a:buNone/>
            </a:pPr>
            <a:r>
              <a:rPr lang="en-US" sz="1900" dirty="0">
                <a:solidFill>
                  <a:srgbClr val="FFFFFF"/>
                </a:solidFill>
                <a:latin typeface="맑은 고딕" pitchFamily="34" charset="0"/>
                <a:ea typeface="맑은 고딕" pitchFamily="34" charset="-122"/>
                <a:cs typeface="맑은 고딕" pitchFamily="34" charset="-120"/>
              </a:rPr>
              <a:t>검증된 기술 + 확인된 수요 → </a:t>
            </a:r>
            <a:r>
              <a:rPr lang="en-US" sz="1900" b="1" dirty="0">
                <a:solidFill>
                  <a:srgbClr val="F2B48A"/>
                </a:solidFill>
                <a:latin typeface="맑은 고딕" pitchFamily="34" charset="0"/>
                <a:ea typeface="맑은 고딕" pitchFamily="34" charset="-122"/>
                <a:cs typeface="맑은 고딕" pitchFamily="34" charset="-120"/>
              </a:rPr>
              <a:t>현장 데이터로 정확도를 넓혀 갑니다</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77724" cy="77724"/>
          </a:xfrm>
          <a:prstGeom prst="ellipse">
            <a:avLst/>
          </a:prstGeom>
          <a:solidFill>
            <a:srgbClr val="1B3A5C"/>
          </a:solidFill>
          <a:ln w="12700">
            <a:solidFill>
              <a:srgbClr val="1B3A5C"/>
            </a:solidFill>
            <a:prstDash val="solid"/>
          </a:ln>
        </p:spPr>
      </p:sp>
      <p:sp>
        <p:nvSpPr>
          <p:cNvPr id="3" name="Shape 1"/>
          <p:cNvSpPr/>
          <p:nvPr/>
        </p:nvSpPr>
        <p:spPr>
          <a:xfrm>
            <a:off x="694944" y="384048"/>
            <a:ext cx="77724" cy="77724"/>
          </a:xfrm>
          <a:prstGeom prst="ellipse">
            <a:avLst/>
          </a:prstGeom>
          <a:solidFill>
            <a:srgbClr val="6F8FB5"/>
          </a:solidFill>
          <a:ln w="12700">
            <a:solidFill>
              <a:srgbClr val="6F8FB5"/>
            </a:solidFill>
            <a:prstDash val="solid"/>
          </a:ln>
        </p:spPr>
      </p:sp>
      <p:sp>
        <p:nvSpPr>
          <p:cNvPr id="4" name="Shape 2"/>
          <p:cNvSpPr/>
          <p:nvPr/>
        </p:nvSpPr>
        <p:spPr>
          <a:xfrm>
            <a:off x="841248" y="384048"/>
            <a:ext cx="77724" cy="77724"/>
          </a:xfrm>
          <a:prstGeom prst="ellipse">
            <a:avLst/>
          </a:prstGeom>
          <a:solidFill>
            <a:srgbClr val="B9CCE0"/>
          </a:solidFill>
          <a:ln w="12700">
            <a:solidFill>
              <a:srgbClr val="B9CCE0"/>
            </a:solidFill>
            <a:prstDash val="solid"/>
          </a:ln>
        </p:spPr>
      </p:sp>
      <p:sp>
        <p:nvSpPr>
          <p:cNvPr id="5" name="Text 3"/>
          <p:cNvSpPr txBox="1"/>
          <p:nvPr/>
        </p:nvSpPr>
        <p:spPr>
          <a:xfrm>
            <a:off x="1097280" y="301752"/>
            <a:ext cx="5486400" cy="256032"/>
          </a:xfrm>
          <a:prstGeom prst="rect">
            <a:avLst/>
          </a:prstGeom>
          <a:noFill/>
          <a:ln/>
        </p:spPr>
        <p:txBody>
          <a:bodyPr wrap="square" lIns="0" tIns="0" rIns="0" bIns="0" rtlCol="0" anchor="t"/>
          <a:lstStyle/>
          <a:p>
            <a:pPr indent="0" marL="0">
              <a:buNone/>
            </a:pPr>
            <a:r>
              <a:rPr lang="en-US" sz="1100" dirty="0">
                <a:solidFill>
                  <a:srgbClr val="1B3A5C"/>
                </a:solidFill>
                <a:latin typeface="맑은 고딕" pitchFamily="34" charset="0"/>
                <a:ea typeface="맑은 고딕" pitchFamily="34" charset="-122"/>
                <a:cs typeface="맑은 고딕" pitchFamily="34" charset="-120"/>
              </a:rPr>
              <a:t>팀 구성 및 인프라</a:t>
            </a:r>
            <a:endParaRPr lang="en-US" sz="1100" dirty="0"/>
          </a:p>
        </p:txBody>
      </p:sp>
      <p:sp>
        <p:nvSpPr>
          <p:cNvPr id="6" name="Text 4"/>
          <p:cNvSpPr txBox="1"/>
          <p:nvPr/>
        </p:nvSpPr>
        <p:spPr>
          <a:xfrm>
            <a:off x="502920" y="621792"/>
            <a:ext cx="914400" cy="685800"/>
          </a:xfrm>
          <a:prstGeom prst="rect">
            <a:avLst/>
          </a:prstGeom>
          <a:noFill/>
          <a:ln/>
        </p:spPr>
        <p:txBody>
          <a:bodyPr wrap="square" lIns="0" tIns="0" rIns="0" bIns="0" rtlCol="0" anchor="ctr"/>
          <a:lstStyle/>
          <a:p>
            <a:pPr indent="0" marL="0">
              <a:buNone/>
            </a:pPr>
            <a:r>
              <a:rPr lang="en-US" sz="4000" b="1" dirty="0">
                <a:solidFill>
                  <a:srgbClr val="B9CCE0"/>
                </a:solidFill>
                <a:latin typeface="맑은 고딕" pitchFamily="34" charset="0"/>
                <a:ea typeface="맑은 고딕" pitchFamily="34" charset="-122"/>
                <a:cs typeface="맑은 고딕" pitchFamily="34" charset="-120"/>
              </a:rPr>
              <a:t>0</a:t>
            </a:r>
            <a:r>
              <a:rPr lang="en-US" sz="4000" b="1" dirty="0">
                <a:solidFill>
                  <a:srgbClr val="1B3A5C"/>
                </a:solidFill>
                <a:latin typeface="맑은 고딕" pitchFamily="34" charset="0"/>
                <a:ea typeface="맑은 고딕" pitchFamily="34" charset="-122"/>
                <a:cs typeface="맑은 고딕" pitchFamily="34" charset="-120"/>
              </a:rPr>
              <a:t>9</a:t>
            </a:r>
            <a:endParaRPr lang="en-US" sz="4000" dirty="0"/>
          </a:p>
        </p:txBody>
      </p:sp>
      <p:sp>
        <p:nvSpPr>
          <p:cNvPr id="7" name="Text 5"/>
          <p:cNvSpPr txBox="1"/>
          <p:nvPr/>
        </p:nvSpPr>
        <p:spPr>
          <a:xfrm>
            <a:off x="1463040" y="621792"/>
            <a:ext cx="9509760" cy="685800"/>
          </a:xfrm>
          <a:prstGeom prst="rect">
            <a:avLst/>
          </a:prstGeom>
          <a:noFill/>
          <a:ln/>
        </p:spPr>
        <p:txBody>
          <a:bodyPr wrap="square" lIns="0" tIns="0" rIns="0" bIns="0" rtlCol="0" anchor="ctr"/>
          <a:lstStyle/>
          <a:p>
            <a:pPr indent="0" marL="0">
              <a:buNone/>
            </a:pPr>
            <a:r>
              <a:rPr lang="en-US" sz="2600" b="1" dirty="0">
                <a:solidFill>
                  <a:srgbClr val="2B2D31"/>
                </a:solidFill>
                <a:latin typeface="맑은 고딕" pitchFamily="34" charset="0"/>
                <a:ea typeface="맑은 고딕" pitchFamily="34" charset="-122"/>
                <a:cs typeface="맑은 고딕" pitchFamily="34" charset="-120"/>
              </a:rPr>
              <a:t>창업팀 현황 및 기술 개발 인프라</a:t>
            </a:r>
            <a:endParaRPr lang="en-US" sz="2600" dirty="0"/>
          </a:p>
        </p:txBody>
      </p:sp>
      <p:sp>
        <p:nvSpPr>
          <p:cNvPr id="8" name="Shape 6"/>
          <p:cNvSpPr/>
          <p:nvPr/>
        </p:nvSpPr>
        <p:spPr>
          <a:xfrm>
            <a:off x="11259007" y="384048"/>
            <a:ext cx="77724" cy="77724"/>
          </a:xfrm>
          <a:prstGeom prst="ellipse">
            <a:avLst/>
          </a:prstGeom>
          <a:solidFill>
            <a:srgbClr val="B9CCE0"/>
          </a:solidFill>
          <a:ln w="12700">
            <a:solidFill>
              <a:srgbClr val="B9CCE0"/>
            </a:solidFill>
            <a:prstDash val="solid"/>
          </a:ln>
        </p:spPr>
      </p:sp>
      <p:sp>
        <p:nvSpPr>
          <p:cNvPr id="9" name="Shape 7"/>
          <p:cNvSpPr/>
          <p:nvPr/>
        </p:nvSpPr>
        <p:spPr>
          <a:xfrm>
            <a:off x="11405311" y="384048"/>
            <a:ext cx="77724" cy="77724"/>
          </a:xfrm>
          <a:prstGeom prst="ellipse">
            <a:avLst/>
          </a:prstGeom>
          <a:solidFill>
            <a:srgbClr val="6F8FB5"/>
          </a:solidFill>
          <a:ln w="12700">
            <a:solidFill>
              <a:srgbClr val="6F8FB5"/>
            </a:solidFill>
            <a:prstDash val="solid"/>
          </a:ln>
        </p:spPr>
      </p:sp>
      <p:sp>
        <p:nvSpPr>
          <p:cNvPr id="10" name="Shape 8"/>
          <p:cNvSpPr/>
          <p:nvPr/>
        </p:nvSpPr>
        <p:spPr>
          <a:xfrm>
            <a:off x="11551615" y="384048"/>
            <a:ext cx="77724" cy="77724"/>
          </a:xfrm>
          <a:prstGeom prst="ellipse">
            <a:avLst/>
          </a:prstGeom>
          <a:solidFill>
            <a:srgbClr val="1B3A5C"/>
          </a:solidFill>
          <a:ln w="12700">
            <a:solidFill>
              <a:srgbClr val="1B3A5C"/>
            </a:solidFill>
            <a:prstDash val="solid"/>
          </a:ln>
        </p:spPr>
      </p:sp>
      <p:sp>
        <p:nvSpPr>
          <p:cNvPr id="11" name="Shape 9"/>
          <p:cNvSpPr/>
          <p:nvPr/>
        </p:nvSpPr>
        <p:spPr>
          <a:xfrm>
            <a:off x="11185855" y="786384"/>
            <a:ext cx="0" cy="310896"/>
          </a:xfrm>
          <a:prstGeom prst="line">
            <a:avLst/>
          </a:prstGeom>
          <a:noFill/>
          <a:ln w="12700">
            <a:solidFill>
              <a:srgbClr val="D9DCE0"/>
            </a:solidFill>
            <a:prstDash val="solid"/>
          </a:ln>
        </p:spPr>
      </p:sp>
      <p:sp>
        <p:nvSpPr>
          <p:cNvPr id="12" name="Text 10"/>
          <p:cNvSpPr txBox="1"/>
          <p:nvPr/>
        </p:nvSpPr>
        <p:spPr>
          <a:xfrm>
            <a:off x="11259007" y="786384"/>
            <a:ext cx="384048" cy="310896"/>
          </a:xfrm>
          <a:prstGeom prst="rect">
            <a:avLst/>
          </a:prstGeom>
          <a:noFill/>
          <a:ln/>
        </p:spPr>
        <p:txBody>
          <a:bodyPr wrap="square" lIns="0" tIns="0" rIns="0" bIns="0" rtlCol="0" anchor="ctr"/>
          <a:lstStyle/>
          <a:p>
            <a:pPr algn="r" indent="0" marL="0">
              <a:buNone/>
            </a:pPr>
            <a:r>
              <a:rPr lang="en-US" sz="1200" b="1" dirty="0">
                <a:solidFill>
                  <a:srgbClr val="1B3A5C"/>
                </a:solidFill>
                <a:latin typeface="맑은 고딕" pitchFamily="34" charset="0"/>
                <a:ea typeface="맑은 고딕" pitchFamily="34" charset="-122"/>
                <a:cs typeface="맑은 고딕" pitchFamily="34" charset="-120"/>
              </a:rPr>
              <a:t>10</a:t>
            </a:r>
            <a:endParaRPr lang="en-US" sz="1200" dirty="0"/>
          </a:p>
        </p:txBody>
      </p:sp>
      <p:sp>
        <p:nvSpPr>
          <p:cNvPr id="13" name="Shape 11"/>
          <p:cNvSpPr/>
          <p:nvPr/>
        </p:nvSpPr>
        <p:spPr>
          <a:xfrm>
            <a:off x="3220060" y="1298448"/>
            <a:ext cx="1819656" cy="1819656"/>
          </a:xfrm>
          <a:prstGeom prst="diamond">
            <a:avLst/>
          </a:prstGeom>
          <a:solidFill>
            <a:srgbClr val="F3F5F8"/>
          </a:solidFill>
          <a:ln w="28575">
            <a:solidFill>
              <a:srgbClr val="1B3A5C"/>
            </a:solidFill>
            <a:prstDash val="solid"/>
          </a:ln>
        </p:spPr>
      </p:sp>
      <p:pic>
        <p:nvPicPr>
          <p:cNvPr id="14" name="Image 0" descr="/home/user/PPT/src/img/team_woo.png">    </p:cNvPr>
          <p:cNvPicPr>
            <a:picLocks noChangeAspect="1"/>
          </p:cNvPicPr>
          <p:nvPr/>
        </p:nvPicPr>
        <p:blipFill>
          <a:blip r:embed="rId1"/>
          <a:srcRect l="0" r="0" t="0" b="0"/>
          <a:stretch/>
        </p:blipFill>
        <p:spPr>
          <a:xfrm>
            <a:off x="3562960" y="1536192"/>
            <a:ext cx="1133856" cy="1133856"/>
          </a:xfrm>
          <a:prstGeom prst="ellipse">
            <a:avLst/>
          </a:prstGeom>
        </p:spPr>
      </p:pic>
      <p:sp>
        <p:nvSpPr>
          <p:cNvPr id="15" name="Shape 12"/>
          <p:cNvSpPr/>
          <p:nvPr/>
        </p:nvSpPr>
        <p:spPr>
          <a:xfrm>
            <a:off x="2621128" y="2880360"/>
            <a:ext cx="3017520" cy="365760"/>
          </a:xfrm>
          <a:prstGeom prst="rect">
            <a:avLst/>
          </a:prstGeom>
          <a:solidFill>
            <a:srgbClr val="1B3A5C"/>
          </a:solidFill>
          <a:ln w="12700">
            <a:solidFill>
              <a:srgbClr val="1B3A5C"/>
            </a:solidFill>
            <a:prstDash val="solid"/>
          </a:ln>
        </p:spPr>
      </p:sp>
      <p:sp>
        <p:nvSpPr>
          <p:cNvPr id="16" name="Text 13"/>
          <p:cNvSpPr txBox="1"/>
          <p:nvPr/>
        </p:nvSpPr>
        <p:spPr>
          <a:xfrm>
            <a:off x="2621128" y="2880360"/>
            <a:ext cx="301752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(EL) 우성훈</a:t>
            </a:r>
            <a:endParaRPr lang="en-US" sz="1400" dirty="0"/>
          </a:p>
        </p:txBody>
      </p:sp>
      <p:sp>
        <p:nvSpPr>
          <p:cNvPr id="17" name="Shape 14"/>
          <p:cNvSpPr/>
          <p:nvPr/>
        </p:nvSpPr>
        <p:spPr>
          <a:xfrm>
            <a:off x="2621128" y="3246120"/>
            <a:ext cx="3017520" cy="749808"/>
          </a:xfrm>
          <a:prstGeom prst="rect">
            <a:avLst/>
          </a:prstGeom>
          <a:solidFill>
            <a:srgbClr val="F3F5F8"/>
          </a:solidFill>
          <a:ln w="12700">
            <a:solidFill>
              <a:srgbClr val="F3F5F8"/>
            </a:solidFill>
            <a:prstDash val="solid"/>
          </a:ln>
        </p:spPr>
      </p:sp>
      <p:sp>
        <p:nvSpPr>
          <p:cNvPr id="18" name="Text 15"/>
          <p:cNvSpPr txBox="1"/>
          <p:nvPr/>
        </p:nvSpPr>
        <p:spPr>
          <a:xfrm>
            <a:off x="2804008" y="3291840"/>
            <a:ext cx="2743200" cy="228600"/>
          </a:xfrm>
          <a:prstGeom prst="rect">
            <a:avLst/>
          </a:prstGeom>
          <a:noFill/>
          <a:ln/>
        </p:spPr>
        <p:txBody>
          <a:bodyPr wrap="square" lIns="0" tIns="0" rIns="0" bIns="0" rtlCol="0" anchor="ctr"/>
          <a:lstStyle/>
          <a:p>
            <a:pPr indent="0" marL="0">
              <a:buNone/>
            </a:pPr>
            <a:r>
              <a:rPr lang="en-US" sz="1050" b="1" dirty="0">
                <a:solidFill>
                  <a:srgbClr val="1B3A5C"/>
                </a:solidFill>
                <a:latin typeface="맑은 고딕" pitchFamily="34" charset="0"/>
                <a:ea typeface="맑은 고딕" pitchFamily="34" charset="-122"/>
                <a:cs typeface="맑은 고딕" pitchFamily="34" charset="-120"/>
              </a:rPr>
              <a:t>· 소속   </a:t>
            </a:r>
            <a:r>
              <a:rPr lang="en-US" sz="1050" dirty="0">
                <a:solidFill>
                  <a:srgbClr val="2B2D31"/>
                </a:solidFill>
                <a:latin typeface="맑은 고딕" pitchFamily="34" charset="0"/>
                <a:ea typeface="맑은 고딕" pitchFamily="34" charset="-122"/>
                <a:cs typeface="맑은 고딕" pitchFamily="34" charset="-120"/>
              </a:rPr>
              <a:t>경상국립대학교</a:t>
            </a:r>
            <a:endParaRPr lang="en-US" sz="1050" dirty="0"/>
          </a:p>
        </p:txBody>
      </p:sp>
      <p:sp>
        <p:nvSpPr>
          <p:cNvPr id="19" name="Text 16"/>
          <p:cNvSpPr txBox="1"/>
          <p:nvPr/>
        </p:nvSpPr>
        <p:spPr>
          <a:xfrm>
            <a:off x="2804008" y="3520440"/>
            <a:ext cx="2743200" cy="228600"/>
          </a:xfrm>
          <a:prstGeom prst="rect">
            <a:avLst/>
          </a:prstGeom>
          <a:noFill/>
          <a:ln/>
        </p:spPr>
        <p:txBody>
          <a:bodyPr wrap="square" lIns="0" tIns="0" rIns="0" bIns="0" rtlCol="0" anchor="ctr"/>
          <a:lstStyle/>
          <a:p>
            <a:pPr indent="0" marL="0">
              <a:buNone/>
            </a:pPr>
            <a:r>
              <a:rPr lang="en-US" sz="1050" b="1" dirty="0">
                <a:solidFill>
                  <a:srgbClr val="1B3A5C"/>
                </a:solidFill>
                <a:latin typeface="맑은 고딕" pitchFamily="34" charset="0"/>
                <a:ea typeface="맑은 고딕" pitchFamily="34" charset="-122"/>
                <a:cs typeface="맑은 고딕" pitchFamily="34" charset="-120"/>
              </a:rPr>
              <a:t>· 전공   </a:t>
            </a:r>
            <a:r>
              <a:rPr lang="en-US" sz="1050" dirty="0">
                <a:solidFill>
                  <a:srgbClr val="2B2D31"/>
                </a:solidFill>
                <a:latin typeface="맑은 고딕" pitchFamily="34" charset="0"/>
                <a:ea typeface="맑은 고딕" pitchFamily="34" charset="-122"/>
                <a:cs typeface="맑은 고딕" pitchFamily="34" charset="-120"/>
              </a:rPr>
              <a:t>기계시스템공학</a:t>
            </a:r>
            <a:endParaRPr lang="en-US" sz="1050" dirty="0"/>
          </a:p>
        </p:txBody>
      </p:sp>
      <p:sp>
        <p:nvSpPr>
          <p:cNvPr id="20" name="Text 17"/>
          <p:cNvSpPr txBox="1"/>
          <p:nvPr/>
        </p:nvSpPr>
        <p:spPr>
          <a:xfrm>
            <a:off x="2804008" y="3749040"/>
            <a:ext cx="2743200" cy="228600"/>
          </a:xfrm>
          <a:prstGeom prst="rect">
            <a:avLst/>
          </a:prstGeom>
          <a:noFill/>
          <a:ln/>
        </p:spPr>
        <p:txBody>
          <a:bodyPr wrap="square" lIns="0" tIns="0" rIns="0" bIns="0" rtlCol="0" anchor="ctr"/>
          <a:lstStyle/>
          <a:p>
            <a:pPr indent="0" marL="0">
              <a:buNone/>
            </a:pPr>
            <a:r>
              <a:rPr lang="en-US" sz="1050" b="1" dirty="0">
                <a:solidFill>
                  <a:srgbClr val="1B3A5C"/>
                </a:solidFill>
                <a:latin typeface="맑은 고딕" pitchFamily="34" charset="0"/>
                <a:ea typeface="맑은 고딕" pitchFamily="34" charset="-122"/>
                <a:cs typeface="맑은 고딕" pitchFamily="34" charset="-120"/>
              </a:rPr>
              <a:t>· 역할   </a:t>
            </a:r>
            <a:r>
              <a:rPr lang="en-US" sz="1050" dirty="0">
                <a:solidFill>
                  <a:srgbClr val="2B2D31"/>
                </a:solidFill>
                <a:latin typeface="맑은 고딕" pitchFamily="34" charset="0"/>
                <a:ea typeface="맑은 고딕" pitchFamily="34" charset="-122"/>
                <a:cs typeface="맑은 고딕" pitchFamily="34" charset="-120"/>
              </a:rPr>
              <a:t>부식 예측 연구 · 고객 인터뷰</a:t>
            </a:r>
            <a:endParaRPr lang="en-US" sz="1050" dirty="0"/>
          </a:p>
        </p:txBody>
      </p:sp>
      <p:sp>
        <p:nvSpPr>
          <p:cNvPr id="21" name="Shape 18"/>
          <p:cNvSpPr/>
          <p:nvPr/>
        </p:nvSpPr>
        <p:spPr>
          <a:xfrm>
            <a:off x="7151980" y="1298448"/>
            <a:ext cx="1819656" cy="1819656"/>
          </a:xfrm>
          <a:prstGeom prst="diamond">
            <a:avLst/>
          </a:prstGeom>
          <a:solidFill>
            <a:srgbClr val="F3F5F8"/>
          </a:solidFill>
          <a:ln w="28575">
            <a:solidFill>
              <a:srgbClr val="1B3A5C"/>
            </a:solidFill>
            <a:prstDash val="solid"/>
          </a:ln>
        </p:spPr>
      </p:sp>
      <p:pic>
        <p:nvPicPr>
          <p:cNvPr id="22" name="Image 1" descr="/home/user/PPT/src/img/team_park.jpg">    </p:cNvPr>
          <p:cNvPicPr>
            <a:picLocks noChangeAspect="1"/>
          </p:cNvPicPr>
          <p:nvPr/>
        </p:nvPicPr>
        <p:blipFill>
          <a:blip r:embed="rId2"/>
          <a:srcRect l="0" r="0" t="0" b="0"/>
          <a:stretch/>
        </p:blipFill>
        <p:spPr>
          <a:xfrm>
            <a:off x="7494880" y="1536192"/>
            <a:ext cx="1133856" cy="1133856"/>
          </a:xfrm>
          <a:prstGeom prst="ellipse">
            <a:avLst/>
          </a:prstGeom>
        </p:spPr>
      </p:pic>
      <p:sp>
        <p:nvSpPr>
          <p:cNvPr id="23" name="Shape 19"/>
          <p:cNvSpPr/>
          <p:nvPr/>
        </p:nvSpPr>
        <p:spPr>
          <a:xfrm>
            <a:off x="6553048" y="2880360"/>
            <a:ext cx="3017520" cy="365760"/>
          </a:xfrm>
          <a:prstGeom prst="rect">
            <a:avLst/>
          </a:prstGeom>
          <a:solidFill>
            <a:srgbClr val="1B3A5C"/>
          </a:solidFill>
          <a:ln w="12700">
            <a:solidFill>
              <a:srgbClr val="1B3A5C"/>
            </a:solidFill>
            <a:prstDash val="solid"/>
          </a:ln>
        </p:spPr>
      </p:sp>
      <p:sp>
        <p:nvSpPr>
          <p:cNvPr id="24" name="Text 20"/>
          <p:cNvSpPr txBox="1"/>
          <p:nvPr/>
        </p:nvSpPr>
        <p:spPr>
          <a:xfrm>
            <a:off x="6553048" y="2880360"/>
            <a:ext cx="301752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(EM) 박준범</a:t>
            </a:r>
            <a:endParaRPr lang="en-US" sz="1400" dirty="0"/>
          </a:p>
        </p:txBody>
      </p:sp>
      <p:sp>
        <p:nvSpPr>
          <p:cNvPr id="25" name="Shape 21"/>
          <p:cNvSpPr/>
          <p:nvPr/>
        </p:nvSpPr>
        <p:spPr>
          <a:xfrm>
            <a:off x="6553048" y="3246120"/>
            <a:ext cx="3017520" cy="749808"/>
          </a:xfrm>
          <a:prstGeom prst="rect">
            <a:avLst/>
          </a:prstGeom>
          <a:solidFill>
            <a:srgbClr val="F3F5F8"/>
          </a:solidFill>
          <a:ln w="12700">
            <a:solidFill>
              <a:srgbClr val="F3F5F8"/>
            </a:solidFill>
            <a:prstDash val="solid"/>
          </a:ln>
        </p:spPr>
      </p:sp>
      <p:sp>
        <p:nvSpPr>
          <p:cNvPr id="26" name="Text 22"/>
          <p:cNvSpPr txBox="1"/>
          <p:nvPr/>
        </p:nvSpPr>
        <p:spPr>
          <a:xfrm>
            <a:off x="6735928" y="3291840"/>
            <a:ext cx="2743200" cy="228600"/>
          </a:xfrm>
          <a:prstGeom prst="rect">
            <a:avLst/>
          </a:prstGeom>
          <a:noFill/>
          <a:ln/>
        </p:spPr>
        <p:txBody>
          <a:bodyPr wrap="square" lIns="0" tIns="0" rIns="0" bIns="0" rtlCol="0" anchor="ctr"/>
          <a:lstStyle/>
          <a:p>
            <a:pPr indent="0" marL="0">
              <a:buNone/>
            </a:pPr>
            <a:r>
              <a:rPr lang="en-US" sz="1050" b="1" dirty="0">
                <a:solidFill>
                  <a:srgbClr val="1B3A5C"/>
                </a:solidFill>
                <a:latin typeface="맑은 고딕" pitchFamily="34" charset="0"/>
                <a:ea typeface="맑은 고딕" pitchFamily="34" charset="-122"/>
                <a:cs typeface="맑은 고딕" pitchFamily="34" charset="-120"/>
              </a:rPr>
              <a:t>· 소속   </a:t>
            </a:r>
            <a:r>
              <a:rPr lang="en-US" sz="1050" dirty="0">
                <a:solidFill>
                  <a:srgbClr val="2B2D31"/>
                </a:solidFill>
                <a:latin typeface="맑은 고딕" pitchFamily="34" charset="0"/>
                <a:ea typeface="맑은 고딕" pitchFamily="34" charset="-122"/>
                <a:cs typeface="맑은 고딕" pitchFamily="34" charset="-120"/>
              </a:rPr>
              <a:t>경상국립대학교</a:t>
            </a:r>
            <a:endParaRPr lang="en-US" sz="1050" dirty="0"/>
          </a:p>
        </p:txBody>
      </p:sp>
      <p:sp>
        <p:nvSpPr>
          <p:cNvPr id="27" name="Text 23"/>
          <p:cNvSpPr txBox="1"/>
          <p:nvPr/>
        </p:nvSpPr>
        <p:spPr>
          <a:xfrm>
            <a:off x="6735928" y="3520440"/>
            <a:ext cx="2743200" cy="228600"/>
          </a:xfrm>
          <a:prstGeom prst="rect">
            <a:avLst/>
          </a:prstGeom>
          <a:noFill/>
          <a:ln/>
        </p:spPr>
        <p:txBody>
          <a:bodyPr wrap="square" lIns="0" tIns="0" rIns="0" bIns="0" rtlCol="0" anchor="ctr"/>
          <a:lstStyle/>
          <a:p>
            <a:pPr indent="0" marL="0">
              <a:buNone/>
            </a:pPr>
            <a:r>
              <a:rPr lang="en-US" sz="1050" b="1" dirty="0">
                <a:solidFill>
                  <a:srgbClr val="1B3A5C"/>
                </a:solidFill>
                <a:latin typeface="맑은 고딕" pitchFamily="34" charset="0"/>
                <a:ea typeface="맑은 고딕" pitchFamily="34" charset="-122"/>
                <a:cs typeface="맑은 고딕" pitchFamily="34" charset="-120"/>
              </a:rPr>
              <a:t>· 전공   </a:t>
            </a:r>
            <a:r>
              <a:rPr lang="en-US" sz="1050" dirty="0">
                <a:solidFill>
                  <a:srgbClr val="2B2D31"/>
                </a:solidFill>
                <a:latin typeface="맑은 고딕" pitchFamily="34" charset="0"/>
                <a:ea typeface="맑은 고딕" pitchFamily="34" charset="-122"/>
                <a:cs typeface="맑은 고딕" pitchFamily="34" charset="-120"/>
              </a:rPr>
              <a:t>기계시스템공학</a:t>
            </a:r>
            <a:endParaRPr lang="en-US" sz="1050" dirty="0"/>
          </a:p>
        </p:txBody>
      </p:sp>
      <p:sp>
        <p:nvSpPr>
          <p:cNvPr id="28" name="Text 24"/>
          <p:cNvSpPr txBox="1"/>
          <p:nvPr/>
        </p:nvSpPr>
        <p:spPr>
          <a:xfrm>
            <a:off x="6735928" y="3749040"/>
            <a:ext cx="2743200" cy="228600"/>
          </a:xfrm>
          <a:prstGeom prst="rect">
            <a:avLst/>
          </a:prstGeom>
          <a:noFill/>
          <a:ln/>
        </p:spPr>
        <p:txBody>
          <a:bodyPr wrap="square" lIns="0" tIns="0" rIns="0" bIns="0" rtlCol="0" anchor="ctr"/>
          <a:lstStyle/>
          <a:p>
            <a:pPr indent="0" marL="0">
              <a:buNone/>
            </a:pPr>
            <a:r>
              <a:rPr lang="en-US" sz="1050" b="1" dirty="0">
                <a:solidFill>
                  <a:srgbClr val="1B3A5C"/>
                </a:solidFill>
                <a:latin typeface="맑은 고딕" pitchFamily="34" charset="0"/>
                <a:ea typeface="맑은 고딕" pitchFamily="34" charset="-122"/>
                <a:cs typeface="맑은 고딕" pitchFamily="34" charset="-120"/>
              </a:rPr>
              <a:t>· 역할   </a:t>
            </a:r>
            <a:r>
              <a:rPr lang="en-US" sz="1050" dirty="0">
                <a:solidFill>
                  <a:srgbClr val="2B2D31"/>
                </a:solidFill>
                <a:latin typeface="맑은 고딕" pitchFamily="34" charset="0"/>
                <a:ea typeface="맑은 고딕" pitchFamily="34" charset="-122"/>
                <a:cs typeface="맑은 고딕" pitchFamily="34" charset="-120"/>
              </a:rPr>
              <a:t>부식 연구 · 고객 인터뷰</a:t>
            </a:r>
            <a:endParaRPr lang="en-US" sz="1050" dirty="0"/>
          </a:p>
        </p:txBody>
      </p:sp>
      <p:sp>
        <p:nvSpPr>
          <p:cNvPr id="29" name="Shape 25"/>
          <p:cNvSpPr/>
          <p:nvPr/>
        </p:nvSpPr>
        <p:spPr>
          <a:xfrm>
            <a:off x="0" y="4206240"/>
            <a:ext cx="12191695" cy="2651760"/>
          </a:xfrm>
          <a:prstGeom prst="rect">
            <a:avLst/>
          </a:prstGeom>
          <a:solidFill>
            <a:srgbClr val="2E3238"/>
          </a:solidFill>
          <a:ln w="12700">
            <a:solidFill>
              <a:srgbClr val="2E3238"/>
            </a:solidFill>
            <a:prstDash val="solid"/>
          </a:ln>
        </p:spPr>
      </p:sp>
      <p:sp>
        <p:nvSpPr>
          <p:cNvPr id="30" name="Text 26"/>
          <p:cNvSpPr txBox="1"/>
          <p:nvPr/>
        </p:nvSpPr>
        <p:spPr>
          <a:xfrm>
            <a:off x="548640" y="4343400"/>
            <a:ext cx="7315200" cy="292608"/>
          </a:xfrm>
          <a:prstGeom prst="rect">
            <a:avLst/>
          </a:prstGeom>
          <a:noFill/>
          <a:ln/>
        </p:spPr>
        <p:txBody>
          <a:bodyPr wrap="square" lIns="0" tIns="0" rIns="0" bIns="0" rtlCol="0" anchor="t"/>
          <a:lstStyle/>
          <a:p>
            <a:pPr indent="0" marL="0">
              <a:buNone/>
            </a:pPr>
            <a:r>
              <a:rPr lang="en-US" sz="1300" b="1" dirty="0">
                <a:solidFill>
                  <a:srgbClr val="B9CCE0"/>
                </a:solidFill>
                <a:latin typeface="맑은 고딕" pitchFamily="34" charset="0"/>
                <a:ea typeface="맑은 고딕" pitchFamily="34" charset="-122"/>
                <a:cs typeface="맑은 고딕" pitchFamily="34" charset="-120"/>
              </a:rPr>
              <a:t>부식 · 분석 인프라 — 실험실 검증에 사용한 장비</a:t>
            </a:r>
            <a:endParaRPr lang="en-US" sz="1300" dirty="0"/>
          </a:p>
        </p:txBody>
      </p:sp>
      <p:sp>
        <p:nvSpPr>
          <p:cNvPr id="31" name="Shape 27"/>
          <p:cNvSpPr/>
          <p:nvPr/>
        </p:nvSpPr>
        <p:spPr>
          <a:xfrm>
            <a:off x="993115" y="4800600"/>
            <a:ext cx="960120" cy="960120"/>
          </a:xfrm>
          <a:prstGeom prst="ellipse">
            <a:avLst/>
          </a:prstGeom>
          <a:solidFill>
            <a:srgbClr val="FFFFFF"/>
          </a:solidFill>
          <a:ln w="12700">
            <a:solidFill>
              <a:srgbClr val="FFFFFF"/>
            </a:solidFill>
            <a:prstDash val="solid"/>
          </a:ln>
        </p:spPr>
      </p:sp>
      <p:pic>
        <p:nvPicPr>
          <p:cNvPr id="32" name="Image 2" descr="preencoded.png">    </p:cNvPr>
          <p:cNvPicPr>
            <a:picLocks noChangeAspect="1"/>
          </p:cNvPicPr>
          <p:nvPr/>
        </p:nvPicPr>
        <p:blipFill>
          <a:blip r:embed="rId3"/>
          <a:stretch>
            <a:fillRect/>
          </a:stretch>
        </p:blipFill>
        <p:spPr>
          <a:xfrm>
            <a:off x="1217143" y="5024628"/>
            <a:ext cx="512064" cy="512064"/>
          </a:xfrm>
          <a:prstGeom prst="rect">
            <a:avLst/>
          </a:prstGeom>
        </p:spPr>
      </p:pic>
      <p:sp>
        <p:nvSpPr>
          <p:cNvPr id="33" name="Shape 28"/>
          <p:cNvSpPr/>
          <p:nvPr/>
        </p:nvSpPr>
        <p:spPr>
          <a:xfrm>
            <a:off x="603504" y="5925312"/>
            <a:ext cx="1739341" cy="438912"/>
          </a:xfrm>
          <a:prstGeom prst="rect">
            <a:avLst/>
          </a:prstGeom>
          <a:solidFill>
            <a:srgbClr val="3A3F46"/>
          </a:solidFill>
          <a:ln w="12700">
            <a:solidFill>
              <a:srgbClr val="3A3F46"/>
            </a:solidFill>
            <a:prstDash val="solid"/>
          </a:ln>
        </p:spPr>
      </p:sp>
      <p:sp>
        <p:nvSpPr>
          <p:cNvPr id="34" name="Text 29"/>
          <p:cNvSpPr txBox="1"/>
          <p:nvPr/>
        </p:nvSpPr>
        <p:spPr>
          <a:xfrm>
            <a:off x="603504" y="5925312"/>
            <a:ext cx="1739341"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복합부식 시험기</a:t>
            </a:r>
            <a:endParaRPr lang="en-US" sz="1300" dirty="0"/>
          </a:p>
        </p:txBody>
      </p:sp>
      <p:sp>
        <p:nvSpPr>
          <p:cNvPr id="35" name="Shape 30"/>
          <p:cNvSpPr/>
          <p:nvPr/>
        </p:nvSpPr>
        <p:spPr>
          <a:xfrm>
            <a:off x="2842184" y="4800600"/>
            <a:ext cx="960120" cy="960120"/>
          </a:xfrm>
          <a:prstGeom prst="ellipse">
            <a:avLst/>
          </a:prstGeom>
          <a:solidFill>
            <a:srgbClr val="FFFFFF"/>
          </a:solidFill>
          <a:ln w="12700">
            <a:solidFill>
              <a:srgbClr val="FFFFFF"/>
            </a:solidFill>
            <a:prstDash val="solid"/>
          </a:ln>
        </p:spPr>
      </p:sp>
      <p:pic>
        <p:nvPicPr>
          <p:cNvPr id="36" name="Image 3" descr="preencoded.png">    </p:cNvPr>
          <p:cNvPicPr>
            <a:picLocks noChangeAspect="1"/>
          </p:cNvPicPr>
          <p:nvPr/>
        </p:nvPicPr>
        <p:blipFill>
          <a:blip r:embed="rId4"/>
          <a:stretch>
            <a:fillRect/>
          </a:stretch>
        </p:blipFill>
        <p:spPr>
          <a:xfrm>
            <a:off x="3066212" y="5024628"/>
            <a:ext cx="512064" cy="512064"/>
          </a:xfrm>
          <a:prstGeom prst="rect">
            <a:avLst/>
          </a:prstGeom>
        </p:spPr>
      </p:pic>
      <p:sp>
        <p:nvSpPr>
          <p:cNvPr id="37" name="Shape 31"/>
          <p:cNvSpPr/>
          <p:nvPr/>
        </p:nvSpPr>
        <p:spPr>
          <a:xfrm>
            <a:off x="2452573" y="5925312"/>
            <a:ext cx="1739341" cy="438912"/>
          </a:xfrm>
          <a:prstGeom prst="rect">
            <a:avLst/>
          </a:prstGeom>
          <a:solidFill>
            <a:srgbClr val="3A3F46"/>
          </a:solidFill>
          <a:ln w="12700">
            <a:solidFill>
              <a:srgbClr val="3A3F46"/>
            </a:solidFill>
            <a:prstDash val="solid"/>
          </a:ln>
        </p:spPr>
      </p:sp>
      <p:sp>
        <p:nvSpPr>
          <p:cNvPr id="38" name="Text 32"/>
          <p:cNvSpPr txBox="1"/>
          <p:nvPr/>
        </p:nvSpPr>
        <p:spPr>
          <a:xfrm>
            <a:off x="2452573" y="5925312"/>
            <a:ext cx="1739341"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SEM / EDS</a:t>
            </a:r>
            <a:endParaRPr lang="en-US" sz="1300" dirty="0"/>
          </a:p>
        </p:txBody>
      </p:sp>
      <p:sp>
        <p:nvSpPr>
          <p:cNvPr id="39" name="Shape 33"/>
          <p:cNvSpPr/>
          <p:nvPr/>
        </p:nvSpPr>
        <p:spPr>
          <a:xfrm>
            <a:off x="4691253" y="4800600"/>
            <a:ext cx="960120" cy="960120"/>
          </a:xfrm>
          <a:prstGeom prst="ellipse">
            <a:avLst/>
          </a:prstGeom>
          <a:solidFill>
            <a:srgbClr val="FFFFFF"/>
          </a:solidFill>
          <a:ln w="12700">
            <a:solidFill>
              <a:srgbClr val="FFFFFF"/>
            </a:solidFill>
            <a:prstDash val="solid"/>
          </a:ln>
        </p:spPr>
      </p:sp>
      <p:pic>
        <p:nvPicPr>
          <p:cNvPr id="40" name="Image 4" descr="preencoded.png">    </p:cNvPr>
          <p:cNvPicPr>
            <a:picLocks noChangeAspect="1"/>
          </p:cNvPicPr>
          <p:nvPr/>
        </p:nvPicPr>
        <p:blipFill>
          <a:blip r:embed="rId5"/>
          <a:stretch>
            <a:fillRect/>
          </a:stretch>
        </p:blipFill>
        <p:spPr>
          <a:xfrm>
            <a:off x="4915281" y="5024628"/>
            <a:ext cx="512064" cy="512064"/>
          </a:xfrm>
          <a:prstGeom prst="rect">
            <a:avLst/>
          </a:prstGeom>
        </p:spPr>
      </p:pic>
      <p:sp>
        <p:nvSpPr>
          <p:cNvPr id="41" name="Shape 34"/>
          <p:cNvSpPr/>
          <p:nvPr/>
        </p:nvSpPr>
        <p:spPr>
          <a:xfrm>
            <a:off x="4301642" y="5925312"/>
            <a:ext cx="1739341" cy="438912"/>
          </a:xfrm>
          <a:prstGeom prst="rect">
            <a:avLst/>
          </a:prstGeom>
          <a:solidFill>
            <a:srgbClr val="3A3F46"/>
          </a:solidFill>
          <a:ln w="12700">
            <a:solidFill>
              <a:srgbClr val="3A3F46"/>
            </a:solidFill>
            <a:prstDash val="solid"/>
          </a:ln>
        </p:spPr>
      </p:sp>
      <p:sp>
        <p:nvSpPr>
          <p:cNvPr id="42" name="Text 35"/>
          <p:cNvSpPr txBox="1"/>
          <p:nvPr/>
        </p:nvSpPr>
        <p:spPr>
          <a:xfrm>
            <a:off x="4301642" y="5925312"/>
            <a:ext cx="1739341"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XRD</a:t>
            </a:r>
            <a:endParaRPr lang="en-US" sz="1300" dirty="0"/>
          </a:p>
        </p:txBody>
      </p:sp>
      <p:sp>
        <p:nvSpPr>
          <p:cNvPr id="43" name="Shape 36"/>
          <p:cNvSpPr/>
          <p:nvPr/>
        </p:nvSpPr>
        <p:spPr>
          <a:xfrm>
            <a:off x="6540322" y="4800600"/>
            <a:ext cx="960120" cy="960120"/>
          </a:xfrm>
          <a:prstGeom prst="ellipse">
            <a:avLst/>
          </a:prstGeom>
          <a:solidFill>
            <a:srgbClr val="FFFFFF"/>
          </a:solidFill>
          <a:ln w="12700">
            <a:solidFill>
              <a:srgbClr val="FFFFFF"/>
            </a:solidFill>
            <a:prstDash val="solid"/>
          </a:ln>
        </p:spPr>
      </p:sp>
      <p:pic>
        <p:nvPicPr>
          <p:cNvPr id="44" name="Image 5" descr="preencoded.png">    </p:cNvPr>
          <p:cNvPicPr>
            <a:picLocks noChangeAspect="1"/>
          </p:cNvPicPr>
          <p:nvPr/>
        </p:nvPicPr>
        <p:blipFill>
          <a:blip r:embed="rId6"/>
          <a:stretch>
            <a:fillRect/>
          </a:stretch>
        </p:blipFill>
        <p:spPr>
          <a:xfrm>
            <a:off x="6764350" y="5024628"/>
            <a:ext cx="512064" cy="512064"/>
          </a:xfrm>
          <a:prstGeom prst="rect">
            <a:avLst/>
          </a:prstGeom>
        </p:spPr>
      </p:pic>
      <p:sp>
        <p:nvSpPr>
          <p:cNvPr id="45" name="Shape 37"/>
          <p:cNvSpPr/>
          <p:nvPr/>
        </p:nvSpPr>
        <p:spPr>
          <a:xfrm>
            <a:off x="6150712" y="5925312"/>
            <a:ext cx="1739341" cy="438912"/>
          </a:xfrm>
          <a:prstGeom prst="rect">
            <a:avLst/>
          </a:prstGeom>
          <a:solidFill>
            <a:srgbClr val="3A3F46"/>
          </a:solidFill>
          <a:ln w="12700">
            <a:solidFill>
              <a:srgbClr val="3A3F46"/>
            </a:solidFill>
            <a:prstDash val="solid"/>
          </a:ln>
        </p:spPr>
      </p:sp>
      <p:sp>
        <p:nvSpPr>
          <p:cNvPr id="46" name="Text 38"/>
          <p:cNvSpPr txBox="1"/>
          <p:nvPr/>
        </p:nvSpPr>
        <p:spPr>
          <a:xfrm>
            <a:off x="6150712" y="5925312"/>
            <a:ext cx="1739341"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전위차계 (LPR)</a:t>
            </a:r>
            <a:endParaRPr lang="en-US" sz="1300" dirty="0"/>
          </a:p>
        </p:txBody>
      </p:sp>
      <p:sp>
        <p:nvSpPr>
          <p:cNvPr id="47" name="Shape 39"/>
          <p:cNvSpPr/>
          <p:nvPr/>
        </p:nvSpPr>
        <p:spPr>
          <a:xfrm>
            <a:off x="8389391" y="4800600"/>
            <a:ext cx="960120" cy="960120"/>
          </a:xfrm>
          <a:prstGeom prst="ellipse">
            <a:avLst/>
          </a:prstGeom>
          <a:solidFill>
            <a:srgbClr val="FFFFFF"/>
          </a:solidFill>
          <a:ln w="12700">
            <a:solidFill>
              <a:srgbClr val="FFFFFF"/>
            </a:solidFill>
            <a:prstDash val="solid"/>
          </a:ln>
        </p:spPr>
      </p:sp>
      <p:pic>
        <p:nvPicPr>
          <p:cNvPr id="48" name="Image 6" descr="preencoded.png">    </p:cNvPr>
          <p:cNvPicPr>
            <a:picLocks noChangeAspect="1"/>
          </p:cNvPicPr>
          <p:nvPr/>
        </p:nvPicPr>
        <p:blipFill>
          <a:blip r:embed="rId7"/>
          <a:stretch>
            <a:fillRect/>
          </a:stretch>
        </p:blipFill>
        <p:spPr>
          <a:xfrm>
            <a:off x="8613419" y="5024628"/>
            <a:ext cx="512064" cy="512064"/>
          </a:xfrm>
          <a:prstGeom prst="rect">
            <a:avLst/>
          </a:prstGeom>
        </p:spPr>
      </p:pic>
      <p:sp>
        <p:nvSpPr>
          <p:cNvPr id="49" name="Shape 40"/>
          <p:cNvSpPr/>
          <p:nvPr/>
        </p:nvSpPr>
        <p:spPr>
          <a:xfrm>
            <a:off x="7999781" y="5925312"/>
            <a:ext cx="1739341" cy="438912"/>
          </a:xfrm>
          <a:prstGeom prst="rect">
            <a:avLst/>
          </a:prstGeom>
          <a:solidFill>
            <a:srgbClr val="3A3F46"/>
          </a:solidFill>
          <a:ln w="12700">
            <a:solidFill>
              <a:srgbClr val="3A3F46"/>
            </a:solidFill>
            <a:prstDash val="solid"/>
          </a:ln>
        </p:spPr>
      </p:sp>
      <p:sp>
        <p:nvSpPr>
          <p:cNvPr id="50" name="Text 41"/>
          <p:cNvSpPr txBox="1"/>
          <p:nvPr/>
        </p:nvSpPr>
        <p:spPr>
          <a:xfrm>
            <a:off x="7999781" y="5925312"/>
            <a:ext cx="1739341"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공초점 현미경</a:t>
            </a:r>
            <a:endParaRPr lang="en-US" sz="1300" dirty="0"/>
          </a:p>
        </p:txBody>
      </p:sp>
      <p:sp>
        <p:nvSpPr>
          <p:cNvPr id="51" name="Shape 42"/>
          <p:cNvSpPr/>
          <p:nvPr/>
        </p:nvSpPr>
        <p:spPr>
          <a:xfrm>
            <a:off x="10238461" y="4800600"/>
            <a:ext cx="960120" cy="960120"/>
          </a:xfrm>
          <a:prstGeom prst="ellipse">
            <a:avLst/>
          </a:prstGeom>
          <a:solidFill>
            <a:srgbClr val="FFFFFF"/>
          </a:solidFill>
          <a:ln w="12700">
            <a:solidFill>
              <a:srgbClr val="FFFFFF"/>
            </a:solidFill>
            <a:prstDash val="solid"/>
          </a:ln>
        </p:spPr>
      </p:sp>
      <p:pic>
        <p:nvPicPr>
          <p:cNvPr id="52" name="Image 7" descr="preencoded.png">    </p:cNvPr>
          <p:cNvPicPr>
            <a:picLocks noChangeAspect="1"/>
          </p:cNvPicPr>
          <p:nvPr/>
        </p:nvPicPr>
        <p:blipFill>
          <a:blip r:embed="rId8"/>
          <a:stretch>
            <a:fillRect/>
          </a:stretch>
        </p:blipFill>
        <p:spPr>
          <a:xfrm>
            <a:off x="10462489" y="5024628"/>
            <a:ext cx="512064" cy="512064"/>
          </a:xfrm>
          <a:prstGeom prst="rect">
            <a:avLst/>
          </a:prstGeom>
        </p:spPr>
      </p:pic>
      <p:sp>
        <p:nvSpPr>
          <p:cNvPr id="53" name="Shape 43"/>
          <p:cNvSpPr/>
          <p:nvPr/>
        </p:nvSpPr>
        <p:spPr>
          <a:xfrm>
            <a:off x="9848850" y="5925312"/>
            <a:ext cx="1739341" cy="438912"/>
          </a:xfrm>
          <a:prstGeom prst="rect">
            <a:avLst/>
          </a:prstGeom>
          <a:solidFill>
            <a:srgbClr val="3A3F46"/>
          </a:solidFill>
          <a:ln w="12700">
            <a:solidFill>
              <a:srgbClr val="3A3F46"/>
            </a:solidFill>
            <a:prstDash val="solid"/>
          </a:ln>
        </p:spPr>
      </p:sp>
      <p:sp>
        <p:nvSpPr>
          <p:cNvPr id="54" name="Text 44"/>
          <p:cNvSpPr txBox="1"/>
          <p:nvPr/>
        </p:nvSpPr>
        <p:spPr>
          <a:xfrm>
            <a:off x="9848850" y="5925312"/>
            <a:ext cx="1739341"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촬영 · 이미지 분석</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822960" y="685800"/>
            <a:ext cx="77724" cy="77724"/>
          </a:xfrm>
          <a:prstGeom prst="ellipse">
            <a:avLst/>
          </a:prstGeom>
          <a:solidFill>
            <a:srgbClr val="1B3A5C"/>
          </a:solidFill>
          <a:ln w="12700">
            <a:solidFill>
              <a:srgbClr val="1B3A5C"/>
            </a:solidFill>
            <a:prstDash val="solid"/>
          </a:ln>
        </p:spPr>
      </p:sp>
      <p:sp>
        <p:nvSpPr>
          <p:cNvPr id="3" name="Shape 1"/>
          <p:cNvSpPr/>
          <p:nvPr/>
        </p:nvSpPr>
        <p:spPr>
          <a:xfrm>
            <a:off x="969264" y="685800"/>
            <a:ext cx="77724" cy="77724"/>
          </a:xfrm>
          <a:prstGeom prst="ellipse">
            <a:avLst/>
          </a:prstGeom>
          <a:solidFill>
            <a:srgbClr val="6F8FB5"/>
          </a:solidFill>
          <a:ln w="12700">
            <a:solidFill>
              <a:srgbClr val="6F8FB5"/>
            </a:solidFill>
            <a:prstDash val="solid"/>
          </a:ln>
        </p:spPr>
      </p:sp>
      <p:sp>
        <p:nvSpPr>
          <p:cNvPr id="4" name="Shape 2"/>
          <p:cNvSpPr/>
          <p:nvPr/>
        </p:nvSpPr>
        <p:spPr>
          <a:xfrm>
            <a:off x="1115568" y="685800"/>
            <a:ext cx="77724" cy="77724"/>
          </a:xfrm>
          <a:prstGeom prst="ellipse">
            <a:avLst/>
          </a:prstGeom>
          <a:solidFill>
            <a:srgbClr val="B9CCE0"/>
          </a:solidFill>
          <a:ln w="12700">
            <a:solidFill>
              <a:srgbClr val="B9CCE0"/>
            </a:solidFill>
            <a:prstDash val="solid"/>
          </a:ln>
        </p:spPr>
      </p:sp>
      <p:sp>
        <p:nvSpPr>
          <p:cNvPr id="5" name="Text 3"/>
          <p:cNvSpPr txBox="1"/>
          <p:nvPr/>
        </p:nvSpPr>
        <p:spPr>
          <a:xfrm>
            <a:off x="822960" y="1417320"/>
            <a:ext cx="6583680" cy="1737360"/>
          </a:xfrm>
          <a:prstGeom prst="rect">
            <a:avLst/>
          </a:prstGeom>
          <a:noFill/>
          <a:ln/>
        </p:spPr>
        <p:txBody>
          <a:bodyPr wrap="square" lIns="0" tIns="0" rIns="0" bIns="0" rtlCol="0" anchor="ctr"/>
          <a:lstStyle/>
          <a:p>
            <a:pPr indent="0" marL="0">
              <a:buNone/>
            </a:pPr>
            <a:r>
              <a:rPr lang="en-US" sz="4400" b="1" dirty="0">
                <a:solidFill>
                  <a:srgbClr val="1B3A5C"/>
                </a:solidFill>
                <a:latin typeface="맑은 고딕" pitchFamily="34" charset="0"/>
                <a:ea typeface="맑은 고딕" pitchFamily="34" charset="-122"/>
                <a:cs typeface="맑은 고딕" pitchFamily="34" charset="-120"/>
              </a:rPr>
              <a:t>S</a:t>
            </a:r>
            <a:r>
              <a:rPr lang="en-US" sz="4400" dirty="0">
                <a:solidFill>
                  <a:srgbClr val="2B2D31"/>
                </a:solidFill>
                <a:latin typeface="맑은 고딕" pitchFamily="34" charset="0"/>
                <a:ea typeface="맑은 고딕" pitchFamily="34" charset="-122"/>
                <a:cs typeface="맑은 고딕" pitchFamily="34" charset="-120"/>
              </a:rPr>
              <a:t>ee the rust,</a:t>
            </a:r>
            <a:endParaRPr lang="en-US" sz="4400" dirty="0"/>
          </a:p>
          <a:p>
            <a:pPr indent="0" marL="0">
              <a:buNone/>
            </a:pPr>
            <a:r>
              <a:rPr lang="en-US" sz="4400" b="1" dirty="0">
                <a:solidFill>
                  <a:srgbClr val="B5501F"/>
                </a:solidFill>
                <a:latin typeface="맑은 고딕" pitchFamily="34" charset="0"/>
                <a:ea typeface="맑은 고딕" pitchFamily="34" charset="-122"/>
                <a:cs typeface="맑은 고딕" pitchFamily="34" charset="-120"/>
              </a:rPr>
              <a:t>S</a:t>
            </a:r>
            <a:r>
              <a:rPr lang="en-US" sz="4400" dirty="0">
                <a:solidFill>
                  <a:srgbClr val="2B2D31"/>
                </a:solidFill>
                <a:latin typeface="맑은 고딕" pitchFamily="34" charset="0"/>
                <a:ea typeface="맑은 고딕" pitchFamily="34" charset="-122"/>
                <a:cs typeface="맑은 고딕" pitchFamily="34" charset="-120"/>
              </a:rPr>
              <a:t>ave the structure.</a:t>
            </a:r>
            <a:endParaRPr lang="en-US" sz="4400" dirty="0"/>
          </a:p>
        </p:txBody>
      </p:sp>
      <p:sp>
        <p:nvSpPr>
          <p:cNvPr id="6" name="Text 4"/>
          <p:cNvSpPr txBox="1"/>
          <p:nvPr/>
        </p:nvSpPr>
        <p:spPr>
          <a:xfrm>
            <a:off x="822960" y="3246120"/>
            <a:ext cx="6583680" cy="411480"/>
          </a:xfrm>
          <a:prstGeom prst="rect">
            <a:avLst/>
          </a:prstGeom>
          <a:noFill/>
          <a:ln/>
        </p:spPr>
        <p:txBody>
          <a:bodyPr wrap="square" lIns="0" tIns="0" rIns="0" bIns="0" rtlCol="0" anchor="t"/>
          <a:lstStyle/>
          <a:p>
            <a:pPr indent="0" marL="0">
              <a:buNone/>
            </a:pPr>
            <a:r>
              <a:rPr lang="en-US" sz="1800" b="1" dirty="0">
                <a:solidFill>
                  <a:srgbClr val="1B3A5C"/>
                </a:solidFill>
                <a:latin typeface="맑은 고딕" pitchFamily="34" charset="0"/>
                <a:ea typeface="맑은 고딕" pitchFamily="34" charset="-122"/>
                <a:cs typeface="맑은 고딕" pitchFamily="34" charset="-120"/>
              </a:rPr>
              <a:t>어디부터 점검할지, 녹의 색이 먼저 알려드립니다</a:t>
            </a:r>
            <a:endParaRPr lang="en-US" sz="1800" dirty="0"/>
          </a:p>
        </p:txBody>
      </p:sp>
      <p:sp>
        <p:nvSpPr>
          <p:cNvPr id="7" name="Shape 5"/>
          <p:cNvSpPr/>
          <p:nvPr/>
        </p:nvSpPr>
        <p:spPr>
          <a:xfrm>
            <a:off x="822960" y="3977640"/>
            <a:ext cx="457200" cy="457200"/>
          </a:xfrm>
          <a:prstGeom prst="rect">
            <a:avLst/>
          </a:prstGeom>
          <a:solidFill>
            <a:srgbClr val="4F4F50"/>
          </a:solidFill>
          <a:ln w="9525">
            <a:solidFill>
              <a:srgbClr val="FFFFFF"/>
            </a:solidFill>
            <a:prstDash val="solid"/>
          </a:ln>
        </p:spPr>
      </p:sp>
      <p:sp>
        <p:nvSpPr>
          <p:cNvPr id="8" name="Shape 6"/>
          <p:cNvSpPr/>
          <p:nvPr/>
        </p:nvSpPr>
        <p:spPr>
          <a:xfrm>
            <a:off x="1335024" y="3977640"/>
            <a:ext cx="457200" cy="457200"/>
          </a:xfrm>
          <a:prstGeom prst="rect">
            <a:avLst/>
          </a:prstGeom>
          <a:solidFill>
            <a:srgbClr val="484744"/>
          </a:solidFill>
          <a:ln w="9525">
            <a:solidFill>
              <a:srgbClr val="FFFFFF"/>
            </a:solidFill>
            <a:prstDash val="solid"/>
          </a:ln>
        </p:spPr>
      </p:sp>
      <p:sp>
        <p:nvSpPr>
          <p:cNvPr id="9" name="Shape 7"/>
          <p:cNvSpPr/>
          <p:nvPr/>
        </p:nvSpPr>
        <p:spPr>
          <a:xfrm>
            <a:off x="1847088" y="3977640"/>
            <a:ext cx="457200" cy="457200"/>
          </a:xfrm>
          <a:prstGeom prst="rect">
            <a:avLst/>
          </a:prstGeom>
          <a:solidFill>
            <a:srgbClr val="4C4B47"/>
          </a:solidFill>
          <a:ln w="9525">
            <a:solidFill>
              <a:srgbClr val="FFFFFF"/>
            </a:solidFill>
            <a:prstDash val="solid"/>
          </a:ln>
        </p:spPr>
      </p:sp>
      <p:sp>
        <p:nvSpPr>
          <p:cNvPr id="10" name="Shape 8"/>
          <p:cNvSpPr/>
          <p:nvPr/>
        </p:nvSpPr>
        <p:spPr>
          <a:xfrm>
            <a:off x="2359152" y="3977640"/>
            <a:ext cx="457200" cy="457200"/>
          </a:xfrm>
          <a:prstGeom prst="rect">
            <a:avLst/>
          </a:prstGeom>
          <a:solidFill>
            <a:srgbClr val="484744"/>
          </a:solidFill>
          <a:ln w="9525">
            <a:solidFill>
              <a:srgbClr val="FFFFFF"/>
            </a:solidFill>
            <a:prstDash val="solid"/>
          </a:ln>
        </p:spPr>
      </p:sp>
      <p:sp>
        <p:nvSpPr>
          <p:cNvPr id="11" name="Shape 9"/>
          <p:cNvSpPr/>
          <p:nvPr/>
        </p:nvSpPr>
        <p:spPr>
          <a:xfrm>
            <a:off x="2871216" y="3977640"/>
            <a:ext cx="457200" cy="457200"/>
          </a:xfrm>
          <a:prstGeom prst="rect">
            <a:avLst/>
          </a:prstGeom>
          <a:solidFill>
            <a:srgbClr val="484138"/>
          </a:solidFill>
          <a:ln w="9525">
            <a:solidFill>
              <a:srgbClr val="FFFFFF"/>
            </a:solidFill>
            <a:prstDash val="solid"/>
          </a:ln>
        </p:spPr>
      </p:sp>
      <p:sp>
        <p:nvSpPr>
          <p:cNvPr id="12" name="Shape 10"/>
          <p:cNvSpPr/>
          <p:nvPr/>
        </p:nvSpPr>
        <p:spPr>
          <a:xfrm>
            <a:off x="3383280" y="3977640"/>
            <a:ext cx="457200" cy="457200"/>
          </a:xfrm>
          <a:prstGeom prst="rect">
            <a:avLst/>
          </a:prstGeom>
          <a:solidFill>
            <a:srgbClr val="4E3F2F"/>
          </a:solidFill>
          <a:ln w="9525">
            <a:solidFill>
              <a:srgbClr val="FFFFFF"/>
            </a:solidFill>
            <a:prstDash val="solid"/>
          </a:ln>
        </p:spPr>
      </p:sp>
      <p:sp>
        <p:nvSpPr>
          <p:cNvPr id="13" name="Shape 11"/>
          <p:cNvSpPr/>
          <p:nvPr/>
        </p:nvSpPr>
        <p:spPr>
          <a:xfrm>
            <a:off x="3895344" y="3977640"/>
            <a:ext cx="457200" cy="457200"/>
          </a:xfrm>
          <a:prstGeom prst="rect">
            <a:avLst/>
          </a:prstGeom>
          <a:solidFill>
            <a:srgbClr val="4E3C2C"/>
          </a:solidFill>
          <a:ln w="9525">
            <a:solidFill>
              <a:srgbClr val="FFFFFF"/>
            </a:solidFill>
            <a:prstDash val="solid"/>
          </a:ln>
        </p:spPr>
      </p:sp>
      <p:sp>
        <p:nvSpPr>
          <p:cNvPr id="14" name="Shape 12"/>
          <p:cNvSpPr/>
          <p:nvPr/>
        </p:nvSpPr>
        <p:spPr>
          <a:xfrm>
            <a:off x="4407408" y="3977640"/>
            <a:ext cx="457200" cy="457200"/>
          </a:xfrm>
          <a:prstGeom prst="rect">
            <a:avLst/>
          </a:prstGeom>
          <a:solidFill>
            <a:srgbClr val="4E3C2B"/>
          </a:solidFill>
          <a:ln w="9525">
            <a:solidFill>
              <a:srgbClr val="FFFFFF"/>
            </a:solidFill>
            <a:prstDash val="solid"/>
          </a:ln>
        </p:spPr>
      </p:sp>
      <p:sp>
        <p:nvSpPr>
          <p:cNvPr id="15" name="Shape 13"/>
          <p:cNvSpPr/>
          <p:nvPr/>
        </p:nvSpPr>
        <p:spPr>
          <a:xfrm>
            <a:off x="4919472" y="3977640"/>
            <a:ext cx="457200" cy="457200"/>
          </a:xfrm>
          <a:prstGeom prst="rect">
            <a:avLst/>
          </a:prstGeom>
          <a:solidFill>
            <a:srgbClr val="493C2C"/>
          </a:solidFill>
          <a:ln w="9525">
            <a:solidFill>
              <a:srgbClr val="FFFFFF"/>
            </a:solidFill>
            <a:prstDash val="solid"/>
          </a:ln>
        </p:spPr>
      </p:sp>
      <p:pic>
        <p:nvPicPr>
          <p:cNvPr id="16" name="Image 0" descr="preencoded.png">    </p:cNvPr>
          <p:cNvPicPr>
            <a:picLocks noChangeAspect="1"/>
          </p:cNvPicPr>
          <p:nvPr/>
        </p:nvPicPr>
        <p:blipFill>
          <a:blip r:embed="rId1"/>
          <a:stretch>
            <a:fillRect/>
          </a:stretch>
        </p:blipFill>
        <p:spPr>
          <a:xfrm>
            <a:off x="822960" y="5074920"/>
            <a:ext cx="256032" cy="256032"/>
          </a:xfrm>
          <a:prstGeom prst="rect">
            <a:avLst/>
          </a:prstGeom>
        </p:spPr>
      </p:pic>
      <p:sp>
        <p:nvSpPr>
          <p:cNvPr id="17" name="Text 14"/>
          <p:cNvSpPr txBox="1"/>
          <p:nvPr/>
        </p:nvSpPr>
        <p:spPr>
          <a:xfrm>
            <a:off x="1188720" y="5029200"/>
            <a:ext cx="6400800" cy="347472"/>
          </a:xfrm>
          <a:prstGeom prst="rect">
            <a:avLst/>
          </a:prstGeom>
          <a:noFill/>
          <a:ln/>
        </p:spPr>
        <p:txBody>
          <a:bodyPr wrap="square" lIns="0" tIns="0" rIns="0" bIns="0" rtlCol="0" anchor="ctr"/>
          <a:lstStyle/>
          <a:p>
            <a:pPr indent="0" marL="0">
              <a:buNone/>
            </a:pPr>
            <a:r>
              <a:rPr lang="en-US" sz="1400" dirty="0">
                <a:solidFill>
                  <a:srgbClr val="6B6F76"/>
                </a:solidFill>
                <a:latin typeface="맑은 고딕" pitchFamily="34" charset="0"/>
                <a:ea typeface="맑은 고딕" pitchFamily="34" charset="-122"/>
                <a:cs typeface="맑은 고딕" pitchFamily="34" charset="-120"/>
              </a:rPr>
              <a:t>MLC  ·  우성훈 · 박준범  ·  zscfvgbb@naver.com</a:t>
            </a:r>
            <a:endParaRPr lang="en-US" sz="1400" dirty="0"/>
          </a:p>
        </p:txBody>
      </p:sp>
      <p:sp>
        <p:nvSpPr>
          <p:cNvPr id="18" name="Text 15"/>
          <p:cNvSpPr txBox="1"/>
          <p:nvPr/>
        </p:nvSpPr>
        <p:spPr>
          <a:xfrm>
            <a:off x="822960" y="5486400"/>
            <a:ext cx="4572000" cy="347472"/>
          </a:xfrm>
          <a:prstGeom prst="rect">
            <a:avLst/>
          </a:prstGeom>
          <a:noFill/>
          <a:ln/>
        </p:spPr>
        <p:txBody>
          <a:bodyPr wrap="square" lIns="0" tIns="0" rIns="0" bIns="0" rtlCol="0" anchor="t"/>
          <a:lstStyle/>
          <a:p>
            <a:pPr indent="0" marL="0">
              <a:buNone/>
            </a:pPr>
            <a:r>
              <a:rPr lang="en-US" sz="1500" b="1" dirty="0">
                <a:solidFill>
                  <a:srgbClr val="1B3A5C"/>
                </a:solidFill>
                <a:latin typeface="맑은 고딕" pitchFamily="34" charset="0"/>
                <a:ea typeface="맑은 고딕" pitchFamily="34" charset="-122"/>
                <a:cs typeface="맑은 고딕" pitchFamily="34" charset="-120"/>
              </a:rPr>
              <a:t>경상국립대학교</a:t>
            </a:r>
            <a:endParaRPr lang="en-US" sz="1500" dirty="0"/>
          </a:p>
        </p:txBody>
      </p:sp>
      <p:pic>
        <p:nvPicPr>
          <p:cNvPr id="19" name="Image 1" descr="/home/user/PPT/src/img/offshore_legs.png">    </p:cNvPr>
          <p:cNvPicPr>
            <a:picLocks noChangeAspect="1"/>
          </p:cNvPicPr>
          <p:nvPr/>
        </p:nvPicPr>
        <p:blipFill>
          <a:blip r:embed="rId2"/>
          <a:stretch>
            <a:fillRect/>
          </a:stretch>
        </p:blipFill>
        <p:spPr>
          <a:xfrm>
            <a:off x="7253935" y="1920240"/>
            <a:ext cx="4206240" cy="3094747"/>
          </a:xfrm>
          <a:prstGeom prst="rect">
            <a:avLst/>
          </a:prstGeom>
        </p:spPr>
      </p:pic>
      <p:sp>
        <p:nvSpPr>
          <p:cNvPr id="20" name="Shape 16"/>
          <p:cNvSpPr/>
          <p:nvPr/>
        </p:nvSpPr>
        <p:spPr>
          <a:xfrm>
            <a:off x="11076127" y="685800"/>
            <a:ext cx="77724" cy="77724"/>
          </a:xfrm>
          <a:prstGeom prst="ellipse">
            <a:avLst/>
          </a:prstGeom>
          <a:solidFill>
            <a:srgbClr val="B9CCE0"/>
          </a:solidFill>
          <a:ln w="12700">
            <a:solidFill>
              <a:srgbClr val="B9CCE0"/>
            </a:solidFill>
            <a:prstDash val="solid"/>
          </a:ln>
        </p:spPr>
      </p:sp>
      <p:sp>
        <p:nvSpPr>
          <p:cNvPr id="21" name="Shape 17"/>
          <p:cNvSpPr/>
          <p:nvPr/>
        </p:nvSpPr>
        <p:spPr>
          <a:xfrm>
            <a:off x="11222431" y="685800"/>
            <a:ext cx="77724" cy="77724"/>
          </a:xfrm>
          <a:prstGeom prst="ellipse">
            <a:avLst/>
          </a:prstGeom>
          <a:solidFill>
            <a:srgbClr val="6F8FB5"/>
          </a:solidFill>
          <a:ln w="12700">
            <a:solidFill>
              <a:srgbClr val="6F8FB5"/>
            </a:solidFill>
            <a:prstDash val="solid"/>
          </a:ln>
        </p:spPr>
      </p:sp>
      <p:sp>
        <p:nvSpPr>
          <p:cNvPr id="22" name="Shape 18"/>
          <p:cNvSpPr/>
          <p:nvPr/>
        </p:nvSpPr>
        <p:spPr>
          <a:xfrm>
            <a:off x="11368735" y="685800"/>
            <a:ext cx="77724" cy="77724"/>
          </a:xfrm>
          <a:prstGeom prst="ellipse">
            <a:avLst/>
          </a:prstGeom>
          <a:solidFill>
            <a:srgbClr val="1B3A5C"/>
          </a:solidFill>
          <a:ln w="12700">
            <a:solidFill>
              <a:srgbClr val="1B3A5C"/>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MLC — A-STREAM 2026 IR Pitch</dc:title>
  <dc:subject>PptxGenJS Presentation</dc:subject>
  <dc:creator>MLC (우성훈, 박준범)</dc:creator>
  <cp:lastModifiedBy>MLC (우성훈, 박준범)</cp:lastModifiedBy>
  <cp:revision>1</cp:revision>
  <dcterms:created xsi:type="dcterms:W3CDTF">2026-10-16T01:58:23Z</dcterms:created>
  <dcterms:modified xsi:type="dcterms:W3CDTF">2026-10-16T01:58:23Z</dcterms:modified>
</cp:coreProperties>
</file>