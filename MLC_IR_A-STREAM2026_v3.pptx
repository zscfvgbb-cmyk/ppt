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5" r:id="rId3"/>
    <p:sldId id="267" r:id="rId4"/>
    <p:sldId id="257" r:id="rId5"/>
    <p:sldId id="260" r:id="rId7"/>
    <p:sldId id="261" r:id="rId8"/>
    <p:sldId id="263" r:id="rId9"/>
    <p:sldId id="262" r:id="rId10"/>
    <p:sldId id="268" r:id="rId18"/>
    <p:sldId id="264"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D7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76" y="16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8"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6451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a:t>
            </a:r>
          </a:p>
          <a:p>
            <a:r>
              <a:rPr lang="en-US" dirty="0"/>
              <a:t>안녕하십니까, MLC 우성훈입니다. 해양 구조물을 점검할 때 가장 어려운 질문은 '어디부터 봐야 하나'입니다. 저희는 녹의 색을 읽어서 그 답을 먼저 드리는 기술을 만들고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a:t>
            </a:r>
          </a:p>
          <a:p>
            <a:r>
              <a:rPr lang="en-US" dirty="0"/>
              <a:t>팀 MLC는 경상국립대학교 기계시스템공학과의 우성훈, 박준범입니다. 저희 두 사람이 부식 연구를 직접 했고, 미국 고객 인터뷰 35건도 함께 진행했습니다.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a:t>
            </a:r>
          </a:p>
          <a:p>
            <a:r>
              <a:rPr lang="en-US" dirty="0"/>
              <a:t>부식은 생각보다 큰 문제입니다. 전 세계가 매년 부식으로 잃는 비용은 약 2.5조 달러, 세계 GDP의 3.4%입니다. 국제 부식 학회인 AMPP가 2025년에도 공식적으로 인용하는 수치입니다. 환경 비용도 큽니다. 매년 생산되는 철강의 4분의 1에서 3분의 1이 부식으로 잃은 강재를 메우는 데 쓰이고, 이 강재를 다시 만드는 과정에서 전 세계 이산화탄소 배출의 1.6~3.4%가 나옵니다. 반대로 부식을 제때 찾아 관리하면 이 비용의 15~35%, 연간 3,750억에서 8,750억 달러를 줄일 수 있습니다. 문제는 '제때 찾는 것'이 어렵다는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28초]</a:t>
            </a:r>
          </a:p>
          <a:p>
            <a:r>
              <a:rPr lang="en-US" dirty="0"/>
              <a:t>특히 해양 구조물이 그렇습니다. 파도가 치는 비말대는 부식이 가장 빠른 곳인데, 로프 액세스나 잠수, ROV 없이는 볼 수가 없습니다. 지금은 상태와 상관없이 모든 지점을 똑같이 돌고, 검사 인력과 장비 비용에 더해 배를 빌리고 날씨를 기다리고 리프트를 빌리는 비용까지 매번 듭니다. 점검 주기는 규제로 정해져 있어 줄일 수 없습니다. 결국 문제는 그 주기 안에서 어디에 사람과 배를 먼저 보낼지입니다.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32초]</a:t>
            </a:r>
          </a:p>
          <a:p>
            <a:r>
              <a:rPr lang="en-US" dirty="0"/>
              <a:t>MLC는 이렇게 작동합니다. 드론이나 카메라로 접근이 어려운 구간을 먼저 찍고, 녹이 있는 부분만 자동으로 골라낸 뒤, 그 녹의 색으로 위험도를 높음, 중간, 낮음으로 판정합니다. 마지막으로 구조물 사진 위에 위험한 지점부터 번호를 매긴 지도를 드립니다. 시편을 자르지 않고 사진 한 장으로 판정한다는 점, 그리고 규제 주기는 그대로 지키면서 사람과 배와 리프트를 위험한 곳에 먼저 보낼 수 있다는 점이 차별점입니다.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a:t>
            </a:r>
          </a:p>
          <a:p>
            <a:r>
              <a:rPr lang="en-US" dirty="0"/>
              <a:t>핵심 기술은 실험실에서 검증했습니다. 탄소강을 240시간 촉진부식 시키며 측정했습니다. 보시는 것처럼 표면의 녹 색이 변하면서 색 좌표 b* 값이 1.7에서 13.1로 커지고, 같은 기간 실제 부식 속도는 연 0.34mm에서 1.45mm로 약 4배 빨라졌습니다. 색과 부식 속도의 순위 상관계수는 0.88이고, 위험도 세 구간의 부식 속도는 서로 겹치지 않습니다. 이 색 변화는 부식을 빠르게 만드는 다공성 녹 성분이 늘어나면서 생기기 때문에, 색과 속도가 함께 움직이는 물리적 근거도 있습니다. 이 결과는 SEM, XRD, 전기화학 등 여섯 가지 분석으로 교차 검증했습니다.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a:t>
            </a:r>
          </a:p>
          <a:p>
            <a:r>
              <a:rPr lang="en-US" dirty="0"/>
              <a:t>이 시장은 법이 반복 수요를 만듭니다. 국내 「시설물안전법」에 따라 관리 대상 시설물 16만여 곳은 반기마다 정기안전점검, 1~3년마다 정밀안전점검을 받고, 제1종 시설물은 4~6년마다 정밀안전진단까지 받아야 합니다. 미국 현장 인터뷰에서 확인한 구매 동기는 안전, 비용, 규제 대응이었고, MLC는 그중 비용에서 바로 효과를 냅니다. 위험한 지점부터 배를 보내고, 필요한 구간에만 리프트와 비계를 빌리고, 로프 액세스 출동 여부를 미리 판단하고, 점검 기록도 사진 리포트로 정리합니다.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25초]</a:t>
            </a:r>
          </a:p>
          <a:p>
            <a:r>
              <a:rPr lang="en-US" dirty="0"/>
              <a:t>시장 규모입니다. 국내 시설물 안전점검·진단 시장은 2021년 5,192억 원으로, 연 15%씩 성장해 왔습니다. 그중 드론 측량·점검·관측 시장이 1,667억 원이고, 저희는 3년 안에 이 시장의 1%, 17억 원을 목표로 합니다. 해양·항만 강구조물과 해상풍력부터 시작하겠습니다.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25초]</a:t>
            </a:r>
          </a:p>
          <a:p>
            <a:r>
              <a:rPr lang="en-US" dirty="0"/>
              <a:t>지금까지 실험실 검증을 마쳤고, 미국에서 35명을 만나 타깃을 해양 석유·가스로 좁혔습니다. 다음 단계는 세 가지입니다. 먼저 사진이 볼 수 없는 두께 감소를 보완하기 위해 두께 측정 데이터와 결합하고, 선박 일수와 리프트 임대처럼 실제 절감액을 숫자로 만들고, 반응이 가장 좋았던 현장을 더 깊이 검증하겠습니다.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a:t>
            </a:r>
          </a:p>
          <a:p>
            <a:r>
              <a:rPr lang="en-US" dirty="0"/>
              <a:t>저희는 이 기술을 현장에서 함께 검증할 파트너를 찾고 있습니다. 어디부터 점검할지, 녹의 색이 먼저 알려드리겠습니다.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a:t>
            </a:r>
          </a:p>
          <a:p>
            <a:r>
              <a:rPr lang="en-US" dirty="0"/>
              <a:t>비즈니스 모델입니다. 드론 운용사와 방식 전문 업체가 촬영 데이터를 가져오고 고객을 소개하면, MLC가 위험도를 분석해 고객사에 점검 우선순위 리포트를 드립니다. 매출은 점검 건당 요금과 연 구독으로 시작하고, 장기적으로는 드론과 점검 업체에 분석 엔진을 라이선스하겠습니다. 비용은 드론 촬영 운용과 모델 개발이고, 고객은 선박 용선과 리프트, 로프 액세스 비용을 아낄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8.png"/><Relationship Id="rId4" Type="http://schemas.openxmlformats.org/officeDocument/2006/relationships/image" Target="../media/image15.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image" Target="../media/v10_s8_image-1-1.png"/><Relationship Id="rId2" Type="http://schemas.openxmlformats.org/officeDocument/2006/relationships/image" Target="../media/v10_s8_image-1-2.png"/><Relationship Id="rId3" Type="http://schemas.openxmlformats.org/officeDocument/2006/relationships/image" Target="../media/v10_s8_image-1-3.png"/><Relationship Id="rId4" Type="http://schemas.openxmlformats.org/officeDocument/2006/relationships/image" Target="../media/v10_s8_image-1-4.png"/><Relationship Id="rId5" Type="http://schemas.openxmlformats.org/officeDocument/2006/relationships/image" Target="../media/v10_s8_image-1-5.png"/><Relationship Id="rId6" Type="http://schemas.openxmlformats.org/officeDocument/2006/relationships/image" Target="../media/v10_s8_image-1-6.png"/><Relationship Id="rId7" Type="http://schemas.openxmlformats.org/officeDocument/2006/relationships/image" Target="../media/v10_s8_image-1-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v9_s12_image-2-1.png"/><Relationship Id="rId2" Type="http://schemas.openxmlformats.org/officeDocument/2006/relationships/image" Target="../media/v9_s12_image-2-2.png"/><Relationship Id="rId3" Type="http://schemas.openxmlformats.org/officeDocument/2006/relationships/image" Target="../media/v9_s12_image-2-3.png"/><Relationship Id="rId4" Type="http://schemas.openxmlformats.org/officeDocument/2006/relationships/image" Target="../media/v9_s12_image-2-4.png"/><Relationship Id="rId5" Type="http://schemas.openxmlformats.org/officeDocument/2006/relationships/image" Target="../media/v9_s12_image-2-5.png"/><Relationship Id="rId6" Type="http://schemas.openxmlformats.org/officeDocument/2006/relationships/image" Target="../media/v9_s12_image-2-6.png"/><Relationship Id="rId7" Type="http://schemas.openxmlformats.org/officeDocument/2006/relationships/image" Target="../media/v9_s12_image-2-7.png"/><Relationship Id="rId8" Type="http://schemas.openxmlformats.org/officeDocument/2006/relationships/image" Target="../media/v9_s12_image-2-8.png"/><Relationship Id="rId9" Type="http://schemas.openxmlformats.org/officeDocument/2006/relationships/image" Target="../media/v9_s12_image-2-9.png"/><Relationship Id="rId10" Type="http://schemas.openxmlformats.org/officeDocument/2006/relationships/image" Target="../media/v9_s12_image-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226"/>
        </a:solidFill>
        <a:effectLst/>
      </p:bgPr>
    </p:bg>
    <p:spTree>
      <p:nvGrpSpPr>
        <p:cNvPr id="1" name=""/>
        <p:cNvGrpSpPr/>
        <p:nvPr/>
      </p:nvGrpSpPr>
      <p:grpSpPr>
        <a:xfrm>
          <a:off x="0" y="0"/>
          <a:ext cx="0" cy="0"/>
          <a:chOff x="0" y="0"/>
          <a:chExt cx="0" cy="0"/>
        </a:xfrm>
      </p:grpSpPr>
      <p:sp>
        <p:nvSpPr>
          <p:cNvPr id="3" name="Text 1"/>
          <p:cNvSpPr txBox="1"/>
          <p:nvPr/>
        </p:nvSpPr>
        <p:spPr>
          <a:xfrm>
            <a:off x="548640" y="1143000"/>
            <a:ext cx="2743200" cy="548640"/>
          </a:xfrm>
          <a:prstGeom prst="rect">
            <a:avLst/>
          </a:prstGeom>
          <a:noFill/>
          <a:ln/>
        </p:spPr>
        <p:txBody>
          <a:bodyPr wrap="square" lIns="0" tIns="0" rIns="0" bIns="0" rtlCol="0" anchor="t"/>
          <a:lstStyle/>
          <a:p>
            <a:pPr marL="0" indent="0">
              <a:buNone/>
            </a:pPr>
            <a:r>
              <a:rPr lang="en-US" sz="3000" b="1" kern="0" spc="400" dirty="0">
                <a:solidFill>
                  <a:srgbClr val="E8A87C"/>
                </a:solidFill>
                <a:latin typeface="맑은 고딕" pitchFamily="34" charset="0"/>
                <a:ea typeface="맑은 고딕" pitchFamily="34" charset="-122"/>
                <a:cs typeface="맑은 고딕" pitchFamily="34" charset="-120"/>
              </a:rPr>
              <a:t>MLC</a:t>
            </a:r>
            <a:endParaRPr lang="en-US" sz="3000" dirty="0"/>
          </a:p>
        </p:txBody>
      </p:sp>
      <p:sp>
        <p:nvSpPr>
          <p:cNvPr id="4" name="Text 2"/>
          <p:cNvSpPr txBox="1"/>
          <p:nvPr/>
        </p:nvSpPr>
        <p:spPr>
          <a:xfrm>
            <a:off x="548640" y="1783080"/>
            <a:ext cx="6035040" cy="228600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어디부터 점검할지,</a:t>
            </a:r>
            <a:endParaRPr lang="en-US" sz="3800" dirty="0"/>
          </a:p>
          <a:p>
            <a:pPr marL="0" indent="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녹의 색이 먼저</a:t>
            </a:r>
            <a:endParaRPr lang="en-US" sz="3800" dirty="0"/>
          </a:p>
          <a:p>
            <a:pPr marL="0" indent="0">
              <a:lnSpc>
                <a:spcPct val="105000"/>
              </a:lnSpc>
              <a:buNone/>
            </a:pPr>
            <a:r>
              <a:rPr lang="en-US" sz="3800" b="1" dirty="0">
                <a:solidFill>
                  <a:srgbClr val="FFFFFF"/>
                </a:solidFill>
                <a:latin typeface="맑은 고딕" pitchFamily="34" charset="0"/>
                <a:ea typeface="맑은 고딕" pitchFamily="34" charset="-122"/>
                <a:cs typeface="맑은 고딕" pitchFamily="34" charset="-120"/>
              </a:rPr>
              <a:t>알려드립니다</a:t>
            </a:r>
            <a:endParaRPr lang="en-US" sz="3800" dirty="0"/>
          </a:p>
        </p:txBody>
      </p:sp>
      <p:sp>
        <p:nvSpPr>
          <p:cNvPr id="5" name="Text 3"/>
          <p:cNvSpPr txBox="1"/>
          <p:nvPr/>
        </p:nvSpPr>
        <p:spPr>
          <a:xfrm>
            <a:off x="548640" y="4206240"/>
            <a:ext cx="6035040" cy="411480"/>
          </a:xfrm>
          <a:prstGeom prst="rect">
            <a:avLst/>
          </a:prstGeom>
          <a:noFill/>
          <a:ln/>
        </p:spPr>
        <p:txBody>
          <a:bodyPr wrap="square" lIns="0" tIns="0" rIns="0" bIns="0" rtlCol="0" anchor="t"/>
          <a:lstStyle/>
          <a:p>
            <a:pPr marL="0" indent="0">
              <a:buNone/>
            </a:pPr>
            <a:r>
              <a:rPr lang="en-US" sz="1900" dirty="0">
                <a:solidFill>
                  <a:srgbClr val="E8A87C"/>
                </a:solidFill>
                <a:latin typeface="맑은 고딕" pitchFamily="34" charset="0"/>
                <a:ea typeface="맑은 고딕" pitchFamily="34" charset="-122"/>
                <a:cs typeface="맑은 고딕" pitchFamily="34" charset="-120"/>
              </a:rPr>
              <a:t>녹 색상 기반 AI 금속 열화 예측 플랫폼</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TEAM</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팀 MLC</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a:t>
            </a:r>
            <a:r>
              <a:rPr lang="en-US" sz="900" dirty="0" err="1">
                <a:solidFill>
                  <a:srgbClr val="A3A7AD"/>
                </a:solidFill>
                <a:latin typeface="맑은 고딕" pitchFamily="34" charset="0"/>
                <a:ea typeface="맑은 고딕" pitchFamily="34" charset="-122"/>
                <a:cs typeface="맑은 고딕" pitchFamily="34" charset="-120"/>
              </a:rPr>
              <a:t>제주</a:t>
            </a:r>
            <a:r>
              <a:rPr lang="en-US" sz="900" dirty="0">
                <a:solidFill>
                  <a:srgbClr val="A3A7AD"/>
                </a:solidFill>
                <a:latin typeface="맑은 고딕" pitchFamily="34" charset="0"/>
                <a:ea typeface="맑은 고딕" pitchFamily="34" charset="-122"/>
                <a:cs typeface="맑은 고딕" pitchFamily="34" charset="-120"/>
              </a:rPr>
              <a:t>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rPr>
              <a:t>2</a:t>
            </a:r>
            <a:endParaRPr lang="en-US" sz="900" dirty="0"/>
          </a:p>
        </p:txBody>
      </p:sp>
      <p:sp>
        <p:nvSpPr>
          <p:cNvPr id="6" name="Shape 4"/>
          <p:cNvSpPr/>
          <p:nvPr/>
        </p:nvSpPr>
        <p:spPr>
          <a:xfrm>
            <a:off x="548640" y="1994835"/>
            <a:ext cx="5349240" cy="3017520"/>
          </a:xfrm>
          <a:prstGeom prst="roundRect">
            <a:avLst>
              <a:gd name="adj" fmla="val 2424"/>
            </a:avLst>
          </a:prstGeom>
          <a:solidFill>
            <a:srgbClr val="FBEDE4"/>
          </a:solidFill>
          <a:ln w="6350">
            <a:solidFill>
              <a:srgbClr val="FBEDE4"/>
            </a:solidFill>
            <a:prstDash val="solid"/>
          </a:ln>
        </p:spPr>
      </p:sp>
      <p:pic>
        <p:nvPicPr>
          <p:cNvPr id="7" name="Image 0" descr="/home/user/PPT/src/img/team_woo.png"/>
          <p:cNvPicPr>
            <a:picLocks noChangeAspect="1"/>
          </p:cNvPicPr>
          <p:nvPr/>
        </p:nvPicPr>
        <p:blipFill>
          <a:blip r:embed="rId3"/>
          <a:srcRect/>
          <a:stretch/>
        </p:blipFill>
        <p:spPr>
          <a:xfrm>
            <a:off x="822960" y="2269155"/>
            <a:ext cx="1920240" cy="2468880"/>
          </a:xfrm>
          <a:prstGeom prst="rect">
            <a:avLst/>
          </a:prstGeom>
        </p:spPr>
      </p:pic>
      <p:sp>
        <p:nvSpPr>
          <p:cNvPr id="8" name="Text 5"/>
          <p:cNvSpPr txBox="1"/>
          <p:nvPr/>
        </p:nvSpPr>
        <p:spPr>
          <a:xfrm>
            <a:off x="3017520" y="2406315"/>
            <a:ext cx="2697480" cy="457200"/>
          </a:xfrm>
          <a:prstGeom prst="rect">
            <a:avLst/>
          </a:prstGeom>
          <a:noFill/>
          <a:ln/>
        </p:spPr>
        <p:txBody>
          <a:bodyPr wrap="square" lIns="0" tIns="0" rIns="0" bIns="0" rtlCol="0" anchor="t"/>
          <a:lstStyle/>
          <a:p>
            <a:pPr marL="0" indent="0">
              <a:buNone/>
            </a:pPr>
            <a:r>
              <a:rPr lang="en-US" sz="2400" b="1" dirty="0">
                <a:solidFill>
                  <a:srgbClr val="2B2D31"/>
                </a:solidFill>
                <a:latin typeface="맑은 고딕" pitchFamily="34" charset="0"/>
                <a:ea typeface="맑은 고딕" pitchFamily="34" charset="-122"/>
                <a:cs typeface="맑은 고딕" pitchFamily="34" charset="-120"/>
              </a:rPr>
              <a:t>우성훈</a:t>
            </a:r>
            <a:endParaRPr lang="en-US" sz="2400" dirty="0"/>
          </a:p>
        </p:txBody>
      </p:sp>
      <p:sp>
        <p:nvSpPr>
          <p:cNvPr id="9" name="Text 6"/>
          <p:cNvSpPr txBox="1"/>
          <p:nvPr/>
        </p:nvSpPr>
        <p:spPr>
          <a:xfrm>
            <a:off x="3017520" y="2909235"/>
            <a:ext cx="2697480" cy="320040"/>
          </a:xfrm>
          <a:prstGeom prst="rect">
            <a:avLst/>
          </a:prstGeom>
          <a:noFill/>
          <a:ln/>
        </p:spPr>
        <p:txBody>
          <a:bodyPr wrap="square" lIns="0" tIns="0" rIns="0" bIns="0" rtlCol="0" anchor="t"/>
          <a:lstStyle/>
          <a:p>
            <a:pPr marL="0" indent="0">
              <a:buNone/>
            </a:pPr>
            <a:r>
              <a:rPr lang="en-US" sz="1350" b="1" dirty="0">
                <a:solidFill>
                  <a:srgbClr val="B5501F"/>
                </a:solidFill>
                <a:latin typeface="맑은 고딕" pitchFamily="34" charset="0"/>
                <a:ea typeface="맑은 고딕" pitchFamily="34" charset="-122"/>
                <a:cs typeface="맑은 고딕" pitchFamily="34" charset="-120"/>
              </a:rPr>
              <a:t>EL</a:t>
            </a:r>
            <a:endParaRPr lang="en-US" sz="1350" dirty="0"/>
          </a:p>
        </p:txBody>
      </p:sp>
      <p:sp>
        <p:nvSpPr>
          <p:cNvPr id="10" name="Text 7"/>
          <p:cNvSpPr txBox="1"/>
          <p:nvPr/>
        </p:nvSpPr>
        <p:spPr>
          <a:xfrm>
            <a:off x="3017520" y="3320715"/>
            <a:ext cx="2697480" cy="54864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경상국립대학교</a:t>
            </a:r>
            <a:endParaRPr lang="en-US" sz="1250" dirty="0"/>
          </a:p>
          <a:p>
            <a:pPr marL="0" indent="0">
              <a:buNone/>
            </a:pPr>
            <a:r>
              <a:rPr lang="en-US" sz="1250" dirty="0">
                <a:solidFill>
                  <a:srgbClr val="6B6F76"/>
                </a:solidFill>
                <a:latin typeface="맑은 고딕" pitchFamily="34" charset="0"/>
                <a:ea typeface="맑은 고딕" pitchFamily="34" charset="-122"/>
                <a:cs typeface="맑은 고딕" pitchFamily="34" charset="-120"/>
              </a:rPr>
              <a:t>기계시스템공학과</a:t>
            </a:r>
            <a:endParaRPr lang="en-US" sz="1250" dirty="0"/>
          </a:p>
        </p:txBody>
      </p:sp>
      <p:sp>
        <p:nvSpPr>
          <p:cNvPr id="12" name="Shape 9"/>
          <p:cNvSpPr/>
          <p:nvPr/>
        </p:nvSpPr>
        <p:spPr>
          <a:xfrm>
            <a:off x="6291072" y="1994835"/>
            <a:ext cx="5349240" cy="3017520"/>
          </a:xfrm>
          <a:prstGeom prst="roundRect">
            <a:avLst>
              <a:gd name="adj" fmla="val 2424"/>
            </a:avLst>
          </a:prstGeom>
          <a:solidFill>
            <a:srgbClr val="F3F4F6"/>
          </a:solidFill>
          <a:ln w="6350">
            <a:solidFill>
              <a:srgbClr val="F3F4F6"/>
            </a:solidFill>
            <a:prstDash val="solid"/>
          </a:ln>
        </p:spPr>
      </p:sp>
      <p:pic>
        <p:nvPicPr>
          <p:cNvPr id="13" name="Image 1" descr="/home/user/PPT/src/img/team_park.jpg"/>
          <p:cNvPicPr>
            <a:picLocks noChangeAspect="1"/>
          </p:cNvPicPr>
          <p:nvPr/>
        </p:nvPicPr>
        <p:blipFill>
          <a:blip r:embed="rId4"/>
          <a:srcRect/>
          <a:stretch/>
        </p:blipFill>
        <p:spPr>
          <a:xfrm>
            <a:off x="6565392" y="2269155"/>
            <a:ext cx="1919930" cy="2468880"/>
          </a:xfrm>
          <a:prstGeom prst="rect">
            <a:avLst/>
          </a:prstGeom>
        </p:spPr>
      </p:pic>
      <p:sp>
        <p:nvSpPr>
          <p:cNvPr id="14" name="Text 10"/>
          <p:cNvSpPr txBox="1"/>
          <p:nvPr/>
        </p:nvSpPr>
        <p:spPr>
          <a:xfrm>
            <a:off x="8759642" y="2406315"/>
            <a:ext cx="2697790" cy="457200"/>
          </a:xfrm>
          <a:prstGeom prst="rect">
            <a:avLst/>
          </a:prstGeom>
          <a:noFill/>
          <a:ln/>
        </p:spPr>
        <p:txBody>
          <a:bodyPr wrap="square" lIns="0" tIns="0" rIns="0" bIns="0" rtlCol="0" anchor="t"/>
          <a:lstStyle/>
          <a:p>
            <a:pPr marL="0" indent="0">
              <a:buNone/>
            </a:pPr>
            <a:r>
              <a:rPr lang="en-US" sz="2400" b="1" dirty="0">
                <a:solidFill>
                  <a:srgbClr val="2B2D31"/>
                </a:solidFill>
                <a:latin typeface="맑은 고딕" pitchFamily="34" charset="0"/>
                <a:ea typeface="맑은 고딕" pitchFamily="34" charset="-122"/>
                <a:cs typeface="맑은 고딕" pitchFamily="34" charset="-120"/>
              </a:rPr>
              <a:t>박준범</a:t>
            </a:r>
            <a:endParaRPr lang="en-US" sz="2400" dirty="0"/>
          </a:p>
        </p:txBody>
      </p:sp>
      <p:sp>
        <p:nvSpPr>
          <p:cNvPr id="15" name="Text 11"/>
          <p:cNvSpPr txBox="1"/>
          <p:nvPr/>
        </p:nvSpPr>
        <p:spPr>
          <a:xfrm>
            <a:off x="8759642" y="2909235"/>
            <a:ext cx="2697790" cy="320040"/>
          </a:xfrm>
          <a:prstGeom prst="rect">
            <a:avLst/>
          </a:prstGeom>
          <a:noFill/>
          <a:ln/>
        </p:spPr>
        <p:txBody>
          <a:bodyPr wrap="square" lIns="0" tIns="0" rIns="0" bIns="0" rtlCol="0" anchor="t"/>
          <a:lstStyle/>
          <a:p>
            <a:pPr marL="0" indent="0">
              <a:buNone/>
            </a:pPr>
            <a:r>
              <a:rPr lang="en-US" sz="1350" b="1" dirty="0">
                <a:solidFill>
                  <a:srgbClr val="B5501F"/>
                </a:solidFill>
                <a:latin typeface="맑은 고딕" pitchFamily="34" charset="0"/>
                <a:ea typeface="맑은 고딕" pitchFamily="34" charset="-122"/>
                <a:cs typeface="맑은 고딕" pitchFamily="34" charset="-120"/>
              </a:rPr>
              <a:t>EM</a:t>
            </a:r>
            <a:endParaRPr lang="en-US" sz="1350" dirty="0"/>
          </a:p>
        </p:txBody>
      </p:sp>
      <p:sp>
        <p:nvSpPr>
          <p:cNvPr id="16" name="Text 12"/>
          <p:cNvSpPr txBox="1"/>
          <p:nvPr/>
        </p:nvSpPr>
        <p:spPr>
          <a:xfrm>
            <a:off x="8759642" y="3320715"/>
            <a:ext cx="2697790" cy="54864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경상국립대학교</a:t>
            </a:r>
            <a:endParaRPr lang="en-US" sz="1250" dirty="0"/>
          </a:p>
          <a:p>
            <a:pPr marL="0" indent="0">
              <a:buNone/>
            </a:pPr>
            <a:r>
              <a:rPr lang="en-US" sz="1250" dirty="0">
                <a:solidFill>
                  <a:srgbClr val="6B6F76"/>
                </a:solidFill>
                <a:latin typeface="맑은 고딕" pitchFamily="34" charset="0"/>
                <a:ea typeface="맑은 고딕" pitchFamily="34" charset="-122"/>
                <a:cs typeface="맑은 고딕" pitchFamily="34" charset="-120"/>
              </a:rPr>
              <a:t>기계시스템공학과</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WHY CORROSION</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부식의 경제적 · 환경적 비용</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3</a:t>
            </a:r>
            <a:endParaRPr lang="en-US" sz="900" dirty="0"/>
          </a:p>
        </p:txBody>
      </p:sp>
      <p:sp>
        <p:nvSpPr>
          <p:cNvPr id="6" name="Shape 4"/>
          <p:cNvSpPr/>
          <p:nvPr/>
        </p:nvSpPr>
        <p:spPr>
          <a:xfrm>
            <a:off x="548640" y="1691640"/>
            <a:ext cx="3291840" cy="3246120"/>
          </a:xfrm>
          <a:prstGeom prst="roundRect">
            <a:avLst>
              <a:gd name="adj" fmla="val 2254"/>
            </a:avLst>
          </a:prstGeom>
          <a:solidFill>
            <a:srgbClr val="FFFFFF"/>
          </a:solidFill>
          <a:ln w="12700">
            <a:solidFill>
              <a:srgbClr val="D9DCE0"/>
            </a:solidFill>
            <a:prstDash val="solid"/>
          </a:ln>
        </p:spPr>
      </p:sp>
      <p:sp>
        <p:nvSpPr>
          <p:cNvPr id="7" name="Shape 5"/>
          <p:cNvSpPr/>
          <p:nvPr/>
        </p:nvSpPr>
        <p:spPr>
          <a:xfrm>
            <a:off x="1005840" y="1472184"/>
            <a:ext cx="2377440" cy="438912"/>
          </a:xfrm>
          <a:prstGeom prst="roundRect">
            <a:avLst>
              <a:gd name="adj" fmla="val 50000"/>
            </a:avLst>
          </a:prstGeom>
          <a:solidFill>
            <a:srgbClr val="B5501F"/>
          </a:solidFill>
          <a:ln w="12700">
            <a:solidFill>
              <a:srgbClr val="B5501F"/>
            </a:solidFill>
            <a:prstDash val="solid"/>
          </a:ln>
        </p:spPr>
      </p:sp>
      <p:sp>
        <p:nvSpPr>
          <p:cNvPr id="8" name="Text 6"/>
          <p:cNvSpPr txBox="1"/>
          <p:nvPr/>
        </p:nvSpPr>
        <p:spPr>
          <a:xfrm>
            <a:off x="1005840" y="1472184"/>
            <a:ext cx="2377440"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경제적 손실</a:t>
            </a:r>
            <a:endParaRPr lang="en-US" sz="1500" dirty="0"/>
          </a:p>
        </p:txBody>
      </p:sp>
      <p:sp>
        <p:nvSpPr>
          <p:cNvPr id="9" name="Shape 7"/>
          <p:cNvSpPr/>
          <p:nvPr/>
        </p:nvSpPr>
        <p:spPr>
          <a:xfrm>
            <a:off x="1847088" y="2103120"/>
            <a:ext cx="694944" cy="694944"/>
          </a:xfrm>
          <a:prstGeom prst="ellipse">
            <a:avLst/>
          </a:prstGeom>
          <a:solidFill>
            <a:srgbClr val="B5501F"/>
          </a:solidFill>
          <a:ln w="12700">
            <a:solidFill>
              <a:srgbClr val="B5501F"/>
            </a:solidFill>
            <a:prstDash val="solid"/>
          </a:ln>
        </p:spPr>
      </p:sp>
      <p:pic>
        <p:nvPicPr>
          <p:cNvPr id="10" name="Image 0" descr="preencoded.png"/>
          <p:cNvPicPr>
            <a:picLocks noChangeAspect="1"/>
          </p:cNvPicPr>
          <p:nvPr/>
        </p:nvPicPr>
        <p:blipFill>
          <a:blip r:embed="rId3"/>
          <a:stretch>
            <a:fillRect/>
          </a:stretch>
        </p:blipFill>
        <p:spPr>
          <a:xfrm>
            <a:off x="2027773" y="2283805"/>
            <a:ext cx="333573" cy="333573"/>
          </a:xfrm>
          <a:prstGeom prst="rect">
            <a:avLst/>
          </a:prstGeom>
        </p:spPr>
      </p:pic>
      <p:sp>
        <p:nvSpPr>
          <p:cNvPr id="11" name="Text 8"/>
          <p:cNvSpPr txBox="1"/>
          <p:nvPr/>
        </p:nvSpPr>
        <p:spPr>
          <a:xfrm>
            <a:off x="731520" y="2898648"/>
            <a:ext cx="2926080" cy="292608"/>
          </a:xfrm>
          <a:prstGeom prst="rect">
            <a:avLst/>
          </a:prstGeom>
          <a:noFill/>
          <a:ln/>
        </p:spPr>
        <p:txBody>
          <a:bodyPr wrap="square" lIns="0" tIns="0" rIns="0" bIns="0" rtlCol="0" anchor="t"/>
          <a:lstStyle/>
          <a:p>
            <a:pPr marL="0" indent="0" algn="ctr">
              <a:buNone/>
            </a:pPr>
            <a:r>
              <a:rPr lang="en-US" sz="1350" b="1" dirty="0">
                <a:solidFill>
                  <a:srgbClr val="B5501F"/>
                </a:solidFill>
                <a:latin typeface="맑은 고딕" pitchFamily="34" charset="0"/>
                <a:ea typeface="맑은 고딕" pitchFamily="34" charset="-122"/>
                <a:cs typeface="맑은 고딕" pitchFamily="34" charset="-120"/>
              </a:rPr>
              <a:t>연간 전 세계 부식 비용</a:t>
            </a:r>
            <a:endParaRPr lang="en-US" sz="1350" dirty="0"/>
          </a:p>
        </p:txBody>
      </p:sp>
      <p:sp>
        <p:nvSpPr>
          <p:cNvPr id="12" name="Text 9"/>
          <p:cNvSpPr txBox="1"/>
          <p:nvPr/>
        </p:nvSpPr>
        <p:spPr>
          <a:xfrm>
            <a:off x="731520" y="3172968"/>
            <a:ext cx="2926080" cy="685800"/>
          </a:xfrm>
          <a:prstGeom prst="rect">
            <a:avLst/>
          </a:prstGeom>
          <a:noFill/>
          <a:ln/>
        </p:spPr>
        <p:txBody>
          <a:bodyPr wrap="square" lIns="0" tIns="0" rIns="0" bIns="0" rtlCol="0" anchor="ctr"/>
          <a:lstStyle/>
          <a:p>
            <a:pPr marL="0" indent="0" algn="ctr">
              <a:buNone/>
            </a:pPr>
            <a:r>
              <a:rPr lang="en-US" sz="3600" b="1" dirty="0">
                <a:solidFill>
                  <a:srgbClr val="B5501F"/>
                </a:solidFill>
                <a:latin typeface="맑은 고딕" pitchFamily="34" charset="0"/>
                <a:ea typeface="맑은 고딕" pitchFamily="34" charset="-122"/>
                <a:cs typeface="맑은 고딕" pitchFamily="34" charset="-120"/>
              </a:rPr>
              <a:t>US$ 2.5조</a:t>
            </a:r>
            <a:endParaRPr lang="en-US" sz="3600" dirty="0"/>
          </a:p>
        </p:txBody>
      </p:sp>
      <p:sp>
        <p:nvSpPr>
          <p:cNvPr id="13" name="Text 10"/>
          <p:cNvSpPr txBox="1"/>
          <p:nvPr/>
        </p:nvSpPr>
        <p:spPr>
          <a:xfrm>
            <a:off x="777240" y="3904488"/>
            <a:ext cx="2834640" cy="594360"/>
          </a:xfrm>
          <a:prstGeom prst="rect">
            <a:avLst/>
          </a:prstGeom>
          <a:noFill/>
          <a:ln/>
        </p:spPr>
        <p:txBody>
          <a:bodyPr wrap="square" lIns="0" tIns="0" rIns="0" bIns="0" rtlCol="0" anchor="t"/>
          <a:lstStyle/>
          <a:p>
            <a:pPr marL="0" indent="0" algn="ctr">
              <a:buNone/>
            </a:pPr>
            <a:r>
              <a:rPr lang="en-US" sz="1250" dirty="0">
                <a:solidFill>
                  <a:srgbClr val="2B2D31"/>
                </a:solidFill>
                <a:latin typeface="맑은 고딕" pitchFamily="34" charset="0"/>
                <a:ea typeface="맑은 고딕" pitchFamily="34" charset="-122"/>
                <a:cs typeface="맑은 고딕" pitchFamily="34" charset="-120"/>
              </a:rPr>
              <a:t>세계 GDP의 약 3.4%</a:t>
            </a:r>
            <a:endParaRPr lang="en-US" sz="1250" dirty="0"/>
          </a:p>
        </p:txBody>
      </p:sp>
      <p:pic>
        <p:nvPicPr>
          <p:cNvPr id="15" name="Image 1" descr="preencoded.png"/>
          <p:cNvPicPr>
            <a:picLocks noChangeAspect="1"/>
          </p:cNvPicPr>
          <p:nvPr/>
        </p:nvPicPr>
        <p:blipFill>
          <a:blip r:embed="rId4"/>
          <a:stretch>
            <a:fillRect/>
          </a:stretch>
        </p:blipFill>
        <p:spPr>
          <a:xfrm>
            <a:off x="4008044" y="3177540"/>
            <a:ext cx="274320" cy="274320"/>
          </a:xfrm>
          <a:prstGeom prst="rect">
            <a:avLst/>
          </a:prstGeom>
        </p:spPr>
      </p:pic>
      <p:sp>
        <p:nvSpPr>
          <p:cNvPr id="16" name="Shape 12"/>
          <p:cNvSpPr/>
          <p:nvPr/>
        </p:nvSpPr>
        <p:spPr>
          <a:xfrm>
            <a:off x="4449928" y="1691640"/>
            <a:ext cx="3291840" cy="3246120"/>
          </a:xfrm>
          <a:prstGeom prst="roundRect">
            <a:avLst>
              <a:gd name="adj" fmla="val 2254"/>
            </a:avLst>
          </a:prstGeom>
          <a:solidFill>
            <a:srgbClr val="FFFFFF"/>
          </a:solidFill>
          <a:ln w="12700">
            <a:solidFill>
              <a:srgbClr val="D9DCE0"/>
            </a:solidFill>
            <a:prstDash val="solid"/>
          </a:ln>
        </p:spPr>
      </p:sp>
      <p:sp>
        <p:nvSpPr>
          <p:cNvPr id="17" name="Shape 13"/>
          <p:cNvSpPr/>
          <p:nvPr/>
        </p:nvSpPr>
        <p:spPr>
          <a:xfrm>
            <a:off x="4907128" y="1472184"/>
            <a:ext cx="2377440" cy="438912"/>
          </a:xfrm>
          <a:prstGeom prst="roundRect">
            <a:avLst>
              <a:gd name="adj" fmla="val 50000"/>
            </a:avLst>
          </a:prstGeom>
          <a:solidFill>
            <a:srgbClr val="1F5F7A"/>
          </a:solidFill>
          <a:ln w="12700">
            <a:solidFill>
              <a:srgbClr val="1F5F7A"/>
            </a:solidFill>
            <a:prstDash val="solid"/>
          </a:ln>
        </p:spPr>
      </p:sp>
      <p:sp>
        <p:nvSpPr>
          <p:cNvPr id="18" name="Text 14"/>
          <p:cNvSpPr txBox="1"/>
          <p:nvPr/>
        </p:nvSpPr>
        <p:spPr>
          <a:xfrm>
            <a:off x="4907128" y="1472184"/>
            <a:ext cx="2377440"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탄소 배출</a:t>
            </a:r>
            <a:endParaRPr lang="en-US" sz="1500" dirty="0"/>
          </a:p>
        </p:txBody>
      </p:sp>
      <p:sp>
        <p:nvSpPr>
          <p:cNvPr id="19" name="Shape 15"/>
          <p:cNvSpPr/>
          <p:nvPr/>
        </p:nvSpPr>
        <p:spPr>
          <a:xfrm>
            <a:off x="5748376" y="2103120"/>
            <a:ext cx="694944" cy="694944"/>
          </a:xfrm>
          <a:prstGeom prst="ellipse">
            <a:avLst/>
          </a:prstGeom>
          <a:solidFill>
            <a:srgbClr val="1F5F7A"/>
          </a:solidFill>
          <a:ln w="12700">
            <a:solidFill>
              <a:srgbClr val="1F5F7A"/>
            </a:solidFill>
            <a:prstDash val="solid"/>
          </a:ln>
        </p:spPr>
      </p:sp>
      <p:pic>
        <p:nvPicPr>
          <p:cNvPr id="20" name="Image 2" descr="preencoded.png"/>
          <p:cNvPicPr>
            <a:picLocks noChangeAspect="1"/>
          </p:cNvPicPr>
          <p:nvPr/>
        </p:nvPicPr>
        <p:blipFill>
          <a:blip r:embed="rId5"/>
          <a:stretch>
            <a:fillRect/>
          </a:stretch>
        </p:blipFill>
        <p:spPr>
          <a:xfrm>
            <a:off x="5929061" y="2283805"/>
            <a:ext cx="333573" cy="333573"/>
          </a:xfrm>
          <a:prstGeom prst="rect">
            <a:avLst/>
          </a:prstGeom>
        </p:spPr>
      </p:pic>
      <p:sp>
        <p:nvSpPr>
          <p:cNvPr id="21" name="Text 16"/>
          <p:cNvSpPr txBox="1"/>
          <p:nvPr/>
        </p:nvSpPr>
        <p:spPr>
          <a:xfrm>
            <a:off x="4632808" y="2898648"/>
            <a:ext cx="2926080" cy="292608"/>
          </a:xfrm>
          <a:prstGeom prst="rect">
            <a:avLst/>
          </a:prstGeom>
          <a:noFill/>
          <a:ln/>
        </p:spPr>
        <p:txBody>
          <a:bodyPr wrap="square" lIns="0" tIns="0" rIns="0" bIns="0" rtlCol="0" anchor="t"/>
          <a:lstStyle/>
          <a:p>
            <a:pPr marL="0" indent="0" algn="ctr">
              <a:buNone/>
            </a:pPr>
            <a:r>
              <a:rPr lang="en-US" sz="1350" b="1" dirty="0">
                <a:solidFill>
                  <a:srgbClr val="1F5F7A"/>
                </a:solidFill>
                <a:latin typeface="맑은 고딕" pitchFamily="34" charset="0"/>
                <a:ea typeface="맑은 고딕" pitchFamily="34" charset="-122"/>
                <a:cs typeface="맑은 고딕" pitchFamily="34" charset="-120"/>
              </a:rPr>
              <a:t>부식 강재 교체용 제강</a:t>
            </a:r>
            <a:endParaRPr lang="en-US" sz="1350" dirty="0"/>
          </a:p>
        </p:txBody>
      </p:sp>
      <p:sp>
        <p:nvSpPr>
          <p:cNvPr id="22" name="Text 17"/>
          <p:cNvSpPr txBox="1"/>
          <p:nvPr/>
        </p:nvSpPr>
        <p:spPr>
          <a:xfrm>
            <a:off x="4632808" y="3172968"/>
            <a:ext cx="2926080" cy="685800"/>
          </a:xfrm>
          <a:prstGeom prst="rect">
            <a:avLst/>
          </a:prstGeom>
          <a:noFill/>
          <a:ln/>
        </p:spPr>
        <p:txBody>
          <a:bodyPr wrap="square" lIns="0" tIns="0" rIns="0" bIns="0" rtlCol="0" anchor="ctr"/>
          <a:lstStyle/>
          <a:p>
            <a:pPr marL="0" indent="0" algn="ctr">
              <a:buNone/>
            </a:pPr>
            <a:r>
              <a:rPr lang="en-US" sz="3600" b="1" dirty="0">
                <a:solidFill>
                  <a:srgbClr val="1F5F7A"/>
                </a:solidFill>
                <a:latin typeface="맑은 고딕" pitchFamily="34" charset="0"/>
                <a:ea typeface="맑은 고딕" pitchFamily="34" charset="-122"/>
                <a:cs typeface="맑은 고딕" pitchFamily="34" charset="-120"/>
              </a:rPr>
              <a:t>1.6–3.4%</a:t>
            </a:r>
            <a:endParaRPr lang="en-US" sz="3600" dirty="0"/>
          </a:p>
        </p:txBody>
      </p:sp>
      <p:sp>
        <p:nvSpPr>
          <p:cNvPr id="23" name="Text 18"/>
          <p:cNvSpPr txBox="1"/>
          <p:nvPr/>
        </p:nvSpPr>
        <p:spPr>
          <a:xfrm>
            <a:off x="4678528" y="3904488"/>
            <a:ext cx="2834640" cy="594360"/>
          </a:xfrm>
          <a:prstGeom prst="rect">
            <a:avLst/>
          </a:prstGeom>
          <a:noFill/>
          <a:ln/>
        </p:spPr>
        <p:txBody>
          <a:bodyPr wrap="square" lIns="0" tIns="0" rIns="0" bIns="0" rtlCol="0" anchor="t"/>
          <a:lstStyle/>
          <a:p>
            <a:pPr marL="0" indent="0" algn="ctr">
              <a:buNone/>
            </a:pPr>
            <a:r>
              <a:rPr lang="en-US" sz="1250" dirty="0">
                <a:solidFill>
                  <a:srgbClr val="2B2D31"/>
                </a:solidFill>
                <a:latin typeface="맑은 고딕" pitchFamily="34" charset="0"/>
                <a:ea typeface="맑은 고딕" pitchFamily="34" charset="-122"/>
                <a:cs typeface="맑은 고딕" pitchFamily="34" charset="-120"/>
              </a:rPr>
              <a:t>전 세계 CO₂ 배출 중 비중</a:t>
            </a:r>
            <a:endParaRPr lang="en-US" sz="1250" dirty="0"/>
          </a:p>
          <a:p>
            <a:pPr marL="0" indent="0" algn="ctr">
              <a:buNone/>
            </a:pPr>
            <a:r>
              <a:rPr lang="en-US" sz="1250" dirty="0">
                <a:solidFill>
                  <a:srgbClr val="2B2D31"/>
                </a:solidFill>
                <a:latin typeface="맑은 고딕" pitchFamily="34" charset="0"/>
                <a:ea typeface="맑은 고딕" pitchFamily="34" charset="-122"/>
                <a:cs typeface="맑은 고딕" pitchFamily="34" charset="-120"/>
              </a:rPr>
              <a:t>2030년 4.1–9.1% 전망</a:t>
            </a:r>
            <a:endParaRPr lang="en-US" sz="1250" dirty="0"/>
          </a:p>
        </p:txBody>
      </p:sp>
      <p:pic>
        <p:nvPicPr>
          <p:cNvPr id="25" name="Image 3" descr="preencoded.png"/>
          <p:cNvPicPr>
            <a:picLocks noChangeAspect="1"/>
          </p:cNvPicPr>
          <p:nvPr/>
        </p:nvPicPr>
        <p:blipFill>
          <a:blip r:embed="rId4"/>
          <a:stretch>
            <a:fillRect/>
          </a:stretch>
        </p:blipFill>
        <p:spPr>
          <a:xfrm>
            <a:off x="7909331" y="3177540"/>
            <a:ext cx="274320" cy="274320"/>
          </a:xfrm>
          <a:prstGeom prst="rect">
            <a:avLst/>
          </a:prstGeom>
        </p:spPr>
      </p:pic>
      <p:sp>
        <p:nvSpPr>
          <p:cNvPr id="26" name="Shape 20"/>
          <p:cNvSpPr/>
          <p:nvPr/>
        </p:nvSpPr>
        <p:spPr>
          <a:xfrm>
            <a:off x="8351215" y="1691640"/>
            <a:ext cx="3291840" cy="3246120"/>
          </a:xfrm>
          <a:prstGeom prst="roundRect">
            <a:avLst>
              <a:gd name="adj" fmla="val 2254"/>
            </a:avLst>
          </a:prstGeom>
          <a:solidFill>
            <a:srgbClr val="FFFFFF"/>
          </a:solidFill>
          <a:ln w="12700">
            <a:solidFill>
              <a:srgbClr val="D9DCE0"/>
            </a:solidFill>
            <a:prstDash val="solid"/>
          </a:ln>
        </p:spPr>
      </p:sp>
      <p:sp>
        <p:nvSpPr>
          <p:cNvPr id="27" name="Shape 21"/>
          <p:cNvSpPr/>
          <p:nvPr/>
        </p:nvSpPr>
        <p:spPr>
          <a:xfrm>
            <a:off x="8808415" y="1472184"/>
            <a:ext cx="2377440" cy="438912"/>
          </a:xfrm>
          <a:prstGeom prst="roundRect">
            <a:avLst>
              <a:gd name="adj" fmla="val 50000"/>
            </a:avLst>
          </a:prstGeom>
          <a:solidFill>
            <a:srgbClr val="2B2D31"/>
          </a:solidFill>
          <a:ln w="12700">
            <a:solidFill>
              <a:srgbClr val="2B2D31"/>
            </a:solidFill>
            <a:prstDash val="solid"/>
          </a:ln>
        </p:spPr>
      </p:sp>
      <p:sp>
        <p:nvSpPr>
          <p:cNvPr id="28" name="Text 22"/>
          <p:cNvSpPr txBox="1"/>
          <p:nvPr/>
        </p:nvSpPr>
        <p:spPr>
          <a:xfrm>
            <a:off x="8808415" y="1472184"/>
            <a:ext cx="2377440"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자원 낭비</a:t>
            </a:r>
            <a:endParaRPr lang="en-US" sz="1500" dirty="0"/>
          </a:p>
        </p:txBody>
      </p:sp>
      <p:sp>
        <p:nvSpPr>
          <p:cNvPr id="29" name="Shape 23"/>
          <p:cNvSpPr/>
          <p:nvPr/>
        </p:nvSpPr>
        <p:spPr>
          <a:xfrm>
            <a:off x="9649663" y="2103120"/>
            <a:ext cx="694944" cy="694944"/>
          </a:xfrm>
          <a:prstGeom prst="ellipse">
            <a:avLst/>
          </a:prstGeom>
          <a:solidFill>
            <a:srgbClr val="2B2D31"/>
          </a:solidFill>
          <a:ln w="12700">
            <a:solidFill>
              <a:srgbClr val="2B2D31"/>
            </a:solidFill>
            <a:prstDash val="solid"/>
          </a:ln>
        </p:spPr>
      </p:sp>
      <p:pic>
        <p:nvPicPr>
          <p:cNvPr id="30" name="Image 4" descr="preencoded.png"/>
          <p:cNvPicPr>
            <a:picLocks noChangeAspect="1"/>
          </p:cNvPicPr>
          <p:nvPr/>
        </p:nvPicPr>
        <p:blipFill>
          <a:blip r:embed="rId6"/>
          <a:stretch>
            <a:fillRect/>
          </a:stretch>
        </p:blipFill>
        <p:spPr>
          <a:xfrm>
            <a:off x="9830349" y="2283805"/>
            <a:ext cx="333573" cy="333573"/>
          </a:xfrm>
          <a:prstGeom prst="rect">
            <a:avLst/>
          </a:prstGeom>
        </p:spPr>
      </p:pic>
      <p:sp>
        <p:nvSpPr>
          <p:cNvPr id="31" name="Text 24"/>
          <p:cNvSpPr txBox="1"/>
          <p:nvPr/>
        </p:nvSpPr>
        <p:spPr>
          <a:xfrm>
            <a:off x="8534095" y="2898648"/>
            <a:ext cx="2926080" cy="292608"/>
          </a:xfrm>
          <a:prstGeom prst="rect">
            <a:avLst/>
          </a:prstGeom>
          <a:noFill/>
          <a:ln/>
        </p:spPr>
        <p:txBody>
          <a:bodyPr wrap="square" lIns="0" tIns="0" rIns="0" bIns="0" rtlCol="0" anchor="t"/>
          <a:lstStyle/>
          <a:p>
            <a:pPr marL="0" indent="0" algn="ctr">
              <a:buNone/>
            </a:pPr>
            <a:r>
              <a:rPr lang="en-US" sz="1350" b="1" dirty="0">
                <a:solidFill>
                  <a:srgbClr val="2B2D31"/>
                </a:solidFill>
                <a:latin typeface="맑은 고딕" pitchFamily="34" charset="0"/>
                <a:ea typeface="맑은 고딕" pitchFamily="34" charset="-122"/>
                <a:cs typeface="맑은 고딕" pitchFamily="34" charset="-120"/>
              </a:rPr>
              <a:t>부식 손실 보충</a:t>
            </a:r>
            <a:endParaRPr lang="en-US" sz="1350" dirty="0"/>
          </a:p>
        </p:txBody>
      </p:sp>
      <p:sp>
        <p:nvSpPr>
          <p:cNvPr id="32" name="Text 25"/>
          <p:cNvSpPr txBox="1"/>
          <p:nvPr/>
        </p:nvSpPr>
        <p:spPr>
          <a:xfrm>
            <a:off x="8534095" y="3172968"/>
            <a:ext cx="2926080" cy="685800"/>
          </a:xfrm>
          <a:prstGeom prst="rect">
            <a:avLst/>
          </a:prstGeom>
          <a:noFill/>
          <a:ln/>
        </p:spPr>
        <p:txBody>
          <a:bodyPr wrap="square" lIns="0" tIns="0" rIns="0" bIns="0" rtlCol="0" anchor="ctr"/>
          <a:lstStyle/>
          <a:p>
            <a:pPr marL="0" indent="0" algn="ctr">
              <a:buNone/>
            </a:pPr>
            <a:r>
              <a:rPr lang="en-US" sz="3600" b="1" dirty="0">
                <a:solidFill>
                  <a:srgbClr val="2B2D31"/>
                </a:solidFill>
                <a:latin typeface="맑은 고딕" pitchFamily="34" charset="0"/>
                <a:ea typeface="맑은 고딕" pitchFamily="34" charset="-122"/>
                <a:cs typeface="맑은 고딕" pitchFamily="34" charset="-120"/>
              </a:rPr>
              <a:t>25–33%</a:t>
            </a:r>
            <a:endParaRPr lang="en-US" sz="3600" dirty="0"/>
          </a:p>
        </p:txBody>
      </p:sp>
      <p:sp>
        <p:nvSpPr>
          <p:cNvPr id="33" name="Text 26"/>
          <p:cNvSpPr txBox="1"/>
          <p:nvPr/>
        </p:nvSpPr>
        <p:spPr>
          <a:xfrm>
            <a:off x="8579815" y="3904488"/>
            <a:ext cx="2834640" cy="594360"/>
          </a:xfrm>
          <a:prstGeom prst="rect">
            <a:avLst/>
          </a:prstGeom>
          <a:noFill/>
          <a:ln/>
        </p:spPr>
        <p:txBody>
          <a:bodyPr wrap="square" lIns="0" tIns="0" rIns="0" bIns="0" rtlCol="0" anchor="t"/>
          <a:lstStyle/>
          <a:p>
            <a:pPr marL="0" indent="0" algn="ctr">
              <a:buNone/>
            </a:pPr>
            <a:r>
              <a:rPr lang="en-US" sz="1250" dirty="0">
                <a:solidFill>
                  <a:srgbClr val="2B2D31"/>
                </a:solidFill>
                <a:latin typeface="맑은 고딕" pitchFamily="34" charset="0"/>
                <a:ea typeface="맑은 고딕" pitchFamily="34" charset="-122"/>
                <a:cs typeface="맑은 고딕" pitchFamily="34" charset="-120"/>
              </a:rPr>
              <a:t>매년 생산되는 철강 중</a:t>
            </a:r>
            <a:endParaRPr lang="en-US" sz="1250" dirty="0"/>
          </a:p>
          <a:p>
            <a:pPr marL="0" indent="0" algn="ctr">
              <a:buNone/>
            </a:pPr>
            <a:r>
              <a:rPr lang="en-US" sz="1250" dirty="0">
                <a:solidFill>
                  <a:srgbClr val="2B2D31"/>
                </a:solidFill>
                <a:latin typeface="맑은 고딕" pitchFamily="34" charset="0"/>
                <a:ea typeface="맑은 고딕" pitchFamily="34" charset="-122"/>
                <a:cs typeface="맑은 고딕" pitchFamily="34" charset="-120"/>
              </a:rPr>
              <a:t>부식 손실을 메우는 데 쓰이는 비율</a:t>
            </a:r>
            <a:endParaRPr lang="en-US" sz="1250" dirty="0"/>
          </a:p>
        </p:txBody>
      </p:sp>
      <p:sp>
        <p:nvSpPr>
          <p:cNvPr id="35" name="Shape 28"/>
          <p:cNvSpPr/>
          <p:nvPr/>
        </p:nvSpPr>
        <p:spPr>
          <a:xfrm>
            <a:off x="548640" y="5257800"/>
            <a:ext cx="11094415" cy="822960"/>
          </a:xfrm>
          <a:prstGeom prst="roundRect">
            <a:avLst>
              <a:gd name="adj" fmla="val 8889"/>
            </a:avLst>
          </a:prstGeom>
          <a:solidFill>
            <a:srgbClr val="1F2226"/>
          </a:solidFill>
          <a:ln w="12700">
            <a:solidFill>
              <a:srgbClr val="1F2226"/>
            </a:solidFill>
            <a:prstDash val="solid"/>
          </a:ln>
        </p:spPr>
      </p:sp>
      <p:sp>
        <p:nvSpPr>
          <p:cNvPr id="36" name="Text 29"/>
          <p:cNvSpPr txBox="1"/>
          <p:nvPr/>
        </p:nvSpPr>
        <p:spPr>
          <a:xfrm>
            <a:off x="914400" y="5257800"/>
            <a:ext cx="10362895" cy="822960"/>
          </a:xfrm>
          <a:prstGeom prst="rect">
            <a:avLst/>
          </a:prstGeom>
          <a:noFill/>
          <a:ln/>
        </p:spPr>
        <p:txBody>
          <a:bodyPr wrap="square" lIns="0" tIns="0" rIns="0" bIns="0" rtlCol="0" anchor="ctr"/>
          <a:lstStyle/>
          <a:p>
            <a:pPr marL="0" indent="0" algn="ctr">
              <a:buNone/>
            </a:pPr>
            <a:r>
              <a:rPr lang="en-US" sz="1900" dirty="0">
                <a:solidFill>
                  <a:srgbClr val="D5D7DA"/>
                </a:solidFill>
                <a:latin typeface="맑은 고딕" pitchFamily="34" charset="0"/>
                <a:ea typeface="맑은 고딕" pitchFamily="34" charset="-122"/>
                <a:cs typeface="맑은 고딕" pitchFamily="34" charset="-120"/>
              </a:rPr>
              <a:t>제때 찾아 관리하면 </a:t>
            </a:r>
            <a:r>
              <a:rPr lang="en-US" sz="1900" b="1" dirty="0">
                <a:solidFill>
                  <a:srgbClr val="E8A87C"/>
                </a:solidFill>
                <a:latin typeface="맑은 고딕" pitchFamily="34" charset="0"/>
                <a:ea typeface="맑은 고딕" pitchFamily="34" charset="-122"/>
                <a:cs typeface="맑은 고딕" pitchFamily="34" charset="-120"/>
              </a:rPr>
              <a:t>부식 비용의 15–35%</a:t>
            </a:r>
            <a:r>
              <a:rPr lang="en-US" sz="1900" b="1" dirty="0">
                <a:solidFill>
                  <a:srgbClr val="FFFFFF"/>
                </a:solidFill>
                <a:latin typeface="맑은 고딕" pitchFamily="34" charset="0"/>
                <a:ea typeface="맑은 고딕" pitchFamily="34" charset="-122"/>
                <a:cs typeface="맑은 고딕" pitchFamily="34" charset="-120"/>
              </a:rPr>
              <a:t> (연 US$ 3,750–8,750억)를 줄일 수 있습니다</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PROBLEM</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해양 구조물 점검의 접근 비용</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a:t>
            </a:r>
            <a:r>
              <a:rPr lang="en-US" sz="900" dirty="0" err="1">
                <a:solidFill>
                  <a:srgbClr val="A3A7AD"/>
                </a:solidFill>
                <a:latin typeface="맑은 고딕" pitchFamily="34" charset="0"/>
                <a:ea typeface="맑은 고딕" pitchFamily="34" charset="-122"/>
                <a:cs typeface="맑은 고딕" pitchFamily="34" charset="-120"/>
              </a:rPr>
              <a:t>제주</a:t>
            </a:r>
            <a:r>
              <a:rPr lang="en-US" sz="900" dirty="0">
                <a:solidFill>
                  <a:srgbClr val="A3A7AD"/>
                </a:solidFill>
                <a:latin typeface="맑은 고딕" pitchFamily="34" charset="0"/>
                <a:ea typeface="맑은 고딕" pitchFamily="34" charset="-122"/>
                <a:cs typeface="맑은 고딕" pitchFamily="34" charset="-120"/>
              </a:rPr>
              <a:t>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4</a:t>
            </a:r>
            <a:endParaRPr lang="en-US" sz="900" dirty="0"/>
          </a:p>
        </p:txBody>
      </p:sp>
      <p:pic>
        <p:nvPicPr>
          <p:cNvPr id="6" name="Image 0" descr="/home/user/PPT/src/img/offshore_zones.png"/>
          <p:cNvPicPr>
            <a:picLocks noChangeAspect="1"/>
          </p:cNvPicPr>
          <p:nvPr/>
        </p:nvPicPr>
        <p:blipFill>
          <a:blip r:embed="rId3"/>
          <a:stretch>
            <a:fillRect/>
          </a:stretch>
        </p:blipFill>
        <p:spPr>
          <a:xfrm>
            <a:off x="548640" y="1371600"/>
            <a:ext cx="4160520" cy="4142192"/>
          </a:xfrm>
          <a:prstGeom prst="rect">
            <a:avLst/>
          </a:prstGeom>
        </p:spPr>
      </p:pic>
      <p:sp>
        <p:nvSpPr>
          <p:cNvPr id="7" name="Shape 4"/>
          <p:cNvSpPr/>
          <p:nvPr/>
        </p:nvSpPr>
        <p:spPr>
          <a:xfrm>
            <a:off x="5120640" y="1371600"/>
            <a:ext cx="6522415" cy="987552"/>
          </a:xfrm>
          <a:prstGeom prst="roundRect">
            <a:avLst>
              <a:gd name="adj" fmla="val 7407"/>
            </a:avLst>
          </a:prstGeom>
          <a:solidFill>
            <a:srgbClr val="F3F4F6"/>
          </a:solidFill>
          <a:ln w="6350">
            <a:solidFill>
              <a:srgbClr val="F3F4F6"/>
            </a:solidFill>
            <a:prstDash val="solid"/>
          </a:ln>
        </p:spPr>
      </p:sp>
      <p:sp>
        <p:nvSpPr>
          <p:cNvPr id="8" name="Shape 5"/>
          <p:cNvSpPr/>
          <p:nvPr/>
        </p:nvSpPr>
        <p:spPr>
          <a:xfrm>
            <a:off x="5321808" y="1536192"/>
            <a:ext cx="658368" cy="658368"/>
          </a:xfrm>
          <a:prstGeom prst="ellipse">
            <a:avLst/>
          </a:prstGeom>
          <a:solidFill>
            <a:srgbClr val="2B2D31"/>
          </a:solidFill>
          <a:ln w="12700">
            <a:solidFill>
              <a:srgbClr val="2B2D31"/>
            </a:solidFill>
            <a:prstDash val="solid"/>
          </a:ln>
        </p:spPr>
      </p:sp>
      <p:pic>
        <p:nvPicPr>
          <p:cNvPr id="9" name="Image 1" descr="preencoded.png"/>
          <p:cNvPicPr>
            <a:picLocks noChangeAspect="1"/>
          </p:cNvPicPr>
          <p:nvPr/>
        </p:nvPicPr>
        <p:blipFill>
          <a:blip r:embed="rId4"/>
          <a:stretch>
            <a:fillRect/>
          </a:stretch>
        </p:blipFill>
        <p:spPr>
          <a:xfrm>
            <a:off x="5492984" y="1707368"/>
            <a:ext cx="316017" cy="316017"/>
          </a:xfrm>
          <a:prstGeom prst="rect">
            <a:avLst/>
          </a:prstGeom>
        </p:spPr>
      </p:pic>
      <p:sp>
        <p:nvSpPr>
          <p:cNvPr id="10" name="Text 6"/>
          <p:cNvSpPr txBox="1"/>
          <p:nvPr/>
        </p:nvSpPr>
        <p:spPr>
          <a:xfrm>
            <a:off x="6172200" y="1618488"/>
            <a:ext cx="5333695" cy="329184"/>
          </a:xfrm>
          <a:prstGeom prst="rect">
            <a:avLst/>
          </a:prstGeom>
          <a:noFill/>
          <a:ln/>
        </p:spPr>
        <p:txBody>
          <a:bodyPr wrap="square" lIns="0" tIns="0" rIns="0" bIns="0" rtlCol="0" anchor="t"/>
          <a:lstStyle/>
          <a:p>
            <a:pPr marL="0" indent="0">
              <a:buNone/>
            </a:pPr>
            <a:r>
              <a:rPr lang="en-US" sz="1550" b="1" dirty="0">
                <a:solidFill>
                  <a:srgbClr val="2B2D31"/>
                </a:solidFill>
                <a:latin typeface="맑은 고딕" pitchFamily="34" charset="0"/>
                <a:ea typeface="맑은 고딕" pitchFamily="34" charset="-122"/>
                <a:cs typeface="맑은 고딕" pitchFamily="34" charset="-120"/>
              </a:rPr>
              <a:t>모든 지점을 똑같이 순회</a:t>
            </a:r>
            <a:endParaRPr lang="en-US" sz="1550" dirty="0"/>
          </a:p>
        </p:txBody>
      </p:sp>
      <p:sp>
        <p:nvSpPr>
          <p:cNvPr id="11" name="Text 7"/>
          <p:cNvSpPr txBox="1"/>
          <p:nvPr/>
        </p:nvSpPr>
        <p:spPr>
          <a:xfrm>
            <a:off x="6172200" y="1947672"/>
            <a:ext cx="5333695" cy="27432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상태와 관계없이 정해진 목록을 전부 방문</a:t>
            </a:r>
            <a:endParaRPr lang="en-US" sz="1250" dirty="0"/>
          </a:p>
        </p:txBody>
      </p:sp>
      <p:sp>
        <p:nvSpPr>
          <p:cNvPr id="13" name="Shape 9"/>
          <p:cNvSpPr/>
          <p:nvPr/>
        </p:nvSpPr>
        <p:spPr>
          <a:xfrm>
            <a:off x="5120640" y="2487168"/>
            <a:ext cx="6522415" cy="987552"/>
          </a:xfrm>
          <a:prstGeom prst="roundRect">
            <a:avLst>
              <a:gd name="adj" fmla="val 7407"/>
            </a:avLst>
          </a:prstGeom>
          <a:solidFill>
            <a:srgbClr val="F3F4F6"/>
          </a:solidFill>
          <a:ln w="6350">
            <a:solidFill>
              <a:srgbClr val="F3F4F6"/>
            </a:solidFill>
            <a:prstDash val="solid"/>
          </a:ln>
        </p:spPr>
      </p:sp>
      <p:sp>
        <p:nvSpPr>
          <p:cNvPr id="14" name="Shape 10"/>
          <p:cNvSpPr/>
          <p:nvPr/>
        </p:nvSpPr>
        <p:spPr>
          <a:xfrm>
            <a:off x="5321808" y="2651760"/>
            <a:ext cx="658368" cy="658368"/>
          </a:xfrm>
          <a:prstGeom prst="ellipse">
            <a:avLst/>
          </a:prstGeom>
          <a:solidFill>
            <a:srgbClr val="2B2D31"/>
          </a:solidFill>
          <a:ln w="12700">
            <a:solidFill>
              <a:srgbClr val="2B2D31"/>
            </a:solidFill>
            <a:prstDash val="solid"/>
          </a:ln>
        </p:spPr>
      </p:sp>
      <p:pic>
        <p:nvPicPr>
          <p:cNvPr id="15" name="Image 2" descr="preencoded.png"/>
          <p:cNvPicPr>
            <a:picLocks noChangeAspect="1"/>
          </p:cNvPicPr>
          <p:nvPr/>
        </p:nvPicPr>
        <p:blipFill>
          <a:blip r:embed="rId5"/>
          <a:stretch>
            <a:fillRect/>
          </a:stretch>
        </p:blipFill>
        <p:spPr>
          <a:xfrm>
            <a:off x="5492984" y="2822936"/>
            <a:ext cx="316017" cy="316017"/>
          </a:xfrm>
          <a:prstGeom prst="rect">
            <a:avLst/>
          </a:prstGeom>
        </p:spPr>
      </p:pic>
      <p:sp>
        <p:nvSpPr>
          <p:cNvPr id="16" name="Text 11"/>
          <p:cNvSpPr txBox="1"/>
          <p:nvPr/>
        </p:nvSpPr>
        <p:spPr>
          <a:xfrm>
            <a:off x="6172200" y="2734056"/>
            <a:ext cx="5333695" cy="329184"/>
          </a:xfrm>
          <a:prstGeom prst="rect">
            <a:avLst/>
          </a:prstGeom>
          <a:noFill/>
          <a:ln/>
        </p:spPr>
        <p:txBody>
          <a:bodyPr wrap="square" lIns="0" tIns="0" rIns="0" bIns="0" rtlCol="0" anchor="t"/>
          <a:lstStyle/>
          <a:p>
            <a:pPr marL="0" indent="0">
              <a:buNone/>
            </a:pPr>
            <a:r>
              <a:rPr lang="en-US" sz="1550" b="1" dirty="0">
                <a:solidFill>
                  <a:srgbClr val="2B2D31"/>
                </a:solidFill>
                <a:latin typeface="맑은 고딕" pitchFamily="34" charset="0"/>
                <a:ea typeface="맑은 고딕" pitchFamily="34" charset="-122"/>
                <a:cs typeface="맑은 고딕" pitchFamily="34" charset="-120"/>
              </a:rPr>
              <a:t>비말대 · 해저 구간은 접근 자체가 어려움</a:t>
            </a:r>
            <a:endParaRPr lang="en-US" sz="1550" dirty="0"/>
          </a:p>
        </p:txBody>
      </p:sp>
      <p:sp>
        <p:nvSpPr>
          <p:cNvPr id="17" name="Text 12"/>
          <p:cNvSpPr txBox="1"/>
          <p:nvPr/>
        </p:nvSpPr>
        <p:spPr>
          <a:xfrm>
            <a:off x="6172200" y="3063240"/>
            <a:ext cx="5333695" cy="27432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로프 액세스 · 잠수 · ROV를 미리 일정 잡아야만 확인 가능</a:t>
            </a:r>
            <a:endParaRPr lang="en-US" sz="1250" dirty="0"/>
          </a:p>
        </p:txBody>
      </p:sp>
      <p:sp>
        <p:nvSpPr>
          <p:cNvPr id="19" name="Shape 14"/>
          <p:cNvSpPr/>
          <p:nvPr/>
        </p:nvSpPr>
        <p:spPr>
          <a:xfrm>
            <a:off x="5120640" y="3602736"/>
            <a:ext cx="6522415" cy="987552"/>
          </a:xfrm>
          <a:prstGeom prst="roundRect">
            <a:avLst>
              <a:gd name="adj" fmla="val 7407"/>
            </a:avLst>
          </a:prstGeom>
          <a:solidFill>
            <a:srgbClr val="F3F4F6"/>
          </a:solidFill>
          <a:ln w="6350">
            <a:solidFill>
              <a:srgbClr val="F3F4F6"/>
            </a:solidFill>
            <a:prstDash val="solid"/>
          </a:ln>
        </p:spPr>
      </p:sp>
      <p:sp>
        <p:nvSpPr>
          <p:cNvPr id="20" name="Shape 15"/>
          <p:cNvSpPr/>
          <p:nvPr/>
        </p:nvSpPr>
        <p:spPr>
          <a:xfrm>
            <a:off x="5321808" y="3767328"/>
            <a:ext cx="658368" cy="658368"/>
          </a:xfrm>
          <a:prstGeom prst="ellipse">
            <a:avLst/>
          </a:prstGeom>
          <a:solidFill>
            <a:srgbClr val="2B2D31"/>
          </a:solidFill>
          <a:ln w="12700">
            <a:solidFill>
              <a:srgbClr val="2B2D31"/>
            </a:solidFill>
            <a:prstDash val="solid"/>
          </a:ln>
        </p:spPr>
      </p:sp>
      <p:pic>
        <p:nvPicPr>
          <p:cNvPr id="21" name="Image 3" descr="preencoded.png"/>
          <p:cNvPicPr>
            <a:picLocks noChangeAspect="1"/>
          </p:cNvPicPr>
          <p:nvPr/>
        </p:nvPicPr>
        <p:blipFill>
          <a:blip r:embed="rId6"/>
          <a:stretch>
            <a:fillRect/>
          </a:stretch>
        </p:blipFill>
        <p:spPr>
          <a:xfrm>
            <a:off x="5492984" y="3938504"/>
            <a:ext cx="316017" cy="316017"/>
          </a:xfrm>
          <a:prstGeom prst="rect">
            <a:avLst/>
          </a:prstGeom>
        </p:spPr>
      </p:pic>
      <p:sp>
        <p:nvSpPr>
          <p:cNvPr id="22" name="Text 16"/>
          <p:cNvSpPr txBox="1"/>
          <p:nvPr/>
        </p:nvSpPr>
        <p:spPr>
          <a:xfrm>
            <a:off x="6172200" y="3849624"/>
            <a:ext cx="5333695" cy="329184"/>
          </a:xfrm>
          <a:prstGeom prst="rect">
            <a:avLst/>
          </a:prstGeom>
          <a:noFill/>
          <a:ln/>
        </p:spPr>
        <p:txBody>
          <a:bodyPr wrap="square" lIns="0" tIns="0" rIns="0" bIns="0" rtlCol="0" anchor="t"/>
          <a:lstStyle/>
          <a:p>
            <a:pPr marL="0" indent="0">
              <a:buNone/>
            </a:pPr>
            <a:r>
              <a:rPr lang="en-US" sz="1550" b="1" dirty="0">
                <a:solidFill>
                  <a:srgbClr val="2B2D31"/>
                </a:solidFill>
                <a:latin typeface="맑은 고딕" pitchFamily="34" charset="0"/>
                <a:ea typeface="맑은 고딕" pitchFamily="34" charset="-122"/>
                <a:cs typeface="맑은 고딕" pitchFamily="34" charset="-120"/>
              </a:rPr>
              <a:t>검사 비용에 이동 · 대기 비용까지</a:t>
            </a:r>
            <a:endParaRPr lang="en-US" sz="1550" dirty="0"/>
          </a:p>
        </p:txBody>
      </p:sp>
      <p:sp>
        <p:nvSpPr>
          <p:cNvPr id="23" name="Text 17"/>
          <p:cNvSpPr txBox="1"/>
          <p:nvPr/>
        </p:nvSpPr>
        <p:spPr>
          <a:xfrm>
            <a:off x="6172200" y="4178808"/>
            <a:ext cx="5333695" cy="274320"/>
          </a:xfrm>
          <a:prstGeom prst="rect">
            <a:avLst/>
          </a:prstGeom>
          <a:noFill/>
          <a:ln/>
        </p:spPr>
        <p:txBody>
          <a:bodyPr wrap="square" lIns="0" tIns="0" rIns="0" bIns="0" rtlCol="0" anchor="t"/>
          <a:lstStyle/>
          <a:p>
            <a:pPr marL="0" indent="0">
              <a:buNone/>
            </a:pPr>
            <a:r>
              <a:rPr lang="en-US" sz="1250" dirty="0">
                <a:solidFill>
                  <a:srgbClr val="6B6F76"/>
                </a:solidFill>
                <a:latin typeface="맑은 고딕" pitchFamily="34" charset="0"/>
                <a:ea typeface="맑은 고딕" pitchFamily="34" charset="-122"/>
                <a:cs typeface="맑은 고딕" pitchFamily="34" charset="-120"/>
              </a:rPr>
              <a:t>검사 인력 · 장비 + 선박 용선 · 기상 대기 · 리프트 임대</a:t>
            </a:r>
            <a:endParaRPr lang="en-US" sz="1250" dirty="0"/>
          </a:p>
        </p:txBody>
      </p:sp>
      <p:sp>
        <p:nvSpPr>
          <p:cNvPr id="25" name="Shape 19"/>
          <p:cNvSpPr/>
          <p:nvPr/>
        </p:nvSpPr>
        <p:spPr>
          <a:xfrm>
            <a:off x="5120640" y="4846320"/>
            <a:ext cx="6522415" cy="1188720"/>
          </a:xfrm>
          <a:prstGeom prst="roundRect">
            <a:avLst>
              <a:gd name="adj" fmla="val 6154"/>
            </a:avLst>
          </a:prstGeom>
          <a:solidFill>
            <a:srgbClr val="1F2226"/>
          </a:solidFill>
          <a:ln w="12700">
            <a:solidFill>
              <a:srgbClr val="1F2226"/>
            </a:solidFill>
            <a:prstDash val="solid"/>
          </a:ln>
        </p:spPr>
      </p:sp>
      <p:sp>
        <p:nvSpPr>
          <p:cNvPr id="26" name="Text 20"/>
          <p:cNvSpPr txBox="1"/>
          <p:nvPr/>
        </p:nvSpPr>
        <p:spPr>
          <a:xfrm>
            <a:off x="5440680" y="4846320"/>
            <a:ext cx="5973775" cy="1188720"/>
          </a:xfrm>
          <a:prstGeom prst="rect">
            <a:avLst/>
          </a:prstGeom>
          <a:noFill/>
          <a:ln/>
        </p:spPr>
        <p:txBody>
          <a:bodyPr wrap="square" lIns="0" tIns="0" rIns="0" bIns="0" rtlCol="0" anchor="ctr"/>
          <a:lstStyle/>
          <a:p>
            <a:pPr marL="0" indent="0">
              <a:spcAft>
                <a:spcPts val="400"/>
              </a:spcAft>
              <a:buNone/>
            </a:pPr>
            <a:r>
              <a:rPr lang="en-US" sz="1700" dirty="0">
                <a:solidFill>
                  <a:srgbClr val="D5D7DA"/>
                </a:solidFill>
                <a:latin typeface="맑은 고딕" pitchFamily="34" charset="0"/>
                <a:ea typeface="맑은 고딕" pitchFamily="34" charset="-122"/>
                <a:cs typeface="맑은 고딕" pitchFamily="34" charset="-120"/>
              </a:rPr>
              <a:t>점검 주기는 규제로 정해져 줄일 수 없습니다.</a:t>
            </a:r>
            <a:endParaRPr lang="en-US" sz="1700" dirty="0"/>
          </a:p>
          <a:p>
            <a:pPr marL="0" indent="0">
              <a:spcAft>
                <a:spcPts val="400"/>
              </a:spcAft>
              <a:buNone/>
            </a:pPr>
            <a:r>
              <a:rPr lang="en-US" sz="1700" b="1" dirty="0">
                <a:solidFill>
                  <a:srgbClr val="FFFFFF"/>
                </a:solidFill>
                <a:latin typeface="맑은 고딕" pitchFamily="34" charset="0"/>
                <a:ea typeface="맑은 고딕" pitchFamily="34" charset="-122"/>
                <a:cs typeface="맑은 고딕" pitchFamily="34" charset="-120"/>
              </a:rPr>
              <a:t>문제는 그 주기 안에서 </a:t>
            </a:r>
            <a:r>
              <a:rPr lang="en-US" sz="1700" b="1" dirty="0">
                <a:solidFill>
                  <a:srgbClr val="E8A87C"/>
                </a:solidFill>
                <a:latin typeface="맑은 고딕" pitchFamily="34" charset="0"/>
                <a:ea typeface="맑은 고딕" pitchFamily="34" charset="-122"/>
                <a:cs typeface="맑은 고딕" pitchFamily="34" charset="-120"/>
              </a:rPr>
              <a:t>어디에 사람과 배를 보낼지</a:t>
            </a:r>
            <a:r>
              <a:rPr lang="en-US" sz="1700" b="1" dirty="0">
                <a:solidFill>
                  <a:srgbClr val="FFFFFF"/>
                </a:solidFill>
                <a:latin typeface="맑은 고딕" pitchFamily="34" charset="0"/>
                <a:ea typeface="맑은 고딕" pitchFamily="34" charset="-122"/>
                <a:cs typeface="맑은 고딕" pitchFamily="34" charset="-120"/>
              </a:rPr>
              <a:t>입니다.</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SOLUTION</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MLC 솔루션</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5</a:t>
            </a:r>
            <a:endParaRPr lang="en-US" sz="900" dirty="0"/>
          </a:p>
        </p:txBody>
      </p:sp>
      <p:sp>
        <p:nvSpPr>
          <p:cNvPr id="6" name="Shape 4"/>
          <p:cNvSpPr/>
          <p:nvPr/>
        </p:nvSpPr>
        <p:spPr>
          <a:xfrm>
            <a:off x="0" y="1371600"/>
            <a:ext cx="12191695" cy="2606040"/>
          </a:xfrm>
          <a:prstGeom prst="rect">
            <a:avLst/>
          </a:prstGeom>
          <a:solidFill>
            <a:srgbClr val="1F2226"/>
          </a:solidFill>
          <a:ln w="12700">
            <a:solidFill>
              <a:srgbClr val="1F2226"/>
            </a:solidFill>
            <a:prstDash val="solid"/>
          </a:ln>
        </p:spPr>
      </p:sp>
      <p:pic>
        <p:nvPicPr>
          <p:cNvPr id="7" name="Image 0" descr="/home/user/PPT/src/img/photo_15.png"/>
          <p:cNvPicPr>
            <a:picLocks noChangeAspect="1"/>
          </p:cNvPicPr>
          <p:nvPr/>
        </p:nvPicPr>
        <p:blipFill>
          <a:blip r:embed="rId3"/>
          <a:stretch>
            <a:fillRect/>
          </a:stretch>
        </p:blipFill>
        <p:spPr>
          <a:xfrm>
            <a:off x="1135342" y="1572768"/>
            <a:ext cx="1600200" cy="1600200"/>
          </a:xfrm>
          <a:prstGeom prst="rect">
            <a:avLst/>
          </a:prstGeom>
        </p:spPr>
      </p:pic>
      <p:pic>
        <p:nvPicPr>
          <p:cNvPr id="8" name="Image 1" descr="preencoded.png"/>
          <p:cNvPicPr>
            <a:picLocks noChangeAspect="1"/>
          </p:cNvPicPr>
          <p:nvPr/>
        </p:nvPicPr>
        <p:blipFill>
          <a:blip r:embed="rId4"/>
          <a:stretch>
            <a:fillRect/>
          </a:stretch>
        </p:blipFill>
        <p:spPr>
          <a:xfrm>
            <a:off x="3166796" y="2217420"/>
            <a:ext cx="310896" cy="310896"/>
          </a:xfrm>
          <a:prstGeom prst="rect">
            <a:avLst/>
          </a:prstGeom>
        </p:spPr>
      </p:pic>
      <p:sp>
        <p:nvSpPr>
          <p:cNvPr id="9" name="Shape 5"/>
          <p:cNvSpPr/>
          <p:nvPr/>
        </p:nvSpPr>
        <p:spPr>
          <a:xfrm>
            <a:off x="594360" y="3355848"/>
            <a:ext cx="2682164" cy="457200"/>
          </a:xfrm>
          <a:prstGeom prst="homePlate">
            <a:avLst/>
          </a:prstGeom>
          <a:solidFill>
            <a:srgbClr val="FFFFFF"/>
          </a:solidFill>
          <a:ln w="12700">
            <a:solidFill>
              <a:srgbClr val="FFFFFF"/>
            </a:solidFill>
            <a:prstDash val="solid"/>
          </a:ln>
        </p:spPr>
      </p:sp>
      <p:sp>
        <p:nvSpPr>
          <p:cNvPr id="10" name="Text 6"/>
          <p:cNvSpPr txBox="1"/>
          <p:nvPr/>
        </p:nvSpPr>
        <p:spPr>
          <a:xfrm>
            <a:off x="640080" y="3355848"/>
            <a:ext cx="2407844" cy="457200"/>
          </a:xfrm>
          <a:prstGeom prst="rect">
            <a:avLst/>
          </a:prstGeom>
          <a:noFill/>
          <a:ln/>
        </p:spPr>
        <p:txBody>
          <a:bodyPr wrap="square" lIns="0" tIns="0" rIns="0" bIns="0" rtlCol="0" anchor="ctr"/>
          <a:lstStyle/>
          <a:p>
            <a:pPr marL="0" indent="0" algn="ctr">
              <a:buNone/>
            </a:pPr>
            <a:r>
              <a:rPr lang="en-US" sz="1400" b="1" dirty="0">
                <a:solidFill>
                  <a:srgbClr val="2B2D31"/>
                </a:solidFill>
                <a:latin typeface="맑은 고딕" pitchFamily="34" charset="0"/>
                <a:ea typeface="맑은 고딕" pitchFamily="34" charset="-122"/>
                <a:cs typeface="맑은 고딕" pitchFamily="34" charset="-120"/>
              </a:rPr>
              <a:t>드론 · 카메라 촬영</a:t>
            </a:r>
            <a:endParaRPr lang="en-US" sz="1400" dirty="0"/>
          </a:p>
        </p:txBody>
      </p:sp>
      <p:pic>
        <p:nvPicPr>
          <p:cNvPr id="11" name="Image 2" descr="/home/user/PPT/src/img/mask_15.png"/>
          <p:cNvPicPr>
            <a:picLocks noChangeAspect="1"/>
          </p:cNvPicPr>
          <p:nvPr/>
        </p:nvPicPr>
        <p:blipFill>
          <a:blip r:embed="rId5"/>
          <a:stretch>
            <a:fillRect/>
          </a:stretch>
        </p:blipFill>
        <p:spPr>
          <a:xfrm>
            <a:off x="3908946" y="1572768"/>
            <a:ext cx="1600200" cy="1600200"/>
          </a:xfrm>
          <a:prstGeom prst="rect">
            <a:avLst/>
          </a:prstGeom>
        </p:spPr>
      </p:pic>
      <p:pic>
        <p:nvPicPr>
          <p:cNvPr id="12" name="Image 3" descr="preencoded.png"/>
          <p:cNvPicPr>
            <a:picLocks noChangeAspect="1"/>
          </p:cNvPicPr>
          <p:nvPr/>
        </p:nvPicPr>
        <p:blipFill>
          <a:blip r:embed="rId4"/>
          <a:stretch>
            <a:fillRect/>
          </a:stretch>
        </p:blipFill>
        <p:spPr>
          <a:xfrm>
            <a:off x="5940400" y="2217420"/>
            <a:ext cx="310896" cy="310896"/>
          </a:xfrm>
          <a:prstGeom prst="rect">
            <a:avLst/>
          </a:prstGeom>
        </p:spPr>
      </p:pic>
      <p:sp>
        <p:nvSpPr>
          <p:cNvPr id="13" name="Shape 7"/>
          <p:cNvSpPr/>
          <p:nvPr/>
        </p:nvSpPr>
        <p:spPr>
          <a:xfrm>
            <a:off x="3367964" y="3355848"/>
            <a:ext cx="2682164" cy="457200"/>
          </a:xfrm>
          <a:prstGeom prst="homePlate">
            <a:avLst/>
          </a:prstGeom>
          <a:solidFill>
            <a:srgbClr val="FFFFFF"/>
          </a:solidFill>
          <a:ln w="12700">
            <a:solidFill>
              <a:srgbClr val="FFFFFF"/>
            </a:solidFill>
            <a:prstDash val="solid"/>
          </a:ln>
        </p:spPr>
      </p:sp>
      <p:sp>
        <p:nvSpPr>
          <p:cNvPr id="14" name="Text 8"/>
          <p:cNvSpPr txBox="1"/>
          <p:nvPr/>
        </p:nvSpPr>
        <p:spPr>
          <a:xfrm>
            <a:off x="3413684" y="3355848"/>
            <a:ext cx="2407844" cy="457200"/>
          </a:xfrm>
          <a:prstGeom prst="rect">
            <a:avLst/>
          </a:prstGeom>
          <a:noFill/>
          <a:ln/>
        </p:spPr>
        <p:txBody>
          <a:bodyPr wrap="square" lIns="0" tIns="0" rIns="0" bIns="0" rtlCol="0" anchor="ctr"/>
          <a:lstStyle/>
          <a:p>
            <a:pPr marL="0" indent="0" algn="ctr">
              <a:buNone/>
            </a:pPr>
            <a:r>
              <a:rPr lang="en-US" sz="1400" b="1" dirty="0">
                <a:solidFill>
                  <a:srgbClr val="2B2D31"/>
                </a:solidFill>
                <a:latin typeface="맑은 고딕" pitchFamily="34" charset="0"/>
                <a:ea typeface="맑은 고딕" pitchFamily="34" charset="-122"/>
                <a:cs typeface="맑은 고딕" pitchFamily="34" charset="-120"/>
              </a:rPr>
              <a:t>녹 영역 자동 추출</a:t>
            </a:r>
            <a:endParaRPr lang="en-US" sz="1400" dirty="0"/>
          </a:p>
        </p:txBody>
      </p:sp>
      <p:sp>
        <p:nvSpPr>
          <p:cNvPr id="15" name="Shape 9"/>
          <p:cNvSpPr/>
          <p:nvPr/>
        </p:nvSpPr>
        <p:spPr>
          <a:xfrm>
            <a:off x="6682550" y="1572768"/>
            <a:ext cx="1600200" cy="1600200"/>
          </a:xfrm>
          <a:prstGeom prst="rect">
            <a:avLst/>
          </a:prstGeom>
          <a:solidFill>
            <a:srgbClr val="4E3F2F"/>
          </a:solidFill>
          <a:ln w="12700">
            <a:solidFill>
              <a:srgbClr val="FFFFFF"/>
            </a:solidFill>
            <a:prstDash val="solid"/>
          </a:ln>
        </p:spPr>
      </p:sp>
      <p:sp>
        <p:nvSpPr>
          <p:cNvPr id="16" name="Text 10"/>
          <p:cNvSpPr txBox="1"/>
          <p:nvPr/>
        </p:nvSpPr>
        <p:spPr>
          <a:xfrm>
            <a:off x="6682550" y="1892808"/>
            <a:ext cx="1600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맑은 고딕" pitchFamily="34" charset="0"/>
                <a:ea typeface="맑은 고딕" pitchFamily="34" charset="-122"/>
                <a:cs typeface="맑은 고딕" pitchFamily="34" charset="-120"/>
              </a:rPr>
              <a:t>b* 12.2</a:t>
            </a:r>
            <a:endParaRPr lang="en-US" sz="2200" dirty="0"/>
          </a:p>
        </p:txBody>
      </p:sp>
      <p:sp>
        <p:nvSpPr>
          <p:cNvPr id="17" name="Shape 11"/>
          <p:cNvSpPr/>
          <p:nvPr/>
        </p:nvSpPr>
        <p:spPr>
          <a:xfrm>
            <a:off x="6911150" y="2532888"/>
            <a:ext cx="1143000" cy="329184"/>
          </a:xfrm>
          <a:prstGeom prst="roundRect">
            <a:avLst>
              <a:gd name="adj" fmla="val 50000"/>
            </a:avLst>
          </a:prstGeom>
          <a:solidFill>
            <a:srgbClr val="3C8D5A"/>
          </a:solidFill>
          <a:ln w="12700">
            <a:solidFill>
              <a:srgbClr val="3C8D5A"/>
            </a:solidFill>
            <a:prstDash val="solid"/>
          </a:ln>
        </p:spPr>
      </p:sp>
      <p:sp>
        <p:nvSpPr>
          <p:cNvPr id="18" name="Text 12"/>
          <p:cNvSpPr txBox="1"/>
          <p:nvPr/>
        </p:nvSpPr>
        <p:spPr>
          <a:xfrm>
            <a:off x="6911150" y="2532888"/>
            <a:ext cx="11430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위험도 중간</a:t>
            </a:r>
            <a:endParaRPr lang="en-US" sz="1150" dirty="0"/>
          </a:p>
        </p:txBody>
      </p:sp>
      <p:pic>
        <p:nvPicPr>
          <p:cNvPr id="19" name="Image 4" descr="preencoded.png"/>
          <p:cNvPicPr>
            <a:picLocks noChangeAspect="1"/>
          </p:cNvPicPr>
          <p:nvPr/>
        </p:nvPicPr>
        <p:blipFill>
          <a:blip r:embed="rId4"/>
          <a:stretch>
            <a:fillRect/>
          </a:stretch>
        </p:blipFill>
        <p:spPr>
          <a:xfrm>
            <a:off x="8714003" y="2217420"/>
            <a:ext cx="310896" cy="310896"/>
          </a:xfrm>
          <a:prstGeom prst="rect">
            <a:avLst/>
          </a:prstGeom>
        </p:spPr>
      </p:pic>
      <p:sp>
        <p:nvSpPr>
          <p:cNvPr id="20" name="Shape 13"/>
          <p:cNvSpPr/>
          <p:nvPr/>
        </p:nvSpPr>
        <p:spPr>
          <a:xfrm>
            <a:off x="6141568" y="3355848"/>
            <a:ext cx="2682164" cy="457200"/>
          </a:xfrm>
          <a:prstGeom prst="homePlate">
            <a:avLst/>
          </a:prstGeom>
          <a:solidFill>
            <a:srgbClr val="FFFFFF"/>
          </a:solidFill>
          <a:ln w="12700">
            <a:solidFill>
              <a:srgbClr val="FFFFFF"/>
            </a:solidFill>
            <a:prstDash val="solid"/>
          </a:ln>
        </p:spPr>
      </p:sp>
      <p:sp>
        <p:nvSpPr>
          <p:cNvPr id="21" name="Text 14"/>
          <p:cNvSpPr txBox="1"/>
          <p:nvPr/>
        </p:nvSpPr>
        <p:spPr>
          <a:xfrm>
            <a:off x="6187288" y="3355848"/>
            <a:ext cx="2407844" cy="457200"/>
          </a:xfrm>
          <a:prstGeom prst="rect">
            <a:avLst/>
          </a:prstGeom>
          <a:noFill/>
          <a:ln/>
        </p:spPr>
        <p:txBody>
          <a:bodyPr wrap="square" lIns="0" tIns="0" rIns="0" bIns="0" rtlCol="0" anchor="ctr"/>
          <a:lstStyle/>
          <a:p>
            <a:pPr marL="0" indent="0" algn="ctr">
              <a:buNone/>
            </a:pPr>
            <a:r>
              <a:rPr lang="en-US" sz="1400" b="1" dirty="0">
                <a:solidFill>
                  <a:srgbClr val="2B2D31"/>
                </a:solidFill>
                <a:latin typeface="맑은 고딕" pitchFamily="34" charset="0"/>
                <a:ea typeface="맑은 고딕" pitchFamily="34" charset="-122"/>
                <a:cs typeface="맑은 고딕" pitchFamily="34" charset="-120"/>
              </a:rPr>
              <a:t>색(b*)으로 위험도 판정</a:t>
            </a:r>
            <a:endParaRPr lang="en-US" sz="1400" dirty="0"/>
          </a:p>
        </p:txBody>
      </p:sp>
      <p:pic>
        <p:nvPicPr>
          <p:cNvPr id="22" name="Image 5" descr="/home/user/PPT/src/img/offshore_legs.png"/>
          <p:cNvPicPr>
            <a:picLocks noChangeAspect="1"/>
          </p:cNvPicPr>
          <p:nvPr/>
        </p:nvPicPr>
        <p:blipFill>
          <a:blip r:embed="rId6"/>
          <a:srcRect/>
          <a:stretch/>
        </p:blipFill>
        <p:spPr>
          <a:xfrm>
            <a:off x="9456153" y="1572768"/>
            <a:ext cx="1600200" cy="1600200"/>
          </a:xfrm>
          <a:prstGeom prst="rect">
            <a:avLst/>
          </a:prstGeom>
        </p:spPr>
      </p:pic>
      <p:sp>
        <p:nvSpPr>
          <p:cNvPr id="23" name="Shape 15"/>
          <p:cNvSpPr/>
          <p:nvPr/>
        </p:nvSpPr>
        <p:spPr>
          <a:xfrm>
            <a:off x="9732759" y="2441448"/>
            <a:ext cx="310896" cy="310896"/>
          </a:xfrm>
          <a:prstGeom prst="ellipse">
            <a:avLst/>
          </a:prstGeom>
          <a:solidFill>
            <a:srgbClr val="B23A2E"/>
          </a:solidFill>
          <a:ln w="19050">
            <a:solidFill>
              <a:srgbClr val="FFFFFF"/>
            </a:solidFill>
            <a:prstDash val="solid"/>
          </a:ln>
        </p:spPr>
      </p:sp>
      <p:sp>
        <p:nvSpPr>
          <p:cNvPr id="24" name="Text 16"/>
          <p:cNvSpPr txBox="1"/>
          <p:nvPr/>
        </p:nvSpPr>
        <p:spPr>
          <a:xfrm>
            <a:off x="9732759" y="244144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25" name="Shape 17"/>
          <p:cNvSpPr/>
          <p:nvPr/>
        </p:nvSpPr>
        <p:spPr>
          <a:xfrm>
            <a:off x="10548861" y="2089404"/>
            <a:ext cx="310896" cy="310896"/>
          </a:xfrm>
          <a:prstGeom prst="ellipse">
            <a:avLst/>
          </a:prstGeom>
          <a:solidFill>
            <a:srgbClr val="3C8D5A"/>
          </a:solidFill>
          <a:ln w="19050">
            <a:solidFill>
              <a:srgbClr val="FFFFFF"/>
            </a:solidFill>
            <a:prstDash val="solid"/>
          </a:ln>
        </p:spPr>
      </p:sp>
      <p:sp>
        <p:nvSpPr>
          <p:cNvPr id="26" name="Text 18"/>
          <p:cNvSpPr txBox="1"/>
          <p:nvPr/>
        </p:nvSpPr>
        <p:spPr>
          <a:xfrm>
            <a:off x="10548861" y="20894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7" name="Shape 19"/>
          <p:cNvSpPr/>
          <p:nvPr/>
        </p:nvSpPr>
        <p:spPr>
          <a:xfrm>
            <a:off x="9972789" y="1673352"/>
            <a:ext cx="310896" cy="310896"/>
          </a:xfrm>
          <a:prstGeom prst="ellipse">
            <a:avLst/>
          </a:prstGeom>
          <a:solidFill>
            <a:srgbClr val="3A6EA5"/>
          </a:solidFill>
          <a:ln w="19050">
            <a:solidFill>
              <a:srgbClr val="FFFFFF"/>
            </a:solidFill>
            <a:prstDash val="solid"/>
          </a:ln>
        </p:spPr>
      </p:sp>
      <p:sp>
        <p:nvSpPr>
          <p:cNvPr id="28" name="Text 20"/>
          <p:cNvSpPr txBox="1"/>
          <p:nvPr/>
        </p:nvSpPr>
        <p:spPr>
          <a:xfrm>
            <a:off x="9972789" y="16733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Shape 21"/>
          <p:cNvSpPr/>
          <p:nvPr/>
        </p:nvSpPr>
        <p:spPr>
          <a:xfrm>
            <a:off x="8915171" y="3355848"/>
            <a:ext cx="2682164" cy="457200"/>
          </a:xfrm>
          <a:prstGeom prst="homePlate">
            <a:avLst/>
          </a:prstGeom>
          <a:solidFill>
            <a:srgbClr val="B5501F"/>
          </a:solidFill>
          <a:ln w="12700">
            <a:solidFill>
              <a:srgbClr val="B5501F"/>
            </a:solidFill>
            <a:prstDash val="solid"/>
          </a:ln>
        </p:spPr>
      </p:sp>
      <p:sp>
        <p:nvSpPr>
          <p:cNvPr id="30" name="Text 22"/>
          <p:cNvSpPr txBox="1"/>
          <p:nvPr/>
        </p:nvSpPr>
        <p:spPr>
          <a:xfrm>
            <a:off x="8960891" y="3355848"/>
            <a:ext cx="2407844"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점검 우선순위 지도</a:t>
            </a:r>
            <a:endParaRPr lang="en-US" sz="1400" dirty="0"/>
          </a:p>
        </p:txBody>
      </p:sp>
      <p:sp>
        <p:nvSpPr>
          <p:cNvPr id="31" name="Text 23"/>
          <p:cNvSpPr txBox="1"/>
          <p:nvPr/>
        </p:nvSpPr>
        <p:spPr>
          <a:xfrm>
            <a:off x="9357055" y="1078992"/>
            <a:ext cx="2286000" cy="228600"/>
          </a:xfrm>
          <a:prstGeom prst="rect">
            <a:avLst/>
          </a:prstGeom>
          <a:noFill/>
          <a:ln/>
        </p:spPr>
        <p:txBody>
          <a:bodyPr wrap="square" lIns="0" tIns="0" rIns="0" bIns="0" rtlCol="0" anchor="t"/>
          <a:lstStyle/>
          <a:p>
            <a:pPr marL="0" indent="0" algn="r">
              <a:buNone/>
            </a:pPr>
            <a:r>
              <a:rPr lang="en-US" sz="1000" i="1" dirty="0">
                <a:solidFill>
                  <a:srgbClr val="A3A7AD"/>
                </a:solidFill>
                <a:latin typeface="맑은 고딕" pitchFamily="34" charset="0"/>
                <a:ea typeface="맑은 고딕" pitchFamily="34" charset="-122"/>
                <a:cs typeface="맑은 고딕" pitchFamily="34" charset="-120"/>
              </a:rPr>
              <a:t>예시 화면 (개념도)</a:t>
            </a:r>
            <a:endParaRPr lang="en-US" sz="1000" dirty="0"/>
          </a:p>
        </p:txBody>
      </p:sp>
      <p:sp>
        <p:nvSpPr>
          <p:cNvPr id="32" name="Shape 24"/>
          <p:cNvSpPr/>
          <p:nvPr/>
        </p:nvSpPr>
        <p:spPr>
          <a:xfrm>
            <a:off x="868680" y="4480560"/>
            <a:ext cx="4998568" cy="1508760"/>
          </a:xfrm>
          <a:prstGeom prst="roundRect">
            <a:avLst>
              <a:gd name="adj" fmla="val 4848"/>
            </a:avLst>
          </a:prstGeom>
          <a:solidFill>
            <a:srgbClr val="FFFFFF"/>
          </a:solidFill>
          <a:ln w="12700">
            <a:solidFill>
              <a:srgbClr val="D9DCE0"/>
            </a:solidFill>
            <a:prstDash val="solid"/>
          </a:ln>
        </p:spPr>
      </p:sp>
      <p:sp>
        <p:nvSpPr>
          <p:cNvPr id="33" name="Shape 25"/>
          <p:cNvSpPr/>
          <p:nvPr/>
        </p:nvSpPr>
        <p:spPr>
          <a:xfrm>
            <a:off x="868680" y="4480560"/>
            <a:ext cx="4998568" cy="438912"/>
          </a:xfrm>
          <a:prstGeom prst="rect">
            <a:avLst/>
          </a:prstGeom>
          <a:solidFill>
            <a:srgbClr val="B5501F"/>
          </a:solidFill>
          <a:ln w="12700">
            <a:solidFill>
              <a:srgbClr val="B5501F"/>
            </a:solidFill>
            <a:prstDash val="solid"/>
          </a:ln>
        </p:spPr>
      </p:sp>
      <p:sp>
        <p:nvSpPr>
          <p:cNvPr id="34" name="Text 26"/>
          <p:cNvSpPr txBox="1"/>
          <p:nvPr/>
        </p:nvSpPr>
        <p:spPr>
          <a:xfrm>
            <a:off x="1920240" y="4480560"/>
            <a:ext cx="4129888" cy="438912"/>
          </a:xfrm>
          <a:prstGeom prst="rect">
            <a:avLst/>
          </a:prstGeom>
          <a:noFill/>
          <a:ln/>
        </p:spPr>
        <p:txBody>
          <a:bodyPr wrap="square" lIns="0" tIns="0" rIns="0" bIns="0"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사진 한 장으로 비파괴 · 원격 판정</a:t>
            </a:r>
            <a:endParaRPr lang="en-US" sz="1500" dirty="0"/>
          </a:p>
        </p:txBody>
      </p:sp>
      <p:sp>
        <p:nvSpPr>
          <p:cNvPr id="35" name="Shape 27"/>
          <p:cNvSpPr/>
          <p:nvPr/>
        </p:nvSpPr>
        <p:spPr>
          <a:xfrm>
            <a:off x="548640" y="4297680"/>
            <a:ext cx="960120" cy="960120"/>
          </a:xfrm>
          <a:prstGeom prst="ellipse">
            <a:avLst/>
          </a:prstGeom>
          <a:solidFill>
            <a:srgbClr val="B5501F"/>
          </a:solidFill>
          <a:ln w="38100">
            <a:solidFill>
              <a:srgbClr val="FFFFFF"/>
            </a:solidFill>
            <a:prstDash val="solid"/>
          </a:ln>
        </p:spPr>
      </p:sp>
      <p:sp>
        <p:nvSpPr>
          <p:cNvPr id="36" name="Text 28"/>
          <p:cNvSpPr txBox="1"/>
          <p:nvPr/>
        </p:nvSpPr>
        <p:spPr>
          <a:xfrm>
            <a:off x="548640" y="4297680"/>
            <a:ext cx="960120" cy="960120"/>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차별성 1</a:t>
            </a:r>
            <a:endParaRPr lang="en-US" sz="1300" dirty="0"/>
          </a:p>
        </p:txBody>
      </p:sp>
      <p:sp>
        <p:nvSpPr>
          <p:cNvPr id="37" name="Shape 29"/>
          <p:cNvSpPr/>
          <p:nvPr/>
        </p:nvSpPr>
        <p:spPr>
          <a:xfrm>
            <a:off x="1920240" y="5102352"/>
            <a:ext cx="329184" cy="329184"/>
          </a:xfrm>
          <a:prstGeom prst="ellipse">
            <a:avLst/>
          </a:prstGeom>
          <a:solidFill>
            <a:srgbClr val="B5501F"/>
          </a:solidFill>
          <a:ln w="12700">
            <a:solidFill>
              <a:srgbClr val="B5501F"/>
            </a:solidFill>
            <a:prstDash val="solid"/>
          </a:ln>
        </p:spPr>
      </p:sp>
      <p:pic>
        <p:nvPicPr>
          <p:cNvPr id="38" name="Image 6" descr="preencoded.png"/>
          <p:cNvPicPr>
            <a:picLocks noChangeAspect="1"/>
          </p:cNvPicPr>
          <p:nvPr/>
        </p:nvPicPr>
        <p:blipFill>
          <a:blip r:embed="rId7"/>
          <a:stretch>
            <a:fillRect/>
          </a:stretch>
        </p:blipFill>
        <p:spPr>
          <a:xfrm>
            <a:off x="2005828" y="5187940"/>
            <a:ext cx="158008" cy="158008"/>
          </a:xfrm>
          <a:prstGeom prst="rect">
            <a:avLst/>
          </a:prstGeom>
        </p:spPr>
      </p:pic>
      <p:sp>
        <p:nvSpPr>
          <p:cNvPr id="39" name="Text 30"/>
          <p:cNvSpPr txBox="1"/>
          <p:nvPr/>
        </p:nvSpPr>
        <p:spPr>
          <a:xfrm>
            <a:off x="2359152" y="5102352"/>
            <a:ext cx="3398368" cy="329184"/>
          </a:xfrm>
          <a:prstGeom prst="rect">
            <a:avLst/>
          </a:prstGeom>
          <a:noFill/>
          <a:ln/>
        </p:spPr>
        <p:txBody>
          <a:bodyPr wrap="square" lIns="0" tIns="0" rIns="0" bIns="0" rtlCol="0" anchor="ctr"/>
          <a:lstStyle/>
          <a:p>
            <a:pPr marL="0" indent="0">
              <a:buNone/>
            </a:pPr>
            <a:r>
              <a:rPr lang="en-US" sz="1350" dirty="0">
                <a:solidFill>
                  <a:srgbClr val="2B2D31"/>
                </a:solidFill>
                <a:latin typeface="맑은 고딕" pitchFamily="34" charset="0"/>
                <a:ea typeface="맑은 고딕" pitchFamily="34" charset="-122"/>
                <a:cs typeface="맑은 고딕" pitchFamily="34" charset="-120"/>
              </a:rPr>
              <a:t>시편 절단 · 실험실 분석 없이 판정</a:t>
            </a:r>
            <a:endParaRPr lang="en-US" sz="1350" dirty="0"/>
          </a:p>
        </p:txBody>
      </p:sp>
      <p:sp>
        <p:nvSpPr>
          <p:cNvPr id="40" name="Shape 31"/>
          <p:cNvSpPr/>
          <p:nvPr/>
        </p:nvSpPr>
        <p:spPr>
          <a:xfrm>
            <a:off x="1920240" y="5532120"/>
            <a:ext cx="329184" cy="329184"/>
          </a:xfrm>
          <a:prstGeom prst="ellipse">
            <a:avLst/>
          </a:prstGeom>
          <a:solidFill>
            <a:srgbClr val="B5501F"/>
          </a:solidFill>
          <a:ln w="12700">
            <a:solidFill>
              <a:srgbClr val="B5501F"/>
            </a:solidFill>
            <a:prstDash val="solid"/>
          </a:ln>
        </p:spPr>
      </p:sp>
      <p:pic>
        <p:nvPicPr>
          <p:cNvPr id="41" name="Image 7" descr="preencoded.png"/>
          <p:cNvPicPr>
            <a:picLocks noChangeAspect="1"/>
          </p:cNvPicPr>
          <p:nvPr/>
        </p:nvPicPr>
        <p:blipFill>
          <a:blip r:embed="rId8"/>
          <a:stretch>
            <a:fillRect/>
          </a:stretch>
        </p:blipFill>
        <p:spPr>
          <a:xfrm>
            <a:off x="2005828" y="5617708"/>
            <a:ext cx="158008" cy="158008"/>
          </a:xfrm>
          <a:prstGeom prst="rect">
            <a:avLst/>
          </a:prstGeom>
        </p:spPr>
      </p:pic>
      <p:sp>
        <p:nvSpPr>
          <p:cNvPr id="42" name="Text 32"/>
          <p:cNvSpPr txBox="1"/>
          <p:nvPr/>
        </p:nvSpPr>
        <p:spPr>
          <a:xfrm>
            <a:off x="2359152" y="5532120"/>
            <a:ext cx="3398368" cy="329184"/>
          </a:xfrm>
          <a:prstGeom prst="rect">
            <a:avLst/>
          </a:prstGeom>
          <a:noFill/>
          <a:ln/>
        </p:spPr>
        <p:txBody>
          <a:bodyPr wrap="square" lIns="0" tIns="0" rIns="0" bIns="0" rtlCol="0" anchor="ctr"/>
          <a:lstStyle/>
          <a:p>
            <a:pPr marL="0" indent="0">
              <a:buNone/>
            </a:pPr>
            <a:r>
              <a:rPr lang="en-US" sz="1350" dirty="0">
                <a:solidFill>
                  <a:srgbClr val="2B2D31"/>
                </a:solidFill>
                <a:latin typeface="맑은 고딕" pitchFamily="34" charset="0"/>
                <a:ea typeface="맑은 고딕" pitchFamily="34" charset="-122"/>
                <a:cs typeface="맑은 고딕" pitchFamily="34" charset="-120"/>
              </a:rPr>
              <a:t>접근 어려운 비말대도 드론으로 촬영</a:t>
            </a:r>
            <a:endParaRPr lang="en-US" sz="1350" dirty="0"/>
          </a:p>
        </p:txBody>
      </p:sp>
      <p:sp>
        <p:nvSpPr>
          <p:cNvPr id="43" name="Shape 33"/>
          <p:cNvSpPr/>
          <p:nvPr/>
        </p:nvSpPr>
        <p:spPr>
          <a:xfrm>
            <a:off x="6644488" y="4480560"/>
            <a:ext cx="4998568" cy="1508760"/>
          </a:xfrm>
          <a:prstGeom prst="roundRect">
            <a:avLst>
              <a:gd name="adj" fmla="val 4848"/>
            </a:avLst>
          </a:prstGeom>
          <a:solidFill>
            <a:srgbClr val="FFFFFF"/>
          </a:solidFill>
          <a:ln w="12700">
            <a:solidFill>
              <a:srgbClr val="D9DCE0"/>
            </a:solidFill>
            <a:prstDash val="solid"/>
          </a:ln>
        </p:spPr>
      </p:sp>
      <p:sp>
        <p:nvSpPr>
          <p:cNvPr id="44" name="Shape 34"/>
          <p:cNvSpPr/>
          <p:nvPr/>
        </p:nvSpPr>
        <p:spPr>
          <a:xfrm>
            <a:off x="6644488" y="4480560"/>
            <a:ext cx="4998568" cy="438912"/>
          </a:xfrm>
          <a:prstGeom prst="rect">
            <a:avLst/>
          </a:prstGeom>
          <a:solidFill>
            <a:srgbClr val="2B2D31"/>
          </a:solidFill>
          <a:ln w="12700">
            <a:solidFill>
              <a:srgbClr val="2B2D31"/>
            </a:solidFill>
            <a:prstDash val="solid"/>
          </a:ln>
        </p:spPr>
      </p:sp>
      <p:sp>
        <p:nvSpPr>
          <p:cNvPr id="45" name="Text 35"/>
          <p:cNvSpPr txBox="1"/>
          <p:nvPr/>
        </p:nvSpPr>
        <p:spPr>
          <a:xfrm>
            <a:off x="7696048" y="4480560"/>
            <a:ext cx="4129888" cy="438912"/>
          </a:xfrm>
          <a:prstGeom prst="rect">
            <a:avLst/>
          </a:prstGeom>
          <a:noFill/>
          <a:ln/>
        </p:spPr>
        <p:txBody>
          <a:bodyPr wrap="square" lIns="0" tIns="0" rIns="0" bIns="0"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규제 주기 안에서 자원 배치 최적화</a:t>
            </a:r>
            <a:endParaRPr lang="en-US" sz="1500" dirty="0"/>
          </a:p>
        </p:txBody>
      </p:sp>
      <p:sp>
        <p:nvSpPr>
          <p:cNvPr id="46" name="Shape 36"/>
          <p:cNvSpPr/>
          <p:nvPr/>
        </p:nvSpPr>
        <p:spPr>
          <a:xfrm>
            <a:off x="6324448" y="4297680"/>
            <a:ext cx="960120" cy="960120"/>
          </a:xfrm>
          <a:prstGeom prst="ellipse">
            <a:avLst/>
          </a:prstGeom>
          <a:solidFill>
            <a:srgbClr val="2B2D31"/>
          </a:solidFill>
          <a:ln w="38100">
            <a:solidFill>
              <a:srgbClr val="FFFFFF"/>
            </a:solidFill>
            <a:prstDash val="solid"/>
          </a:ln>
        </p:spPr>
      </p:sp>
      <p:sp>
        <p:nvSpPr>
          <p:cNvPr id="47" name="Text 37"/>
          <p:cNvSpPr txBox="1"/>
          <p:nvPr/>
        </p:nvSpPr>
        <p:spPr>
          <a:xfrm>
            <a:off x="6324448" y="4297680"/>
            <a:ext cx="960120" cy="960120"/>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차별성 2</a:t>
            </a:r>
            <a:endParaRPr lang="en-US" sz="1300" dirty="0"/>
          </a:p>
        </p:txBody>
      </p:sp>
      <p:sp>
        <p:nvSpPr>
          <p:cNvPr id="48" name="Shape 38"/>
          <p:cNvSpPr/>
          <p:nvPr/>
        </p:nvSpPr>
        <p:spPr>
          <a:xfrm>
            <a:off x="7696048" y="5102352"/>
            <a:ext cx="329184" cy="329184"/>
          </a:xfrm>
          <a:prstGeom prst="ellipse">
            <a:avLst/>
          </a:prstGeom>
          <a:solidFill>
            <a:srgbClr val="2B2D31"/>
          </a:solidFill>
          <a:ln w="12700">
            <a:solidFill>
              <a:srgbClr val="2B2D31"/>
            </a:solidFill>
            <a:prstDash val="solid"/>
          </a:ln>
        </p:spPr>
      </p:sp>
      <p:pic>
        <p:nvPicPr>
          <p:cNvPr id="49" name="Image 8" descr="preencoded.png"/>
          <p:cNvPicPr>
            <a:picLocks noChangeAspect="1"/>
          </p:cNvPicPr>
          <p:nvPr/>
        </p:nvPicPr>
        <p:blipFill>
          <a:blip r:embed="rId9"/>
          <a:stretch>
            <a:fillRect/>
          </a:stretch>
        </p:blipFill>
        <p:spPr>
          <a:xfrm>
            <a:off x="7781635" y="5187940"/>
            <a:ext cx="158008" cy="158008"/>
          </a:xfrm>
          <a:prstGeom prst="rect">
            <a:avLst/>
          </a:prstGeom>
        </p:spPr>
      </p:pic>
      <p:sp>
        <p:nvSpPr>
          <p:cNvPr id="50" name="Text 39"/>
          <p:cNvSpPr txBox="1"/>
          <p:nvPr/>
        </p:nvSpPr>
        <p:spPr>
          <a:xfrm>
            <a:off x="8134960" y="5102352"/>
            <a:ext cx="3398368" cy="329184"/>
          </a:xfrm>
          <a:prstGeom prst="rect">
            <a:avLst/>
          </a:prstGeom>
          <a:noFill/>
          <a:ln/>
        </p:spPr>
        <p:txBody>
          <a:bodyPr wrap="square" lIns="0" tIns="0" rIns="0" bIns="0" rtlCol="0" anchor="ctr"/>
          <a:lstStyle/>
          <a:p>
            <a:pPr marL="0" indent="0">
              <a:buNone/>
            </a:pPr>
            <a:r>
              <a:rPr lang="en-US" sz="1350" dirty="0">
                <a:solidFill>
                  <a:srgbClr val="2B2D31"/>
                </a:solidFill>
                <a:latin typeface="맑은 고딕" pitchFamily="34" charset="0"/>
                <a:ea typeface="맑은 고딕" pitchFamily="34" charset="-122"/>
                <a:cs typeface="맑은 고딕" pitchFamily="34" charset="-120"/>
              </a:rPr>
              <a:t>위험 지점부터 사람 · 배 · 리프트 투입</a:t>
            </a:r>
            <a:endParaRPr lang="en-US" sz="1350" dirty="0"/>
          </a:p>
        </p:txBody>
      </p:sp>
      <p:sp>
        <p:nvSpPr>
          <p:cNvPr id="51" name="Shape 40"/>
          <p:cNvSpPr/>
          <p:nvPr/>
        </p:nvSpPr>
        <p:spPr>
          <a:xfrm>
            <a:off x="7696048" y="5532120"/>
            <a:ext cx="329184" cy="329184"/>
          </a:xfrm>
          <a:prstGeom prst="ellipse">
            <a:avLst/>
          </a:prstGeom>
          <a:solidFill>
            <a:srgbClr val="2B2D31"/>
          </a:solidFill>
          <a:ln w="12700">
            <a:solidFill>
              <a:srgbClr val="2B2D31"/>
            </a:solidFill>
            <a:prstDash val="solid"/>
          </a:ln>
        </p:spPr>
      </p:sp>
      <p:pic>
        <p:nvPicPr>
          <p:cNvPr id="52" name="Image 9" descr="preencoded.png"/>
          <p:cNvPicPr>
            <a:picLocks noChangeAspect="1"/>
          </p:cNvPicPr>
          <p:nvPr/>
        </p:nvPicPr>
        <p:blipFill>
          <a:blip r:embed="rId10"/>
          <a:stretch>
            <a:fillRect/>
          </a:stretch>
        </p:blipFill>
        <p:spPr>
          <a:xfrm>
            <a:off x="7781635" y="5617708"/>
            <a:ext cx="158008" cy="158008"/>
          </a:xfrm>
          <a:prstGeom prst="rect">
            <a:avLst/>
          </a:prstGeom>
        </p:spPr>
      </p:pic>
      <p:sp>
        <p:nvSpPr>
          <p:cNvPr id="53" name="Text 41"/>
          <p:cNvSpPr txBox="1"/>
          <p:nvPr/>
        </p:nvSpPr>
        <p:spPr>
          <a:xfrm>
            <a:off x="8134960" y="5532120"/>
            <a:ext cx="3398368" cy="329184"/>
          </a:xfrm>
          <a:prstGeom prst="rect">
            <a:avLst/>
          </a:prstGeom>
          <a:noFill/>
          <a:ln/>
        </p:spPr>
        <p:txBody>
          <a:bodyPr wrap="square" lIns="0" tIns="0" rIns="0" bIns="0" rtlCol="0" anchor="ctr"/>
          <a:lstStyle/>
          <a:p>
            <a:pPr marL="0" indent="0">
              <a:buNone/>
            </a:pPr>
            <a:r>
              <a:rPr lang="en-US" sz="1350" dirty="0">
                <a:solidFill>
                  <a:srgbClr val="2B2D31"/>
                </a:solidFill>
                <a:latin typeface="맑은 고딕" pitchFamily="34" charset="0"/>
                <a:ea typeface="맑은 고딕" pitchFamily="34" charset="-122"/>
                <a:cs typeface="맑은 고딕" pitchFamily="34" charset="-120"/>
              </a:rPr>
              <a:t>로프 액세스 출동 여부 사전 판단</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TECHNOLOGY  ·  실험실 검증</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색으로 추적하는 부식 속도</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6</a:t>
            </a:r>
            <a:endParaRPr lang="en-US" sz="900" dirty="0"/>
          </a:p>
        </p:txBody>
      </p:sp>
      <p:sp>
        <p:nvSpPr>
          <p:cNvPr id="6" name="Text 4"/>
          <p:cNvSpPr txBox="1"/>
          <p:nvPr/>
        </p:nvSpPr>
        <p:spPr>
          <a:xfrm>
            <a:off x="7528255" y="1051560"/>
            <a:ext cx="4114800" cy="228600"/>
          </a:xfrm>
          <a:prstGeom prst="rect">
            <a:avLst/>
          </a:prstGeom>
          <a:noFill/>
          <a:ln/>
        </p:spPr>
        <p:txBody>
          <a:bodyPr wrap="square" lIns="0" tIns="0" rIns="0" bIns="0" rtlCol="0" anchor="t"/>
          <a:lstStyle/>
          <a:p>
            <a:pPr marL="0" indent="0" algn="r">
              <a:buNone/>
            </a:pPr>
            <a:r>
              <a:rPr lang="en-US" sz="1000" i="1" dirty="0">
                <a:solidFill>
                  <a:srgbClr val="A3A7AD"/>
                </a:solidFill>
                <a:latin typeface="맑은 고딕" pitchFamily="34" charset="0"/>
                <a:ea typeface="맑은 고딕" pitchFamily="34" charset="-122"/>
                <a:cs typeface="맑은 고딕" pitchFamily="34" charset="-120"/>
              </a:rPr>
              <a:t>탄소강 · 240시간 촉진부식 · 단계별 평균값</a:t>
            </a:r>
            <a:endParaRPr lang="en-US" sz="1000" dirty="0"/>
          </a:p>
        </p:txBody>
      </p:sp>
      <p:sp>
        <p:nvSpPr>
          <p:cNvPr id="7" name="Shape 5"/>
          <p:cNvSpPr/>
          <p:nvPr/>
        </p:nvSpPr>
        <p:spPr>
          <a:xfrm>
            <a:off x="548640" y="1417320"/>
            <a:ext cx="3246120" cy="3931920"/>
          </a:xfrm>
          <a:prstGeom prst="roundRect">
            <a:avLst>
              <a:gd name="adj" fmla="val 2254"/>
            </a:avLst>
          </a:prstGeom>
          <a:solidFill>
            <a:srgbClr val="F3F4F6"/>
          </a:solidFill>
          <a:ln w="12700">
            <a:solidFill>
              <a:srgbClr val="F3F4F6"/>
            </a:solidFill>
            <a:prstDash val="solid"/>
          </a:ln>
        </p:spPr>
      </p:sp>
      <p:sp>
        <p:nvSpPr>
          <p:cNvPr id="8" name="Shape 6"/>
          <p:cNvSpPr/>
          <p:nvPr/>
        </p:nvSpPr>
        <p:spPr>
          <a:xfrm>
            <a:off x="777240" y="1645920"/>
            <a:ext cx="1417320" cy="329184"/>
          </a:xfrm>
          <a:prstGeom prst="roundRect">
            <a:avLst>
              <a:gd name="adj" fmla="val 50000"/>
            </a:avLst>
          </a:prstGeom>
          <a:solidFill>
            <a:srgbClr val="3A6EA5"/>
          </a:solidFill>
          <a:ln w="12700">
            <a:solidFill>
              <a:srgbClr val="3A6EA5"/>
            </a:solidFill>
            <a:prstDash val="solid"/>
          </a:ln>
        </p:spPr>
      </p:sp>
      <p:sp>
        <p:nvSpPr>
          <p:cNvPr id="9" name="Text 7"/>
          <p:cNvSpPr txBox="1"/>
          <p:nvPr/>
        </p:nvSpPr>
        <p:spPr>
          <a:xfrm>
            <a:off x="777240" y="1645920"/>
            <a:ext cx="1417320" cy="329184"/>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위험도  낮음</a:t>
            </a:r>
            <a:endParaRPr lang="en-US" sz="1250" dirty="0"/>
          </a:p>
        </p:txBody>
      </p:sp>
      <p:sp>
        <p:nvSpPr>
          <p:cNvPr id="10" name="Text 8"/>
          <p:cNvSpPr txBox="1"/>
          <p:nvPr/>
        </p:nvSpPr>
        <p:spPr>
          <a:xfrm>
            <a:off x="2377440" y="1645920"/>
            <a:ext cx="1188720" cy="329184"/>
          </a:xfrm>
          <a:prstGeom prst="rect">
            <a:avLst/>
          </a:prstGeom>
          <a:noFill/>
          <a:ln/>
        </p:spPr>
        <p:txBody>
          <a:bodyPr wrap="square" lIns="0" tIns="0" rIns="0" bIns="0" rtlCol="0" anchor="ctr"/>
          <a:lstStyle/>
          <a:p>
            <a:pPr marL="0" indent="0" algn="r">
              <a:buNone/>
            </a:pPr>
            <a:r>
              <a:rPr lang="en-US" sz="1200" dirty="0">
                <a:solidFill>
                  <a:srgbClr val="6B6F76"/>
                </a:solidFill>
                <a:latin typeface="맑은 고딕" pitchFamily="34" charset="0"/>
                <a:ea typeface="맑은 고딕" pitchFamily="34" charset="-122"/>
                <a:cs typeface="맑은 고딕" pitchFamily="34" charset="-120"/>
              </a:rPr>
              <a:t>24시간</a:t>
            </a:r>
            <a:endParaRPr lang="en-US" sz="1200" dirty="0"/>
          </a:p>
        </p:txBody>
      </p:sp>
      <p:pic>
        <p:nvPicPr>
          <p:cNvPr id="11" name="Image 0" descr="/home/user/PPT/src/img/photo_3.png"/>
          <p:cNvPicPr>
            <a:picLocks noChangeAspect="1"/>
          </p:cNvPicPr>
          <p:nvPr/>
        </p:nvPicPr>
        <p:blipFill>
          <a:blip r:embed="rId3"/>
          <a:stretch>
            <a:fillRect/>
          </a:stretch>
        </p:blipFill>
        <p:spPr>
          <a:xfrm>
            <a:off x="1325880" y="2148840"/>
            <a:ext cx="1691640" cy="1691640"/>
          </a:xfrm>
          <a:prstGeom prst="rect">
            <a:avLst/>
          </a:prstGeom>
        </p:spPr>
      </p:pic>
      <p:sp>
        <p:nvSpPr>
          <p:cNvPr id="12" name="Shape 9"/>
          <p:cNvSpPr/>
          <p:nvPr/>
        </p:nvSpPr>
        <p:spPr>
          <a:xfrm>
            <a:off x="777240" y="4023360"/>
            <a:ext cx="1325880" cy="685800"/>
          </a:xfrm>
          <a:prstGeom prst="rect">
            <a:avLst/>
          </a:prstGeom>
          <a:solidFill>
            <a:srgbClr val="4B4A48"/>
          </a:solidFill>
          <a:ln w="12700">
            <a:solidFill>
              <a:srgbClr val="4B4A48"/>
            </a:solidFill>
            <a:prstDash val="solid"/>
          </a:ln>
        </p:spPr>
      </p:sp>
      <p:sp>
        <p:nvSpPr>
          <p:cNvPr id="13" name="Text 10"/>
          <p:cNvSpPr txBox="1"/>
          <p:nvPr/>
        </p:nvSpPr>
        <p:spPr>
          <a:xfrm>
            <a:off x="868680" y="4078224"/>
            <a:ext cx="1143000" cy="228600"/>
          </a:xfrm>
          <a:prstGeom prst="rect">
            <a:avLst/>
          </a:prstGeom>
          <a:noFill/>
          <a:ln/>
        </p:spPr>
        <p:txBody>
          <a:bodyPr wrap="square" lIns="0" tIns="0" rIns="0" bIns="0" rtlCol="0" anchor="t"/>
          <a:lstStyle/>
          <a:p>
            <a:pPr marL="0" indent="0">
              <a:buNone/>
            </a:pPr>
            <a:r>
              <a:rPr lang="en-US" sz="1050" dirty="0">
                <a:solidFill>
                  <a:srgbClr val="D5D7DA"/>
                </a:solidFill>
                <a:latin typeface="맑은 고딕" pitchFamily="34" charset="0"/>
                <a:ea typeface="맑은 고딕" pitchFamily="34" charset="-122"/>
                <a:cs typeface="맑은 고딕" pitchFamily="34" charset="-120"/>
              </a:rPr>
              <a:t>녹의 색</a:t>
            </a:r>
            <a:endParaRPr lang="en-US" sz="1050" dirty="0"/>
          </a:p>
        </p:txBody>
      </p:sp>
      <p:sp>
        <p:nvSpPr>
          <p:cNvPr id="14" name="Text 11"/>
          <p:cNvSpPr txBox="1"/>
          <p:nvPr/>
        </p:nvSpPr>
        <p:spPr>
          <a:xfrm>
            <a:off x="868680" y="4297680"/>
            <a:ext cx="1143000"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b* 1.7</a:t>
            </a:r>
            <a:endParaRPr lang="en-US" sz="1800" dirty="0"/>
          </a:p>
        </p:txBody>
      </p:sp>
      <p:sp>
        <p:nvSpPr>
          <p:cNvPr id="15" name="Shape 12"/>
          <p:cNvSpPr/>
          <p:nvPr/>
        </p:nvSpPr>
        <p:spPr>
          <a:xfrm>
            <a:off x="2240280" y="4023360"/>
            <a:ext cx="1325880" cy="685800"/>
          </a:xfrm>
          <a:prstGeom prst="rect">
            <a:avLst/>
          </a:prstGeom>
          <a:solidFill>
            <a:srgbClr val="FFFFFF"/>
          </a:solidFill>
          <a:ln w="12700">
            <a:solidFill>
              <a:srgbClr val="D9DCE0"/>
            </a:solidFill>
            <a:prstDash val="solid"/>
          </a:ln>
        </p:spPr>
      </p:sp>
      <p:sp>
        <p:nvSpPr>
          <p:cNvPr id="16" name="Text 13"/>
          <p:cNvSpPr txBox="1"/>
          <p:nvPr/>
        </p:nvSpPr>
        <p:spPr>
          <a:xfrm>
            <a:off x="2331720" y="4078224"/>
            <a:ext cx="1143000" cy="228600"/>
          </a:xfrm>
          <a:prstGeom prst="rect">
            <a:avLst/>
          </a:prstGeom>
          <a:noFill/>
          <a:ln/>
        </p:spPr>
        <p:txBody>
          <a:bodyPr wrap="square" lIns="0" tIns="0" rIns="0" bIns="0" rtlCol="0" anchor="t"/>
          <a:lstStyle/>
          <a:p>
            <a:pPr marL="0" indent="0">
              <a:buNone/>
            </a:pPr>
            <a:r>
              <a:rPr lang="en-US" sz="1050" dirty="0">
                <a:solidFill>
                  <a:srgbClr val="6B6F76"/>
                </a:solidFill>
                <a:latin typeface="맑은 고딕" pitchFamily="34" charset="0"/>
                <a:ea typeface="맑은 고딕" pitchFamily="34" charset="-122"/>
                <a:cs typeface="맑은 고딕" pitchFamily="34" charset="-120"/>
              </a:rPr>
              <a:t>부식 속도</a:t>
            </a:r>
            <a:endParaRPr lang="en-US" sz="1050" dirty="0"/>
          </a:p>
        </p:txBody>
      </p:sp>
      <p:sp>
        <p:nvSpPr>
          <p:cNvPr id="17" name="Text 14"/>
          <p:cNvSpPr txBox="1"/>
          <p:nvPr/>
        </p:nvSpPr>
        <p:spPr>
          <a:xfrm>
            <a:off x="2331720" y="4297680"/>
            <a:ext cx="1143000" cy="365760"/>
          </a:xfrm>
          <a:prstGeom prst="rect">
            <a:avLst/>
          </a:prstGeom>
          <a:noFill/>
          <a:ln/>
        </p:spPr>
        <p:txBody>
          <a:bodyPr wrap="square" lIns="0" tIns="0" rIns="0" bIns="0" rtlCol="0" anchor="ctr"/>
          <a:lstStyle/>
          <a:p>
            <a:pPr marL="0" indent="0">
              <a:buNone/>
            </a:pPr>
            <a:r>
              <a:rPr lang="en-US" sz="1800" b="1" dirty="0">
                <a:solidFill>
                  <a:srgbClr val="3A6EA5"/>
                </a:solidFill>
                <a:latin typeface="맑은 고딕" pitchFamily="34" charset="0"/>
                <a:ea typeface="맑은 고딕" pitchFamily="34" charset="-122"/>
                <a:cs typeface="맑은 고딕" pitchFamily="34" charset="-120"/>
              </a:rPr>
              <a:t>0.34</a:t>
            </a:r>
            <a:r>
              <a:rPr lang="en-US" sz="1100" dirty="0">
                <a:solidFill>
                  <a:srgbClr val="6B6F76"/>
                </a:solidFill>
                <a:latin typeface="맑은 고딕" pitchFamily="34" charset="0"/>
                <a:ea typeface="맑은 고딕" pitchFamily="34" charset="-122"/>
                <a:cs typeface="맑은 고딕" pitchFamily="34" charset="-120"/>
              </a:rPr>
              <a:t> mm/년</a:t>
            </a:r>
            <a:endParaRPr lang="en-US" sz="1400" dirty="0"/>
          </a:p>
        </p:txBody>
      </p:sp>
      <p:sp>
        <p:nvSpPr>
          <p:cNvPr id="18" name="Shape 15"/>
          <p:cNvSpPr/>
          <p:nvPr/>
        </p:nvSpPr>
        <p:spPr>
          <a:xfrm>
            <a:off x="777240" y="4910328"/>
            <a:ext cx="2788920" cy="182880"/>
          </a:xfrm>
          <a:prstGeom prst="roundRect">
            <a:avLst>
              <a:gd name="adj" fmla="val 50000"/>
            </a:avLst>
          </a:prstGeom>
          <a:solidFill>
            <a:srgbClr val="E2E4E8"/>
          </a:solidFill>
          <a:ln w="12700">
            <a:solidFill>
              <a:srgbClr val="E2E4E8"/>
            </a:solidFill>
            <a:prstDash val="solid"/>
          </a:ln>
        </p:spPr>
      </p:sp>
      <p:sp>
        <p:nvSpPr>
          <p:cNvPr id="19" name="Shape 16"/>
          <p:cNvSpPr/>
          <p:nvPr/>
        </p:nvSpPr>
        <p:spPr>
          <a:xfrm>
            <a:off x="777240" y="4910328"/>
            <a:ext cx="653954" cy="182880"/>
          </a:xfrm>
          <a:prstGeom prst="roundRect">
            <a:avLst>
              <a:gd name="adj" fmla="val 50000"/>
            </a:avLst>
          </a:prstGeom>
          <a:solidFill>
            <a:srgbClr val="3A6EA5"/>
          </a:solidFill>
          <a:ln w="12700">
            <a:solidFill>
              <a:srgbClr val="3A6EA5"/>
            </a:solidFill>
            <a:prstDash val="solid"/>
          </a:ln>
        </p:spPr>
      </p:sp>
      <p:pic>
        <p:nvPicPr>
          <p:cNvPr id="20" name="Image 1" descr="preencoded.png"/>
          <p:cNvPicPr>
            <a:picLocks noChangeAspect="1"/>
          </p:cNvPicPr>
          <p:nvPr/>
        </p:nvPicPr>
        <p:blipFill>
          <a:blip r:embed="rId4"/>
          <a:stretch>
            <a:fillRect/>
          </a:stretch>
        </p:blipFill>
        <p:spPr>
          <a:xfrm>
            <a:off x="3987470" y="2834640"/>
            <a:ext cx="292608" cy="292608"/>
          </a:xfrm>
          <a:prstGeom prst="rect">
            <a:avLst/>
          </a:prstGeom>
        </p:spPr>
      </p:pic>
      <p:sp>
        <p:nvSpPr>
          <p:cNvPr id="21" name="Shape 17"/>
          <p:cNvSpPr/>
          <p:nvPr/>
        </p:nvSpPr>
        <p:spPr>
          <a:xfrm>
            <a:off x="4472788" y="1417320"/>
            <a:ext cx="3246120" cy="3931920"/>
          </a:xfrm>
          <a:prstGeom prst="roundRect">
            <a:avLst>
              <a:gd name="adj" fmla="val 2254"/>
            </a:avLst>
          </a:prstGeom>
          <a:solidFill>
            <a:srgbClr val="F3F4F6"/>
          </a:solidFill>
          <a:ln w="12700">
            <a:solidFill>
              <a:srgbClr val="F3F4F6"/>
            </a:solidFill>
            <a:prstDash val="solid"/>
          </a:ln>
        </p:spPr>
      </p:sp>
      <p:sp>
        <p:nvSpPr>
          <p:cNvPr id="22" name="Shape 18"/>
          <p:cNvSpPr/>
          <p:nvPr/>
        </p:nvSpPr>
        <p:spPr>
          <a:xfrm>
            <a:off x="4701388" y="1645920"/>
            <a:ext cx="1417320" cy="329184"/>
          </a:xfrm>
          <a:prstGeom prst="roundRect">
            <a:avLst>
              <a:gd name="adj" fmla="val 50000"/>
            </a:avLst>
          </a:prstGeom>
          <a:solidFill>
            <a:srgbClr val="3C8D5A"/>
          </a:solidFill>
          <a:ln w="12700">
            <a:solidFill>
              <a:srgbClr val="3C8D5A"/>
            </a:solidFill>
            <a:prstDash val="solid"/>
          </a:ln>
        </p:spPr>
      </p:sp>
      <p:sp>
        <p:nvSpPr>
          <p:cNvPr id="23" name="Text 19"/>
          <p:cNvSpPr txBox="1"/>
          <p:nvPr/>
        </p:nvSpPr>
        <p:spPr>
          <a:xfrm>
            <a:off x="4701388" y="1645920"/>
            <a:ext cx="1417320" cy="329184"/>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위험도  중간</a:t>
            </a:r>
            <a:endParaRPr lang="en-US" sz="1250" dirty="0"/>
          </a:p>
        </p:txBody>
      </p:sp>
      <p:sp>
        <p:nvSpPr>
          <p:cNvPr id="24" name="Text 20"/>
          <p:cNvSpPr txBox="1"/>
          <p:nvPr/>
        </p:nvSpPr>
        <p:spPr>
          <a:xfrm>
            <a:off x="6301588" y="1645920"/>
            <a:ext cx="1188720" cy="329184"/>
          </a:xfrm>
          <a:prstGeom prst="rect">
            <a:avLst/>
          </a:prstGeom>
          <a:noFill/>
          <a:ln/>
        </p:spPr>
        <p:txBody>
          <a:bodyPr wrap="square" lIns="0" tIns="0" rIns="0" bIns="0" rtlCol="0" anchor="ctr"/>
          <a:lstStyle/>
          <a:p>
            <a:pPr marL="0" indent="0" algn="r">
              <a:buNone/>
            </a:pPr>
            <a:r>
              <a:rPr lang="en-US" sz="1200" dirty="0">
                <a:solidFill>
                  <a:srgbClr val="6B6F76"/>
                </a:solidFill>
                <a:latin typeface="맑은 고딕" pitchFamily="34" charset="0"/>
                <a:ea typeface="맑은 고딕" pitchFamily="34" charset="-122"/>
                <a:cs typeface="맑은 고딕" pitchFamily="34" charset="-120"/>
              </a:rPr>
              <a:t>120시간</a:t>
            </a:r>
            <a:endParaRPr lang="en-US" sz="1200" dirty="0"/>
          </a:p>
        </p:txBody>
      </p:sp>
      <p:pic>
        <p:nvPicPr>
          <p:cNvPr id="25" name="Image 2" descr="/home/user/PPT/src/img/photo_15.png"/>
          <p:cNvPicPr>
            <a:picLocks noChangeAspect="1"/>
          </p:cNvPicPr>
          <p:nvPr/>
        </p:nvPicPr>
        <p:blipFill>
          <a:blip r:embed="rId5"/>
          <a:stretch>
            <a:fillRect/>
          </a:stretch>
        </p:blipFill>
        <p:spPr>
          <a:xfrm>
            <a:off x="5250028" y="2148840"/>
            <a:ext cx="1691640" cy="1691640"/>
          </a:xfrm>
          <a:prstGeom prst="rect">
            <a:avLst/>
          </a:prstGeom>
        </p:spPr>
      </p:pic>
      <p:sp>
        <p:nvSpPr>
          <p:cNvPr id="26" name="Shape 21"/>
          <p:cNvSpPr/>
          <p:nvPr/>
        </p:nvSpPr>
        <p:spPr>
          <a:xfrm>
            <a:off x="4701388" y="4023360"/>
            <a:ext cx="1325880" cy="685800"/>
          </a:xfrm>
          <a:prstGeom prst="rect">
            <a:avLst/>
          </a:prstGeom>
          <a:solidFill>
            <a:srgbClr val="4B4034"/>
          </a:solidFill>
          <a:ln w="12700">
            <a:solidFill>
              <a:srgbClr val="4B4034"/>
            </a:solidFill>
            <a:prstDash val="solid"/>
          </a:ln>
        </p:spPr>
      </p:sp>
      <p:sp>
        <p:nvSpPr>
          <p:cNvPr id="27" name="Text 22"/>
          <p:cNvSpPr txBox="1"/>
          <p:nvPr/>
        </p:nvSpPr>
        <p:spPr>
          <a:xfrm>
            <a:off x="4792828" y="4078224"/>
            <a:ext cx="1143000" cy="228600"/>
          </a:xfrm>
          <a:prstGeom prst="rect">
            <a:avLst/>
          </a:prstGeom>
          <a:noFill/>
          <a:ln/>
        </p:spPr>
        <p:txBody>
          <a:bodyPr wrap="square" lIns="0" tIns="0" rIns="0" bIns="0" rtlCol="0" anchor="t"/>
          <a:lstStyle/>
          <a:p>
            <a:pPr marL="0" indent="0">
              <a:buNone/>
            </a:pPr>
            <a:r>
              <a:rPr lang="en-US" sz="1050" dirty="0">
                <a:solidFill>
                  <a:srgbClr val="D5D7DA"/>
                </a:solidFill>
                <a:latin typeface="맑은 고딕" pitchFamily="34" charset="0"/>
                <a:ea typeface="맑은 고딕" pitchFamily="34" charset="-122"/>
                <a:cs typeface="맑은 고딕" pitchFamily="34" charset="-120"/>
              </a:rPr>
              <a:t>녹의 색</a:t>
            </a:r>
            <a:endParaRPr lang="en-US" sz="1050" dirty="0"/>
          </a:p>
        </p:txBody>
      </p:sp>
      <p:sp>
        <p:nvSpPr>
          <p:cNvPr id="28" name="Text 23"/>
          <p:cNvSpPr txBox="1"/>
          <p:nvPr/>
        </p:nvSpPr>
        <p:spPr>
          <a:xfrm>
            <a:off x="4792828" y="4297680"/>
            <a:ext cx="1143000"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b* 9.4</a:t>
            </a:r>
            <a:endParaRPr lang="en-US" sz="1800" dirty="0"/>
          </a:p>
        </p:txBody>
      </p:sp>
      <p:sp>
        <p:nvSpPr>
          <p:cNvPr id="29" name="Shape 24"/>
          <p:cNvSpPr/>
          <p:nvPr/>
        </p:nvSpPr>
        <p:spPr>
          <a:xfrm>
            <a:off x="6164428" y="4023360"/>
            <a:ext cx="1325880" cy="685800"/>
          </a:xfrm>
          <a:prstGeom prst="rect">
            <a:avLst/>
          </a:prstGeom>
          <a:solidFill>
            <a:srgbClr val="FFFFFF"/>
          </a:solidFill>
          <a:ln w="12700">
            <a:solidFill>
              <a:srgbClr val="D9DCE0"/>
            </a:solidFill>
            <a:prstDash val="solid"/>
          </a:ln>
        </p:spPr>
      </p:sp>
      <p:sp>
        <p:nvSpPr>
          <p:cNvPr id="30" name="Text 25"/>
          <p:cNvSpPr txBox="1"/>
          <p:nvPr/>
        </p:nvSpPr>
        <p:spPr>
          <a:xfrm>
            <a:off x="6255868" y="4078224"/>
            <a:ext cx="1143000" cy="228600"/>
          </a:xfrm>
          <a:prstGeom prst="rect">
            <a:avLst/>
          </a:prstGeom>
          <a:noFill/>
          <a:ln/>
        </p:spPr>
        <p:txBody>
          <a:bodyPr wrap="square" lIns="0" tIns="0" rIns="0" bIns="0" rtlCol="0" anchor="t"/>
          <a:lstStyle/>
          <a:p>
            <a:pPr marL="0" indent="0">
              <a:buNone/>
            </a:pPr>
            <a:r>
              <a:rPr lang="en-US" sz="1050" dirty="0">
                <a:solidFill>
                  <a:srgbClr val="6B6F76"/>
                </a:solidFill>
                <a:latin typeface="맑은 고딕" pitchFamily="34" charset="0"/>
                <a:ea typeface="맑은 고딕" pitchFamily="34" charset="-122"/>
                <a:cs typeface="맑은 고딕" pitchFamily="34" charset="-120"/>
              </a:rPr>
              <a:t>부식 속도</a:t>
            </a:r>
            <a:endParaRPr lang="en-US" sz="1050" dirty="0"/>
          </a:p>
        </p:txBody>
      </p:sp>
      <p:sp>
        <p:nvSpPr>
          <p:cNvPr id="31" name="Text 26"/>
          <p:cNvSpPr txBox="1"/>
          <p:nvPr/>
        </p:nvSpPr>
        <p:spPr>
          <a:xfrm>
            <a:off x="6255868" y="4297680"/>
            <a:ext cx="1143000" cy="365760"/>
          </a:xfrm>
          <a:prstGeom prst="rect">
            <a:avLst/>
          </a:prstGeom>
          <a:noFill/>
          <a:ln/>
        </p:spPr>
        <p:txBody>
          <a:bodyPr wrap="square" lIns="0" tIns="0" rIns="0" bIns="0" rtlCol="0" anchor="ctr"/>
          <a:lstStyle/>
          <a:p>
            <a:pPr marL="0" indent="0">
              <a:buNone/>
            </a:pPr>
            <a:r>
              <a:rPr lang="en-US" sz="1800" b="1" dirty="0">
                <a:solidFill>
                  <a:srgbClr val="3C8D5A"/>
                </a:solidFill>
                <a:latin typeface="맑은 고딕" pitchFamily="34" charset="0"/>
                <a:ea typeface="맑은 고딕" pitchFamily="34" charset="-122"/>
                <a:cs typeface="맑은 고딕" pitchFamily="34" charset="-120"/>
              </a:rPr>
              <a:t>0.68</a:t>
            </a:r>
            <a:r>
              <a:rPr lang="en-US" sz="1100" dirty="0">
                <a:solidFill>
                  <a:srgbClr val="6B6F76"/>
                </a:solidFill>
                <a:latin typeface="맑은 고딕" pitchFamily="34" charset="0"/>
                <a:ea typeface="맑은 고딕" pitchFamily="34" charset="-122"/>
                <a:cs typeface="맑은 고딕" pitchFamily="34" charset="-120"/>
              </a:rPr>
              <a:t> mm/년</a:t>
            </a:r>
            <a:endParaRPr lang="en-US" sz="1400" dirty="0"/>
          </a:p>
        </p:txBody>
      </p:sp>
      <p:sp>
        <p:nvSpPr>
          <p:cNvPr id="32" name="Shape 27"/>
          <p:cNvSpPr/>
          <p:nvPr/>
        </p:nvSpPr>
        <p:spPr>
          <a:xfrm>
            <a:off x="4701388" y="4910328"/>
            <a:ext cx="2788920" cy="182880"/>
          </a:xfrm>
          <a:prstGeom prst="roundRect">
            <a:avLst>
              <a:gd name="adj" fmla="val 50000"/>
            </a:avLst>
          </a:prstGeom>
          <a:solidFill>
            <a:srgbClr val="E2E4E8"/>
          </a:solidFill>
          <a:ln w="12700">
            <a:solidFill>
              <a:srgbClr val="E2E4E8"/>
            </a:solidFill>
            <a:prstDash val="solid"/>
          </a:ln>
        </p:spPr>
      </p:sp>
      <p:sp>
        <p:nvSpPr>
          <p:cNvPr id="33" name="Shape 28"/>
          <p:cNvSpPr/>
          <p:nvPr/>
        </p:nvSpPr>
        <p:spPr>
          <a:xfrm>
            <a:off x="4701388" y="4910328"/>
            <a:ext cx="1307907" cy="182880"/>
          </a:xfrm>
          <a:prstGeom prst="roundRect">
            <a:avLst>
              <a:gd name="adj" fmla="val 50000"/>
            </a:avLst>
          </a:prstGeom>
          <a:solidFill>
            <a:srgbClr val="3C8D5A"/>
          </a:solidFill>
          <a:ln w="12700">
            <a:solidFill>
              <a:srgbClr val="3C8D5A"/>
            </a:solidFill>
            <a:prstDash val="solid"/>
          </a:ln>
        </p:spPr>
      </p:sp>
      <p:pic>
        <p:nvPicPr>
          <p:cNvPr id="34" name="Image 3" descr="preencoded.png"/>
          <p:cNvPicPr>
            <a:picLocks noChangeAspect="1"/>
          </p:cNvPicPr>
          <p:nvPr/>
        </p:nvPicPr>
        <p:blipFill>
          <a:blip r:embed="rId4"/>
          <a:stretch>
            <a:fillRect/>
          </a:stretch>
        </p:blipFill>
        <p:spPr>
          <a:xfrm>
            <a:off x="7911617" y="2834640"/>
            <a:ext cx="292608" cy="292608"/>
          </a:xfrm>
          <a:prstGeom prst="rect">
            <a:avLst/>
          </a:prstGeom>
        </p:spPr>
      </p:pic>
      <p:sp>
        <p:nvSpPr>
          <p:cNvPr id="35" name="Shape 29"/>
          <p:cNvSpPr/>
          <p:nvPr/>
        </p:nvSpPr>
        <p:spPr>
          <a:xfrm>
            <a:off x="8396935" y="1417320"/>
            <a:ext cx="3246120" cy="3931920"/>
          </a:xfrm>
          <a:prstGeom prst="roundRect">
            <a:avLst>
              <a:gd name="adj" fmla="val 2254"/>
            </a:avLst>
          </a:prstGeom>
          <a:solidFill>
            <a:srgbClr val="F3F4F6"/>
          </a:solidFill>
          <a:ln w="12700">
            <a:solidFill>
              <a:srgbClr val="F3F4F6"/>
            </a:solidFill>
            <a:prstDash val="solid"/>
          </a:ln>
        </p:spPr>
      </p:sp>
      <p:sp>
        <p:nvSpPr>
          <p:cNvPr id="36" name="Shape 30"/>
          <p:cNvSpPr/>
          <p:nvPr/>
        </p:nvSpPr>
        <p:spPr>
          <a:xfrm>
            <a:off x="8625535" y="1645920"/>
            <a:ext cx="1417320" cy="329184"/>
          </a:xfrm>
          <a:prstGeom prst="roundRect">
            <a:avLst>
              <a:gd name="adj" fmla="val 50000"/>
            </a:avLst>
          </a:prstGeom>
          <a:solidFill>
            <a:srgbClr val="B23A2E"/>
          </a:solidFill>
          <a:ln w="12700">
            <a:solidFill>
              <a:srgbClr val="B23A2E"/>
            </a:solidFill>
            <a:prstDash val="solid"/>
          </a:ln>
        </p:spPr>
      </p:sp>
      <p:sp>
        <p:nvSpPr>
          <p:cNvPr id="37" name="Text 31"/>
          <p:cNvSpPr txBox="1"/>
          <p:nvPr/>
        </p:nvSpPr>
        <p:spPr>
          <a:xfrm>
            <a:off x="8625535" y="1645920"/>
            <a:ext cx="1417320" cy="329184"/>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위험도  높음</a:t>
            </a:r>
            <a:endParaRPr lang="en-US" sz="1250" dirty="0"/>
          </a:p>
        </p:txBody>
      </p:sp>
      <p:sp>
        <p:nvSpPr>
          <p:cNvPr id="38" name="Text 32"/>
          <p:cNvSpPr txBox="1"/>
          <p:nvPr/>
        </p:nvSpPr>
        <p:spPr>
          <a:xfrm>
            <a:off x="10225735" y="1645920"/>
            <a:ext cx="1188720" cy="329184"/>
          </a:xfrm>
          <a:prstGeom prst="rect">
            <a:avLst/>
          </a:prstGeom>
          <a:noFill/>
          <a:ln/>
        </p:spPr>
        <p:txBody>
          <a:bodyPr wrap="square" lIns="0" tIns="0" rIns="0" bIns="0" rtlCol="0" anchor="ctr"/>
          <a:lstStyle/>
          <a:p>
            <a:pPr marL="0" indent="0" algn="r">
              <a:buNone/>
            </a:pPr>
            <a:r>
              <a:rPr lang="en-US" sz="1200" dirty="0">
                <a:solidFill>
                  <a:srgbClr val="6B6F76"/>
                </a:solidFill>
                <a:latin typeface="맑은 고딕" pitchFamily="34" charset="0"/>
                <a:ea typeface="맑은 고딕" pitchFamily="34" charset="-122"/>
                <a:cs typeface="맑은 고딕" pitchFamily="34" charset="-120"/>
              </a:rPr>
              <a:t>240시간</a:t>
            </a:r>
            <a:endParaRPr lang="en-US" sz="1200" dirty="0"/>
          </a:p>
        </p:txBody>
      </p:sp>
      <p:pic>
        <p:nvPicPr>
          <p:cNvPr id="39" name="Image 4" descr="/home/user/PPT/src/img/photo_30.png"/>
          <p:cNvPicPr>
            <a:picLocks noChangeAspect="1"/>
          </p:cNvPicPr>
          <p:nvPr/>
        </p:nvPicPr>
        <p:blipFill>
          <a:blip r:embed="rId6"/>
          <a:stretch>
            <a:fillRect/>
          </a:stretch>
        </p:blipFill>
        <p:spPr>
          <a:xfrm>
            <a:off x="9174175" y="2148840"/>
            <a:ext cx="1691640" cy="1691640"/>
          </a:xfrm>
          <a:prstGeom prst="rect">
            <a:avLst/>
          </a:prstGeom>
        </p:spPr>
      </p:pic>
      <p:sp>
        <p:nvSpPr>
          <p:cNvPr id="40" name="Shape 33"/>
          <p:cNvSpPr/>
          <p:nvPr/>
        </p:nvSpPr>
        <p:spPr>
          <a:xfrm>
            <a:off x="8625535" y="4023360"/>
            <a:ext cx="1325880" cy="685800"/>
          </a:xfrm>
          <a:prstGeom prst="rect">
            <a:avLst/>
          </a:prstGeom>
          <a:solidFill>
            <a:srgbClr val="4C3C2C"/>
          </a:solidFill>
          <a:ln w="12700">
            <a:solidFill>
              <a:srgbClr val="4C3C2C"/>
            </a:solidFill>
            <a:prstDash val="solid"/>
          </a:ln>
        </p:spPr>
      </p:sp>
      <p:sp>
        <p:nvSpPr>
          <p:cNvPr id="41" name="Text 34"/>
          <p:cNvSpPr txBox="1"/>
          <p:nvPr/>
        </p:nvSpPr>
        <p:spPr>
          <a:xfrm>
            <a:off x="8716975" y="4078224"/>
            <a:ext cx="1143000" cy="228600"/>
          </a:xfrm>
          <a:prstGeom prst="rect">
            <a:avLst/>
          </a:prstGeom>
          <a:noFill/>
          <a:ln/>
        </p:spPr>
        <p:txBody>
          <a:bodyPr wrap="square" lIns="0" tIns="0" rIns="0" bIns="0" rtlCol="0" anchor="t"/>
          <a:lstStyle/>
          <a:p>
            <a:pPr marL="0" indent="0">
              <a:buNone/>
            </a:pPr>
            <a:r>
              <a:rPr lang="en-US" sz="1050" dirty="0">
                <a:solidFill>
                  <a:srgbClr val="D5D7DA"/>
                </a:solidFill>
                <a:latin typeface="맑은 고딕" pitchFamily="34" charset="0"/>
                <a:ea typeface="맑은 고딕" pitchFamily="34" charset="-122"/>
                <a:cs typeface="맑은 고딕" pitchFamily="34" charset="-120"/>
              </a:rPr>
              <a:t>녹의 색</a:t>
            </a:r>
            <a:endParaRPr lang="en-US" sz="1050" dirty="0"/>
          </a:p>
        </p:txBody>
      </p:sp>
      <p:sp>
        <p:nvSpPr>
          <p:cNvPr id="42" name="Text 35"/>
          <p:cNvSpPr txBox="1"/>
          <p:nvPr/>
        </p:nvSpPr>
        <p:spPr>
          <a:xfrm>
            <a:off x="8716975" y="4297680"/>
            <a:ext cx="1143000"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b* 13.1</a:t>
            </a:r>
            <a:endParaRPr lang="en-US" sz="1800" dirty="0"/>
          </a:p>
        </p:txBody>
      </p:sp>
      <p:sp>
        <p:nvSpPr>
          <p:cNvPr id="43" name="Shape 36"/>
          <p:cNvSpPr/>
          <p:nvPr/>
        </p:nvSpPr>
        <p:spPr>
          <a:xfrm>
            <a:off x="10088575" y="4023360"/>
            <a:ext cx="1325880" cy="685800"/>
          </a:xfrm>
          <a:prstGeom prst="rect">
            <a:avLst/>
          </a:prstGeom>
          <a:solidFill>
            <a:srgbClr val="FFFFFF"/>
          </a:solidFill>
          <a:ln w="12700">
            <a:solidFill>
              <a:srgbClr val="D9DCE0"/>
            </a:solidFill>
            <a:prstDash val="solid"/>
          </a:ln>
        </p:spPr>
      </p:sp>
      <p:sp>
        <p:nvSpPr>
          <p:cNvPr id="44" name="Text 37"/>
          <p:cNvSpPr txBox="1"/>
          <p:nvPr/>
        </p:nvSpPr>
        <p:spPr>
          <a:xfrm>
            <a:off x="10180015" y="4078224"/>
            <a:ext cx="1143000" cy="228600"/>
          </a:xfrm>
          <a:prstGeom prst="rect">
            <a:avLst/>
          </a:prstGeom>
          <a:noFill/>
          <a:ln/>
        </p:spPr>
        <p:txBody>
          <a:bodyPr wrap="square" lIns="0" tIns="0" rIns="0" bIns="0" rtlCol="0" anchor="t"/>
          <a:lstStyle/>
          <a:p>
            <a:pPr marL="0" indent="0">
              <a:buNone/>
            </a:pPr>
            <a:r>
              <a:rPr lang="en-US" sz="1050" dirty="0">
                <a:solidFill>
                  <a:srgbClr val="6B6F76"/>
                </a:solidFill>
                <a:latin typeface="맑은 고딕" pitchFamily="34" charset="0"/>
                <a:ea typeface="맑은 고딕" pitchFamily="34" charset="-122"/>
                <a:cs typeface="맑은 고딕" pitchFamily="34" charset="-120"/>
              </a:rPr>
              <a:t>부식 속도</a:t>
            </a:r>
            <a:endParaRPr lang="en-US" sz="1050" dirty="0"/>
          </a:p>
        </p:txBody>
      </p:sp>
      <p:sp>
        <p:nvSpPr>
          <p:cNvPr id="45" name="Text 38"/>
          <p:cNvSpPr txBox="1"/>
          <p:nvPr/>
        </p:nvSpPr>
        <p:spPr>
          <a:xfrm>
            <a:off x="10180015" y="4297680"/>
            <a:ext cx="1143000" cy="365760"/>
          </a:xfrm>
          <a:prstGeom prst="rect">
            <a:avLst/>
          </a:prstGeom>
          <a:noFill/>
          <a:ln/>
        </p:spPr>
        <p:txBody>
          <a:bodyPr wrap="square" lIns="0" tIns="0" rIns="0" bIns="0" rtlCol="0" anchor="ctr"/>
          <a:lstStyle/>
          <a:p>
            <a:pPr marL="0" indent="0">
              <a:buNone/>
            </a:pPr>
            <a:r>
              <a:rPr lang="en-US" sz="1800" b="1" dirty="0">
                <a:solidFill>
                  <a:srgbClr val="B23A2E"/>
                </a:solidFill>
                <a:latin typeface="맑은 고딕" pitchFamily="34" charset="0"/>
                <a:ea typeface="맑은 고딕" pitchFamily="34" charset="-122"/>
                <a:cs typeface="맑은 고딕" pitchFamily="34" charset="-120"/>
              </a:rPr>
              <a:t>1.45</a:t>
            </a:r>
            <a:r>
              <a:rPr lang="en-US" sz="1100" dirty="0">
                <a:solidFill>
                  <a:srgbClr val="6B6F76"/>
                </a:solidFill>
                <a:latin typeface="맑은 고딕" pitchFamily="34" charset="0"/>
                <a:ea typeface="맑은 고딕" pitchFamily="34" charset="-122"/>
                <a:cs typeface="맑은 고딕" pitchFamily="34" charset="-120"/>
              </a:rPr>
              <a:t> mm/년</a:t>
            </a:r>
            <a:endParaRPr lang="en-US" sz="1400" dirty="0"/>
          </a:p>
        </p:txBody>
      </p:sp>
      <p:sp>
        <p:nvSpPr>
          <p:cNvPr id="46" name="Shape 39"/>
          <p:cNvSpPr/>
          <p:nvPr/>
        </p:nvSpPr>
        <p:spPr>
          <a:xfrm>
            <a:off x="8625535" y="4910328"/>
            <a:ext cx="2788920" cy="182880"/>
          </a:xfrm>
          <a:prstGeom prst="roundRect">
            <a:avLst>
              <a:gd name="adj" fmla="val 50000"/>
            </a:avLst>
          </a:prstGeom>
          <a:solidFill>
            <a:srgbClr val="E2E4E8"/>
          </a:solidFill>
          <a:ln w="12700">
            <a:solidFill>
              <a:srgbClr val="E2E4E8"/>
            </a:solidFill>
            <a:prstDash val="solid"/>
          </a:ln>
        </p:spPr>
      </p:sp>
      <p:sp>
        <p:nvSpPr>
          <p:cNvPr id="47" name="Shape 40"/>
          <p:cNvSpPr/>
          <p:nvPr/>
        </p:nvSpPr>
        <p:spPr>
          <a:xfrm>
            <a:off x="8625535" y="4910328"/>
            <a:ext cx="2788920" cy="182880"/>
          </a:xfrm>
          <a:prstGeom prst="roundRect">
            <a:avLst>
              <a:gd name="adj" fmla="val 50000"/>
            </a:avLst>
          </a:prstGeom>
          <a:solidFill>
            <a:srgbClr val="B23A2E"/>
          </a:solidFill>
          <a:ln w="12700">
            <a:solidFill>
              <a:srgbClr val="B23A2E"/>
            </a:solidFill>
            <a:prstDash val="solid"/>
          </a:ln>
        </p:spPr>
      </p:sp>
      <p:sp>
        <p:nvSpPr>
          <p:cNvPr id="48" name="Shape 41"/>
          <p:cNvSpPr/>
          <p:nvPr/>
        </p:nvSpPr>
        <p:spPr>
          <a:xfrm>
            <a:off x="9539935" y="5458968"/>
            <a:ext cx="2103120" cy="329184"/>
          </a:xfrm>
          <a:prstGeom prst="roundRect">
            <a:avLst>
              <a:gd name="adj" fmla="val 50000"/>
            </a:avLst>
          </a:prstGeom>
          <a:solidFill>
            <a:srgbClr val="B23A2E"/>
          </a:solidFill>
          <a:ln w="12700">
            <a:solidFill>
              <a:srgbClr val="B23A2E"/>
            </a:solidFill>
            <a:prstDash val="solid"/>
          </a:ln>
        </p:spPr>
      </p:sp>
      <p:sp>
        <p:nvSpPr>
          <p:cNvPr id="49" name="Text 42"/>
          <p:cNvSpPr txBox="1"/>
          <p:nvPr/>
        </p:nvSpPr>
        <p:spPr>
          <a:xfrm>
            <a:off x="9539935" y="5458968"/>
            <a:ext cx="2103120" cy="329184"/>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부식 속도 약 4배 ↑</a:t>
            </a:r>
            <a:endParaRPr lang="en-US" sz="1250" dirty="0"/>
          </a:p>
        </p:txBody>
      </p:sp>
      <p:sp>
        <p:nvSpPr>
          <p:cNvPr id="50" name="Text 43"/>
          <p:cNvSpPr txBox="1"/>
          <p:nvPr/>
        </p:nvSpPr>
        <p:spPr>
          <a:xfrm>
            <a:off x="548640" y="5458968"/>
            <a:ext cx="2834640" cy="411480"/>
          </a:xfrm>
          <a:prstGeom prst="rect">
            <a:avLst/>
          </a:prstGeom>
          <a:noFill/>
          <a:ln/>
        </p:spPr>
        <p:txBody>
          <a:bodyPr wrap="square" lIns="0" tIns="0" rIns="0" bIns="0" rtlCol="0" anchor="ctr"/>
          <a:lstStyle/>
          <a:p>
            <a:pPr marL="0" indent="0">
              <a:buNone/>
            </a:pPr>
            <a:r>
              <a:rPr lang="en-US" sz="1600" b="1" dirty="0">
                <a:solidFill>
                  <a:srgbClr val="B5501F"/>
                </a:solidFill>
                <a:latin typeface="맑은 고딕" pitchFamily="34" charset="0"/>
                <a:ea typeface="맑은 고딕" pitchFamily="34" charset="-122"/>
                <a:cs typeface="맑은 고딕" pitchFamily="34" charset="-120"/>
              </a:rPr>
              <a:t>ρ = 0.88  </a:t>
            </a:r>
            <a:r>
              <a:rPr lang="en-US" sz="1100" dirty="0">
                <a:solidFill>
                  <a:srgbClr val="6B6F76"/>
                </a:solidFill>
                <a:latin typeface="맑은 고딕" pitchFamily="34" charset="0"/>
                <a:ea typeface="맑은 고딕" pitchFamily="34" charset="-122"/>
                <a:cs typeface="맑은 고딕" pitchFamily="34" charset="-120"/>
              </a:rPr>
              <a:t>색–속도 순위 상관</a:t>
            </a:r>
            <a:endParaRPr lang="en-US" sz="1400" dirty="0"/>
          </a:p>
        </p:txBody>
      </p:sp>
      <p:sp>
        <p:nvSpPr>
          <p:cNvPr id="51" name="Text 44"/>
          <p:cNvSpPr txBox="1"/>
          <p:nvPr/>
        </p:nvSpPr>
        <p:spPr>
          <a:xfrm>
            <a:off x="3429000" y="5458968"/>
            <a:ext cx="2834640" cy="411480"/>
          </a:xfrm>
          <a:prstGeom prst="rect">
            <a:avLst/>
          </a:prstGeom>
          <a:noFill/>
          <a:ln/>
        </p:spPr>
        <p:txBody>
          <a:bodyPr wrap="square" lIns="0" tIns="0" rIns="0" bIns="0" rtlCol="0" anchor="ctr"/>
          <a:lstStyle/>
          <a:p>
            <a:pPr marL="0" indent="0">
              <a:buNone/>
            </a:pPr>
            <a:r>
              <a:rPr lang="en-US" sz="1600" b="1" dirty="0">
                <a:solidFill>
                  <a:srgbClr val="B5501F"/>
                </a:solidFill>
                <a:latin typeface="맑은 고딕" pitchFamily="34" charset="0"/>
                <a:ea typeface="맑은 고딕" pitchFamily="34" charset="-122"/>
                <a:cs typeface="맑은 고딕" pitchFamily="34" charset="-120"/>
              </a:rPr>
              <a:t>3개 구간  </a:t>
            </a:r>
            <a:r>
              <a:rPr lang="en-US" sz="1100" dirty="0">
                <a:solidFill>
                  <a:srgbClr val="6B6F76"/>
                </a:solidFill>
                <a:latin typeface="맑은 고딕" pitchFamily="34" charset="0"/>
                <a:ea typeface="맑은 고딕" pitchFamily="34" charset="-122"/>
                <a:cs typeface="맑은 고딕" pitchFamily="34" charset="-120"/>
              </a:rPr>
              <a:t>위험도별 속도 분리</a:t>
            </a:r>
            <a:endParaRPr lang="en-US" sz="1400" dirty="0"/>
          </a:p>
        </p:txBody>
      </p:sp>
      <p:sp>
        <p:nvSpPr>
          <p:cNvPr id="52" name="Text 45"/>
          <p:cNvSpPr txBox="1"/>
          <p:nvPr/>
        </p:nvSpPr>
        <p:spPr>
          <a:xfrm>
            <a:off x="6309360" y="5458968"/>
            <a:ext cx="2834640" cy="411480"/>
          </a:xfrm>
          <a:prstGeom prst="rect">
            <a:avLst/>
          </a:prstGeom>
          <a:noFill/>
          <a:ln/>
        </p:spPr>
        <p:txBody>
          <a:bodyPr wrap="square" lIns="0" tIns="0" rIns="0" bIns="0" rtlCol="0" anchor="ctr"/>
          <a:lstStyle/>
          <a:p>
            <a:pPr marL="0" indent="0">
              <a:buNone/>
            </a:pPr>
            <a:r>
              <a:rPr lang="en-US" sz="1600" b="1" dirty="0">
                <a:solidFill>
                  <a:srgbClr val="B5501F"/>
                </a:solidFill>
                <a:latin typeface="맑은 고딕" pitchFamily="34" charset="0"/>
                <a:ea typeface="맑은 고딕" pitchFamily="34" charset="-122"/>
                <a:cs typeface="맑은 고딕" pitchFamily="34" charset="-120"/>
              </a:rPr>
              <a:t>6가지 분석  </a:t>
            </a:r>
            <a:r>
              <a:rPr lang="en-US" sz="1100" dirty="0">
                <a:solidFill>
                  <a:srgbClr val="6B6F76"/>
                </a:solidFill>
                <a:latin typeface="맑은 고딕" pitchFamily="34" charset="0"/>
                <a:ea typeface="맑은 고딕" pitchFamily="34" charset="-122"/>
                <a:cs typeface="맑은 고딕" pitchFamily="34" charset="-120"/>
              </a:rPr>
              <a:t>교차 검증 완료</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100" kern="0" dirty="0">
                <a:solidFill>
                  <a:srgbClr val="B5501F"/>
                </a:solidFill>
                <a:latin typeface="맑은 고딕" pitchFamily="34" charset="0"/>
                <a:ea typeface="맑은 고딕" pitchFamily="34" charset="-122"/>
                <a:cs typeface="맑은 고딕" pitchFamily="34" charset="-120"/>
              </a:rPr>
              <a:t>MARKET</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2800" b="1" dirty="0">
                <a:solidFill>
                  <a:srgbClr val="2B2D31"/>
                </a:solidFill>
                <a:latin typeface="맑은 고딕" pitchFamily="34" charset="0"/>
                <a:ea typeface="맑은 고딕" pitchFamily="34" charset="-122"/>
                <a:cs typeface="맑은 고딕" pitchFamily="34" charset="-120"/>
              </a:rPr>
              <a:t>규제 기반 반복 수요</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900" dirty="0">
                <a:solidFill>
                  <a:srgbClr val="A3A7AD"/>
                </a:solidFill>
                <a:latin typeface="맑은 고딕" pitchFamily="34" charset="0"/>
                <a:ea typeface="맑은 고딕" pitchFamily="34" charset="-122"/>
                <a:cs typeface="맑은 고딕" pitchFamily="34" charset="-120"/>
              </a:rPr>
              <a:t>7</a:t>
            </a:r>
            <a:endParaRPr lang="en-US" sz="900" dirty="0"/>
          </a:p>
        </p:txBody>
      </p:sp>
      <p:sp>
        <p:nvSpPr>
          <p:cNvPr id="6" name="Shape 4"/>
          <p:cNvSpPr/>
          <p:nvPr/>
        </p:nvSpPr>
        <p:spPr>
          <a:xfrm>
            <a:off x="548640" y="1371600"/>
            <a:ext cx="3545738" cy="1600200"/>
          </a:xfrm>
          <a:prstGeom prst="roundRect">
            <a:avLst>
              <a:gd name="adj" fmla="val 4571"/>
            </a:avLst>
          </a:prstGeom>
          <a:solidFill>
            <a:srgbClr val="F3F4F6"/>
          </a:solidFill>
          <a:ln w="12700">
            <a:solidFill>
              <a:srgbClr val="F3F4F6"/>
            </a:solidFill>
            <a:prstDash val="solid"/>
          </a:ln>
        </p:spPr>
      </p:sp>
      <p:sp>
        <p:nvSpPr>
          <p:cNvPr id="7" name="Text 5"/>
          <p:cNvSpPr txBox="1"/>
          <p:nvPr/>
        </p:nvSpPr>
        <p:spPr>
          <a:xfrm>
            <a:off x="822960" y="1536192"/>
            <a:ext cx="1828800" cy="320040"/>
          </a:xfrm>
          <a:prstGeom prst="rect">
            <a:avLst/>
          </a:prstGeom>
          <a:noFill/>
          <a:ln/>
        </p:spPr>
        <p:txBody>
          <a:bodyPr wrap="square" lIns="0" tIns="0" rIns="0" bIns="0" rtlCol="0" anchor="t"/>
          <a:lstStyle/>
          <a:p>
            <a:pPr indent="0" marL="0">
              <a:buNone/>
            </a:pPr>
            <a:r>
              <a:rPr lang="en-US" sz="1400" b="1" dirty="0">
                <a:solidFill>
                  <a:srgbClr val="B5501F"/>
                </a:solidFill>
                <a:latin typeface="맑은 고딕" pitchFamily="34" charset="0"/>
                <a:ea typeface="맑은 고딕" pitchFamily="34" charset="-122"/>
                <a:cs typeface="맑은 고딕" pitchFamily="34" charset="-120"/>
              </a:rPr>
              <a:t>정기안전점검</a:t>
            </a:r>
            <a:endParaRPr lang="en-US" sz="1400" dirty="0"/>
          </a:p>
        </p:txBody>
      </p:sp>
      <p:sp>
        <p:nvSpPr>
          <p:cNvPr id="8" name="Text 6"/>
          <p:cNvSpPr txBox="1"/>
          <p:nvPr/>
        </p:nvSpPr>
        <p:spPr>
          <a:xfrm>
            <a:off x="2448458" y="1463040"/>
            <a:ext cx="1371600" cy="457200"/>
          </a:xfrm>
          <a:prstGeom prst="rect">
            <a:avLst/>
          </a:prstGeom>
          <a:noFill/>
          <a:ln/>
        </p:spPr>
        <p:txBody>
          <a:bodyPr wrap="square" lIns="0" tIns="0" rIns="0" bIns="0" rtlCol="0" anchor="t"/>
          <a:lstStyle/>
          <a:p>
            <a:pPr algn="r" indent="0" marL="0">
              <a:buNone/>
            </a:pPr>
            <a:r>
              <a:rPr lang="en-US" sz="2200" b="1" dirty="0">
                <a:solidFill>
                  <a:srgbClr val="B5501F"/>
                </a:solidFill>
                <a:latin typeface="맑은 고딕" pitchFamily="34" charset="0"/>
                <a:ea typeface="맑은 고딕" pitchFamily="34" charset="-122"/>
                <a:cs typeface="맑은 고딕" pitchFamily="34" charset="-120"/>
              </a:rPr>
              <a:t>반기 1회</a:t>
            </a:r>
            <a:endParaRPr lang="en-US" sz="2200" dirty="0"/>
          </a:p>
        </p:txBody>
      </p:sp>
      <p:sp>
        <p:nvSpPr>
          <p:cNvPr id="9" name="Text 7"/>
          <p:cNvSpPr txBox="1"/>
          <p:nvPr/>
        </p:nvSpPr>
        <p:spPr>
          <a:xfrm>
            <a:off x="822960" y="1965960"/>
            <a:ext cx="2997098"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육안 중심 상태 점검</a:t>
            </a:r>
            <a:endParaRPr lang="en-US" sz="1600" dirty="0"/>
          </a:p>
        </p:txBody>
      </p:sp>
      <p:sp>
        <p:nvSpPr>
          <p:cNvPr id="10" name="Text 8"/>
          <p:cNvSpPr txBox="1"/>
          <p:nvPr/>
        </p:nvSpPr>
        <p:spPr>
          <a:xfrm>
            <a:off x="822960" y="2377440"/>
            <a:ext cx="2997098" cy="45720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A · B · C등급 기준</a:t>
            </a:r>
            <a:endParaRPr lang="en-US" sz="1250" dirty="0"/>
          </a:p>
        </p:txBody>
      </p:sp>
      <p:sp>
        <p:nvSpPr>
          <p:cNvPr id="11" name="Shape 9"/>
          <p:cNvSpPr/>
          <p:nvPr/>
        </p:nvSpPr>
        <p:spPr>
          <a:xfrm>
            <a:off x="4322978" y="1371600"/>
            <a:ext cx="3545738" cy="1600200"/>
          </a:xfrm>
          <a:prstGeom prst="roundRect">
            <a:avLst>
              <a:gd name="adj" fmla="val 4571"/>
            </a:avLst>
          </a:prstGeom>
          <a:solidFill>
            <a:srgbClr val="F3F4F6"/>
          </a:solidFill>
          <a:ln w="12700">
            <a:solidFill>
              <a:srgbClr val="F3F4F6"/>
            </a:solidFill>
            <a:prstDash val="solid"/>
          </a:ln>
        </p:spPr>
      </p:sp>
      <p:sp>
        <p:nvSpPr>
          <p:cNvPr id="12" name="Text 10"/>
          <p:cNvSpPr txBox="1"/>
          <p:nvPr/>
        </p:nvSpPr>
        <p:spPr>
          <a:xfrm>
            <a:off x="4597298" y="1536192"/>
            <a:ext cx="1828800" cy="320040"/>
          </a:xfrm>
          <a:prstGeom prst="rect">
            <a:avLst/>
          </a:prstGeom>
          <a:noFill/>
          <a:ln/>
        </p:spPr>
        <p:txBody>
          <a:bodyPr wrap="square" lIns="0" tIns="0" rIns="0" bIns="0" rtlCol="0" anchor="t"/>
          <a:lstStyle/>
          <a:p>
            <a:pPr indent="0" marL="0">
              <a:buNone/>
            </a:pPr>
            <a:r>
              <a:rPr lang="en-US" sz="1400" b="1" dirty="0">
                <a:solidFill>
                  <a:srgbClr val="1F5F7A"/>
                </a:solidFill>
                <a:latin typeface="맑은 고딕" pitchFamily="34" charset="0"/>
                <a:ea typeface="맑은 고딕" pitchFamily="34" charset="-122"/>
                <a:cs typeface="맑은 고딕" pitchFamily="34" charset="-120"/>
              </a:rPr>
              <a:t>정밀안전점검</a:t>
            </a:r>
            <a:endParaRPr lang="en-US" sz="1400" dirty="0"/>
          </a:p>
        </p:txBody>
      </p:sp>
      <p:sp>
        <p:nvSpPr>
          <p:cNvPr id="13" name="Text 11"/>
          <p:cNvSpPr txBox="1"/>
          <p:nvPr/>
        </p:nvSpPr>
        <p:spPr>
          <a:xfrm>
            <a:off x="6222797" y="1463040"/>
            <a:ext cx="1371600" cy="457200"/>
          </a:xfrm>
          <a:prstGeom prst="rect">
            <a:avLst/>
          </a:prstGeom>
          <a:noFill/>
          <a:ln/>
        </p:spPr>
        <p:txBody>
          <a:bodyPr wrap="square" lIns="0" tIns="0" rIns="0" bIns="0" rtlCol="0" anchor="t"/>
          <a:lstStyle/>
          <a:p>
            <a:pPr algn="r" indent="0" marL="0">
              <a:buNone/>
            </a:pPr>
            <a:r>
              <a:rPr lang="en-US" sz="2200" b="1" dirty="0">
                <a:solidFill>
                  <a:srgbClr val="1F5F7A"/>
                </a:solidFill>
                <a:latin typeface="맑은 고딕" pitchFamily="34" charset="0"/>
                <a:ea typeface="맑은 고딕" pitchFamily="34" charset="-122"/>
                <a:cs typeface="맑은 고딕" pitchFamily="34" charset="-120"/>
              </a:rPr>
              <a:t>1–3년</a:t>
            </a:r>
            <a:endParaRPr lang="en-US" sz="2200" dirty="0"/>
          </a:p>
        </p:txBody>
      </p:sp>
      <p:sp>
        <p:nvSpPr>
          <p:cNvPr id="14" name="Text 12"/>
          <p:cNvSpPr txBox="1"/>
          <p:nvPr/>
        </p:nvSpPr>
        <p:spPr>
          <a:xfrm>
            <a:off x="4597298" y="1965960"/>
            <a:ext cx="2997098"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근접 육안 · 측정 장비 점검</a:t>
            </a:r>
            <a:endParaRPr lang="en-US" sz="1600" dirty="0"/>
          </a:p>
        </p:txBody>
      </p:sp>
      <p:sp>
        <p:nvSpPr>
          <p:cNvPr id="15" name="Text 13"/>
          <p:cNvSpPr txBox="1"/>
          <p:nvPr/>
        </p:nvSpPr>
        <p:spPr>
          <a:xfrm>
            <a:off x="4597298" y="2377440"/>
            <a:ext cx="2997098" cy="45720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건축물 외 시설물 · 등급별</a:t>
            </a:r>
            <a:endParaRPr lang="en-US" sz="1250" dirty="0"/>
          </a:p>
        </p:txBody>
      </p:sp>
      <p:sp>
        <p:nvSpPr>
          <p:cNvPr id="16" name="Shape 14"/>
          <p:cNvSpPr/>
          <p:nvPr/>
        </p:nvSpPr>
        <p:spPr>
          <a:xfrm>
            <a:off x="8097317" y="1371600"/>
            <a:ext cx="3545738" cy="1600200"/>
          </a:xfrm>
          <a:prstGeom prst="roundRect">
            <a:avLst>
              <a:gd name="adj" fmla="val 4571"/>
            </a:avLst>
          </a:prstGeom>
          <a:solidFill>
            <a:srgbClr val="F3F4F6"/>
          </a:solidFill>
          <a:ln w="12700">
            <a:solidFill>
              <a:srgbClr val="F3F4F6"/>
            </a:solidFill>
            <a:prstDash val="solid"/>
          </a:ln>
        </p:spPr>
      </p:sp>
      <p:sp>
        <p:nvSpPr>
          <p:cNvPr id="17" name="Text 15"/>
          <p:cNvSpPr txBox="1"/>
          <p:nvPr/>
        </p:nvSpPr>
        <p:spPr>
          <a:xfrm>
            <a:off x="8371637" y="1536192"/>
            <a:ext cx="1828800" cy="320040"/>
          </a:xfrm>
          <a:prstGeom prst="rect">
            <a:avLst/>
          </a:prstGeom>
          <a:noFill/>
          <a:ln/>
        </p:spPr>
        <p:txBody>
          <a:bodyPr wrap="square" lIns="0" tIns="0" rIns="0" bIns="0" rtlCol="0" anchor="t"/>
          <a:lstStyle/>
          <a:p>
            <a:pPr indent="0" marL="0">
              <a:buNone/>
            </a:pPr>
            <a:r>
              <a:rPr lang="en-US" sz="1400" b="1" dirty="0">
                <a:solidFill>
                  <a:srgbClr val="2B2D31"/>
                </a:solidFill>
                <a:latin typeface="맑은 고딕" pitchFamily="34" charset="0"/>
                <a:ea typeface="맑은 고딕" pitchFamily="34" charset="-122"/>
                <a:cs typeface="맑은 고딕" pitchFamily="34" charset="-120"/>
              </a:rPr>
              <a:t>정밀안전진단</a:t>
            </a:r>
            <a:endParaRPr lang="en-US" sz="1400" dirty="0"/>
          </a:p>
        </p:txBody>
      </p:sp>
      <p:sp>
        <p:nvSpPr>
          <p:cNvPr id="18" name="Text 16"/>
          <p:cNvSpPr txBox="1"/>
          <p:nvPr/>
        </p:nvSpPr>
        <p:spPr>
          <a:xfrm>
            <a:off x="9997135" y="1463040"/>
            <a:ext cx="1371600" cy="457200"/>
          </a:xfrm>
          <a:prstGeom prst="rect">
            <a:avLst/>
          </a:prstGeom>
          <a:noFill/>
          <a:ln/>
        </p:spPr>
        <p:txBody>
          <a:bodyPr wrap="square" lIns="0" tIns="0" rIns="0" bIns="0" rtlCol="0" anchor="t"/>
          <a:lstStyle/>
          <a:p>
            <a:pPr algn="r" indent="0" marL="0">
              <a:buNone/>
            </a:pPr>
            <a:r>
              <a:rPr lang="en-US" sz="2200" b="1" dirty="0">
                <a:solidFill>
                  <a:srgbClr val="2B2D31"/>
                </a:solidFill>
                <a:latin typeface="맑은 고딕" pitchFamily="34" charset="0"/>
                <a:ea typeface="맑은 고딕" pitchFamily="34" charset="-122"/>
                <a:cs typeface="맑은 고딕" pitchFamily="34" charset="-120"/>
              </a:rPr>
              <a:t>4–6년</a:t>
            </a:r>
            <a:endParaRPr lang="en-US" sz="2200" dirty="0"/>
          </a:p>
        </p:txBody>
      </p:sp>
      <p:sp>
        <p:nvSpPr>
          <p:cNvPr id="19" name="Text 17"/>
          <p:cNvSpPr txBox="1"/>
          <p:nvPr/>
        </p:nvSpPr>
        <p:spPr>
          <a:xfrm>
            <a:off x="8371637" y="1965960"/>
            <a:ext cx="2997098" cy="365760"/>
          </a:xfrm>
          <a:prstGeom prst="rect">
            <a:avLst/>
          </a:prstGeom>
          <a:noFill/>
          <a:ln/>
        </p:spPr>
        <p:txBody>
          <a:bodyPr wrap="square" lIns="0" tIns="0" rIns="0" bIns="0" rtlCol="0" anchor="t"/>
          <a:lstStyle/>
          <a:p>
            <a:pPr indent="0" marL="0">
              <a:buNone/>
            </a:pPr>
            <a:r>
              <a:rPr lang="en-US" sz="1600" b="1" dirty="0">
                <a:solidFill>
                  <a:srgbClr val="2B2D31"/>
                </a:solidFill>
                <a:latin typeface="맑은 고딕" pitchFamily="34" charset="0"/>
                <a:ea typeface="맑은 고딕" pitchFamily="34" charset="-122"/>
                <a:cs typeface="맑은 고딕" pitchFamily="34" charset="-120"/>
              </a:rPr>
              <a:t>재료 시험 · 구조 안전성 평가</a:t>
            </a:r>
            <a:endParaRPr lang="en-US" sz="1600" dirty="0"/>
          </a:p>
        </p:txBody>
      </p:sp>
      <p:sp>
        <p:nvSpPr>
          <p:cNvPr id="20" name="Text 18"/>
          <p:cNvSpPr txBox="1"/>
          <p:nvPr/>
        </p:nvSpPr>
        <p:spPr>
          <a:xfrm>
            <a:off x="8371637" y="2377440"/>
            <a:ext cx="2997098" cy="457200"/>
          </a:xfrm>
          <a:prstGeom prst="rect">
            <a:avLst/>
          </a:prstGeom>
          <a:noFill/>
          <a:ln/>
        </p:spPr>
        <p:txBody>
          <a:bodyPr wrap="square" lIns="0" tIns="0" rIns="0" bIns="0" rtlCol="0" anchor="t"/>
          <a:lstStyle/>
          <a:p>
            <a:pPr indent="0" marL="0">
              <a:buNone/>
            </a:pPr>
            <a:r>
              <a:rPr lang="en-US" sz="1250" dirty="0">
                <a:solidFill>
                  <a:srgbClr val="6B6F76"/>
                </a:solidFill>
                <a:latin typeface="맑은 고딕" pitchFamily="34" charset="0"/>
                <a:ea typeface="맑은 고딕" pitchFamily="34" charset="-122"/>
                <a:cs typeface="맑은 고딕" pitchFamily="34" charset="-120"/>
              </a:rPr>
              <a:t>제1종 시설물 · 등급별</a:t>
            </a:r>
            <a:endParaRPr lang="en-US" sz="1250" dirty="0"/>
          </a:p>
        </p:txBody>
      </p:sp>
      <p:sp>
        <p:nvSpPr>
          <p:cNvPr id="21" name="Text 19"/>
          <p:cNvSpPr txBox="1"/>
          <p:nvPr/>
        </p:nvSpPr>
        <p:spPr>
          <a:xfrm>
            <a:off x="548640" y="3127248"/>
            <a:ext cx="6949440" cy="274320"/>
          </a:xfrm>
          <a:prstGeom prst="rect">
            <a:avLst/>
          </a:prstGeom>
          <a:noFill/>
          <a:ln/>
        </p:spPr>
        <p:txBody>
          <a:bodyPr wrap="square" lIns="0" tIns="0" rIns="0" bIns="0" rtlCol="0" anchor="t"/>
          <a:lstStyle/>
          <a:p>
            <a:pPr indent="0" marL="0">
              <a:buNone/>
            </a:pPr>
            <a:r>
              <a:rPr lang="en-US" sz="1200" dirty="0">
                <a:solidFill>
                  <a:srgbClr val="6B6F76"/>
                </a:solidFill>
                <a:latin typeface="맑은 고딕" pitchFamily="34" charset="0"/>
                <a:ea typeface="맑은 고딕" pitchFamily="34" charset="-122"/>
                <a:cs typeface="맑은 고딕" pitchFamily="34" charset="-120"/>
              </a:rPr>
              <a:t>국내 「시설물안전법」 점검 체계 — 법적 관리 대상 162,481개소 ('22.6, 국토교통부)</a:t>
            </a:r>
            <a:endParaRPr lang="en-US" sz="1200" dirty="0"/>
          </a:p>
        </p:txBody>
      </p:sp>
      <p:sp>
        <p:nvSpPr>
          <p:cNvPr id="22" name="Shape 20"/>
          <p:cNvSpPr/>
          <p:nvPr/>
        </p:nvSpPr>
        <p:spPr>
          <a:xfrm>
            <a:off x="7482535" y="3108960"/>
            <a:ext cx="1234440" cy="310896"/>
          </a:xfrm>
          <a:prstGeom prst="roundRect">
            <a:avLst>
              <a:gd name="adj" fmla="val 50000"/>
            </a:avLst>
          </a:prstGeom>
          <a:solidFill>
            <a:srgbClr val="1F5F7A"/>
          </a:solidFill>
          <a:ln w="12700">
            <a:solidFill>
              <a:srgbClr val="1F5F7A"/>
            </a:solidFill>
            <a:prstDash val="solid"/>
          </a:ln>
        </p:spPr>
      </p:sp>
      <p:sp>
        <p:nvSpPr>
          <p:cNvPr id="23" name="Text 21"/>
          <p:cNvSpPr txBox="1"/>
          <p:nvPr/>
        </p:nvSpPr>
        <p:spPr>
          <a:xfrm>
            <a:off x="7482535" y="31089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국토교통부</a:t>
            </a:r>
            <a:endParaRPr lang="en-US" sz="1100" dirty="0"/>
          </a:p>
        </p:txBody>
      </p:sp>
      <p:sp>
        <p:nvSpPr>
          <p:cNvPr id="24" name="Shape 22"/>
          <p:cNvSpPr/>
          <p:nvPr/>
        </p:nvSpPr>
        <p:spPr>
          <a:xfrm>
            <a:off x="8808415" y="3108960"/>
            <a:ext cx="1234440" cy="310896"/>
          </a:xfrm>
          <a:prstGeom prst="roundRect">
            <a:avLst>
              <a:gd name="adj" fmla="val 50000"/>
            </a:avLst>
          </a:prstGeom>
          <a:solidFill>
            <a:srgbClr val="1F5F7A"/>
          </a:solidFill>
          <a:ln w="12700">
            <a:solidFill>
              <a:srgbClr val="1F5F7A"/>
            </a:solidFill>
            <a:prstDash val="solid"/>
          </a:ln>
        </p:spPr>
      </p:sp>
      <p:sp>
        <p:nvSpPr>
          <p:cNvPr id="25" name="Text 23"/>
          <p:cNvSpPr txBox="1"/>
          <p:nvPr/>
        </p:nvSpPr>
        <p:spPr>
          <a:xfrm>
            <a:off x="8808415" y="31089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해양수산부</a:t>
            </a:r>
            <a:endParaRPr lang="en-US" sz="1100" dirty="0"/>
          </a:p>
        </p:txBody>
      </p:sp>
      <p:sp>
        <p:nvSpPr>
          <p:cNvPr id="26" name="Shape 24"/>
          <p:cNvSpPr/>
          <p:nvPr/>
        </p:nvSpPr>
        <p:spPr>
          <a:xfrm>
            <a:off x="10134295" y="3108960"/>
            <a:ext cx="1508760" cy="310896"/>
          </a:xfrm>
          <a:prstGeom prst="roundRect">
            <a:avLst>
              <a:gd name="adj" fmla="val 50000"/>
            </a:avLst>
          </a:prstGeom>
          <a:solidFill>
            <a:srgbClr val="1F5F7A"/>
          </a:solidFill>
          <a:ln w="12700">
            <a:solidFill>
              <a:srgbClr val="1F5F7A"/>
            </a:solidFill>
            <a:prstDash val="solid"/>
          </a:ln>
        </p:spPr>
      </p:sp>
      <p:sp>
        <p:nvSpPr>
          <p:cNvPr id="27" name="Text 25"/>
          <p:cNvSpPr txBox="1"/>
          <p:nvPr/>
        </p:nvSpPr>
        <p:spPr>
          <a:xfrm>
            <a:off x="10134295" y="3108960"/>
            <a:ext cx="1508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국토안전관리원</a:t>
            </a:r>
            <a:endParaRPr lang="en-US" sz="1100" dirty="0"/>
          </a:p>
        </p:txBody>
      </p:sp>
      <p:sp>
        <p:nvSpPr>
          <p:cNvPr id="28" name="Shape 26"/>
          <p:cNvSpPr/>
          <p:nvPr/>
        </p:nvSpPr>
        <p:spPr>
          <a:xfrm>
            <a:off x="548640" y="3703320"/>
            <a:ext cx="5410048" cy="2377440"/>
          </a:xfrm>
          <a:prstGeom prst="roundRect">
            <a:avLst>
              <a:gd name="adj" fmla="val 3077"/>
            </a:avLst>
          </a:prstGeom>
          <a:solidFill>
            <a:srgbClr val="F3F4F6"/>
          </a:solidFill>
          <a:ln w="12700">
            <a:solidFill>
              <a:srgbClr val="F3F4F6"/>
            </a:solidFill>
            <a:prstDash val="solid"/>
          </a:ln>
        </p:spPr>
      </p:sp>
      <p:sp>
        <p:nvSpPr>
          <p:cNvPr id="29" name="Text 27"/>
          <p:cNvSpPr txBox="1"/>
          <p:nvPr/>
        </p:nvSpPr>
        <p:spPr>
          <a:xfrm>
            <a:off x="822960" y="3886200"/>
            <a:ext cx="4952848" cy="292608"/>
          </a:xfrm>
          <a:prstGeom prst="rect">
            <a:avLst/>
          </a:prstGeom>
          <a:noFill/>
          <a:ln/>
        </p:spPr>
        <p:txBody>
          <a:bodyPr wrap="square" lIns="0" tIns="0" rIns="0" bIns="0" rtlCol="0" anchor="t"/>
          <a:lstStyle/>
          <a:p>
            <a:pPr indent="0" marL="0">
              <a:buNone/>
            </a:pPr>
            <a:r>
              <a:rPr lang="en-US" sz="1300" b="1" dirty="0">
                <a:solidFill>
                  <a:srgbClr val="1F5F7A"/>
                </a:solidFill>
                <a:latin typeface="맑은 고딕" pitchFamily="34" charset="0"/>
                <a:ea typeface="맑은 고딕" pitchFamily="34" charset="-122"/>
                <a:cs typeface="맑은 고딕" pitchFamily="34" charset="-120"/>
              </a:rPr>
              <a:t>구매를 움직이는 3가지 동기</a:t>
            </a:r>
            <a:endParaRPr lang="en-US" sz="1300" dirty="0"/>
          </a:p>
        </p:txBody>
      </p:sp>
      <p:sp>
        <p:nvSpPr>
          <p:cNvPr id="30" name="Shape 28"/>
          <p:cNvSpPr/>
          <p:nvPr/>
        </p:nvSpPr>
        <p:spPr>
          <a:xfrm>
            <a:off x="822960" y="4343400"/>
            <a:ext cx="420624" cy="420624"/>
          </a:xfrm>
          <a:prstGeom prst="ellipse">
            <a:avLst/>
          </a:prstGeom>
          <a:solidFill>
            <a:srgbClr val="2B2D31"/>
          </a:solidFill>
          <a:ln w="12700">
            <a:solidFill>
              <a:srgbClr val="2B2D31"/>
            </a:solidFill>
            <a:prstDash val="solid"/>
          </a:ln>
        </p:spPr>
      </p:sp>
      <p:pic>
        <p:nvPicPr>
          <p:cNvPr id="31" name="Image 0" descr="preencoded.png">    </p:cNvPr>
          <p:cNvPicPr>
            <a:picLocks noChangeAspect="1"/>
          </p:cNvPicPr>
          <p:nvPr/>
        </p:nvPicPr>
        <p:blipFill>
          <a:blip r:embed="rId1"/>
          <a:stretch>
            <a:fillRect/>
          </a:stretch>
        </p:blipFill>
        <p:spPr>
          <a:xfrm>
            <a:off x="932322" y="4452762"/>
            <a:ext cx="201900" cy="201900"/>
          </a:xfrm>
          <a:prstGeom prst="rect">
            <a:avLst/>
          </a:prstGeom>
        </p:spPr>
      </p:pic>
      <p:sp>
        <p:nvSpPr>
          <p:cNvPr id="32" name="Text 29"/>
          <p:cNvSpPr txBox="1"/>
          <p:nvPr/>
        </p:nvSpPr>
        <p:spPr>
          <a:xfrm>
            <a:off x="1417320" y="4343400"/>
            <a:ext cx="4358488" cy="420624"/>
          </a:xfrm>
          <a:prstGeom prst="rect">
            <a:avLst/>
          </a:prstGeom>
          <a:noFill/>
          <a:ln/>
        </p:spPr>
        <p:txBody>
          <a:bodyPr wrap="square" lIns="0" tIns="0" rIns="0" bIns="0" rtlCol="0" anchor="ctr"/>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안전   </a:t>
            </a:r>
            <a:pPr indent="0" marL="0">
              <a:buNone/>
            </a:pPr>
            <a:r>
              <a:rPr lang="en-US" sz="1300" dirty="0">
                <a:solidFill>
                  <a:srgbClr val="6B6F76"/>
                </a:solidFill>
                <a:latin typeface="맑은 고딕" pitchFamily="34" charset="0"/>
                <a:ea typeface="맑은 고딕" pitchFamily="34" charset="-122"/>
                <a:cs typeface="맑은 고딕" pitchFamily="34" charset="-120"/>
              </a:rPr>
              <a:t>놓친 부식 → 사고</a:t>
            </a:r>
            <a:endParaRPr lang="en-US" sz="1400" dirty="0"/>
          </a:p>
        </p:txBody>
      </p:sp>
      <p:sp>
        <p:nvSpPr>
          <p:cNvPr id="33" name="Shape 30"/>
          <p:cNvSpPr/>
          <p:nvPr/>
        </p:nvSpPr>
        <p:spPr>
          <a:xfrm>
            <a:off x="822960" y="4892040"/>
            <a:ext cx="420624" cy="420624"/>
          </a:xfrm>
          <a:prstGeom prst="ellipse">
            <a:avLst/>
          </a:prstGeom>
          <a:solidFill>
            <a:srgbClr val="2B2D31"/>
          </a:solidFill>
          <a:ln w="12700">
            <a:solidFill>
              <a:srgbClr val="2B2D31"/>
            </a:solidFill>
            <a:prstDash val="solid"/>
          </a:ln>
        </p:spPr>
      </p:sp>
      <p:pic>
        <p:nvPicPr>
          <p:cNvPr id="34" name="Image 1" descr="preencoded.png">    </p:cNvPr>
          <p:cNvPicPr>
            <a:picLocks noChangeAspect="1"/>
          </p:cNvPicPr>
          <p:nvPr/>
        </p:nvPicPr>
        <p:blipFill>
          <a:blip r:embed="rId2"/>
          <a:stretch>
            <a:fillRect/>
          </a:stretch>
        </p:blipFill>
        <p:spPr>
          <a:xfrm>
            <a:off x="932322" y="5001402"/>
            <a:ext cx="201900" cy="201900"/>
          </a:xfrm>
          <a:prstGeom prst="rect">
            <a:avLst/>
          </a:prstGeom>
        </p:spPr>
      </p:pic>
      <p:sp>
        <p:nvSpPr>
          <p:cNvPr id="35" name="Text 31"/>
          <p:cNvSpPr txBox="1"/>
          <p:nvPr/>
        </p:nvSpPr>
        <p:spPr>
          <a:xfrm>
            <a:off x="1417320" y="4892040"/>
            <a:ext cx="4358488" cy="420624"/>
          </a:xfrm>
          <a:prstGeom prst="rect">
            <a:avLst/>
          </a:prstGeom>
          <a:noFill/>
          <a:ln/>
        </p:spPr>
        <p:txBody>
          <a:bodyPr wrap="square" lIns="0" tIns="0" rIns="0" bIns="0" rtlCol="0" anchor="ctr"/>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비용   </a:t>
            </a:r>
            <a:pPr indent="0" marL="0">
              <a:buNone/>
            </a:pPr>
            <a:r>
              <a:rPr lang="en-US" sz="1300" dirty="0">
                <a:solidFill>
                  <a:srgbClr val="6B6F76"/>
                </a:solidFill>
                <a:latin typeface="맑은 고딕" pitchFamily="34" charset="0"/>
                <a:ea typeface="맑은 고딕" pitchFamily="34" charset="-122"/>
                <a:cs typeface="맑은 고딕" pitchFamily="34" charset="-120"/>
              </a:rPr>
              <a:t>선박 · 리프트 일수</a:t>
            </a:r>
            <a:endParaRPr lang="en-US" sz="1400" dirty="0"/>
          </a:p>
        </p:txBody>
      </p:sp>
      <p:sp>
        <p:nvSpPr>
          <p:cNvPr id="36" name="Shape 32"/>
          <p:cNvSpPr/>
          <p:nvPr/>
        </p:nvSpPr>
        <p:spPr>
          <a:xfrm>
            <a:off x="822960" y="5440680"/>
            <a:ext cx="420624" cy="420624"/>
          </a:xfrm>
          <a:prstGeom prst="ellipse">
            <a:avLst/>
          </a:prstGeom>
          <a:solidFill>
            <a:srgbClr val="2B2D31"/>
          </a:solidFill>
          <a:ln w="12700">
            <a:solidFill>
              <a:srgbClr val="2B2D31"/>
            </a:solidFill>
            <a:prstDash val="solid"/>
          </a:ln>
        </p:spPr>
      </p:sp>
      <p:pic>
        <p:nvPicPr>
          <p:cNvPr id="37" name="Image 2" descr="preencoded.png">    </p:cNvPr>
          <p:cNvPicPr>
            <a:picLocks noChangeAspect="1"/>
          </p:cNvPicPr>
          <p:nvPr/>
        </p:nvPicPr>
        <p:blipFill>
          <a:blip r:embed="rId3"/>
          <a:stretch>
            <a:fillRect/>
          </a:stretch>
        </p:blipFill>
        <p:spPr>
          <a:xfrm>
            <a:off x="932322" y="5550042"/>
            <a:ext cx="201900" cy="201900"/>
          </a:xfrm>
          <a:prstGeom prst="rect">
            <a:avLst/>
          </a:prstGeom>
        </p:spPr>
      </p:pic>
      <p:sp>
        <p:nvSpPr>
          <p:cNvPr id="38" name="Text 33"/>
          <p:cNvSpPr txBox="1"/>
          <p:nvPr/>
        </p:nvSpPr>
        <p:spPr>
          <a:xfrm>
            <a:off x="1417320" y="5440680"/>
            <a:ext cx="4358488" cy="420624"/>
          </a:xfrm>
          <a:prstGeom prst="rect">
            <a:avLst/>
          </a:prstGeom>
          <a:noFill/>
          <a:ln/>
        </p:spPr>
        <p:txBody>
          <a:bodyPr wrap="square" lIns="0" tIns="0" rIns="0" bIns="0" rtlCol="0" anchor="ctr"/>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규제 · 보험   </a:t>
            </a:r>
            <a:pPr indent="0" marL="0">
              <a:buNone/>
            </a:pPr>
            <a:r>
              <a:rPr lang="en-US" sz="1300" dirty="0">
                <a:solidFill>
                  <a:srgbClr val="6B6F76"/>
                </a:solidFill>
                <a:latin typeface="맑은 고딕" pitchFamily="34" charset="0"/>
                <a:ea typeface="맑은 고딕" pitchFamily="34" charset="-122"/>
                <a:cs typeface="맑은 고딕" pitchFamily="34" charset="-120"/>
              </a:rPr>
              <a:t>기한 내 기록 제출</a:t>
            </a:r>
            <a:endParaRPr lang="en-US" sz="1400" dirty="0"/>
          </a:p>
        </p:txBody>
      </p:sp>
      <p:sp>
        <p:nvSpPr>
          <p:cNvPr id="39" name="Shape 34"/>
          <p:cNvSpPr/>
          <p:nvPr/>
        </p:nvSpPr>
        <p:spPr>
          <a:xfrm>
            <a:off x="6233008" y="3703320"/>
            <a:ext cx="5410048" cy="2377440"/>
          </a:xfrm>
          <a:prstGeom prst="roundRect">
            <a:avLst>
              <a:gd name="adj" fmla="val 3077"/>
            </a:avLst>
          </a:prstGeom>
          <a:solidFill>
            <a:srgbClr val="FBEDE4"/>
          </a:solidFill>
          <a:ln w="12700">
            <a:solidFill>
              <a:srgbClr val="FBEDE4"/>
            </a:solidFill>
            <a:prstDash val="solid"/>
          </a:ln>
        </p:spPr>
      </p:sp>
      <p:sp>
        <p:nvSpPr>
          <p:cNvPr id="40" name="Text 35"/>
          <p:cNvSpPr txBox="1"/>
          <p:nvPr/>
        </p:nvSpPr>
        <p:spPr>
          <a:xfrm>
            <a:off x="6507328" y="3886200"/>
            <a:ext cx="4952848" cy="292608"/>
          </a:xfrm>
          <a:prstGeom prst="rect">
            <a:avLst/>
          </a:prstGeom>
          <a:noFill/>
          <a:ln/>
        </p:spPr>
        <p:txBody>
          <a:bodyPr wrap="square" lIns="0" tIns="0" rIns="0" bIns="0" rtlCol="0" anchor="t"/>
          <a:lstStyle/>
          <a:p>
            <a:pPr indent="0" marL="0">
              <a:buNone/>
            </a:pPr>
            <a:r>
              <a:rPr lang="en-US" sz="1300" b="1" dirty="0">
                <a:solidFill>
                  <a:srgbClr val="B5501F"/>
                </a:solidFill>
                <a:latin typeface="맑은 고딕" pitchFamily="34" charset="0"/>
                <a:ea typeface="맑은 고딕" pitchFamily="34" charset="-122"/>
                <a:cs typeface="맑은 고딕" pitchFamily="34" charset="-120"/>
              </a:rPr>
              <a:t>MLC가 줄이는 비용</a:t>
            </a:r>
            <a:endParaRPr lang="en-US" sz="1300" dirty="0"/>
          </a:p>
        </p:txBody>
      </p:sp>
      <p:sp>
        <p:nvSpPr>
          <p:cNvPr id="41" name="Shape 36"/>
          <p:cNvSpPr/>
          <p:nvPr/>
        </p:nvSpPr>
        <p:spPr>
          <a:xfrm>
            <a:off x="6507328" y="4343400"/>
            <a:ext cx="420624" cy="420624"/>
          </a:xfrm>
          <a:prstGeom prst="ellipse">
            <a:avLst/>
          </a:prstGeom>
          <a:solidFill>
            <a:srgbClr val="B5501F"/>
          </a:solidFill>
          <a:ln w="12700">
            <a:solidFill>
              <a:srgbClr val="B5501F"/>
            </a:solidFill>
            <a:prstDash val="solid"/>
          </a:ln>
        </p:spPr>
      </p:sp>
      <p:pic>
        <p:nvPicPr>
          <p:cNvPr id="42" name="Image 3" descr="preencoded.png">    </p:cNvPr>
          <p:cNvPicPr>
            <a:picLocks noChangeAspect="1"/>
          </p:cNvPicPr>
          <p:nvPr/>
        </p:nvPicPr>
        <p:blipFill>
          <a:blip r:embed="rId4"/>
          <a:stretch>
            <a:fillRect/>
          </a:stretch>
        </p:blipFill>
        <p:spPr>
          <a:xfrm>
            <a:off x="6616690" y="4452762"/>
            <a:ext cx="201900" cy="201900"/>
          </a:xfrm>
          <a:prstGeom prst="rect">
            <a:avLst/>
          </a:prstGeom>
        </p:spPr>
      </p:pic>
      <p:sp>
        <p:nvSpPr>
          <p:cNvPr id="43" name="Text 37"/>
          <p:cNvSpPr txBox="1"/>
          <p:nvPr/>
        </p:nvSpPr>
        <p:spPr>
          <a:xfrm>
            <a:off x="7037680" y="4325112"/>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선박 용선 · 기상 대기</a:t>
            </a:r>
            <a:endParaRPr lang="en-US" sz="1300" dirty="0"/>
          </a:p>
        </p:txBody>
      </p:sp>
      <p:sp>
        <p:nvSpPr>
          <p:cNvPr id="44" name="Text 38"/>
          <p:cNvSpPr txBox="1"/>
          <p:nvPr/>
        </p:nvSpPr>
        <p:spPr>
          <a:xfrm>
            <a:off x="7037680" y="4599432"/>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위험 지점부터 배 투입</a:t>
            </a:r>
            <a:endParaRPr lang="en-US" sz="1100" dirty="0"/>
          </a:p>
        </p:txBody>
      </p:sp>
      <p:sp>
        <p:nvSpPr>
          <p:cNvPr id="45" name="Shape 39"/>
          <p:cNvSpPr/>
          <p:nvPr/>
        </p:nvSpPr>
        <p:spPr>
          <a:xfrm>
            <a:off x="8938031" y="4343400"/>
            <a:ext cx="420624" cy="420624"/>
          </a:xfrm>
          <a:prstGeom prst="ellipse">
            <a:avLst/>
          </a:prstGeom>
          <a:solidFill>
            <a:srgbClr val="B5501F"/>
          </a:solidFill>
          <a:ln w="12700">
            <a:solidFill>
              <a:srgbClr val="B5501F"/>
            </a:solidFill>
            <a:prstDash val="solid"/>
          </a:ln>
        </p:spPr>
      </p:sp>
      <p:pic>
        <p:nvPicPr>
          <p:cNvPr id="46" name="Image 4" descr="preencoded.png">    </p:cNvPr>
          <p:cNvPicPr>
            <a:picLocks noChangeAspect="1"/>
          </p:cNvPicPr>
          <p:nvPr/>
        </p:nvPicPr>
        <p:blipFill>
          <a:blip r:embed="rId5"/>
          <a:stretch>
            <a:fillRect/>
          </a:stretch>
        </p:blipFill>
        <p:spPr>
          <a:xfrm>
            <a:off x="9047394" y="4452762"/>
            <a:ext cx="201900" cy="201900"/>
          </a:xfrm>
          <a:prstGeom prst="rect">
            <a:avLst/>
          </a:prstGeom>
        </p:spPr>
      </p:pic>
      <p:sp>
        <p:nvSpPr>
          <p:cNvPr id="47" name="Text 40"/>
          <p:cNvSpPr txBox="1"/>
          <p:nvPr/>
        </p:nvSpPr>
        <p:spPr>
          <a:xfrm>
            <a:off x="9468383" y="4325112"/>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리프트 · 비계 임대</a:t>
            </a:r>
            <a:endParaRPr lang="en-US" sz="1300" dirty="0"/>
          </a:p>
        </p:txBody>
      </p:sp>
      <p:sp>
        <p:nvSpPr>
          <p:cNvPr id="48" name="Text 41"/>
          <p:cNvSpPr txBox="1"/>
          <p:nvPr/>
        </p:nvSpPr>
        <p:spPr>
          <a:xfrm>
            <a:off x="9468383" y="4599432"/>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필요한 구간만 골라 임대</a:t>
            </a:r>
            <a:endParaRPr lang="en-US" sz="1100" dirty="0"/>
          </a:p>
        </p:txBody>
      </p:sp>
      <p:sp>
        <p:nvSpPr>
          <p:cNvPr id="49" name="Shape 42"/>
          <p:cNvSpPr/>
          <p:nvPr/>
        </p:nvSpPr>
        <p:spPr>
          <a:xfrm>
            <a:off x="6507328" y="5093208"/>
            <a:ext cx="420624" cy="420624"/>
          </a:xfrm>
          <a:prstGeom prst="ellipse">
            <a:avLst/>
          </a:prstGeom>
          <a:solidFill>
            <a:srgbClr val="B5501F"/>
          </a:solidFill>
          <a:ln w="12700">
            <a:solidFill>
              <a:srgbClr val="B5501F"/>
            </a:solidFill>
            <a:prstDash val="solid"/>
          </a:ln>
        </p:spPr>
      </p:sp>
      <p:pic>
        <p:nvPicPr>
          <p:cNvPr id="50" name="Image 5" descr="preencoded.png">    </p:cNvPr>
          <p:cNvPicPr>
            <a:picLocks noChangeAspect="1"/>
          </p:cNvPicPr>
          <p:nvPr/>
        </p:nvPicPr>
        <p:blipFill>
          <a:blip r:embed="rId6"/>
          <a:stretch>
            <a:fillRect/>
          </a:stretch>
        </p:blipFill>
        <p:spPr>
          <a:xfrm>
            <a:off x="6616690" y="5202570"/>
            <a:ext cx="201900" cy="201900"/>
          </a:xfrm>
          <a:prstGeom prst="rect">
            <a:avLst/>
          </a:prstGeom>
        </p:spPr>
      </p:pic>
      <p:sp>
        <p:nvSpPr>
          <p:cNvPr id="51" name="Text 43"/>
          <p:cNvSpPr txBox="1"/>
          <p:nvPr/>
        </p:nvSpPr>
        <p:spPr>
          <a:xfrm>
            <a:off x="7037680" y="5074920"/>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로프 액세스 출동</a:t>
            </a:r>
            <a:endParaRPr lang="en-US" sz="1300" dirty="0"/>
          </a:p>
        </p:txBody>
      </p:sp>
      <p:sp>
        <p:nvSpPr>
          <p:cNvPr id="52" name="Text 44"/>
          <p:cNvSpPr txBox="1"/>
          <p:nvPr/>
        </p:nvSpPr>
        <p:spPr>
          <a:xfrm>
            <a:off x="7037680" y="5349240"/>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출동 여부 사전 판단</a:t>
            </a:r>
            <a:endParaRPr lang="en-US" sz="1100" dirty="0"/>
          </a:p>
        </p:txBody>
      </p:sp>
      <p:sp>
        <p:nvSpPr>
          <p:cNvPr id="53" name="Shape 45"/>
          <p:cNvSpPr/>
          <p:nvPr/>
        </p:nvSpPr>
        <p:spPr>
          <a:xfrm>
            <a:off x="8938031" y="5093208"/>
            <a:ext cx="420624" cy="420624"/>
          </a:xfrm>
          <a:prstGeom prst="ellipse">
            <a:avLst/>
          </a:prstGeom>
          <a:solidFill>
            <a:srgbClr val="B5501F"/>
          </a:solidFill>
          <a:ln w="12700">
            <a:solidFill>
              <a:srgbClr val="B5501F"/>
            </a:solidFill>
            <a:prstDash val="solid"/>
          </a:ln>
        </p:spPr>
      </p:sp>
      <p:pic>
        <p:nvPicPr>
          <p:cNvPr id="54" name="Image 6" descr="preencoded.png">    </p:cNvPr>
          <p:cNvPicPr>
            <a:picLocks noChangeAspect="1"/>
          </p:cNvPicPr>
          <p:nvPr/>
        </p:nvPicPr>
        <p:blipFill>
          <a:blip r:embed="rId7"/>
          <a:stretch>
            <a:fillRect/>
          </a:stretch>
        </p:blipFill>
        <p:spPr>
          <a:xfrm>
            <a:off x="9047394" y="5202570"/>
            <a:ext cx="201900" cy="201900"/>
          </a:xfrm>
          <a:prstGeom prst="rect">
            <a:avLst/>
          </a:prstGeom>
        </p:spPr>
      </p:pic>
      <p:sp>
        <p:nvSpPr>
          <p:cNvPr id="55" name="Text 46"/>
          <p:cNvSpPr txBox="1"/>
          <p:nvPr/>
        </p:nvSpPr>
        <p:spPr>
          <a:xfrm>
            <a:off x="9468383" y="5074920"/>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점검 기록 · 문서 작업</a:t>
            </a:r>
            <a:endParaRPr lang="en-US" sz="1300" dirty="0"/>
          </a:p>
        </p:txBody>
      </p:sp>
      <p:sp>
        <p:nvSpPr>
          <p:cNvPr id="56" name="Text 47"/>
          <p:cNvSpPr txBox="1"/>
          <p:nvPr/>
        </p:nvSpPr>
        <p:spPr>
          <a:xfrm>
            <a:off x="9468383" y="5349240"/>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사진 리포트로 정리</a:t>
            </a:r>
            <a:endParaRPr lang="en-US" sz="1100" dirty="0"/>
          </a:p>
        </p:txBody>
      </p:sp>
      <p:sp>
        <p:nvSpPr>
          <p:cNvPr id="57" name="Text 48"/>
          <p:cNvSpPr txBox="1"/>
          <p:nvPr/>
        </p:nvSpPr>
        <p:spPr>
          <a:xfrm>
            <a:off x="6507328" y="5733288"/>
            <a:ext cx="4952848" cy="228600"/>
          </a:xfrm>
          <a:prstGeom prst="rect">
            <a:avLst/>
          </a:prstGeom>
          <a:noFill/>
          <a:ln/>
        </p:spPr>
        <p:txBody>
          <a:bodyPr wrap="square" lIns="0" tIns="0" rIns="0" bIns="0" rtlCol="0" anchor="t"/>
          <a:lstStyle/>
          <a:p>
            <a:pPr indent="0" marL="0">
              <a:buNone/>
            </a:pPr>
            <a:r>
              <a:rPr lang="en-US" sz="1000" i="1" dirty="0">
                <a:solidFill>
                  <a:srgbClr val="A3A7AD"/>
                </a:solidFill>
                <a:latin typeface="맑은 고딕" pitchFamily="34" charset="0"/>
                <a:ea typeface="맑은 고딕" pitchFamily="34" charset="-122"/>
                <a:cs typeface="맑은 고딕" pitchFamily="34" charset="-120"/>
              </a:rPr>
              <a:t>미국 현장 인터뷰 (Deepwater · MISTRAS · Brown Corrosion 등)</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100" kern="0" dirty="0">
                <a:solidFill>
                  <a:srgbClr val="B5501F"/>
                </a:solidFill>
                <a:latin typeface="맑은 고딕" pitchFamily="34" charset="0"/>
                <a:ea typeface="맑은 고딕" pitchFamily="34" charset="-122"/>
                <a:cs typeface="맑은 고딕" pitchFamily="34" charset="-120"/>
              </a:rPr>
              <a:t>MARKET SIZE</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2800" b="1" dirty="0">
                <a:solidFill>
                  <a:srgbClr val="2B2D31"/>
                </a:solidFill>
                <a:latin typeface="맑은 고딕" pitchFamily="34" charset="0"/>
                <a:ea typeface="맑은 고딕" pitchFamily="34" charset="-122"/>
                <a:cs typeface="맑은 고딕" pitchFamily="34" charset="-120"/>
              </a:rPr>
              <a:t>시장 규모 (국내)</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900" dirty="0">
                <a:solidFill>
                  <a:srgbClr val="A3A7AD"/>
                </a:solidFill>
                <a:latin typeface="맑은 고딕" pitchFamily="34" charset="0"/>
                <a:ea typeface="맑은 고딕" pitchFamily="34" charset="-122"/>
                <a:cs typeface="맑은 고딕" pitchFamily="34" charset="-120"/>
              </a:rPr>
              <a:t>8</a:t>
            </a:r>
            <a:endParaRPr lang="en-US" sz="900" dirty="0"/>
          </a:p>
        </p:txBody>
      </p:sp>
      <p:sp>
        <p:nvSpPr>
          <p:cNvPr id="6" name="Shape 4"/>
          <p:cNvSpPr/>
          <p:nvPr/>
        </p:nvSpPr>
        <p:spPr>
          <a:xfrm>
            <a:off x="6492240" y="1508760"/>
            <a:ext cx="4663440" cy="4663440"/>
          </a:xfrm>
          <a:prstGeom prst="ellipse">
            <a:avLst/>
          </a:prstGeom>
          <a:solidFill>
            <a:srgbClr val="B5501F"/>
          </a:solidFill>
          <a:ln w="31750">
            <a:solidFill>
              <a:srgbClr val="FFFFFF"/>
            </a:solidFill>
            <a:prstDash val="solid"/>
          </a:ln>
        </p:spPr>
      </p:sp>
      <p:sp>
        <p:nvSpPr>
          <p:cNvPr id="7" name="Shape 5"/>
          <p:cNvSpPr/>
          <p:nvPr/>
        </p:nvSpPr>
        <p:spPr>
          <a:xfrm>
            <a:off x="7246620" y="3017520"/>
            <a:ext cx="3154680" cy="3154680"/>
          </a:xfrm>
          <a:prstGeom prst="ellipse">
            <a:avLst/>
          </a:prstGeom>
          <a:solidFill>
            <a:srgbClr val="E8A87C"/>
          </a:solidFill>
          <a:ln w="31750">
            <a:solidFill>
              <a:srgbClr val="FFFFFF"/>
            </a:solidFill>
            <a:prstDash val="solid"/>
          </a:ln>
        </p:spPr>
      </p:sp>
      <p:sp>
        <p:nvSpPr>
          <p:cNvPr id="8" name="Shape 6"/>
          <p:cNvSpPr/>
          <p:nvPr/>
        </p:nvSpPr>
        <p:spPr>
          <a:xfrm>
            <a:off x="7932420" y="4389120"/>
            <a:ext cx="1783080" cy="1783080"/>
          </a:xfrm>
          <a:prstGeom prst="ellipse">
            <a:avLst/>
          </a:prstGeom>
          <a:solidFill>
            <a:srgbClr val="FFFFFF"/>
          </a:solidFill>
          <a:ln w="31750">
            <a:solidFill>
              <a:srgbClr val="FFFFFF"/>
            </a:solidFill>
            <a:prstDash val="solid"/>
          </a:ln>
        </p:spPr>
      </p:sp>
      <p:sp>
        <p:nvSpPr>
          <p:cNvPr id="9" name="Text 7"/>
          <p:cNvSpPr txBox="1"/>
          <p:nvPr/>
        </p:nvSpPr>
        <p:spPr>
          <a:xfrm>
            <a:off x="7543800" y="1783080"/>
            <a:ext cx="256032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TAM</a:t>
            </a:r>
            <a:endParaRPr lang="en-US" sz="1400" dirty="0"/>
          </a:p>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5,192억 원</a:t>
            </a:r>
            <a:endParaRPr lang="en-US" sz="1400" dirty="0"/>
          </a:p>
        </p:txBody>
      </p:sp>
      <p:sp>
        <p:nvSpPr>
          <p:cNvPr id="10" name="Text 8"/>
          <p:cNvSpPr txBox="1"/>
          <p:nvPr/>
        </p:nvSpPr>
        <p:spPr>
          <a:xfrm>
            <a:off x="7543800" y="3246120"/>
            <a:ext cx="256032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SAM</a:t>
            </a:r>
            <a:endParaRPr lang="en-US" sz="1400" dirty="0"/>
          </a:p>
          <a:p>
            <a:pPr algn="ctr" indent="0" marL="0">
              <a:buNone/>
            </a:pPr>
            <a:r>
              <a:rPr lang="en-US" sz="1900" b="1" dirty="0">
                <a:solidFill>
                  <a:srgbClr val="FFFFFF"/>
                </a:solidFill>
                <a:latin typeface="맑은 고딕" pitchFamily="34" charset="0"/>
                <a:ea typeface="맑은 고딕" pitchFamily="34" charset="-122"/>
                <a:cs typeface="맑은 고딕" pitchFamily="34" charset="-120"/>
              </a:rPr>
              <a:t>1,667억 원</a:t>
            </a:r>
            <a:endParaRPr lang="en-US" sz="1400" dirty="0"/>
          </a:p>
        </p:txBody>
      </p:sp>
      <p:sp>
        <p:nvSpPr>
          <p:cNvPr id="11" name="Text 9"/>
          <p:cNvSpPr txBox="1"/>
          <p:nvPr/>
        </p:nvSpPr>
        <p:spPr>
          <a:xfrm>
            <a:off x="7543800" y="4896612"/>
            <a:ext cx="2560320" cy="777240"/>
          </a:xfrm>
          <a:prstGeom prst="rect">
            <a:avLst/>
          </a:prstGeom>
          <a:noFill/>
          <a:ln/>
        </p:spPr>
        <p:txBody>
          <a:bodyPr wrap="square" lIns="0" tIns="0" rIns="0" bIns="0" rtlCol="0" anchor="ctr"/>
          <a:lstStyle/>
          <a:p>
            <a:pPr algn="ctr" indent="0" marL="0">
              <a:buNone/>
            </a:pPr>
            <a:r>
              <a:rPr lang="en-US" sz="1600" b="1" dirty="0">
                <a:solidFill>
                  <a:srgbClr val="B5501F"/>
                </a:solidFill>
                <a:latin typeface="맑은 고딕" pitchFamily="34" charset="0"/>
                <a:ea typeface="맑은 고딕" pitchFamily="34" charset="-122"/>
                <a:cs typeface="맑은 고딕" pitchFamily="34" charset="-120"/>
              </a:rPr>
              <a:t>SOM</a:t>
            </a:r>
            <a:endParaRPr lang="en-US" sz="1400" dirty="0"/>
          </a:p>
          <a:p>
            <a:pPr algn="ctr" indent="0" marL="0">
              <a:buNone/>
            </a:pPr>
            <a:r>
              <a:rPr lang="en-US" sz="1600" b="1" dirty="0">
                <a:solidFill>
                  <a:srgbClr val="B5501F"/>
                </a:solidFill>
                <a:latin typeface="맑은 고딕" pitchFamily="34" charset="0"/>
                <a:ea typeface="맑은 고딕" pitchFamily="34" charset="-122"/>
                <a:cs typeface="맑은 고딕" pitchFamily="34" charset="-120"/>
              </a:rPr>
              <a:t>17억 원</a:t>
            </a:r>
            <a:endParaRPr lang="en-US" sz="1400" dirty="0"/>
          </a:p>
        </p:txBody>
      </p:sp>
      <p:sp>
        <p:nvSpPr>
          <p:cNvPr id="12" name="Shape 10"/>
          <p:cNvSpPr/>
          <p:nvPr/>
        </p:nvSpPr>
        <p:spPr>
          <a:xfrm>
            <a:off x="548640" y="1618488"/>
            <a:ext cx="329184" cy="329184"/>
          </a:xfrm>
          <a:prstGeom prst="ellipse">
            <a:avLst/>
          </a:prstGeom>
          <a:solidFill>
            <a:srgbClr val="B5501F"/>
          </a:solidFill>
          <a:ln w="19050">
            <a:solidFill>
              <a:srgbClr val="FFFFFF"/>
            </a:solidFill>
            <a:prstDash val="solid"/>
          </a:ln>
        </p:spPr>
      </p:sp>
      <p:sp>
        <p:nvSpPr>
          <p:cNvPr id="13" name="Text 11"/>
          <p:cNvSpPr txBox="1"/>
          <p:nvPr/>
        </p:nvSpPr>
        <p:spPr>
          <a:xfrm>
            <a:off x="1005840" y="1563624"/>
            <a:ext cx="4937760" cy="411480"/>
          </a:xfrm>
          <a:prstGeom prst="rect">
            <a:avLst/>
          </a:prstGeom>
          <a:noFill/>
          <a:ln/>
        </p:spPr>
        <p:txBody>
          <a:bodyPr wrap="square" lIns="0" tIns="0" rIns="0" bIns="0" rtlCol="0" anchor="ctr"/>
          <a:lstStyle/>
          <a:p>
            <a:pPr indent="0" marL="0">
              <a:buNone/>
            </a:pPr>
            <a:r>
              <a:rPr lang="en-US" sz="2000" b="1" dirty="0">
                <a:solidFill>
                  <a:srgbClr val="2B2D31"/>
                </a:solidFill>
                <a:latin typeface="맑은 고딕" pitchFamily="34" charset="0"/>
                <a:ea typeface="맑은 고딕" pitchFamily="34" charset="-122"/>
                <a:cs typeface="맑은 고딕" pitchFamily="34" charset="-120"/>
              </a:rPr>
              <a:t>TAM  5,192억 원</a:t>
            </a:r>
            <a:endParaRPr lang="en-US" sz="2000" dirty="0"/>
          </a:p>
        </p:txBody>
      </p:sp>
      <p:sp>
        <p:nvSpPr>
          <p:cNvPr id="14" name="Shape 12"/>
          <p:cNvSpPr/>
          <p:nvPr/>
        </p:nvSpPr>
        <p:spPr>
          <a:xfrm>
            <a:off x="3749040" y="1783080"/>
            <a:ext cx="3703320" cy="384048"/>
          </a:xfrm>
          <a:prstGeom prst="line">
            <a:avLst/>
          </a:prstGeom>
          <a:noFill/>
          <a:ln w="15875">
            <a:solidFill>
              <a:srgbClr val="B5501F"/>
            </a:solidFill>
            <a:prstDash val="dash"/>
          </a:ln>
        </p:spPr>
      </p:sp>
      <p:sp>
        <p:nvSpPr>
          <p:cNvPr id="15" name="Text 13"/>
          <p:cNvSpPr txBox="1"/>
          <p:nvPr/>
        </p:nvSpPr>
        <p:spPr>
          <a:xfrm>
            <a:off x="1005840" y="2011680"/>
            <a:ext cx="4480560" cy="274320"/>
          </a:xfrm>
          <a:prstGeom prst="rect">
            <a:avLst/>
          </a:prstGeom>
          <a:noFill/>
          <a:ln/>
        </p:spPr>
        <p:txBody>
          <a:bodyPr wrap="square" lIns="0" tIns="0" rIns="0" bIns="0" rtlCol="0" anchor="t"/>
          <a:lstStyle/>
          <a:p>
            <a:pPr indent="0" marL="0">
              <a:buNone/>
            </a:pPr>
            <a:r>
              <a:rPr lang="en-US" sz="1300" dirty="0">
                <a:solidFill>
                  <a:srgbClr val="2B2D31"/>
                </a:solidFill>
                <a:latin typeface="맑은 고딕" pitchFamily="34" charset="0"/>
                <a:ea typeface="맑은 고딕" pitchFamily="34" charset="-122"/>
                <a:cs typeface="맑은 고딕" pitchFamily="34" charset="-120"/>
              </a:rPr>
              <a:t>시설물 안전점검 · 진단 시장</a:t>
            </a:r>
            <a:endParaRPr lang="en-US" sz="1300" dirty="0"/>
          </a:p>
        </p:txBody>
      </p:sp>
      <p:sp>
        <p:nvSpPr>
          <p:cNvPr id="16" name="Text 14"/>
          <p:cNvSpPr txBox="1"/>
          <p:nvPr/>
        </p:nvSpPr>
        <p:spPr>
          <a:xfrm>
            <a:off x="1005840" y="2295144"/>
            <a:ext cx="4480560" cy="256032"/>
          </a:xfrm>
          <a:prstGeom prst="rect">
            <a:avLst/>
          </a:prstGeom>
          <a:noFill/>
          <a:ln/>
        </p:spPr>
        <p:txBody>
          <a:bodyPr wrap="square" lIns="0" tIns="0" rIns="0" bIns="0" rtlCol="0" anchor="t"/>
          <a:lstStyle/>
          <a:p>
            <a:pPr indent="0" marL="0">
              <a:buNone/>
            </a:pPr>
            <a:r>
              <a:rPr lang="en-US" sz="1200" b="1" dirty="0">
                <a:solidFill>
                  <a:srgbClr val="B5501F"/>
                </a:solidFill>
                <a:latin typeface="맑은 고딕" pitchFamily="34" charset="0"/>
                <a:ea typeface="맑은 고딕" pitchFamily="34" charset="-122"/>
                <a:cs typeface="맑은 고딕" pitchFamily="34" charset="-120"/>
              </a:rPr>
              <a:t>연 15% 성장 ('17 → '21)</a:t>
            </a:r>
            <a:endParaRPr lang="en-US" sz="1200" dirty="0"/>
          </a:p>
        </p:txBody>
      </p:sp>
      <p:sp>
        <p:nvSpPr>
          <p:cNvPr id="17" name="Text 15"/>
          <p:cNvSpPr txBox="1"/>
          <p:nvPr/>
        </p:nvSpPr>
        <p:spPr>
          <a:xfrm>
            <a:off x="1005840" y="2560320"/>
            <a:ext cx="4480560" cy="256032"/>
          </a:xfrm>
          <a:prstGeom prst="rect">
            <a:avLst/>
          </a:prstGeom>
          <a:noFill/>
          <a:ln/>
        </p:spPr>
        <p:txBody>
          <a:bodyPr wrap="square" lIns="0" tIns="0" rIns="0" bIns="0" rtlCol="0" anchor="t"/>
          <a:lstStyle/>
          <a:p>
            <a:pPr indent="0" marL="0">
              <a:buNone/>
            </a:pPr>
            <a:r>
              <a:rPr lang="en-US" sz="950" i="1" dirty="0">
                <a:solidFill>
                  <a:srgbClr val="A3A7AD"/>
                </a:solidFill>
                <a:latin typeface="맑은 고딕" pitchFamily="34" charset="0"/>
                <a:ea typeface="맑은 고딕" pitchFamily="34" charset="-122"/>
                <a:cs typeface="맑은 고딕" pitchFamily="34" charset="-120"/>
              </a:rPr>
              <a:t>국토교통부 제5차 시설물 안전 및 유지관리 기본계획 (2021년 기준)</a:t>
            </a:r>
            <a:endParaRPr lang="en-US" sz="950" dirty="0"/>
          </a:p>
        </p:txBody>
      </p:sp>
      <p:sp>
        <p:nvSpPr>
          <p:cNvPr id="18" name="Shape 16"/>
          <p:cNvSpPr/>
          <p:nvPr/>
        </p:nvSpPr>
        <p:spPr>
          <a:xfrm>
            <a:off x="548640" y="3035808"/>
            <a:ext cx="329184" cy="329184"/>
          </a:xfrm>
          <a:prstGeom prst="ellipse">
            <a:avLst/>
          </a:prstGeom>
          <a:solidFill>
            <a:srgbClr val="E8A87C"/>
          </a:solidFill>
          <a:ln w="19050">
            <a:solidFill>
              <a:srgbClr val="FFFFFF"/>
            </a:solidFill>
            <a:prstDash val="solid"/>
          </a:ln>
        </p:spPr>
      </p:sp>
      <p:sp>
        <p:nvSpPr>
          <p:cNvPr id="19" name="Text 17"/>
          <p:cNvSpPr txBox="1"/>
          <p:nvPr/>
        </p:nvSpPr>
        <p:spPr>
          <a:xfrm>
            <a:off x="1005840" y="2980944"/>
            <a:ext cx="4937760" cy="411480"/>
          </a:xfrm>
          <a:prstGeom prst="rect">
            <a:avLst/>
          </a:prstGeom>
          <a:noFill/>
          <a:ln/>
        </p:spPr>
        <p:txBody>
          <a:bodyPr wrap="square" lIns="0" tIns="0" rIns="0" bIns="0" rtlCol="0" anchor="ctr"/>
          <a:lstStyle/>
          <a:p>
            <a:pPr indent="0" marL="0">
              <a:buNone/>
            </a:pPr>
            <a:r>
              <a:rPr lang="en-US" sz="2000" b="1" dirty="0">
                <a:solidFill>
                  <a:srgbClr val="2B2D31"/>
                </a:solidFill>
                <a:latin typeface="맑은 고딕" pitchFamily="34" charset="0"/>
                <a:ea typeface="맑은 고딕" pitchFamily="34" charset="-122"/>
                <a:cs typeface="맑은 고딕" pitchFamily="34" charset="-120"/>
              </a:rPr>
              <a:t>SAM  1,667억 원</a:t>
            </a:r>
            <a:endParaRPr lang="en-US" sz="2000" dirty="0"/>
          </a:p>
        </p:txBody>
      </p:sp>
      <p:sp>
        <p:nvSpPr>
          <p:cNvPr id="20" name="Shape 18"/>
          <p:cNvSpPr/>
          <p:nvPr/>
        </p:nvSpPr>
        <p:spPr>
          <a:xfrm>
            <a:off x="3749040" y="3200400"/>
            <a:ext cx="3703320" cy="429768"/>
          </a:xfrm>
          <a:prstGeom prst="line">
            <a:avLst/>
          </a:prstGeom>
          <a:noFill/>
          <a:ln w="15875">
            <a:solidFill>
              <a:srgbClr val="E8A87C"/>
            </a:solidFill>
            <a:prstDash val="dash"/>
          </a:ln>
        </p:spPr>
      </p:sp>
      <p:sp>
        <p:nvSpPr>
          <p:cNvPr id="21" name="Text 19"/>
          <p:cNvSpPr txBox="1"/>
          <p:nvPr/>
        </p:nvSpPr>
        <p:spPr>
          <a:xfrm>
            <a:off x="1005840" y="3429000"/>
            <a:ext cx="4480560" cy="274320"/>
          </a:xfrm>
          <a:prstGeom prst="rect">
            <a:avLst/>
          </a:prstGeom>
          <a:noFill/>
          <a:ln/>
        </p:spPr>
        <p:txBody>
          <a:bodyPr wrap="square" lIns="0" tIns="0" rIns="0" bIns="0" rtlCol="0" anchor="t"/>
          <a:lstStyle/>
          <a:p>
            <a:pPr indent="0" marL="0">
              <a:buNone/>
            </a:pPr>
            <a:r>
              <a:rPr lang="en-US" sz="1300" dirty="0">
                <a:solidFill>
                  <a:srgbClr val="2B2D31"/>
                </a:solidFill>
                <a:latin typeface="맑은 고딕" pitchFamily="34" charset="0"/>
                <a:ea typeface="맑은 고딕" pitchFamily="34" charset="-122"/>
                <a:cs typeface="맑은 고딕" pitchFamily="34" charset="-120"/>
              </a:rPr>
              <a:t>드론 측량 · 점검 · 관측 시장</a:t>
            </a:r>
            <a:endParaRPr lang="en-US" sz="1300" dirty="0"/>
          </a:p>
        </p:txBody>
      </p:sp>
      <p:sp>
        <p:nvSpPr>
          <p:cNvPr id="22" name="Text 20"/>
          <p:cNvSpPr txBox="1"/>
          <p:nvPr/>
        </p:nvSpPr>
        <p:spPr>
          <a:xfrm>
            <a:off x="1005840" y="3712464"/>
            <a:ext cx="4480560" cy="256032"/>
          </a:xfrm>
          <a:prstGeom prst="rect">
            <a:avLst/>
          </a:prstGeom>
          <a:noFill/>
          <a:ln/>
        </p:spPr>
        <p:txBody>
          <a:bodyPr wrap="square" lIns="0" tIns="0" rIns="0" bIns="0" rtlCol="0" anchor="t"/>
          <a:lstStyle/>
          <a:p>
            <a:pPr indent="0" marL="0">
              <a:buNone/>
            </a:pPr>
            <a:r>
              <a:rPr lang="en-US" sz="1200" b="1" dirty="0">
                <a:solidFill>
                  <a:srgbClr val="B5501F"/>
                </a:solidFill>
                <a:latin typeface="맑은 고딕" pitchFamily="34" charset="0"/>
                <a:ea typeface="맑은 고딕" pitchFamily="34" charset="-122"/>
                <a:cs typeface="맑은 고딕" pitchFamily="34" charset="-120"/>
              </a:rPr>
              <a:t>드론 활용 분야 중 26%</a:t>
            </a:r>
            <a:endParaRPr lang="en-US" sz="1200" dirty="0"/>
          </a:p>
        </p:txBody>
      </p:sp>
      <p:sp>
        <p:nvSpPr>
          <p:cNvPr id="23" name="Text 21"/>
          <p:cNvSpPr txBox="1"/>
          <p:nvPr/>
        </p:nvSpPr>
        <p:spPr>
          <a:xfrm>
            <a:off x="1005840" y="3977640"/>
            <a:ext cx="4480560" cy="256032"/>
          </a:xfrm>
          <a:prstGeom prst="rect">
            <a:avLst/>
          </a:prstGeom>
          <a:noFill/>
          <a:ln/>
        </p:spPr>
        <p:txBody>
          <a:bodyPr wrap="square" lIns="0" tIns="0" rIns="0" bIns="0" rtlCol="0" anchor="t"/>
          <a:lstStyle/>
          <a:p>
            <a:pPr indent="0" marL="0">
              <a:buNone/>
            </a:pPr>
            <a:r>
              <a:rPr lang="en-US" sz="950" i="1" dirty="0">
                <a:solidFill>
                  <a:srgbClr val="A3A7AD"/>
                </a:solidFill>
                <a:latin typeface="맑은 고딕" pitchFamily="34" charset="0"/>
                <a:ea typeface="맑은 고딕" pitchFamily="34" charset="-122"/>
                <a:cs typeface="맑은 고딕" pitchFamily="34" charset="-120"/>
              </a:rPr>
              <a:t>드론정보포털 활용업체 시장 통계</a:t>
            </a:r>
            <a:endParaRPr lang="en-US" sz="950" dirty="0"/>
          </a:p>
        </p:txBody>
      </p:sp>
      <p:sp>
        <p:nvSpPr>
          <p:cNvPr id="24" name="Shape 22"/>
          <p:cNvSpPr/>
          <p:nvPr/>
        </p:nvSpPr>
        <p:spPr>
          <a:xfrm>
            <a:off x="548640" y="4453128"/>
            <a:ext cx="329184" cy="329184"/>
          </a:xfrm>
          <a:prstGeom prst="ellipse">
            <a:avLst/>
          </a:prstGeom>
          <a:solidFill>
            <a:srgbClr val="2B2D31"/>
          </a:solidFill>
          <a:ln w="19050">
            <a:solidFill>
              <a:srgbClr val="FFFFFF"/>
            </a:solidFill>
            <a:prstDash val="solid"/>
          </a:ln>
        </p:spPr>
      </p:sp>
      <p:sp>
        <p:nvSpPr>
          <p:cNvPr id="25" name="Text 23"/>
          <p:cNvSpPr txBox="1"/>
          <p:nvPr/>
        </p:nvSpPr>
        <p:spPr>
          <a:xfrm>
            <a:off x="1005840" y="4398264"/>
            <a:ext cx="4937760" cy="411480"/>
          </a:xfrm>
          <a:prstGeom prst="rect">
            <a:avLst/>
          </a:prstGeom>
          <a:noFill/>
          <a:ln/>
        </p:spPr>
        <p:txBody>
          <a:bodyPr wrap="square" lIns="0" tIns="0" rIns="0" bIns="0" rtlCol="0" anchor="ctr"/>
          <a:lstStyle/>
          <a:p>
            <a:pPr indent="0" marL="0">
              <a:buNone/>
            </a:pPr>
            <a:r>
              <a:rPr lang="en-US" sz="2000" b="1" dirty="0">
                <a:solidFill>
                  <a:srgbClr val="2B2D31"/>
                </a:solidFill>
                <a:latin typeface="맑은 고딕" pitchFamily="34" charset="0"/>
                <a:ea typeface="맑은 고딕" pitchFamily="34" charset="-122"/>
                <a:cs typeface="맑은 고딕" pitchFamily="34" charset="-120"/>
              </a:rPr>
              <a:t>SOM  17억 원</a:t>
            </a:r>
            <a:endParaRPr lang="en-US" sz="2000" dirty="0"/>
          </a:p>
        </p:txBody>
      </p:sp>
      <p:sp>
        <p:nvSpPr>
          <p:cNvPr id="26" name="Shape 24"/>
          <p:cNvSpPr/>
          <p:nvPr/>
        </p:nvSpPr>
        <p:spPr>
          <a:xfrm>
            <a:off x="3749040" y="4617720"/>
            <a:ext cx="3703320" cy="662940"/>
          </a:xfrm>
          <a:prstGeom prst="line">
            <a:avLst/>
          </a:prstGeom>
          <a:noFill/>
          <a:ln w="15875">
            <a:solidFill>
              <a:srgbClr val="A3A7AD"/>
            </a:solidFill>
            <a:prstDash val="dash"/>
          </a:ln>
        </p:spPr>
      </p:sp>
      <p:sp>
        <p:nvSpPr>
          <p:cNvPr id="27" name="Text 25"/>
          <p:cNvSpPr txBox="1"/>
          <p:nvPr/>
        </p:nvSpPr>
        <p:spPr>
          <a:xfrm>
            <a:off x="1005840" y="4846320"/>
            <a:ext cx="4480560" cy="274320"/>
          </a:xfrm>
          <a:prstGeom prst="rect">
            <a:avLst/>
          </a:prstGeom>
          <a:noFill/>
          <a:ln/>
        </p:spPr>
        <p:txBody>
          <a:bodyPr wrap="square" lIns="0" tIns="0" rIns="0" bIns="0" rtlCol="0" anchor="t"/>
          <a:lstStyle/>
          <a:p>
            <a:pPr indent="0" marL="0">
              <a:buNone/>
            </a:pPr>
            <a:r>
              <a:rPr lang="en-US" sz="1300" dirty="0">
                <a:solidFill>
                  <a:srgbClr val="2B2D31"/>
                </a:solidFill>
                <a:latin typeface="맑은 고딕" pitchFamily="34" charset="0"/>
                <a:ea typeface="맑은 고딕" pitchFamily="34" charset="-122"/>
                <a:cs typeface="맑은 고딕" pitchFamily="34" charset="-120"/>
              </a:rPr>
              <a:t>3년 내 목표: SAM의 1%</a:t>
            </a:r>
            <a:endParaRPr lang="en-US" sz="1300" dirty="0"/>
          </a:p>
        </p:txBody>
      </p:sp>
      <p:sp>
        <p:nvSpPr>
          <p:cNvPr id="28" name="Text 26"/>
          <p:cNvSpPr txBox="1"/>
          <p:nvPr/>
        </p:nvSpPr>
        <p:spPr>
          <a:xfrm>
            <a:off x="1005840" y="5129784"/>
            <a:ext cx="4480560" cy="256032"/>
          </a:xfrm>
          <a:prstGeom prst="rect">
            <a:avLst/>
          </a:prstGeom>
          <a:noFill/>
          <a:ln/>
        </p:spPr>
        <p:txBody>
          <a:bodyPr wrap="square" lIns="0" tIns="0" rIns="0" bIns="0" rtlCol="0" anchor="t"/>
          <a:lstStyle/>
          <a:p>
            <a:pPr indent="0" marL="0">
              <a:buNone/>
            </a:pPr>
            <a:r>
              <a:rPr lang="en-US" sz="1200" b="1" dirty="0">
                <a:solidFill>
                  <a:srgbClr val="B5501F"/>
                </a:solidFill>
                <a:latin typeface="맑은 고딕" pitchFamily="34" charset="0"/>
                <a:ea typeface="맑은 고딕" pitchFamily="34" charset="-122"/>
                <a:cs typeface="맑은 고딕" pitchFamily="34" charset="-120"/>
              </a:rPr>
              <a:t>해양 · 항만 강구조물 · 해상풍력부터</a:t>
            </a:r>
            <a:endParaRPr lang="en-US" sz="1200" dirty="0"/>
          </a:p>
        </p:txBody>
      </p:sp>
      <p:sp>
        <p:nvSpPr>
          <p:cNvPr id="29" name="Text 27"/>
          <p:cNvSpPr txBox="1"/>
          <p:nvPr/>
        </p:nvSpPr>
        <p:spPr>
          <a:xfrm>
            <a:off x="1005840" y="5394960"/>
            <a:ext cx="4480560" cy="256032"/>
          </a:xfrm>
          <a:prstGeom prst="rect">
            <a:avLst/>
          </a:prstGeom>
          <a:noFill/>
          <a:ln/>
        </p:spPr>
        <p:txBody>
          <a:bodyPr wrap="square" lIns="0" tIns="0" rIns="0" bIns="0" rtlCol="0" anchor="t"/>
          <a:lstStyle/>
          <a:p>
            <a:pPr indent="0" marL="0">
              <a:buNone/>
            </a:pPr>
            <a:r>
              <a:rPr lang="en-US" sz="950" i="1" dirty="0">
                <a:solidFill>
                  <a:srgbClr val="A3A7AD"/>
                </a:solidFill>
                <a:latin typeface="맑은 고딕" pitchFamily="34" charset="0"/>
                <a:ea typeface="맑은 고딕" pitchFamily="34" charset="-122"/>
                <a:cs typeface="맑은 고딕" pitchFamily="34" charset="-120"/>
              </a:rPr>
              <a:t>MLC 목표 (가정)</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100" dirty="0">
                <a:solidFill>
                  <a:srgbClr val="B5501F"/>
                </a:solidFill>
                <a:latin typeface="맑은 고딕" pitchFamily="34" charset="0"/>
                <a:ea typeface="맑은 고딕" pitchFamily="34" charset="-122"/>
                <a:cs typeface="맑은 고딕" pitchFamily="34" charset="-120"/>
              </a:rPr>
              <a:t>TRACTION  ·  ROADMAP</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marL="0" indent="0">
              <a:buNone/>
            </a:pPr>
            <a:r>
              <a:rPr lang="en-US" sz="2800" b="1" dirty="0">
                <a:solidFill>
                  <a:srgbClr val="2B2D31"/>
                </a:solidFill>
                <a:latin typeface="맑은 고딕" pitchFamily="34" charset="0"/>
                <a:ea typeface="맑은 고딕" pitchFamily="34" charset="-122"/>
                <a:cs typeface="맑은 고딕" pitchFamily="34" charset="-120"/>
              </a:rPr>
              <a:t>성과와 다음 단계</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marL="0" indent="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marL="0" indent="0" algn="r">
              <a:buNone/>
            </a:pPr>
            <a:r>
              <a:rPr lang="en-US" sz="900" dirty="0">
                <a:solidFill>
                  <a:srgbClr val="A3A7AD"/>
                </a:solidFill>
                <a:latin typeface="맑은 고딕" pitchFamily="34" charset="0"/>
                <a:ea typeface="맑은 고딕" pitchFamily="34" charset="-122"/>
                <a:cs typeface="맑은 고딕" pitchFamily="34" charset="-120"/>
              </a:rPr>
              <a:t>10</a:t>
            </a:r>
            <a:endParaRPr lang="en-US" sz="900" dirty="0"/>
          </a:p>
        </p:txBody>
      </p:sp>
      <p:sp>
        <p:nvSpPr>
          <p:cNvPr id="6" name="Shape 4"/>
          <p:cNvSpPr/>
          <p:nvPr/>
        </p:nvSpPr>
        <p:spPr>
          <a:xfrm flipH="1">
            <a:off x="822960" y="1554480"/>
            <a:ext cx="10545775" cy="2286000"/>
          </a:xfrm>
          <a:prstGeom prst="rtTriangle">
            <a:avLst/>
          </a:prstGeom>
          <a:solidFill>
            <a:srgbClr val="FBEDE4"/>
          </a:solidFill>
          <a:ln w="12700">
            <a:solidFill>
              <a:srgbClr val="FBEDE4"/>
            </a:solidFill>
            <a:prstDash val="solid"/>
          </a:ln>
        </p:spPr>
      </p:sp>
      <p:sp>
        <p:nvSpPr>
          <p:cNvPr id="7" name="Shape 5"/>
          <p:cNvSpPr/>
          <p:nvPr/>
        </p:nvSpPr>
        <p:spPr>
          <a:xfrm>
            <a:off x="1018002" y="2606040"/>
            <a:ext cx="1280160" cy="1280160"/>
          </a:xfrm>
          <a:prstGeom prst="ellipse">
            <a:avLst/>
          </a:prstGeom>
          <a:solidFill>
            <a:srgbClr val="8FA0AC"/>
          </a:solidFill>
          <a:ln w="38100">
            <a:solidFill>
              <a:srgbClr val="FFFFFF"/>
            </a:solidFill>
            <a:prstDash val="solid"/>
          </a:ln>
        </p:spPr>
      </p:sp>
      <p:sp>
        <p:nvSpPr>
          <p:cNvPr id="8" name="Text 6"/>
          <p:cNvSpPr txBox="1"/>
          <p:nvPr/>
        </p:nvSpPr>
        <p:spPr>
          <a:xfrm>
            <a:off x="1018002" y="2880360"/>
            <a:ext cx="1280160" cy="731520"/>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실험실</a:t>
            </a:r>
            <a:endParaRPr lang="en-US" sz="1300" dirty="0"/>
          </a:p>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기술 검증</a:t>
            </a:r>
            <a:endParaRPr lang="en-US" sz="1300" dirty="0"/>
          </a:p>
        </p:txBody>
      </p:sp>
      <p:sp>
        <p:nvSpPr>
          <p:cNvPr id="9" name="Shape 7"/>
          <p:cNvSpPr/>
          <p:nvPr/>
        </p:nvSpPr>
        <p:spPr>
          <a:xfrm>
            <a:off x="548640" y="4069080"/>
            <a:ext cx="2310323" cy="438912"/>
          </a:xfrm>
          <a:prstGeom prst="homePlate">
            <a:avLst/>
          </a:prstGeom>
          <a:solidFill>
            <a:srgbClr val="A3A7AD"/>
          </a:solidFill>
          <a:ln w="12700">
            <a:solidFill>
              <a:srgbClr val="A3A7AD"/>
            </a:solidFill>
            <a:prstDash val="solid"/>
          </a:ln>
        </p:spPr>
      </p:sp>
      <p:sp>
        <p:nvSpPr>
          <p:cNvPr id="10" name="Text 8"/>
          <p:cNvSpPr txBox="1"/>
          <p:nvPr/>
        </p:nvSpPr>
        <p:spPr>
          <a:xfrm>
            <a:off x="731520" y="4069080"/>
            <a:ext cx="1944563"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완료</a:t>
            </a:r>
            <a:endParaRPr lang="en-US" sz="1400" dirty="0"/>
          </a:p>
        </p:txBody>
      </p:sp>
      <p:sp>
        <p:nvSpPr>
          <p:cNvPr id="11" name="Text 9"/>
          <p:cNvSpPr txBox="1"/>
          <p:nvPr/>
        </p:nvSpPr>
        <p:spPr>
          <a:xfrm>
            <a:off x="594360" y="4709160"/>
            <a:ext cx="2127443" cy="685800"/>
          </a:xfrm>
          <a:prstGeom prst="rect">
            <a:avLst/>
          </a:prstGeom>
          <a:noFill/>
          <a:ln/>
        </p:spPr>
        <p:txBody>
          <a:bodyPr wrap="square" lIns="0" tIns="0" rIns="0" bIns="0" rtlCol="0" anchor="t"/>
          <a:lstStyle/>
          <a:p>
            <a:pPr marL="0" indent="0" algn="ctr">
              <a:buNone/>
            </a:pPr>
            <a:r>
              <a:rPr lang="en-US" sz="1200" dirty="0">
                <a:solidFill>
                  <a:srgbClr val="2B2D31"/>
                </a:solidFill>
                <a:latin typeface="맑은 고딕" pitchFamily="34" charset="0"/>
                <a:ea typeface="맑은 고딕" pitchFamily="34" charset="-122"/>
                <a:cs typeface="맑은 고딕" pitchFamily="34" charset="-120"/>
              </a:rPr>
              <a:t>240시간 촉진부식</a:t>
            </a:r>
            <a:endParaRPr lang="en-US" sz="1200" dirty="0"/>
          </a:p>
          <a:p>
            <a:pPr marL="0" indent="0" algn="ctr">
              <a:buNone/>
            </a:pPr>
            <a:r>
              <a:rPr lang="en-US" sz="1200" dirty="0">
                <a:solidFill>
                  <a:srgbClr val="2B2D31"/>
                </a:solidFill>
                <a:latin typeface="맑은 고딕" pitchFamily="34" charset="0"/>
                <a:ea typeface="맑은 고딕" pitchFamily="34" charset="-122"/>
                <a:cs typeface="맑은 고딕" pitchFamily="34" charset="-120"/>
              </a:rPr>
              <a:t>6가지 분석 교차 검증</a:t>
            </a:r>
            <a:endParaRPr lang="en-US" sz="1200" dirty="0"/>
          </a:p>
        </p:txBody>
      </p:sp>
      <p:sp>
        <p:nvSpPr>
          <p:cNvPr id="12" name="Shape 10"/>
          <p:cNvSpPr/>
          <p:nvPr/>
        </p:nvSpPr>
        <p:spPr>
          <a:xfrm>
            <a:off x="3145445" y="2423160"/>
            <a:ext cx="1463040" cy="1463040"/>
          </a:xfrm>
          <a:prstGeom prst="ellipse">
            <a:avLst/>
          </a:prstGeom>
          <a:solidFill>
            <a:srgbClr val="8FA0AC"/>
          </a:solidFill>
          <a:ln w="38100">
            <a:solidFill>
              <a:srgbClr val="FFFFFF"/>
            </a:solidFill>
            <a:prstDash val="solid"/>
          </a:ln>
        </p:spPr>
      </p:sp>
      <p:sp>
        <p:nvSpPr>
          <p:cNvPr id="13" name="Text 11"/>
          <p:cNvSpPr txBox="1"/>
          <p:nvPr/>
        </p:nvSpPr>
        <p:spPr>
          <a:xfrm>
            <a:off x="3145445" y="2788920"/>
            <a:ext cx="1463040" cy="731520"/>
          </a:xfrm>
          <a:prstGeom prst="rect">
            <a:avLst/>
          </a:prstGeom>
          <a:noFill/>
          <a:ln/>
        </p:spPr>
        <p:txBody>
          <a:bodyPr wrap="square" lIns="0" tIns="0" rIns="0" bIns="0" rtlCol="0" anchor="ctr"/>
          <a:lstStyle/>
          <a:p>
            <a:pPr marL="0" indent="0" algn="ctr">
              <a:buNone/>
            </a:pPr>
            <a:r>
              <a:rPr lang="en-US" sz="1350" b="1" dirty="0">
                <a:solidFill>
                  <a:srgbClr val="FFFFFF"/>
                </a:solidFill>
                <a:latin typeface="맑은 고딕" pitchFamily="34" charset="0"/>
                <a:ea typeface="맑은 고딕" pitchFamily="34" charset="-122"/>
                <a:cs typeface="맑은 고딕" pitchFamily="34" charset="-120"/>
              </a:rPr>
              <a:t>미국 고객</a:t>
            </a:r>
            <a:endParaRPr lang="en-US" sz="1350" dirty="0"/>
          </a:p>
          <a:p>
            <a:pPr marL="0" indent="0" algn="ctr">
              <a:buNone/>
            </a:pPr>
            <a:r>
              <a:rPr lang="en-US" sz="1350" b="1" dirty="0">
                <a:solidFill>
                  <a:srgbClr val="FFFFFF"/>
                </a:solidFill>
                <a:latin typeface="맑은 고딕" pitchFamily="34" charset="0"/>
                <a:ea typeface="맑은 고딕" pitchFamily="34" charset="-122"/>
                <a:cs typeface="맑은 고딕" pitchFamily="34" charset="-120"/>
              </a:rPr>
              <a:t>인터뷰 35건</a:t>
            </a:r>
            <a:endParaRPr lang="en-US" sz="1350" dirty="0"/>
          </a:p>
        </p:txBody>
      </p:sp>
      <p:sp>
        <p:nvSpPr>
          <p:cNvPr id="14" name="Shape 12"/>
          <p:cNvSpPr/>
          <p:nvPr/>
        </p:nvSpPr>
        <p:spPr>
          <a:xfrm>
            <a:off x="2767523" y="4069080"/>
            <a:ext cx="2310323" cy="438912"/>
          </a:xfrm>
          <a:prstGeom prst="chevron">
            <a:avLst/>
          </a:prstGeom>
          <a:solidFill>
            <a:srgbClr val="A3A7AD"/>
          </a:solidFill>
          <a:ln w="12700">
            <a:solidFill>
              <a:srgbClr val="A3A7AD"/>
            </a:solidFill>
            <a:prstDash val="solid"/>
          </a:ln>
        </p:spPr>
      </p:sp>
      <p:sp>
        <p:nvSpPr>
          <p:cNvPr id="15" name="Text 13"/>
          <p:cNvSpPr txBox="1"/>
          <p:nvPr/>
        </p:nvSpPr>
        <p:spPr>
          <a:xfrm>
            <a:off x="2950403" y="4069080"/>
            <a:ext cx="1944563"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완료</a:t>
            </a:r>
            <a:endParaRPr lang="en-US" sz="1400" dirty="0"/>
          </a:p>
        </p:txBody>
      </p:sp>
      <p:sp>
        <p:nvSpPr>
          <p:cNvPr id="16" name="Text 14"/>
          <p:cNvSpPr txBox="1"/>
          <p:nvPr/>
        </p:nvSpPr>
        <p:spPr>
          <a:xfrm>
            <a:off x="2813243" y="4709160"/>
            <a:ext cx="2127443" cy="685800"/>
          </a:xfrm>
          <a:prstGeom prst="rect">
            <a:avLst/>
          </a:prstGeom>
          <a:noFill/>
          <a:ln/>
        </p:spPr>
        <p:txBody>
          <a:bodyPr wrap="square" lIns="0" tIns="0" rIns="0" bIns="0" rtlCol="0" anchor="t"/>
          <a:lstStyle/>
          <a:p>
            <a:pPr marL="0" indent="0" algn="ctr">
              <a:buNone/>
            </a:pPr>
            <a:r>
              <a:rPr lang="en-US" sz="1200" dirty="0">
                <a:solidFill>
                  <a:srgbClr val="2B2D31"/>
                </a:solidFill>
                <a:latin typeface="맑은 고딕" pitchFamily="34" charset="0"/>
                <a:ea typeface="맑은 고딕" pitchFamily="34" charset="-122"/>
                <a:cs typeface="맑은 고딕" pitchFamily="34" charset="-120"/>
              </a:rPr>
              <a:t>Tex-Corps · 2026년 7월</a:t>
            </a:r>
            <a:endParaRPr lang="en-US" sz="1200" dirty="0"/>
          </a:p>
          <a:p>
            <a:pPr marL="0" indent="0" algn="ctr">
              <a:buNone/>
            </a:pPr>
            <a:r>
              <a:rPr lang="en-US" sz="1200" dirty="0">
                <a:solidFill>
                  <a:srgbClr val="2B2D31"/>
                </a:solidFill>
                <a:latin typeface="맑은 고딕" pitchFamily="34" charset="0"/>
                <a:ea typeface="맑은 고딕" pitchFamily="34" charset="-122"/>
                <a:cs typeface="맑은 고딕" pitchFamily="34" charset="-120"/>
              </a:rPr>
              <a:t>타깃: 해양 석유 · 가스</a:t>
            </a:r>
            <a:endParaRPr lang="en-US" sz="1200" dirty="0"/>
          </a:p>
        </p:txBody>
      </p:sp>
      <p:sp>
        <p:nvSpPr>
          <p:cNvPr id="17" name="Shape 15"/>
          <p:cNvSpPr/>
          <p:nvPr/>
        </p:nvSpPr>
        <p:spPr>
          <a:xfrm>
            <a:off x="5272888" y="2240280"/>
            <a:ext cx="1645920" cy="1645920"/>
          </a:xfrm>
          <a:prstGeom prst="ellipse">
            <a:avLst/>
          </a:prstGeom>
          <a:solidFill>
            <a:srgbClr val="1F5F7A"/>
          </a:solidFill>
          <a:ln w="38100">
            <a:solidFill>
              <a:srgbClr val="FFFFFF"/>
            </a:solidFill>
            <a:prstDash val="solid"/>
          </a:ln>
        </p:spPr>
      </p:sp>
      <p:sp>
        <p:nvSpPr>
          <p:cNvPr id="18" name="Text 16"/>
          <p:cNvSpPr txBox="1"/>
          <p:nvPr/>
        </p:nvSpPr>
        <p:spPr>
          <a:xfrm>
            <a:off x="5272888" y="2697480"/>
            <a:ext cx="164592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두께 측정</a:t>
            </a:r>
            <a:endParaRPr lang="en-US" sz="1400" dirty="0"/>
          </a:p>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데이터 결합</a:t>
            </a:r>
            <a:endParaRPr lang="en-US" sz="1400" dirty="0"/>
          </a:p>
        </p:txBody>
      </p:sp>
      <p:sp>
        <p:nvSpPr>
          <p:cNvPr id="19" name="Shape 17"/>
          <p:cNvSpPr/>
          <p:nvPr/>
        </p:nvSpPr>
        <p:spPr>
          <a:xfrm>
            <a:off x="4986406" y="4069080"/>
            <a:ext cx="2310323" cy="438912"/>
          </a:xfrm>
          <a:prstGeom prst="chevron">
            <a:avLst/>
          </a:prstGeom>
          <a:solidFill>
            <a:srgbClr val="4A4F57"/>
          </a:solidFill>
          <a:ln w="12700">
            <a:solidFill>
              <a:srgbClr val="4A4F57"/>
            </a:solidFill>
            <a:prstDash val="solid"/>
          </a:ln>
        </p:spPr>
      </p:sp>
      <p:sp>
        <p:nvSpPr>
          <p:cNvPr id="20" name="Text 18"/>
          <p:cNvSpPr txBox="1"/>
          <p:nvPr/>
        </p:nvSpPr>
        <p:spPr>
          <a:xfrm>
            <a:off x="5169286" y="4069080"/>
            <a:ext cx="1944563"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다음 단계</a:t>
            </a:r>
            <a:endParaRPr lang="en-US" sz="1400" dirty="0"/>
          </a:p>
        </p:txBody>
      </p:sp>
      <p:sp>
        <p:nvSpPr>
          <p:cNvPr id="21" name="Text 19"/>
          <p:cNvSpPr txBox="1"/>
          <p:nvPr/>
        </p:nvSpPr>
        <p:spPr>
          <a:xfrm>
            <a:off x="5032126" y="4709160"/>
            <a:ext cx="2127443" cy="685800"/>
          </a:xfrm>
          <a:prstGeom prst="rect">
            <a:avLst/>
          </a:prstGeom>
          <a:noFill/>
          <a:ln/>
        </p:spPr>
        <p:txBody>
          <a:bodyPr wrap="square" lIns="0" tIns="0" rIns="0" bIns="0" rtlCol="0" anchor="t"/>
          <a:lstStyle/>
          <a:p>
            <a:pPr marL="0" indent="0" algn="ctr">
              <a:buNone/>
            </a:pPr>
            <a:r>
              <a:rPr lang="en-US" sz="1200" dirty="0">
                <a:solidFill>
                  <a:srgbClr val="2B2D31"/>
                </a:solidFill>
                <a:latin typeface="맑은 고딕" pitchFamily="34" charset="0"/>
                <a:ea typeface="맑은 고딕" pitchFamily="34" charset="-122"/>
                <a:cs typeface="맑은 고딕" pitchFamily="34" charset="-120"/>
              </a:rPr>
              <a:t>사진이 못 보는</a:t>
            </a:r>
            <a:endParaRPr lang="en-US" sz="1200" dirty="0"/>
          </a:p>
          <a:p>
            <a:pPr marL="0" indent="0" algn="ctr">
              <a:buNone/>
            </a:pPr>
            <a:r>
              <a:rPr lang="en-US" sz="1200" dirty="0">
                <a:solidFill>
                  <a:srgbClr val="2B2D31"/>
                </a:solidFill>
                <a:latin typeface="맑은 고딕" pitchFamily="34" charset="0"/>
                <a:ea typeface="맑은 고딕" pitchFamily="34" charset="-122"/>
                <a:cs typeface="맑은 고딕" pitchFamily="34" charset="-120"/>
              </a:rPr>
              <a:t>두께 감소를 보정</a:t>
            </a:r>
            <a:endParaRPr lang="en-US" sz="1200" dirty="0"/>
          </a:p>
        </p:txBody>
      </p:sp>
      <p:sp>
        <p:nvSpPr>
          <p:cNvPr id="22" name="Shape 20"/>
          <p:cNvSpPr/>
          <p:nvPr/>
        </p:nvSpPr>
        <p:spPr>
          <a:xfrm>
            <a:off x="7400331" y="2057400"/>
            <a:ext cx="1828800" cy="1828800"/>
          </a:xfrm>
          <a:prstGeom prst="ellipse">
            <a:avLst/>
          </a:prstGeom>
          <a:solidFill>
            <a:srgbClr val="2B2D31"/>
          </a:solidFill>
          <a:ln w="38100">
            <a:solidFill>
              <a:srgbClr val="FFFFFF"/>
            </a:solidFill>
            <a:prstDash val="solid"/>
          </a:ln>
        </p:spPr>
      </p:sp>
      <p:sp>
        <p:nvSpPr>
          <p:cNvPr id="23" name="Text 21"/>
          <p:cNvSpPr txBox="1"/>
          <p:nvPr/>
        </p:nvSpPr>
        <p:spPr>
          <a:xfrm>
            <a:off x="7400331" y="2606040"/>
            <a:ext cx="1828800" cy="731520"/>
          </a:xfrm>
          <a:prstGeom prst="rect">
            <a:avLst/>
          </a:prstGeom>
          <a:noFill/>
          <a:ln/>
        </p:spPr>
        <p:txBody>
          <a:bodyPr wrap="square" lIns="0" tIns="0" rIns="0" bIns="0" rtlCol="0" anchor="ctr"/>
          <a:lstStyle/>
          <a:p>
            <a:pPr marL="0" indent="0" algn="ctr">
              <a:buNone/>
            </a:pPr>
            <a:r>
              <a:rPr lang="en-US" sz="1450" b="1" dirty="0">
                <a:solidFill>
                  <a:srgbClr val="FFFFFF"/>
                </a:solidFill>
                <a:latin typeface="맑은 고딕" pitchFamily="34" charset="0"/>
                <a:ea typeface="맑은 고딕" pitchFamily="34" charset="-122"/>
                <a:cs typeface="맑은 고딕" pitchFamily="34" charset="-120"/>
              </a:rPr>
              <a:t>비용 절감</a:t>
            </a:r>
            <a:endParaRPr lang="en-US" sz="1450" dirty="0"/>
          </a:p>
          <a:p>
            <a:pPr marL="0" indent="0" algn="ctr">
              <a:buNone/>
            </a:pPr>
            <a:r>
              <a:rPr lang="en-US" sz="1450" b="1" dirty="0">
                <a:solidFill>
                  <a:srgbClr val="FFFFFF"/>
                </a:solidFill>
                <a:latin typeface="맑은 고딕" pitchFamily="34" charset="0"/>
                <a:ea typeface="맑은 고딕" pitchFamily="34" charset="-122"/>
                <a:cs typeface="맑은 고딕" pitchFamily="34" charset="-120"/>
              </a:rPr>
              <a:t>근거 정량화</a:t>
            </a:r>
            <a:endParaRPr lang="en-US" sz="1450" dirty="0"/>
          </a:p>
        </p:txBody>
      </p:sp>
      <p:sp>
        <p:nvSpPr>
          <p:cNvPr id="24" name="Shape 22"/>
          <p:cNvSpPr/>
          <p:nvPr/>
        </p:nvSpPr>
        <p:spPr>
          <a:xfrm>
            <a:off x="7205289" y="4069080"/>
            <a:ext cx="2310323" cy="438912"/>
          </a:xfrm>
          <a:prstGeom prst="chevron">
            <a:avLst/>
          </a:prstGeom>
          <a:solidFill>
            <a:srgbClr val="3A3F45"/>
          </a:solidFill>
          <a:ln w="12700">
            <a:solidFill>
              <a:srgbClr val="3A3F45"/>
            </a:solidFill>
            <a:prstDash val="solid"/>
          </a:ln>
        </p:spPr>
      </p:sp>
      <p:sp>
        <p:nvSpPr>
          <p:cNvPr id="25" name="Text 23"/>
          <p:cNvSpPr txBox="1"/>
          <p:nvPr/>
        </p:nvSpPr>
        <p:spPr>
          <a:xfrm>
            <a:off x="7388169" y="4069080"/>
            <a:ext cx="1944563"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다음 단계</a:t>
            </a:r>
            <a:endParaRPr lang="en-US" sz="1400" dirty="0"/>
          </a:p>
        </p:txBody>
      </p:sp>
      <p:sp>
        <p:nvSpPr>
          <p:cNvPr id="26" name="Text 24"/>
          <p:cNvSpPr txBox="1"/>
          <p:nvPr/>
        </p:nvSpPr>
        <p:spPr>
          <a:xfrm>
            <a:off x="7251009" y="4709160"/>
            <a:ext cx="2127443" cy="685800"/>
          </a:xfrm>
          <a:prstGeom prst="rect">
            <a:avLst/>
          </a:prstGeom>
          <a:noFill/>
          <a:ln/>
        </p:spPr>
        <p:txBody>
          <a:bodyPr wrap="square" lIns="0" tIns="0" rIns="0" bIns="0" rtlCol="0" anchor="t"/>
          <a:lstStyle/>
          <a:p>
            <a:pPr marL="0" indent="0" algn="ctr">
              <a:buNone/>
            </a:pPr>
            <a:r>
              <a:rPr lang="en-US" sz="1200" dirty="0">
                <a:solidFill>
                  <a:srgbClr val="2B2D31"/>
                </a:solidFill>
                <a:latin typeface="맑은 고딕" pitchFamily="34" charset="0"/>
                <a:ea typeface="맑은 고딕" pitchFamily="34" charset="-122"/>
                <a:cs typeface="맑은 고딕" pitchFamily="34" charset="-120"/>
              </a:rPr>
              <a:t>선박 · 리프트 · 문서 시간</a:t>
            </a:r>
            <a:endParaRPr lang="en-US" sz="1200" dirty="0"/>
          </a:p>
          <a:p>
            <a:pPr marL="0" indent="0" algn="ctr">
              <a:buNone/>
            </a:pPr>
            <a:r>
              <a:rPr lang="en-US" sz="1200" dirty="0">
                <a:solidFill>
                  <a:srgbClr val="2B2D31"/>
                </a:solidFill>
                <a:latin typeface="맑은 고딕" pitchFamily="34" charset="0"/>
                <a:ea typeface="맑은 고딕" pitchFamily="34" charset="-122"/>
                <a:cs typeface="맑은 고딕" pitchFamily="34" charset="-120"/>
              </a:rPr>
              <a:t>절감액으로 ROI 산출</a:t>
            </a:r>
            <a:endParaRPr lang="en-US" sz="1200" dirty="0"/>
          </a:p>
        </p:txBody>
      </p:sp>
      <p:sp>
        <p:nvSpPr>
          <p:cNvPr id="27" name="Shape 25"/>
          <p:cNvSpPr/>
          <p:nvPr/>
        </p:nvSpPr>
        <p:spPr>
          <a:xfrm>
            <a:off x="9527774" y="1874520"/>
            <a:ext cx="2011680" cy="2011680"/>
          </a:xfrm>
          <a:prstGeom prst="ellipse">
            <a:avLst/>
          </a:prstGeom>
          <a:solidFill>
            <a:srgbClr val="B5501F"/>
          </a:solidFill>
          <a:ln w="38100">
            <a:solidFill>
              <a:srgbClr val="FFFFFF"/>
            </a:solidFill>
            <a:prstDash val="solid"/>
          </a:ln>
        </p:spPr>
      </p:sp>
      <p:sp>
        <p:nvSpPr>
          <p:cNvPr id="28" name="Text 26"/>
          <p:cNvSpPr txBox="1"/>
          <p:nvPr/>
        </p:nvSpPr>
        <p:spPr>
          <a:xfrm>
            <a:off x="9527774" y="2514600"/>
            <a:ext cx="201168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유망 현장</a:t>
            </a:r>
            <a:endParaRPr lang="en-US" sz="1500" dirty="0"/>
          </a:p>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심화</a:t>
            </a:r>
            <a:endParaRPr lang="en-US" sz="1500" dirty="0"/>
          </a:p>
        </p:txBody>
      </p:sp>
      <p:sp>
        <p:nvSpPr>
          <p:cNvPr id="29" name="Shape 27"/>
          <p:cNvSpPr/>
          <p:nvPr/>
        </p:nvSpPr>
        <p:spPr>
          <a:xfrm>
            <a:off x="9424172" y="4069080"/>
            <a:ext cx="2310323" cy="438912"/>
          </a:xfrm>
          <a:prstGeom prst="chevron">
            <a:avLst/>
          </a:prstGeom>
          <a:solidFill>
            <a:srgbClr val="2B2D31"/>
          </a:solidFill>
          <a:ln w="12700">
            <a:solidFill>
              <a:srgbClr val="2B2D31"/>
            </a:solidFill>
            <a:prstDash val="solid"/>
          </a:ln>
        </p:spPr>
      </p:sp>
      <p:sp>
        <p:nvSpPr>
          <p:cNvPr id="30" name="Text 28"/>
          <p:cNvSpPr txBox="1"/>
          <p:nvPr/>
        </p:nvSpPr>
        <p:spPr>
          <a:xfrm>
            <a:off x="9607052" y="4069080"/>
            <a:ext cx="1944563"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다음 단계</a:t>
            </a:r>
            <a:endParaRPr lang="en-US" sz="1400" dirty="0"/>
          </a:p>
        </p:txBody>
      </p:sp>
      <p:sp>
        <p:nvSpPr>
          <p:cNvPr id="31" name="Text 29"/>
          <p:cNvSpPr txBox="1"/>
          <p:nvPr/>
        </p:nvSpPr>
        <p:spPr>
          <a:xfrm>
            <a:off x="9469892" y="4709160"/>
            <a:ext cx="2127443" cy="685800"/>
          </a:xfrm>
          <a:prstGeom prst="rect">
            <a:avLst/>
          </a:prstGeom>
          <a:noFill/>
          <a:ln/>
        </p:spPr>
        <p:txBody>
          <a:bodyPr wrap="square" lIns="0" tIns="0" rIns="0" bIns="0" rtlCol="0" anchor="t"/>
          <a:lstStyle/>
          <a:p>
            <a:pPr marL="0" indent="0" algn="ctr">
              <a:buNone/>
            </a:pPr>
            <a:r>
              <a:rPr lang="en-US" sz="1200" dirty="0">
                <a:solidFill>
                  <a:srgbClr val="2B2D31"/>
                </a:solidFill>
                <a:latin typeface="맑은 고딕" pitchFamily="34" charset="0"/>
                <a:ea typeface="맑은 고딕" pitchFamily="34" charset="-122"/>
                <a:cs typeface="맑은 고딕" pitchFamily="34" charset="-120"/>
              </a:rPr>
              <a:t>미드스트림 압축 기지</a:t>
            </a:r>
            <a:endParaRPr lang="en-US" sz="1200" dirty="0"/>
          </a:p>
          <a:p>
            <a:pPr marL="0" indent="0" algn="ctr">
              <a:buNone/>
            </a:pPr>
            <a:r>
              <a:rPr lang="en-US" sz="1200" dirty="0">
                <a:solidFill>
                  <a:srgbClr val="2B2D31"/>
                </a:solidFill>
                <a:latin typeface="맑은 고딕" pitchFamily="34" charset="0"/>
                <a:ea typeface="맑은 고딕" pitchFamily="34" charset="-122"/>
                <a:cs typeface="맑은 고딕" pitchFamily="34" charset="-120"/>
              </a:rPr>
              <a:t>비말대 · 라이저 지지 프레임</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1F2226"/>
        </a:solidFill>
        <a:effectLst/>
      </p:bgPr>
    </p:bg>
    <p:spTree>
      <p:nvGrpSpPr>
        <p:cNvPr id="1" name=""/>
        <p:cNvGrpSpPr/>
        <p:nvPr/>
      </p:nvGrpSpPr>
      <p:grpSpPr>
        <a:xfrm>
          <a:off x="0" y="0"/>
          <a:ext cx="0" cy="0"/>
          <a:chOff x="0" y="0"/>
          <a:chExt cx="0" cy="0"/>
        </a:xfrm>
      </p:grpSpPr>
      <p:sp>
        <p:nvSpPr>
          <p:cNvPr id="2" name="Text 0"/>
          <p:cNvSpPr txBox="1"/>
          <p:nvPr/>
        </p:nvSpPr>
        <p:spPr>
          <a:xfrm>
            <a:off x="0" y="2269958"/>
            <a:ext cx="12191695" cy="457200"/>
          </a:xfrm>
          <a:prstGeom prst="rect">
            <a:avLst/>
          </a:prstGeom>
          <a:noFill/>
          <a:ln/>
        </p:spPr>
        <p:txBody>
          <a:bodyPr wrap="square" lIns="0" tIns="0" rIns="0" bIns="0" rtlCol="0" anchor="t"/>
          <a:lstStyle/>
          <a:p>
            <a:pPr marL="0" indent="0" algn="ctr">
              <a:buNone/>
            </a:pPr>
            <a:r>
              <a:rPr lang="en-US" sz="2200" b="1" kern="0" spc="600" dirty="0">
                <a:solidFill>
                  <a:srgbClr val="E8A87C"/>
                </a:solidFill>
                <a:latin typeface="맑은 고딕" pitchFamily="34" charset="0"/>
                <a:ea typeface="맑은 고딕" pitchFamily="34" charset="-122"/>
                <a:cs typeface="맑은 고딕" pitchFamily="34" charset="-120"/>
              </a:rPr>
              <a:t>MLC</a:t>
            </a:r>
            <a:endParaRPr lang="en-US" sz="2200" dirty="0"/>
          </a:p>
        </p:txBody>
      </p:sp>
      <p:sp>
        <p:nvSpPr>
          <p:cNvPr id="3" name="Text 1"/>
          <p:cNvSpPr txBox="1"/>
          <p:nvPr/>
        </p:nvSpPr>
        <p:spPr>
          <a:xfrm>
            <a:off x="0" y="2818598"/>
            <a:ext cx="12191695" cy="1097280"/>
          </a:xfrm>
          <a:prstGeom prst="rect">
            <a:avLst/>
          </a:prstGeom>
          <a:noFill/>
          <a:ln/>
        </p:spPr>
        <p:txBody>
          <a:bodyPr wrap="square" lIns="0" tIns="0" rIns="0" bIns="0" rtlCol="0" anchor="ctr"/>
          <a:lstStyle/>
          <a:p>
            <a:pPr marL="0" indent="0" algn="ctr">
              <a:buNone/>
            </a:pPr>
            <a:r>
              <a:rPr lang="en-US" sz="5400" b="1" dirty="0">
                <a:solidFill>
                  <a:srgbClr val="FFFFFF"/>
                </a:solidFill>
                <a:latin typeface="맑은 고딕" pitchFamily="34" charset="0"/>
                <a:ea typeface="맑은 고딕" pitchFamily="34" charset="-122"/>
                <a:cs typeface="맑은 고딕" pitchFamily="34" charset="-120"/>
              </a:rPr>
              <a:t>감사합니다</a:t>
            </a:r>
            <a:endParaRPr lang="en-US" sz="5400" dirty="0"/>
          </a:p>
        </p:txBody>
      </p:sp>
      <p:sp>
        <p:nvSpPr>
          <p:cNvPr id="5" name="Shape 3"/>
          <p:cNvSpPr/>
          <p:nvPr/>
        </p:nvSpPr>
        <p:spPr>
          <a:xfrm>
            <a:off x="4075024" y="4206240"/>
            <a:ext cx="384048" cy="384048"/>
          </a:xfrm>
          <a:prstGeom prst="rect">
            <a:avLst/>
          </a:prstGeom>
          <a:solidFill>
            <a:srgbClr val="4F4F50"/>
          </a:solidFill>
          <a:ln w="9525">
            <a:solidFill>
              <a:srgbClr val="3A3D42"/>
            </a:solidFill>
            <a:prstDash val="solid"/>
          </a:ln>
        </p:spPr>
      </p:sp>
      <p:sp>
        <p:nvSpPr>
          <p:cNvPr id="6" name="Shape 4"/>
          <p:cNvSpPr/>
          <p:nvPr/>
        </p:nvSpPr>
        <p:spPr>
          <a:xfrm>
            <a:off x="4532224" y="4206240"/>
            <a:ext cx="384048" cy="384048"/>
          </a:xfrm>
          <a:prstGeom prst="rect">
            <a:avLst/>
          </a:prstGeom>
          <a:solidFill>
            <a:srgbClr val="484744"/>
          </a:solidFill>
          <a:ln w="9525">
            <a:solidFill>
              <a:srgbClr val="3A3D42"/>
            </a:solidFill>
            <a:prstDash val="solid"/>
          </a:ln>
        </p:spPr>
      </p:sp>
      <p:sp>
        <p:nvSpPr>
          <p:cNvPr id="7" name="Shape 5"/>
          <p:cNvSpPr/>
          <p:nvPr/>
        </p:nvSpPr>
        <p:spPr>
          <a:xfrm>
            <a:off x="4989424" y="4206240"/>
            <a:ext cx="384048" cy="384048"/>
          </a:xfrm>
          <a:prstGeom prst="rect">
            <a:avLst/>
          </a:prstGeom>
          <a:solidFill>
            <a:srgbClr val="4C4B47"/>
          </a:solidFill>
          <a:ln w="9525">
            <a:solidFill>
              <a:srgbClr val="3A3D42"/>
            </a:solidFill>
            <a:prstDash val="solid"/>
          </a:ln>
        </p:spPr>
      </p:sp>
      <p:sp>
        <p:nvSpPr>
          <p:cNvPr id="8" name="Shape 6"/>
          <p:cNvSpPr/>
          <p:nvPr/>
        </p:nvSpPr>
        <p:spPr>
          <a:xfrm>
            <a:off x="5446624" y="4206240"/>
            <a:ext cx="384048" cy="384048"/>
          </a:xfrm>
          <a:prstGeom prst="rect">
            <a:avLst/>
          </a:prstGeom>
          <a:solidFill>
            <a:srgbClr val="484744"/>
          </a:solidFill>
          <a:ln w="9525">
            <a:solidFill>
              <a:srgbClr val="3A3D42"/>
            </a:solidFill>
            <a:prstDash val="solid"/>
          </a:ln>
        </p:spPr>
      </p:sp>
      <p:sp>
        <p:nvSpPr>
          <p:cNvPr id="9" name="Shape 7"/>
          <p:cNvSpPr/>
          <p:nvPr/>
        </p:nvSpPr>
        <p:spPr>
          <a:xfrm>
            <a:off x="5903824" y="4206240"/>
            <a:ext cx="384048" cy="384048"/>
          </a:xfrm>
          <a:prstGeom prst="rect">
            <a:avLst/>
          </a:prstGeom>
          <a:solidFill>
            <a:srgbClr val="484138"/>
          </a:solidFill>
          <a:ln w="9525">
            <a:solidFill>
              <a:srgbClr val="3A3D42"/>
            </a:solidFill>
            <a:prstDash val="solid"/>
          </a:ln>
        </p:spPr>
      </p:sp>
      <p:sp>
        <p:nvSpPr>
          <p:cNvPr id="10" name="Shape 8"/>
          <p:cNvSpPr/>
          <p:nvPr/>
        </p:nvSpPr>
        <p:spPr>
          <a:xfrm>
            <a:off x="6361024" y="4206240"/>
            <a:ext cx="384048" cy="384048"/>
          </a:xfrm>
          <a:prstGeom prst="rect">
            <a:avLst/>
          </a:prstGeom>
          <a:solidFill>
            <a:srgbClr val="4E3F2F"/>
          </a:solidFill>
          <a:ln w="9525">
            <a:solidFill>
              <a:srgbClr val="3A3D42"/>
            </a:solidFill>
            <a:prstDash val="solid"/>
          </a:ln>
        </p:spPr>
      </p:sp>
      <p:sp>
        <p:nvSpPr>
          <p:cNvPr id="11" name="Shape 9"/>
          <p:cNvSpPr/>
          <p:nvPr/>
        </p:nvSpPr>
        <p:spPr>
          <a:xfrm>
            <a:off x="6818224" y="4206240"/>
            <a:ext cx="384048" cy="384048"/>
          </a:xfrm>
          <a:prstGeom prst="rect">
            <a:avLst/>
          </a:prstGeom>
          <a:solidFill>
            <a:srgbClr val="4E3C2C"/>
          </a:solidFill>
          <a:ln w="9525">
            <a:solidFill>
              <a:srgbClr val="3A3D42"/>
            </a:solidFill>
            <a:prstDash val="solid"/>
          </a:ln>
        </p:spPr>
      </p:sp>
      <p:sp>
        <p:nvSpPr>
          <p:cNvPr id="12" name="Shape 10"/>
          <p:cNvSpPr/>
          <p:nvPr/>
        </p:nvSpPr>
        <p:spPr>
          <a:xfrm>
            <a:off x="7275424" y="4206240"/>
            <a:ext cx="384048" cy="384048"/>
          </a:xfrm>
          <a:prstGeom prst="rect">
            <a:avLst/>
          </a:prstGeom>
          <a:solidFill>
            <a:srgbClr val="4E3C2B"/>
          </a:solidFill>
          <a:ln w="9525">
            <a:solidFill>
              <a:srgbClr val="3A3D42"/>
            </a:solidFill>
            <a:prstDash val="solid"/>
          </a:ln>
        </p:spPr>
      </p:sp>
      <p:sp>
        <p:nvSpPr>
          <p:cNvPr id="13" name="Shape 11"/>
          <p:cNvSpPr/>
          <p:nvPr/>
        </p:nvSpPr>
        <p:spPr>
          <a:xfrm>
            <a:off x="7732624" y="4206240"/>
            <a:ext cx="384048" cy="384048"/>
          </a:xfrm>
          <a:prstGeom prst="rect">
            <a:avLst/>
          </a:prstGeom>
          <a:solidFill>
            <a:srgbClr val="493C2C"/>
          </a:solidFill>
          <a:ln w="9525">
            <a:solidFill>
              <a:srgbClr val="3A3D42"/>
            </a:solidFill>
            <a:prstDash val="solid"/>
          </a:ln>
        </p:spPr>
      </p:sp>
      <p:sp>
        <p:nvSpPr>
          <p:cNvPr id="14" name="Text 12"/>
          <p:cNvSpPr txBox="1"/>
          <p:nvPr/>
        </p:nvSpPr>
        <p:spPr>
          <a:xfrm>
            <a:off x="0" y="5074920"/>
            <a:ext cx="12191695" cy="365760"/>
          </a:xfrm>
          <a:prstGeom prst="rect">
            <a:avLst/>
          </a:prstGeom>
          <a:noFill/>
          <a:ln/>
        </p:spPr>
        <p:txBody>
          <a:bodyPr wrap="square" lIns="0" tIns="0" rIns="0" bIns="0" rtlCol="0" anchor="ctr"/>
          <a:lstStyle/>
          <a:p>
            <a:pPr marL="0" indent="0" algn="ctr">
              <a:buNone/>
            </a:pPr>
            <a:r>
              <a:rPr lang="en-US" sz="1300" dirty="0">
                <a:solidFill>
                  <a:srgbClr val="A3A7AD"/>
                </a:solidFill>
                <a:latin typeface="맑은 고딕" pitchFamily="34" charset="0"/>
                <a:ea typeface="맑은 고딕" pitchFamily="34" charset="-122"/>
                <a:cs typeface="맑은 고딕" pitchFamily="34" charset="-120"/>
              </a:rPr>
              <a:t>우성훈 · 박준범   |   경상국립대학교 기계시스템공학과   |   zscfvgbb@naver.com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100" kern="0" dirty="0">
                <a:solidFill>
                  <a:srgbClr val="B5501F"/>
                </a:solidFill>
                <a:latin typeface="맑은 고딕" pitchFamily="34" charset="0"/>
                <a:ea typeface="맑은 고딕" pitchFamily="34" charset="-122"/>
                <a:cs typeface="맑은 고딕" pitchFamily="34" charset="-120"/>
              </a:rPr>
              <a:t>BUSINESS MODEL</a:t>
            </a:r>
            <a:endParaRPr lang="en-US" sz="12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2800" b="1" dirty="0">
                <a:solidFill>
                  <a:srgbClr val="2B2D31"/>
                </a:solidFill>
                <a:latin typeface="맑은 고딕" pitchFamily="34" charset="0"/>
                <a:ea typeface="맑은 고딕" pitchFamily="34" charset="-122"/>
                <a:cs typeface="맑은 고딕" pitchFamily="34" charset="-120"/>
              </a:rPr>
              <a:t>비즈니스 모델</a:t>
            </a:r>
            <a:endParaRPr lang="en-US" sz="2800" dirty="0"/>
          </a:p>
        </p:txBody>
      </p:sp>
      <p:sp>
        <p:nvSpPr>
          <p:cNvPr id="4" name="Text 2"/>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900" dirty="0">
                <a:solidFill>
                  <a:srgbClr val="A3A7AD"/>
                </a:solidFill>
                <a:latin typeface="맑은 고딕" pitchFamily="34" charset="0"/>
                <a:ea typeface="맑은 고딕" pitchFamily="34" charset="-122"/>
                <a:cs typeface="맑은 고딕" pitchFamily="34" charset="-120"/>
              </a:rPr>
              <a:t>MLC  ·  제주 A-STREAM 2026</a:t>
            </a:r>
            <a:endParaRPr lang="en-US" sz="900" dirty="0"/>
          </a:p>
        </p:txBody>
      </p:sp>
      <p:sp>
        <p:nvSpPr>
          <p:cNvPr id="5" name="Text 3"/>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900" dirty="0">
                <a:solidFill>
                  <a:srgbClr val="A3A7AD"/>
                </a:solidFill>
                <a:latin typeface="맑은 고딕" pitchFamily="34" charset="0"/>
                <a:ea typeface="맑은 고딕" pitchFamily="34" charset="-122"/>
                <a:cs typeface="맑은 고딕" pitchFamily="34" charset="-120"/>
              </a:rPr>
              <a:t>9</a:t>
            </a:r>
            <a:endParaRPr lang="en-US" sz="900" dirty="0"/>
          </a:p>
        </p:txBody>
      </p:sp>
      <p:sp>
        <p:nvSpPr>
          <p:cNvPr id="6" name="Shape 4"/>
          <p:cNvSpPr/>
          <p:nvPr/>
        </p:nvSpPr>
        <p:spPr>
          <a:xfrm>
            <a:off x="548640" y="1463040"/>
            <a:ext cx="2377440" cy="1600200"/>
          </a:xfrm>
          <a:prstGeom prst="roundRect">
            <a:avLst>
              <a:gd name="adj" fmla="val 5714"/>
            </a:avLst>
          </a:prstGeom>
          <a:solidFill>
            <a:srgbClr val="FFFFFF"/>
          </a:solidFill>
          <a:ln w="15875">
            <a:solidFill>
              <a:srgbClr val="1F5F7A"/>
            </a:solidFill>
            <a:prstDash val="solid"/>
          </a:ln>
        </p:spPr>
      </p:sp>
      <p:sp>
        <p:nvSpPr>
          <p:cNvPr id="7" name="Shape 5"/>
          <p:cNvSpPr/>
          <p:nvPr/>
        </p:nvSpPr>
        <p:spPr>
          <a:xfrm>
            <a:off x="1463040" y="1627632"/>
            <a:ext cx="548640" cy="548640"/>
          </a:xfrm>
          <a:prstGeom prst="ellipse">
            <a:avLst/>
          </a:prstGeom>
          <a:solidFill>
            <a:srgbClr val="1F5F7A"/>
          </a:solidFill>
          <a:ln w="12700">
            <a:solidFill>
              <a:srgbClr val="1F5F7A"/>
            </a:solidFill>
            <a:prstDash val="solid"/>
          </a:ln>
        </p:spPr>
      </p:sp>
      <p:pic>
        <p:nvPicPr>
          <p:cNvPr id="8" name="Image 0" descr="preencoded.png">    </p:cNvPr>
          <p:cNvPicPr>
            <a:picLocks noChangeAspect="1"/>
          </p:cNvPicPr>
          <p:nvPr/>
        </p:nvPicPr>
        <p:blipFill>
          <a:blip r:embed="rId1"/>
          <a:stretch>
            <a:fillRect/>
          </a:stretch>
        </p:blipFill>
        <p:spPr>
          <a:xfrm>
            <a:off x="1605686" y="1770278"/>
            <a:ext cx="263347" cy="263347"/>
          </a:xfrm>
          <a:prstGeom prst="rect">
            <a:avLst/>
          </a:prstGeom>
        </p:spPr>
      </p:pic>
      <p:sp>
        <p:nvSpPr>
          <p:cNvPr id="9" name="Text 6"/>
          <p:cNvSpPr txBox="1"/>
          <p:nvPr/>
        </p:nvSpPr>
        <p:spPr>
          <a:xfrm>
            <a:off x="548640" y="2212848"/>
            <a:ext cx="2377440" cy="365760"/>
          </a:xfrm>
          <a:prstGeom prst="rect">
            <a:avLst/>
          </a:prstGeom>
          <a:noFill/>
          <a:ln/>
        </p:spPr>
        <p:txBody>
          <a:bodyPr wrap="square" lIns="0" tIns="0" rIns="0" bIns="0" rtlCol="0" anchor="ctr"/>
          <a:lstStyle/>
          <a:p>
            <a:pPr algn="ctr" indent="0" marL="0">
              <a:buNone/>
            </a:pPr>
            <a:r>
              <a:rPr lang="en-US" sz="1800" b="1" dirty="0">
                <a:solidFill>
                  <a:srgbClr val="1F5F7A"/>
                </a:solidFill>
                <a:latin typeface="맑은 고딕" pitchFamily="34" charset="0"/>
                <a:ea typeface="맑은 고딕" pitchFamily="34" charset="-122"/>
                <a:cs typeface="맑은 고딕" pitchFamily="34" charset="-120"/>
              </a:rPr>
              <a:t>파트너</a:t>
            </a:r>
            <a:endParaRPr lang="en-US" sz="1800" dirty="0"/>
          </a:p>
        </p:txBody>
      </p:sp>
      <p:sp>
        <p:nvSpPr>
          <p:cNvPr id="10" name="Text 7"/>
          <p:cNvSpPr txBox="1"/>
          <p:nvPr/>
        </p:nvSpPr>
        <p:spPr>
          <a:xfrm>
            <a:off x="640080" y="2578608"/>
            <a:ext cx="2194560" cy="274320"/>
          </a:xfrm>
          <a:prstGeom prst="rect">
            <a:avLst/>
          </a:prstGeom>
          <a:noFill/>
          <a:ln/>
        </p:spPr>
        <p:txBody>
          <a:bodyPr wrap="square" lIns="0" tIns="0" rIns="0" bIns="0" rtlCol="0" anchor="t"/>
          <a:lstStyle/>
          <a:p>
            <a:pPr algn="ctr" indent="0" marL="0">
              <a:buNone/>
            </a:pPr>
            <a:r>
              <a:rPr lang="en-US" sz="1150" dirty="0">
                <a:solidFill>
                  <a:srgbClr val="6B6F76"/>
                </a:solidFill>
                <a:latin typeface="맑은 고딕" pitchFamily="34" charset="0"/>
                <a:ea typeface="맑은 고딕" pitchFamily="34" charset="-122"/>
                <a:cs typeface="맑은 고딕" pitchFamily="34" charset="-120"/>
              </a:rPr>
              <a:t>드론 운용사 · 방식 전문 업체</a:t>
            </a:r>
            <a:endParaRPr lang="en-US" sz="1150" dirty="0"/>
          </a:p>
        </p:txBody>
      </p:sp>
      <p:sp>
        <p:nvSpPr>
          <p:cNvPr id="11" name="Shape 8"/>
          <p:cNvSpPr/>
          <p:nvPr/>
        </p:nvSpPr>
        <p:spPr>
          <a:xfrm>
            <a:off x="4907128" y="1463040"/>
            <a:ext cx="2377440" cy="1600200"/>
          </a:xfrm>
          <a:prstGeom prst="roundRect">
            <a:avLst>
              <a:gd name="adj" fmla="val 5714"/>
            </a:avLst>
          </a:prstGeom>
          <a:solidFill>
            <a:srgbClr val="FFFFFF"/>
          </a:solidFill>
          <a:ln w="15875">
            <a:solidFill>
              <a:srgbClr val="2B2D31"/>
            </a:solidFill>
            <a:prstDash val="solid"/>
          </a:ln>
        </p:spPr>
      </p:sp>
      <p:sp>
        <p:nvSpPr>
          <p:cNvPr id="12" name="Shape 9"/>
          <p:cNvSpPr/>
          <p:nvPr/>
        </p:nvSpPr>
        <p:spPr>
          <a:xfrm>
            <a:off x="5821528" y="1627632"/>
            <a:ext cx="548640" cy="548640"/>
          </a:xfrm>
          <a:prstGeom prst="ellipse">
            <a:avLst/>
          </a:prstGeom>
          <a:solidFill>
            <a:srgbClr val="2B2D31"/>
          </a:solidFill>
          <a:ln w="12700">
            <a:solidFill>
              <a:srgbClr val="2B2D31"/>
            </a:solidFill>
            <a:prstDash val="solid"/>
          </a:ln>
        </p:spPr>
      </p:sp>
      <p:pic>
        <p:nvPicPr>
          <p:cNvPr id="13" name="Image 1" descr="preencoded.png">    </p:cNvPr>
          <p:cNvPicPr>
            <a:picLocks noChangeAspect="1"/>
          </p:cNvPicPr>
          <p:nvPr/>
        </p:nvPicPr>
        <p:blipFill>
          <a:blip r:embed="rId2"/>
          <a:stretch>
            <a:fillRect/>
          </a:stretch>
        </p:blipFill>
        <p:spPr>
          <a:xfrm>
            <a:off x="5964174" y="1770278"/>
            <a:ext cx="263347" cy="263347"/>
          </a:xfrm>
          <a:prstGeom prst="rect">
            <a:avLst/>
          </a:prstGeom>
        </p:spPr>
      </p:pic>
      <p:sp>
        <p:nvSpPr>
          <p:cNvPr id="14" name="Text 10"/>
          <p:cNvSpPr txBox="1"/>
          <p:nvPr/>
        </p:nvSpPr>
        <p:spPr>
          <a:xfrm>
            <a:off x="4907128" y="2212848"/>
            <a:ext cx="2377440" cy="365760"/>
          </a:xfrm>
          <a:prstGeom prst="rect">
            <a:avLst/>
          </a:prstGeom>
          <a:noFill/>
          <a:ln/>
        </p:spPr>
        <p:txBody>
          <a:bodyPr wrap="square" lIns="0" tIns="0" rIns="0" bIns="0" rtlCol="0" anchor="ctr"/>
          <a:lstStyle/>
          <a:p>
            <a:pPr algn="ctr" indent="0" marL="0">
              <a:buNone/>
            </a:pPr>
            <a:r>
              <a:rPr lang="en-US" sz="1800" b="1" dirty="0">
                <a:solidFill>
                  <a:srgbClr val="2B2D31"/>
                </a:solidFill>
                <a:latin typeface="맑은 고딕" pitchFamily="34" charset="0"/>
                <a:ea typeface="맑은 고딕" pitchFamily="34" charset="-122"/>
                <a:cs typeface="맑은 고딕" pitchFamily="34" charset="-120"/>
              </a:rPr>
              <a:t>MLC</a:t>
            </a:r>
            <a:endParaRPr lang="en-US" sz="1800" dirty="0"/>
          </a:p>
        </p:txBody>
      </p:sp>
      <p:sp>
        <p:nvSpPr>
          <p:cNvPr id="15" name="Text 11"/>
          <p:cNvSpPr txBox="1"/>
          <p:nvPr/>
        </p:nvSpPr>
        <p:spPr>
          <a:xfrm>
            <a:off x="4998568" y="2578608"/>
            <a:ext cx="2194560" cy="274320"/>
          </a:xfrm>
          <a:prstGeom prst="rect">
            <a:avLst/>
          </a:prstGeom>
          <a:noFill/>
          <a:ln/>
        </p:spPr>
        <p:txBody>
          <a:bodyPr wrap="square" lIns="0" tIns="0" rIns="0" bIns="0" rtlCol="0" anchor="t"/>
          <a:lstStyle/>
          <a:p>
            <a:pPr algn="ctr" indent="0" marL="0">
              <a:buNone/>
            </a:pPr>
            <a:r>
              <a:rPr lang="en-US" sz="1150" dirty="0">
                <a:solidFill>
                  <a:srgbClr val="6B6F76"/>
                </a:solidFill>
                <a:latin typeface="맑은 고딕" pitchFamily="34" charset="0"/>
                <a:ea typeface="맑은 고딕" pitchFamily="34" charset="-122"/>
                <a:cs typeface="맑은 고딕" pitchFamily="34" charset="-120"/>
              </a:rPr>
              <a:t>녹 색 기반 위험도 분석</a:t>
            </a:r>
            <a:endParaRPr lang="en-US" sz="1150" dirty="0"/>
          </a:p>
        </p:txBody>
      </p:sp>
      <p:sp>
        <p:nvSpPr>
          <p:cNvPr id="16" name="Shape 12"/>
          <p:cNvSpPr/>
          <p:nvPr/>
        </p:nvSpPr>
        <p:spPr>
          <a:xfrm>
            <a:off x="9265615" y="1463040"/>
            <a:ext cx="2377440" cy="1600200"/>
          </a:xfrm>
          <a:prstGeom prst="roundRect">
            <a:avLst>
              <a:gd name="adj" fmla="val 5714"/>
            </a:avLst>
          </a:prstGeom>
          <a:solidFill>
            <a:srgbClr val="FFFFFF"/>
          </a:solidFill>
          <a:ln w="15875">
            <a:solidFill>
              <a:srgbClr val="B5501F"/>
            </a:solidFill>
            <a:prstDash val="solid"/>
          </a:ln>
        </p:spPr>
      </p:sp>
      <p:sp>
        <p:nvSpPr>
          <p:cNvPr id="17" name="Shape 13"/>
          <p:cNvSpPr/>
          <p:nvPr/>
        </p:nvSpPr>
        <p:spPr>
          <a:xfrm>
            <a:off x="10180015" y="1627632"/>
            <a:ext cx="548640" cy="548640"/>
          </a:xfrm>
          <a:prstGeom prst="ellipse">
            <a:avLst/>
          </a:prstGeom>
          <a:solidFill>
            <a:srgbClr val="B5501F"/>
          </a:solidFill>
          <a:ln w="12700">
            <a:solidFill>
              <a:srgbClr val="B5501F"/>
            </a:solidFill>
            <a:prstDash val="solid"/>
          </a:ln>
        </p:spPr>
      </p:sp>
      <p:pic>
        <p:nvPicPr>
          <p:cNvPr id="18" name="Image 2" descr="preencoded.png">    </p:cNvPr>
          <p:cNvPicPr>
            <a:picLocks noChangeAspect="1"/>
          </p:cNvPicPr>
          <p:nvPr/>
        </p:nvPicPr>
        <p:blipFill>
          <a:blip r:embed="rId3"/>
          <a:stretch>
            <a:fillRect/>
          </a:stretch>
        </p:blipFill>
        <p:spPr>
          <a:xfrm>
            <a:off x="10322662" y="1770278"/>
            <a:ext cx="263347" cy="263347"/>
          </a:xfrm>
          <a:prstGeom prst="rect">
            <a:avLst/>
          </a:prstGeom>
        </p:spPr>
      </p:pic>
      <p:sp>
        <p:nvSpPr>
          <p:cNvPr id="19" name="Text 14"/>
          <p:cNvSpPr txBox="1"/>
          <p:nvPr/>
        </p:nvSpPr>
        <p:spPr>
          <a:xfrm>
            <a:off x="9265615" y="2212848"/>
            <a:ext cx="2377440" cy="365760"/>
          </a:xfrm>
          <a:prstGeom prst="rect">
            <a:avLst/>
          </a:prstGeom>
          <a:noFill/>
          <a:ln/>
        </p:spPr>
        <p:txBody>
          <a:bodyPr wrap="square" lIns="0" tIns="0" rIns="0" bIns="0" rtlCol="0" anchor="ctr"/>
          <a:lstStyle/>
          <a:p>
            <a:pPr algn="ctr" indent="0" marL="0">
              <a:buNone/>
            </a:pPr>
            <a:r>
              <a:rPr lang="en-US" sz="1800" b="1" dirty="0">
                <a:solidFill>
                  <a:srgbClr val="B5501F"/>
                </a:solidFill>
                <a:latin typeface="맑은 고딕" pitchFamily="34" charset="0"/>
                <a:ea typeface="맑은 고딕" pitchFamily="34" charset="-122"/>
                <a:cs typeface="맑은 고딕" pitchFamily="34" charset="-120"/>
              </a:rPr>
              <a:t>고객사</a:t>
            </a:r>
            <a:endParaRPr lang="en-US" sz="1800" dirty="0"/>
          </a:p>
        </p:txBody>
      </p:sp>
      <p:sp>
        <p:nvSpPr>
          <p:cNvPr id="20" name="Text 15"/>
          <p:cNvSpPr txBox="1"/>
          <p:nvPr/>
        </p:nvSpPr>
        <p:spPr>
          <a:xfrm>
            <a:off x="9357055" y="2578608"/>
            <a:ext cx="2194560" cy="274320"/>
          </a:xfrm>
          <a:prstGeom prst="rect">
            <a:avLst/>
          </a:prstGeom>
          <a:noFill/>
          <a:ln/>
        </p:spPr>
        <p:txBody>
          <a:bodyPr wrap="square" lIns="0" tIns="0" rIns="0" bIns="0" rtlCol="0" anchor="t"/>
          <a:lstStyle/>
          <a:p>
            <a:pPr algn="ctr" indent="0" marL="0">
              <a:buNone/>
            </a:pPr>
            <a:r>
              <a:rPr lang="en-US" sz="1150" dirty="0">
                <a:solidFill>
                  <a:srgbClr val="6B6F76"/>
                </a:solidFill>
                <a:latin typeface="맑은 고딕" pitchFamily="34" charset="0"/>
                <a:ea typeface="맑은 고딕" pitchFamily="34" charset="-122"/>
                <a:cs typeface="맑은 고딕" pitchFamily="34" charset="-120"/>
              </a:rPr>
              <a:t>해양 석유 · 가스 운영사</a:t>
            </a:r>
            <a:endParaRPr lang="en-US" sz="1150" dirty="0"/>
          </a:p>
        </p:txBody>
      </p:sp>
      <p:sp>
        <p:nvSpPr>
          <p:cNvPr id="21" name="Text 16"/>
          <p:cNvSpPr txBox="1"/>
          <p:nvPr/>
        </p:nvSpPr>
        <p:spPr>
          <a:xfrm>
            <a:off x="3063240" y="1696212"/>
            <a:ext cx="1706728" cy="274320"/>
          </a:xfrm>
          <a:prstGeom prst="rect">
            <a:avLst/>
          </a:prstGeom>
          <a:noFill/>
          <a:ln/>
        </p:spPr>
        <p:txBody>
          <a:bodyPr wrap="square" lIns="0" tIns="0" rIns="0" bIns="0" rtlCol="0" anchor="t"/>
          <a:lstStyle/>
          <a:p>
            <a:pPr algn="ctr" indent="0" marL="0">
              <a:buNone/>
            </a:pPr>
            <a:r>
              <a:rPr lang="en-US" sz="1300" b="1" dirty="0">
                <a:solidFill>
                  <a:srgbClr val="B5501F"/>
                </a:solidFill>
                <a:latin typeface="맑은 고딕" pitchFamily="34" charset="0"/>
                <a:ea typeface="맑은 고딕" pitchFamily="34" charset="-122"/>
                <a:cs typeface="맑은 고딕" pitchFamily="34" charset="-120"/>
              </a:rPr>
              <a:t>촬영 데이터 · 소개</a:t>
            </a:r>
            <a:endParaRPr lang="en-US" sz="1300" dirty="0"/>
          </a:p>
        </p:txBody>
      </p:sp>
      <p:sp>
        <p:nvSpPr>
          <p:cNvPr id="22" name="Shape 17"/>
          <p:cNvSpPr/>
          <p:nvPr/>
        </p:nvSpPr>
        <p:spPr>
          <a:xfrm>
            <a:off x="3063240" y="2034540"/>
            <a:ext cx="1706728" cy="0"/>
          </a:xfrm>
          <a:prstGeom prst="line">
            <a:avLst/>
          </a:prstGeom>
          <a:noFill/>
          <a:ln w="28575">
            <a:solidFill>
              <a:srgbClr val="B5501F"/>
            </a:solidFill>
            <a:prstDash val="solid"/>
            <a:tailEnd type="triangle"/>
          </a:ln>
        </p:spPr>
      </p:sp>
      <p:sp>
        <p:nvSpPr>
          <p:cNvPr id="23" name="Shape 18"/>
          <p:cNvSpPr/>
          <p:nvPr/>
        </p:nvSpPr>
        <p:spPr>
          <a:xfrm>
            <a:off x="3063240" y="2491740"/>
            <a:ext cx="1706728" cy="0"/>
          </a:xfrm>
          <a:prstGeom prst="line">
            <a:avLst/>
          </a:prstGeom>
          <a:noFill/>
          <a:ln w="28575">
            <a:solidFill>
              <a:srgbClr val="1F5F7A"/>
            </a:solidFill>
            <a:prstDash val="dash"/>
            <a:headEnd type="triangle"/>
          </a:ln>
        </p:spPr>
      </p:sp>
      <p:sp>
        <p:nvSpPr>
          <p:cNvPr id="24" name="Text 19"/>
          <p:cNvSpPr txBox="1"/>
          <p:nvPr/>
        </p:nvSpPr>
        <p:spPr>
          <a:xfrm>
            <a:off x="3063240" y="2564892"/>
            <a:ext cx="1706728" cy="274320"/>
          </a:xfrm>
          <a:prstGeom prst="rect">
            <a:avLst/>
          </a:prstGeom>
          <a:noFill/>
          <a:ln/>
        </p:spPr>
        <p:txBody>
          <a:bodyPr wrap="square" lIns="0" tIns="0" rIns="0" bIns="0" rtlCol="0" anchor="t"/>
          <a:lstStyle/>
          <a:p>
            <a:pPr algn="ctr" indent="0" marL="0">
              <a:buNone/>
            </a:pPr>
            <a:r>
              <a:rPr lang="en-US" sz="1300" b="1" dirty="0">
                <a:solidFill>
                  <a:srgbClr val="1F5F7A"/>
                </a:solidFill>
                <a:latin typeface="맑은 고딕" pitchFamily="34" charset="0"/>
                <a:ea typeface="맑은 고딕" pitchFamily="34" charset="-122"/>
                <a:cs typeface="맑은 고딕" pitchFamily="34" charset="-120"/>
              </a:rPr>
              <a:t>촬영비 · 소개 수수료</a:t>
            </a:r>
            <a:endParaRPr lang="en-US" sz="1300" dirty="0"/>
          </a:p>
        </p:txBody>
      </p:sp>
      <p:sp>
        <p:nvSpPr>
          <p:cNvPr id="25" name="Text 20"/>
          <p:cNvSpPr txBox="1"/>
          <p:nvPr/>
        </p:nvSpPr>
        <p:spPr>
          <a:xfrm>
            <a:off x="7421728" y="1696212"/>
            <a:ext cx="1706728" cy="274320"/>
          </a:xfrm>
          <a:prstGeom prst="rect">
            <a:avLst/>
          </a:prstGeom>
          <a:noFill/>
          <a:ln/>
        </p:spPr>
        <p:txBody>
          <a:bodyPr wrap="square" lIns="0" tIns="0" rIns="0" bIns="0" rtlCol="0" anchor="t"/>
          <a:lstStyle/>
          <a:p>
            <a:pPr algn="ctr" indent="0" marL="0">
              <a:buNone/>
            </a:pPr>
            <a:r>
              <a:rPr lang="en-US" sz="1300" b="1" dirty="0">
                <a:solidFill>
                  <a:srgbClr val="B5501F"/>
                </a:solidFill>
                <a:latin typeface="맑은 고딕" pitchFamily="34" charset="0"/>
                <a:ea typeface="맑은 고딕" pitchFamily="34" charset="-122"/>
                <a:cs typeface="맑은 고딕" pitchFamily="34" charset="-120"/>
              </a:rPr>
              <a:t>점검 우선순위 리포트</a:t>
            </a:r>
            <a:endParaRPr lang="en-US" sz="1300" dirty="0"/>
          </a:p>
        </p:txBody>
      </p:sp>
      <p:sp>
        <p:nvSpPr>
          <p:cNvPr id="26" name="Shape 21"/>
          <p:cNvSpPr/>
          <p:nvPr/>
        </p:nvSpPr>
        <p:spPr>
          <a:xfrm>
            <a:off x="7421728" y="2034540"/>
            <a:ext cx="1706728" cy="0"/>
          </a:xfrm>
          <a:prstGeom prst="line">
            <a:avLst/>
          </a:prstGeom>
          <a:noFill/>
          <a:ln w="28575">
            <a:solidFill>
              <a:srgbClr val="B5501F"/>
            </a:solidFill>
            <a:prstDash val="solid"/>
            <a:tailEnd type="triangle"/>
          </a:ln>
        </p:spPr>
      </p:sp>
      <p:sp>
        <p:nvSpPr>
          <p:cNvPr id="27" name="Shape 22"/>
          <p:cNvSpPr/>
          <p:nvPr/>
        </p:nvSpPr>
        <p:spPr>
          <a:xfrm>
            <a:off x="7421728" y="2491740"/>
            <a:ext cx="1706728" cy="0"/>
          </a:xfrm>
          <a:prstGeom prst="line">
            <a:avLst/>
          </a:prstGeom>
          <a:noFill/>
          <a:ln w="28575">
            <a:solidFill>
              <a:srgbClr val="1F5F7A"/>
            </a:solidFill>
            <a:prstDash val="dash"/>
            <a:headEnd type="triangle"/>
          </a:ln>
        </p:spPr>
      </p:sp>
      <p:sp>
        <p:nvSpPr>
          <p:cNvPr id="28" name="Text 23"/>
          <p:cNvSpPr txBox="1"/>
          <p:nvPr/>
        </p:nvSpPr>
        <p:spPr>
          <a:xfrm>
            <a:off x="7421728" y="2564892"/>
            <a:ext cx="1706728" cy="274320"/>
          </a:xfrm>
          <a:prstGeom prst="rect">
            <a:avLst/>
          </a:prstGeom>
          <a:noFill/>
          <a:ln/>
        </p:spPr>
        <p:txBody>
          <a:bodyPr wrap="square" lIns="0" tIns="0" rIns="0" bIns="0" rtlCol="0" anchor="t"/>
          <a:lstStyle/>
          <a:p>
            <a:pPr algn="ctr" indent="0" marL="0">
              <a:buNone/>
            </a:pPr>
            <a:r>
              <a:rPr lang="en-US" sz="1300" b="1" dirty="0">
                <a:solidFill>
                  <a:srgbClr val="1F5F7A"/>
                </a:solidFill>
                <a:latin typeface="맑은 고딕" pitchFamily="34" charset="0"/>
                <a:ea typeface="맑은 고딕" pitchFamily="34" charset="-122"/>
                <a:cs typeface="맑은 고딕" pitchFamily="34" charset="-120"/>
              </a:rPr>
              <a:t>점검 건당 · 구독 요금</a:t>
            </a:r>
            <a:endParaRPr lang="en-US" sz="1300" dirty="0"/>
          </a:p>
        </p:txBody>
      </p:sp>
      <p:sp>
        <p:nvSpPr>
          <p:cNvPr id="29" name="Shape 24"/>
          <p:cNvSpPr/>
          <p:nvPr/>
        </p:nvSpPr>
        <p:spPr>
          <a:xfrm>
            <a:off x="8625535" y="960120"/>
            <a:ext cx="411480" cy="0"/>
          </a:xfrm>
          <a:prstGeom prst="line">
            <a:avLst/>
          </a:prstGeom>
          <a:noFill/>
          <a:ln w="28575">
            <a:solidFill>
              <a:srgbClr val="B5501F"/>
            </a:solidFill>
            <a:prstDash val="solid"/>
          </a:ln>
        </p:spPr>
      </p:sp>
      <p:sp>
        <p:nvSpPr>
          <p:cNvPr id="30" name="Text 25"/>
          <p:cNvSpPr txBox="1"/>
          <p:nvPr/>
        </p:nvSpPr>
        <p:spPr>
          <a:xfrm>
            <a:off x="9128455" y="841248"/>
            <a:ext cx="914400" cy="237744"/>
          </a:xfrm>
          <a:prstGeom prst="rect">
            <a:avLst/>
          </a:prstGeom>
          <a:noFill/>
          <a:ln/>
        </p:spPr>
        <p:txBody>
          <a:bodyPr wrap="square" lIns="0" tIns="0" rIns="0" bIns="0" rtlCol="0" anchor="t"/>
          <a:lstStyle/>
          <a:p>
            <a:pPr indent="0" marL="0">
              <a:buNone/>
            </a:pPr>
            <a:r>
              <a:rPr lang="en-US" sz="1100" b="1" dirty="0">
                <a:solidFill>
                  <a:srgbClr val="B5501F"/>
                </a:solidFill>
                <a:latin typeface="맑은 고딕" pitchFamily="34" charset="0"/>
                <a:ea typeface="맑은 고딕" pitchFamily="34" charset="-122"/>
                <a:cs typeface="맑은 고딕" pitchFamily="34" charset="-120"/>
              </a:rPr>
              <a:t>가치 흐름</a:t>
            </a:r>
            <a:endParaRPr lang="en-US" sz="1100" dirty="0"/>
          </a:p>
        </p:txBody>
      </p:sp>
      <p:sp>
        <p:nvSpPr>
          <p:cNvPr id="31" name="Shape 26"/>
          <p:cNvSpPr/>
          <p:nvPr/>
        </p:nvSpPr>
        <p:spPr>
          <a:xfrm>
            <a:off x="10225735" y="960120"/>
            <a:ext cx="411480" cy="0"/>
          </a:xfrm>
          <a:prstGeom prst="line">
            <a:avLst/>
          </a:prstGeom>
          <a:noFill/>
          <a:ln w="28575">
            <a:solidFill>
              <a:srgbClr val="1F5F7A"/>
            </a:solidFill>
            <a:prstDash val="dash"/>
          </a:ln>
        </p:spPr>
      </p:sp>
      <p:sp>
        <p:nvSpPr>
          <p:cNvPr id="32" name="Text 27"/>
          <p:cNvSpPr txBox="1"/>
          <p:nvPr/>
        </p:nvSpPr>
        <p:spPr>
          <a:xfrm>
            <a:off x="10728655" y="841248"/>
            <a:ext cx="914400" cy="237744"/>
          </a:xfrm>
          <a:prstGeom prst="rect">
            <a:avLst/>
          </a:prstGeom>
          <a:noFill/>
          <a:ln/>
        </p:spPr>
        <p:txBody>
          <a:bodyPr wrap="square" lIns="0" tIns="0" rIns="0" bIns="0" rtlCol="0" anchor="t"/>
          <a:lstStyle/>
          <a:p>
            <a:pPr indent="0" marL="0">
              <a:buNone/>
            </a:pPr>
            <a:r>
              <a:rPr lang="en-US" sz="1100" b="1" dirty="0">
                <a:solidFill>
                  <a:srgbClr val="1F5F7A"/>
                </a:solidFill>
                <a:latin typeface="맑은 고딕" pitchFamily="34" charset="0"/>
                <a:ea typeface="맑은 고딕" pitchFamily="34" charset="-122"/>
                <a:cs typeface="맑은 고딕" pitchFamily="34" charset="-120"/>
              </a:rPr>
              <a:t>돈 흐름</a:t>
            </a:r>
            <a:endParaRPr lang="en-US" sz="1100" dirty="0"/>
          </a:p>
        </p:txBody>
      </p:sp>
      <p:sp>
        <p:nvSpPr>
          <p:cNvPr id="33" name="Shape 28"/>
          <p:cNvSpPr/>
          <p:nvPr/>
        </p:nvSpPr>
        <p:spPr>
          <a:xfrm>
            <a:off x="548640" y="3429000"/>
            <a:ext cx="3576218" cy="2514600"/>
          </a:xfrm>
          <a:prstGeom prst="roundRect">
            <a:avLst>
              <a:gd name="adj" fmla="val 2909"/>
            </a:avLst>
          </a:prstGeom>
          <a:solidFill>
            <a:srgbClr val="FBEDE4"/>
          </a:solidFill>
          <a:ln w="12700">
            <a:solidFill>
              <a:srgbClr val="FBEDE4"/>
            </a:solidFill>
            <a:prstDash val="solid"/>
          </a:ln>
        </p:spPr>
      </p:sp>
      <p:sp>
        <p:nvSpPr>
          <p:cNvPr id="34" name="Text 29"/>
          <p:cNvSpPr txBox="1"/>
          <p:nvPr/>
        </p:nvSpPr>
        <p:spPr>
          <a:xfrm>
            <a:off x="777240" y="3566160"/>
            <a:ext cx="3210458" cy="320040"/>
          </a:xfrm>
          <a:prstGeom prst="rect">
            <a:avLst/>
          </a:prstGeom>
          <a:noFill/>
          <a:ln/>
        </p:spPr>
        <p:txBody>
          <a:bodyPr wrap="square" lIns="0" tIns="0" rIns="0" bIns="0" rtlCol="0" anchor="t"/>
          <a:lstStyle/>
          <a:p>
            <a:pPr indent="0" marL="0">
              <a:buNone/>
            </a:pPr>
            <a:r>
              <a:rPr lang="en-US" sz="1400" b="1" dirty="0">
                <a:solidFill>
                  <a:srgbClr val="B5501F"/>
                </a:solidFill>
                <a:latin typeface="맑은 고딕" pitchFamily="34" charset="0"/>
                <a:ea typeface="맑은 고딕" pitchFamily="34" charset="-122"/>
                <a:cs typeface="맑은 고딕" pitchFamily="34" charset="-120"/>
              </a:rPr>
              <a:t>매출원</a:t>
            </a:r>
            <a:endParaRPr lang="en-US" sz="1400" dirty="0"/>
          </a:p>
        </p:txBody>
      </p:sp>
      <p:sp>
        <p:nvSpPr>
          <p:cNvPr id="35" name="Shape 30"/>
          <p:cNvSpPr/>
          <p:nvPr/>
        </p:nvSpPr>
        <p:spPr>
          <a:xfrm>
            <a:off x="777240" y="4014216"/>
            <a:ext cx="402336" cy="402336"/>
          </a:xfrm>
          <a:prstGeom prst="ellipse">
            <a:avLst/>
          </a:prstGeom>
          <a:solidFill>
            <a:srgbClr val="B5501F"/>
          </a:solidFill>
          <a:ln w="12700">
            <a:solidFill>
              <a:srgbClr val="B5501F"/>
            </a:solidFill>
            <a:prstDash val="solid"/>
          </a:ln>
        </p:spPr>
      </p:sp>
      <p:pic>
        <p:nvPicPr>
          <p:cNvPr id="36" name="Image 3" descr="preencoded.png">    </p:cNvPr>
          <p:cNvPicPr>
            <a:picLocks noChangeAspect="1"/>
          </p:cNvPicPr>
          <p:nvPr/>
        </p:nvPicPr>
        <p:blipFill>
          <a:blip r:embed="rId4"/>
          <a:stretch>
            <a:fillRect/>
          </a:stretch>
        </p:blipFill>
        <p:spPr>
          <a:xfrm>
            <a:off x="881847" y="4118823"/>
            <a:ext cx="193121" cy="193121"/>
          </a:xfrm>
          <a:prstGeom prst="rect">
            <a:avLst/>
          </a:prstGeom>
        </p:spPr>
      </p:pic>
      <p:sp>
        <p:nvSpPr>
          <p:cNvPr id="37" name="Text 31"/>
          <p:cNvSpPr txBox="1"/>
          <p:nvPr/>
        </p:nvSpPr>
        <p:spPr>
          <a:xfrm>
            <a:off x="1298448" y="3995928"/>
            <a:ext cx="2661818" cy="256032"/>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점검 건당 요금</a:t>
            </a:r>
            <a:endParaRPr lang="en-US" sz="1300" dirty="0"/>
          </a:p>
        </p:txBody>
      </p:sp>
      <p:sp>
        <p:nvSpPr>
          <p:cNvPr id="38" name="Text 32"/>
          <p:cNvSpPr txBox="1"/>
          <p:nvPr/>
        </p:nvSpPr>
        <p:spPr>
          <a:xfrm>
            <a:off x="1298448" y="4251960"/>
            <a:ext cx="2661818" cy="237744"/>
          </a:xfrm>
          <a:prstGeom prst="rect">
            <a:avLst/>
          </a:prstGeom>
          <a:noFill/>
          <a:ln/>
        </p:spPr>
        <p:txBody>
          <a:bodyPr wrap="square" lIns="0" tIns="0" rIns="0" bIns="0" rtlCol="0" anchor="t"/>
          <a:lstStyle/>
          <a:p>
            <a:pPr indent="0" marL="0">
              <a:buNone/>
            </a:pPr>
            <a:r>
              <a:rPr lang="en-US" sz="1050" dirty="0">
                <a:solidFill>
                  <a:srgbClr val="6B6F76"/>
                </a:solidFill>
                <a:latin typeface="맑은 고딕" pitchFamily="34" charset="0"/>
                <a:ea typeface="맑은 고딕" pitchFamily="34" charset="-122"/>
                <a:cs typeface="맑은 고딕" pitchFamily="34" charset="-120"/>
              </a:rPr>
              <a:t>구조물 1기 스캔 · 리포트</a:t>
            </a:r>
            <a:endParaRPr lang="en-US" sz="1050" dirty="0"/>
          </a:p>
        </p:txBody>
      </p:sp>
      <p:sp>
        <p:nvSpPr>
          <p:cNvPr id="39" name="Shape 33"/>
          <p:cNvSpPr/>
          <p:nvPr/>
        </p:nvSpPr>
        <p:spPr>
          <a:xfrm>
            <a:off x="777240" y="4581144"/>
            <a:ext cx="402336" cy="402336"/>
          </a:xfrm>
          <a:prstGeom prst="ellipse">
            <a:avLst/>
          </a:prstGeom>
          <a:solidFill>
            <a:srgbClr val="B5501F"/>
          </a:solidFill>
          <a:ln w="12700">
            <a:solidFill>
              <a:srgbClr val="B5501F"/>
            </a:solidFill>
            <a:prstDash val="solid"/>
          </a:ln>
        </p:spPr>
      </p:sp>
      <p:pic>
        <p:nvPicPr>
          <p:cNvPr id="40" name="Image 4" descr="preencoded.png">    </p:cNvPr>
          <p:cNvPicPr>
            <a:picLocks noChangeAspect="1"/>
          </p:cNvPicPr>
          <p:nvPr/>
        </p:nvPicPr>
        <p:blipFill>
          <a:blip r:embed="rId5"/>
          <a:stretch>
            <a:fillRect/>
          </a:stretch>
        </p:blipFill>
        <p:spPr>
          <a:xfrm>
            <a:off x="881847" y="4685751"/>
            <a:ext cx="193121" cy="193121"/>
          </a:xfrm>
          <a:prstGeom prst="rect">
            <a:avLst/>
          </a:prstGeom>
        </p:spPr>
      </p:pic>
      <p:sp>
        <p:nvSpPr>
          <p:cNvPr id="41" name="Text 34"/>
          <p:cNvSpPr txBox="1"/>
          <p:nvPr/>
        </p:nvSpPr>
        <p:spPr>
          <a:xfrm>
            <a:off x="1298448" y="4562856"/>
            <a:ext cx="2661818" cy="256032"/>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연 구독</a:t>
            </a:r>
            <a:endParaRPr lang="en-US" sz="1300" dirty="0"/>
          </a:p>
        </p:txBody>
      </p:sp>
      <p:sp>
        <p:nvSpPr>
          <p:cNvPr id="42" name="Text 35"/>
          <p:cNvSpPr txBox="1"/>
          <p:nvPr/>
        </p:nvSpPr>
        <p:spPr>
          <a:xfrm>
            <a:off x="1298448" y="4818888"/>
            <a:ext cx="2661818" cy="237744"/>
          </a:xfrm>
          <a:prstGeom prst="rect">
            <a:avLst/>
          </a:prstGeom>
          <a:noFill/>
          <a:ln/>
        </p:spPr>
        <p:txBody>
          <a:bodyPr wrap="square" lIns="0" tIns="0" rIns="0" bIns="0" rtlCol="0" anchor="t"/>
          <a:lstStyle/>
          <a:p>
            <a:pPr indent="0" marL="0">
              <a:buNone/>
            </a:pPr>
            <a:r>
              <a:rPr lang="en-US" sz="1050" dirty="0">
                <a:solidFill>
                  <a:srgbClr val="6B6F76"/>
                </a:solidFill>
                <a:latin typeface="맑은 고딕" pitchFamily="34" charset="0"/>
                <a:ea typeface="맑은 고딕" pitchFamily="34" charset="-122"/>
                <a:cs typeface="맑은 고딕" pitchFamily="34" charset="-120"/>
              </a:rPr>
              <a:t>주기 점검 + 이력 관리</a:t>
            </a:r>
            <a:endParaRPr lang="en-US" sz="1050" dirty="0"/>
          </a:p>
        </p:txBody>
      </p:sp>
      <p:sp>
        <p:nvSpPr>
          <p:cNvPr id="43" name="Shape 36"/>
          <p:cNvSpPr/>
          <p:nvPr/>
        </p:nvSpPr>
        <p:spPr>
          <a:xfrm>
            <a:off x="777240" y="5148072"/>
            <a:ext cx="402336" cy="402336"/>
          </a:xfrm>
          <a:prstGeom prst="ellipse">
            <a:avLst/>
          </a:prstGeom>
          <a:solidFill>
            <a:srgbClr val="B5501F"/>
          </a:solidFill>
          <a:ln w="12700">
            <a:solidFill>
              <a:srgbClr val="B5501F"/>
            </a:solidFill>
            <a:prstDash val="solid"/>
          </a:ln>
        </p:spPr>
      </p:sp>
      <p:pic>
        <p:nvPicPr>
          <p:cNvPr id="44" name="Image 5" descr="preencoded.png">    </p:cNvPr>
          <p:cNvPicPr>
            <a:picLocks noChangeAspect="1"/>
          </p:cNvPicPr>
          <p:nvPr/>
        </p:nvPicPr>
        <p:blipFill>
          <a:blip r:embed="rId6"/>
          <a:stretch>
            <a:fillRect/>
          </a:stretch>
        </p:blipFill>
        <p:spPr>
          <a:xfrm>
            <a:off x="881847" y="5252679"/>
            <a:ext cx="193121" cy="193121"/>
          </a:xfrm>
          <a:prstGeom prst="rect">
            <a:avLst/>
          </a:prstGeom>
        </p:spPr>
      </p:pic>
      <p:sp>
        <p:nvSpPr>
          <p:cNvPr id="45" name="Text 37"/>
          <p:cNvSpPr txBox="1"/>
          <p:nvPr/>
        </p:nvSpPr>
        <p:spPr>
          <a:xfrm>
            <a:off x="1298448" y="5129784"/>
            <a:ext cx="2661818" cy="256032"/>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데이터 라이선스 (장기)</a:t>
            </a:r>
            <a:endParaRPr lang="en-US" sz="1300" dirty="0"/>
          </a:p>
        </p:txBody>
      </p:sp>
      <p:sp>
        <p:nvSpPr>
          <p:cNvPr id="46" name="Text 38"/>
          <p:cNvSpPr txBox="1"/>
          <p:nvPr/>
        </p:nvSpPr>
        <p:spPr>
          <a:xfrm>
            <a:off x="1298448" y="5385816"/>
            <a:ext cx="2661818" cy="237744"/>
          </a:xfrm>
          <a:prstGeom prst="rect">
            <a:avLst/>
          </a:prstGeom>
          <a:noFill/>
          <a:ln/>
        </p:spPr>
        <p:txBody>
          <a:bodyPr wrap="square" lIns="0" tIns="0" rIns="0" bIns="0" rtlCol="0" anchor="t"/>
          <a:lstStyle/>
          <a:p>
            <a:pPr indent="0" marL="0">
              <a:buNone/>
            </a:pPr>
            <a:r>
              <a:rPr lang="en-US" sz="1050" dirty="0">
                <a:solidFill>
                  <a:srgbClr val="6B6F76"/>
                </a:solidFill>
                <a:latin typeface="맑은 고딕" pitchFamily="34" charset="0"/>
                <a:ea typeface="맑은 고딕" pitchFamily="34" charset="-122"/>
                <a:cs typeface="맑은 고딕" pitchFamily="34" charset="-120"/>
              </a:rPr>
              <a:t>드론 · 점검 업체에 분석 엔진</a:t>
            </a:r>
            <a:endParaRPr lang="en-US" sz="1050" dirty="0"/>
          </a:p>
        </p:txBody>
      </p:sp>
      <p:sp>
        <p:nvSpPr>
          <p:cNvPr id="47" name="Shape 39"/>
          <p:cNvSpPr/>
          <p:nvPr/>
        </p:nvSpPr>
        <p:spPr>
          <a:xfrm>
            <a:off x="4307738" y="3429000"/>
            <a:ext cx="3576218" cy="2514600"/>
          </a:xfrm>
          <a:prstGeom prst="roundRect">
            <a:avLst>
              <a:gd name="adj" fmla="val 2909"/>
            </a:avLst>
          </a:prstGeom>
          <a:solidFill>
            <a:srgbClr val="F3F4F6"/>
          </a:solidFill>
          <a:ln w="12700">
            <a:solidFill>
              <a:srgbClr val="F3F4F6"/>
            </a:solidFill>
            <a:prstDash val="solid"/>
          </a:ln>
        </p:spPr>
      </p:sp>
      <p:sp>
        <p:nvSpPr>
          <p:cNvPr id="48" name="Text 40"/>
          <p:cNvSpPr txBox="1"/>
          <p:nvPr/>
        </p:nvSpPr>
        <p:spPr>
          <a:xfrm>
            <a:off x="4536338" y="3566160"/>
            <a:ext cx="3210458" cy="320040"/>
          </a:xfrm>
          <a:prstGeom prst="rect">
            <a:avLst/>
          </a:prstGeom>
          <a:noFill/>
          <a:ln/>
        </p:spPr>
        <p:txBody>
          <a:bodyPr wrap="square" lIns="0" tIns="0" rIns="0" bIns="0" rtlCol="0" anchor="t"/>
          <a:lstStyle/>
          <a:p>
            <a:pPr indent="0" marL="0">
              <a:buNone/>
            </a:pPr>
            <a:r>
              <a:rPr lang="en-US" sz="1400" b="1" dirty="0">
                <a:solidFill>
                  <a:srgbClr val="2B2D31"/>
                </a:solidFill>
                <a:latin typeface="맑은 고딕" pitchFamily="34" charset="0"/>
                <a:ea typeface="맑은 고딕" pitchFamily="34" charset="-122"/>
                <a:cs typeface="맑은 고딕" pitchFamily="34" charset="-120"/>
              </a:rPr>
              <a:t>비용 구조</a:t>
            </a:r>
            <a:endParaRPr lang="en-US" sz="1400" dirty="0"/>
          </a:p>
        </p:txBody>
      </p:sp>
      <p:sp>
        <p:nvSpPr>
          <p:cNvPr id="49" name="Shape 41"/>
          <p:cNvSpPr/>
          <p:nvPr/>
        </p:nvSpPr>
        <p:spPr>
          <a:xfrm>
            <a:off x="4536338" y="4014216"/>
            <a:ext cx="402336" cy="402336"/>
          </a:xfrm>
          <a:prstGeom prst="ellipse">
            <a:avLst/>
          </a:prstGeom>
          <a:solidFill>
            <a:srgbClr val="2B2D31"/>
          </a:solidFill>
          <a:ln w="12700">
            <a:solidFill>
              <a:srgbClr val="2B2D31"/>
            </a:solidFill>
            <a:prstDash val="solid"/>
          </a:ln>
        </p:spPr>
      </p:sp>
      <p:pic>
        <p:nvPicPr>
          <p:cNvPr id="50" name="Image 6" descr="preencoded.png">    </p:cNvPr>
          <p:cNvPicPr>
            <a:picLocks noChangeAspect="1"/>
          </p:cNvPicPr>
          <p:nvPr/>
        </p:nvPicPr>
        <p:blipFill>
          <a:blip r:embed="rId7"/>
          <a:stretch>
            <a:fillRect/>
          </a:stretch>
        </p:blipFill>
        <p:spPr>
          <a:xfrm>
            <a:off x="4640946" y="4118823"/>
            <a:ext cx="193121" cy="193121"/>
          </a:xfrm>
          <a:prstGeom prst="rect">
            <a:avLst/>
          </a:prstGeom>
        </p:spPr>
      </p:pic>
      <p:sp>
        <p:nvSpPr>
          <p:cNvPr id="51" name="Text 42"/>
          <p:cNvSpPr txBox="1"/>
          <p:nvPr/>
        </p:nvSpPr>
        <p:spPr>
          <a:xfrm>
            <a:off x="5057546" y="3995928"/>
            <a:ext cx="2661818" cy="256032"/>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드론 · 촬영 운용</a:t>
            </a:r>
            <a:endParaRPr lang="en-US" sz="1300" dirty="0"/>
          </a:p>
        </p:txBody>
      </p:sp>
      <p:sp>
        <p:nvSpPr>
          <p:cNvPr id="52" name="Text 43"/>
          <p:cNvSpPr txBox="1"/>
          <p:nvPr/>
        </p:nvSpPr>
        <p:spPr>
          <a:xfrm>
            <a:off x="5057546" y="4251960"/>
            <a:ext cx="2661818" cy="237744"/>
          </a:xfrm>
          <a:prstGeom prst="rect">
            <a:avLst/>
          </a:prstGeom>
          <a:noFill/>
          <a:ln/>
        </p:spPr>
        <p:txBody>
          <a:bodyPr wrap="square" lIns="0" tIns="0" rIns="0" bIns="0" rtlCol="0" anchor="t"/>
          <a:lstStyle/>
          <a:p>
            <a:pPr indent="0" marL="0">
              <a:buNone/>
            </a:pPr>
            <a:r>
              <a:rPr lang="en-US" sz="1050" dirty="0">
                <a:solidFill>
                  <a:srgbClr val="6B6F76"/>
                </a:solidFill>
                <a:latin typeface="맑은 고딕" pitchFamily="34" charset="0"/>
                <a:ea typeface="맑은 고딕" pitchFamily="34" charset="-122"/>
                <a:cs typeface="맑은 고딕" pitchFamily="34" charset="-120"/>
              </a:rPr>
              <a:t>파트너 촬영 대행</a:t>
            </a:r>
            <a:endParaRPr lang="en-US" sz="1050" dirty="0"/>
          </a:p>
        </p:txBody>
      </p:sp>
      <p:sp>
        <p:nvSpPr>
          <p:cNvPr id="53" name="Shape 44"/>
          <p:cNvSpPr/>
          <p:nvPr/>
        </p:nvSpPr>
        <p:spPr>
          <a:xfrm>
            <a:off x="4536338" y="4581144"/>
            <a:ext cx="402336" cy="402336"/>
          </a:xfrm>
          <a:prstGeom prst="ellipse">
            <a:avLst/>
          </a:prstGeom>
          <a:solidFill>
            <a:srgbClr val="2B2D31"/>
          </a:solidFill>
          <a:ln w="12700">
            <a:solidFill>
              <a:srgbClr val="2B2D31"/>
            </a:solidFill>
            <a:prstDash val="solid"/>
          </a:ln>
        </p:spPr>
      </p:sp>
      <p:pic>
        <p:nvPicPr>
          <p:cNvPr id="54" name="Image 7" descr="preencoded.png">    </p:cNvPr>
          <p:cNvPicPr>
            <a:picLocks noChangeAspect="1"/>
          </p:cNvPicPr>
          <p:nvPr/>
        </p:nvPicPr>
        <p:blipFill>
          <a:blip r:embed="rId8"/>
          <a:stretch>
            <a:fillRect/>
          </a:stretch>
        </p:blipFill>
        <p:spPr>
          <a:xfrm>
            <a:off x="4640946" y="4685751"/>
            <a:ext cx="193121" cy="193121"/>
          </a:xfrm>
          <a:prstGeom prst="rect">
            <a:avLst/>
          </a:prstGeom>
        </p:spPr>
      </p:pic>
      <p:sp>
        <p:nvSpPr>
          <p:cNvPr id="55" name="Text 45"/>
          <p:cNvSpPr txBox="1"/>
          <p:nvPr/>
        </p:nvSpPr>
        <p:spPr>
          <a:xfrm>
            <a:off x="5057546" y="4562856"/>
            <a:ext cx="2661818" cy="256032"/>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모델 R&amp;D · 현장 시험</a:t>
            </a:r>
            <a:endParaRPr lang="en-US" sz="1300" dirty="0"/>
          </a:p>
        </p:txBody>
      </p:sp>
      <p:sp>
        <p:nvSpPr>
          <p:cNvPr id="56" name="Text 46"/>
          <p:cNvSpPr txBox="1"/>
          <p:nvPr/>
        </p:nvSpPr>
        <p:spPr>
          <a:xfrm>
            <a:off x="5057546" y="4818888"/>
            <a:ext cx="2661818" cy="237744"/>
          </a:xfrm>
          <a:prstGeom prst="rect">
            <a:avLst/>
          </a:prstGeom>
          <a:noFill/>
          <a:ln/>
        </p:spPr>
        <p:txBody>
          <a:bodyPr wrap="square" lIns="0" tIns="0" rIns="0" bIns="0" rtlCol="0" anchor="t"/>
          <a:lstStyle/>
          <a:p>
            <a:pPr indent="0" marL="0">
              <a:buNone/>
            </a:pPr>
            <a:r>
              <a:rPr lang="en-US" sz="1050" dirty="0">
                <a:solidFill>
                  <a:srgbClr val="6B6F76"/>
                </a:solidFill>
                <a:latin typeface="맑은 고딕" pitchFamily="34" charset="0"/>
                <a:ea typeface="맑은 고딕" pitchFamily="34" charset="-122"/>
                <a:cs typeface="맑은 고딕" pitchFamily="34" charset="-120"/>
              </a:rPr>
              <a:t>두께 데이터 결합 · 정확도 향상</a:t>
            </a:r>
            <a:endParaRPr lang="en-US" sz="1050" dirty="0"/>
          </a:p>
        </p:txBody>
      </p:sp>
      <p:sp>
        <p:nvSpPr>
          <p:cNvPr id="57" name="Shape 47"/>
          <p:cNvSpPr/>
          <p:nvPr/>
        </p:nvSpPr>
        <p:spPr>
          <a:xfrm>
            <a:off x="8066837" y="3429000"/>
            <a:ext cx="3576218" cy="2514600"/>
          </a:xfrm>
          <a:prstGeom prst="roundRect">
            <a:avLst>
              <a:gd name="adj" fmla="val 2909"/>
            </a:avLst>
          </a:prstGeom>
          <a:solidFill>
            <a:srgbClr val="E3EFF4"/>
          </a:solidFill>
          <a:ln w="12700">
            <a:solidFill>
              <a:srgbClr val="E3EFF4"/>
            </a:solidFill>
            <a:prstDash val="solid"/>
          </a:ln>
        </p:spPr>
      </p:sp>
      <p:sp>
        <p:nvSpPr>
          <p:cNvPr id="58" name="Text 48"/>
          <p:cNvSpPr txBox="1"/>
          <p:nvPr/>
        </p:nvSpPr>
        <p:spPr>
          <a:xfrm>
            <a:off x="8295437" y="3566160"/>
            <a:ext cx="3210458" cy="320040"/>
          </a:xfrm>
          <a:prstGeom prst="rect">
            <a:avLst/>
          </a:prstGeom>
          <a:noFill/>
          <a:ln/>
        </p:spPr>
        <p:txBody>
          <a:bodyPr wrap="square" lIns="0" tIns="0" rIns="0" bIns="0" rtlCol="0" anchor="t"/>
          <a:lstStyle/>
          <a:p>
            <a:pPr indent="0" marL="0">
              <a:buNone/>
            </a:pPr>
            <a:r>
              <a:rPr lang="en-US" sz="1400" b="1" dirty="0">
                <a:solidFill>
                  <a:srgbClr val="1F5F7A"/>
                </a:solidFill>
                <a:latin typeface="맑은 고딕" pitchFamily="34" charset="0"/>
                <a:ea typeface="맑은 고딕" pitchFamily="34" charset="-122"/>
                <a:cs typeface="맑은 고딕" pitchFamily="34" charset="-120"/>
              </a:rPr>
              <a:t>고객이 아끼는 비용</a:t>
            </a:r>
            <a:endParaRPr lang="en-US" sz="1400" dirty="0"/>
          </a:p>
        </p:txBody>
      </p:sp>
      <p:sp>
        <p:nvSpPr>
          <p:cNvPr id="59" name="Shape 49"/>
          <p:cNvSpPr/>
          <p:nvPr/>
        </p:nvSpPr>
        <p:spPr>
          <a:xfrm>
            <a:off x="8295437" y="4014216"/>
            <a:ext cx="402336" cy="402336"/>
          </a:xfrm>
          <a:prstGeom prst="ellipse">
            <a:avLst/>
          </a:prstGeom>
          <a:solidFill>
            <a:srgbClr val="1F5F7A"/>
          </a:solidFill>
          <a:ln w="12700">
            <a:solidFill>
              <a:srgbClr val="1F5F7A"/>
            </a:solidFill>
            <a:prstDash val="solid"/>
          </a:ln>
        </p:spPr>
      </p:sp>
      <p:pic>
        <p:nvPicPr>
          <p:cNvPr id="60" name="Image 8" descr="preencoded.png">    </p:cNvPr>
          <p:cNvPicPr>
            <a:picLocks noChangeAspect="1"/>
          </p:cNvPicPr>
          <p:nvPr/>
        </p:nvPicPr>
        <p:blipFill>
          <a:blip r:embed="rId9"/>
          <a:stretch>
            <a:fillRect/>
          </a:stretch>
        </p:blipFill>
        <p:spPr>
          <a:xfrm>
            <a:off x="8400044" y="4118823"/>
            <a:ext cx="193121" cy="193121"/>
          </a:xfrm>
          <a:prstGeom prst="rect">
            <a:avLst/>
          </a:prstGeom>
        </p:spPr>
      </p:pic>
      <p:sp>
        <p:nvSpPr>
          <p:cNvPr id="61" name="Text 50"/>
          <p:cNvSpPr txBox="1"/>
          <p:nvPr/>
        </p:nvSpPr>
        <p:spPr>
          <a:xfrm>
            <a:off x="8816645" y="3995928"/>
            <a:ext cx="2661818" cy="256032"/>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선박 용선 · 기상 대기</a:t>
            </a:r>
            <a:endParaRPr lang="en-US" sz="1300" dirty="0"/>
          </a:p>
        </p:txBody>
      </p:sp>
      <p:sp>
        <p:nvSpPr>
          <p:cNvPr id="62" name="Text 51"/>
          <p:cNvSpPr txBox="1"/>
          <p:nvPr/>
        </p:nvSpPr>
        <p:spPr>
          <a:xfrm>
            <a:off x="8816645" y="4251960"/>
            <a:ext cx="2661818" cy="237744"/>
          </a:xfrm>
          <a:prstGeom prst="rect">
            <a:avLst/>
          </a:prstGeom>
          <a:noFill/>
          <a:ln/>
        </p:spPr>
        <p:txBody>
          <a:bodyPr wrap="square" lIns="0" tIns="0" rIns="0" bIns="0" rtlCol="0" anchor="t"/>
          <a:lstStyle/>
          <a:p>
            <a:pPr indent="0" marL="0">
              <a:buNone/>
            </a:pPr>
            <a:r>
              <a:rPr lang="en-US" sz="1050" dirty="0">
                <a:solidFill>
                  <a:srgbClr val="6B6F76"/>
                </a:solidFill>
                <a:latin typeface="맑은 고딕" pitchFamily="34" charset="0"/>
                <a:ea typeface="맑은 고딕" pitchFamily="34" charset="-122"/>
                <a:cs typeface="맑은 고딕" pitchFamily="34" charset="-120"/>
              </a:rPr>
              <a:t>위험 지점부터 배 투입</a:t>
            </a:r>
            <a:endParaRPr lang="en-US" sz="1050" dirty="0"/>
          </a:p>
        </p:txBody>
      </p:sp>
      <p:sp>
        <p:nvSpPr>
          <p:cNvPr id="63" name="Shape 52"/>
          <p:cNvSpPr/>
          <p:nvPr/>
        </p:nvSpPr>
        <p:spPr>
          <a:xfrm>
            <a:off x="8295437" y="4581144"/>
            <a:ext cx="402336" cy="402336"/>
          </a:xfrm>
          <a:prstGeom prst="ellipse">
            <a:avLst/>
          </a:prstGeom>
          <a:solidFill>
            <a:srgbClr val="1F5F7A"/>
          </a:solidFill>
          <a:ln w="12700">
            <a:solidFill>
              <a:srgbClr val="1F5F7A"/>
            </a:solidFill>
            <a:prstDash val="solid"/>
          </a:ln>
        </p:spPr>
      </p:sp>
      <p:pic>
        <p:nvPicPr>
          <p:cNvPr id="64" name="Image 9" descr="preencoded.png">    </p:cNvPr>
          <p:cNvPicPr>
            <a:picLocks noChangeAspect="1"/>
          </p:cNvPicPr>
          <p:nvPr/>
        </p:nvPicPr>
        <p:blipFill>
          <a:blip r:embed="rId10"/>
          <a:stretch>
            <a:fillRect/>
          </a:stretch>
        </p:blipFill>
        <p:spPr>
          <a:xfrm>
            <a:off x="8400044" y="4685751"/>
            <a:ext cx="193121" cy="193121"/>
          </a:xfrm>
          <a:prstGeom prst="rect">
            <a:avLst/>
          </a:prstGeom>
        </p:spPr>
      </p:pic>
      <p:sp>
        <p:nvSpPr>
          <p:cNvPr id="65" name="Text 53"/>
          <p:cNvSpPr txBox="1"/>
          <p:nvPr/>
        </p:nvSpPr>
        <p:spPr>
          <a:xfrm>
            <a:off x="8816645" y="4562856"/>
            <a:ext cx="2661818" cy="256032"/>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리프트 · 로프 액세스</a:t>
            </a:r>
            <a:endParaRPr lang="en-US" sz="1300" dirty="0"/>
          </a:p>
        </p:txBody>
      </p:sp>
      <p:sp>
        <p:nvSpPr>
          <p:cNvPr id="66" name="Text 54"/>
          <p:cNvSpPr txBox="1"/>
          <p:nvPr/>
        </p:nvSpPr>
        <p:spPr>
          <a:xfrm>
            <a:off x="8816645" y="4818888"/>
            <a:ext cx="2661818" cy="237744"/>
          </a:xfrm>
          <a:prstGeom prst="rect">
            <a:avLst/>
          </a:prstGeom>
          <a:noFill/>
          <a:ln/>
        </p:spPr>
        <p:txBody>
          <a:bodyPr wrap="square" lIns="0" tIns="0" rIns="0" bIns="0" rtlCol="0" anchor="t"/>
          <a:lstStyle/>
          <a:p>
            <a:pPr indent="0" marL="0">
              <a:buNone/>
            </a:pPr>
            <a:r>
              <a:rPr lang="en-US" sz="1050" dirty="0">
                <a:solidFill>
                  <a:srgbClr val="6B6F76"/>
                </a:solidFill>
                <a:latin typeface="맑은 고딕" pitchFamily="34" charset="0"/>
                <a:ea typeface="맑은 고딕" pitchFamily="34" charset="-122"/>
                <a:cs typeface="맑은 고딕" pitchFamily="34" charset="-120"/>
              </a:rPr>
              <a:t>필요한 구간만 · 출동 여부 사전 판단</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3860</TotalTime>
  <Words>1492</Words>
  <Application>Microsoft Office PowerPoint</Application>
  <PresentationFormat>와이드스크린</PresentationFormat>
  <Paragraphs>237</Paragraphs>
  <Slides>11</Slides>
  <Notes>11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vt:i4>
      </vt:variant>
    </vt:vector>
  </HeadingPairs>
  <TitlesOfParts>
    <vt:vector size="15"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MLC — A-STREAM 2026 IR Pitch</dc:title>
  <dc:subject>PptxGenJS Presentation</dc:subject>
  <dc:creator>MLC (우성훈, 박준범)</dc:creator>
  <cp:lastModifiedBy>우성훈</cp:lastModifiedBy>
  <cp:revision>7</cp:revision>
  <dcterms:created xsi:type="dcterms:W3CDTF">2026-10-06T01:17:14Z</dcterms:created>
  <dcterms:modified xsi:type="dcterms:W3CDTF">2026-10-16T02:22:40Z</dcterms:modified>
</cp:coreProperties>
</file>