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4"/>
    <p:sldId id="257" r:id="rId5"/>
    <p:sldId id="259" r:id="rId6"/>
    <p:sldId id="260" r:id="rId7"/>
    <p:sldId id="261" r:id="rId8"/>
    <p:sldId id="263" r:id="rId9"/>
    <p:sldId id="262" r:id="rId10"/>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76" y="1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국제 부식 학회인 AMPP가 2025년에도 공식적으로 인용하는 수치입니다.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 연간 3,750억에서 8,750억 달러를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28초]</a:t>
            </a:r>
          </a:p>
          <a:p>
            <a:r>
              <a:rPr lang="en-US" dirty="0"/>
              <a:t>특히 해양 구조물이 그렇습니다. 파도가 치는 비말대는 부식이 가장 빠른 곳인데, 로프 액세스나 잠수, ROV 없이는 볼 수가 없습니다. 지금은 상태와 상관없이 모든 지점을 똑같이 돌고, 검사 인력과 장비 비용에 더해 배를 빌리고 날씨를 기다리고 리프트를 빌리는 비용까지 매번 듭니다.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40초]</a:t>
            </a:r>
          </a:p>
          <a:p>
            <a:r>
              <a:rPr lang="en-US" dirty="0"/>
              <a:t>저희는 올해 7월 Tex-Corps 프로그램으로 미국에서 35명을 인터뷰했습니다. 처음 가설은 '검사원마다 판단이 달라 보정 도구가 필요하다'였는데, 현장 인력 11명 모두 아니라고 했습니다. 매뉴얼과 인증 시험으로 이미 해결된 문제였습니다. 대신 Williams의 한 관리자가 방향을 제시했습니다. 접근하기 어려운 곳을 드론으로 먼저 훑어서 정말 가까이 봐야 할 곳만 알려 주면 시간과 비용이 줄어든다는 것입니다. 이후 현장 인력 11명 중 10명이 여기에 공감했고, 의사결정권자 5명 모두 관심을 보이며 파일럿 조건까지 이야기했습니다.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32초]</a:t>
            </a:r>
          </a:p>
          <a:p>
            <a:r>
              <a:rPr lang="en-US" dirty="0"/>
              <a:t>MLC는 이렇게 작동합니다. 드론이나 카메라로 접근이 어려운 구간을 먼저 찍고, 녹이 있는 부분만 자동으로 골라낸 뒤, 그 녹의 색으로 위험도를 높음, 중간, 낮음으로 판정합니다. 마지막으로 구조물 사진 위에 위험한 지점부터 번호를 매긴 지도를 드립니다. 시편을 자르지 않고 사진 한 장으로 판정한다는 점, 그리고 규제 주기는 그대로 지키면서 사람과 배와 리프트를 위험한 곳에 먼저 보낼 수 있다는 점이 차별점입니다.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핵심 기술은 실험실에서 검증했습니다. 탄소강을 240시간 촉진부식 시키며 측정했습니다. 보시는 것처럼 표면의 녹 색이 변하면서 색 좌표 b* 값이 1.7에서 13.1로 커지고, 같은 기간 실제 부식 속도는 연 0.34mm에서 1.45mm로 약 4배 빨라졌습니다. 색과 부식 속도의 순위 상관계수는 0.88이고, 위험도 세 구간의 부식 속도는 서로 겹치지 않습니다.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이 시장은 규제가 반복 수요를 만듭니다. 미국 해양 플랫폼은 매년, 3~5년, 6~10년 주기로 점검이 의무입니다. 인터뷰에서 확인한 구매 동기는 안전, 비용, 규제와 보험 대응 세 가지였습니다. MLC는 그중 비용에서 바로 효과를 냅니다. 위험한 지점부터 배를 보내 선박 용선과 기상 대기 일수를 줄이고, 필요한 구간에만 리프트와 비계를 빌리고, 로프 액세스 팀을 보낼지 미리 판단하고, 점검 기록도 사진 리포트로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비즈니스 모델입니다. 드론 운용사와 방식 전문 업체가 현장 촬영 데이터를 가져오고 고객을 소개하면, MLC가 위험도를 분석해 해양 석유·가스 운영사에 점검 우선순위 리포트를 드립니다. 요금은 점검 건당 또는 구독형입니다. 고객사 안에서는 현장 검사원이 쓰고, 부식 엔지니어링 매니저가 추천하고, 대표가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먼저 사진이 볼 수 없는 두께 감소를 보완하기 위해 두께 측정 데이터와 결합하고, 선박 일수와 리프트 임대처럼 실제 절감액을 숫자로 만들고,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image" Target="../media/v8_s5_image-1-1.png"/><Relationship Id="rId2" Type="http://schemas.openxmlformats.org/officeDocument/2006/relationships/image" Target="../media/v8_s5_image-1-2.png"/><Relationship Id="rId3" Type="http://schemas.openxmlformats.org/officeDocument/2006/relationships/image" Target="../media/v8_s5_image-1-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8.png"/><Relationship Id="rId4" Type="http://schemas.openxmlformats.org/officeDocument/2006/relationships/image" Target="../media/image15.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4.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3.png"/><Relationship Id="rId4" Type="http://schemas.openxmlformats.org/officeDocument/2006/relationships/image" Target="../media/image3.png"/><Relationship Id="rId9"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994835"/>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2269155"/>
            <a:ext cx="1920240" cy="2468880"/>
          </a:xfrm>
          <a:prstGeom prst="rect">
            <a:avLst/>
          </a:prstGeom>
        </p:spPr>
      </p:pic>
      <p:sp>
        <p:nvSpPr>
          <p:cNvPr id="8" name="Text 5"/>
          <p:cNvSpPr txBox="1"/>
          <p:nvPr/>
        </p:nvSpPr>
        <p:spPr>
          <a:xfrm>
            <a:off x="3017520" y="2406315"/>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909235"/>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3320715"/>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994835"/>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2269155"/>
            <a:ext cx="1919930" cy="2468880"/>
          </a:xfrm>
          <a:prstGeom prst="rect">
            <a:avLst/>
          </a:prstGeom>
        </p:spPr>
      </p:pic>
      <p:sp>
        <p:nvSpPr>
          <p:cNvPr id="14" name="Text 10"/>
          <p:cNvSpPr txBox="1"/>
          <p:nvPr/>
        </p:nvSpPr>
        <p:spPr>
          <a:xfrm>
            <a:off x="8759642" y="2406315"/>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909235"/>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3320715"/>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
        <p:nvSpPr>
          <p:cNvPr id="6" name="Shape 4"/>
          <p:cNvSpPr/>
          <p:nvPr/>
        </p:nvSpPr>
        <p:spPr>
          <a:xfrm>
            <a:off x="548640" y="1691640"/>
            <a:ext cx="3291840" cy="3246120"/>
          </a:xfrm>
          <a:prstGeom prst="roundRect">
            <a:avLst>
              <a:gd name="adj" fmla="val 2254"/>
            </a:avLst>
          </a:prstGeom>
          <a:solidFill>
            <a:srgbClr val="FFFFFF"/>
          </a:solidFill>
          <a:ln w="12700">
            <a:solidFill>
              <a:srgbClr val="D9DCE0"/>
            </a:solidFill>
            <a:prstDash val="solid"/>
          </a:ln>
        </p:spPr>
      </p:sp>
      <p:sp>
        <p:nvSpPr>
          <p:cNvPr id="7" name="Shape 5"/>
          <p:cNvSpPr/>
          <p:nvPr/>
        </p:nvSpPr>
        <p:spPr>
          <a:xfrm>
            <a:off x="1005840" y="1472184"/>
            <a:ext cx="2377440" cy="438912"/>
          </a:xfrm>
          <a:prstGeom prst="roundRect">
            <a:avLst>
              <a:gd name="adj" fmla="val 50000"/>
            </a:avLst>
          </a:prstGeom>
          <a:solidFill>
            <a:srgbClr val="B5501F"/>
          </a:solidFill>
          <a:ln w="12700">
            <a:solidFill>
              <a:srgbClr val="B5501F"/>
            </a:solidFill>
            <a:prstDash val="solid"/>
          </a:ln>
        </p:spPr>
      </p:sp>
      <p:sp>
        <p:nvSpPr>
          <p:cNvPr id="8" name="Text 6"/>
          <p:cNvSpPr txBox="1"/>
          <p:nvPr/>
        </p:nvSpPr>
        <p:spPr>
          <a:xfrm>
            <a:off x="1005840"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경제적 손실</a:t>
            </a:r>
            <a:endParaRPr lang="en-US" sz="1500" dirty="0"/>
          </a:p>
        </p:txBody>
      </p:sp>
      <p:sp>
        <p:nvSpPr>
          <p:cNvPr id="9" name="Shape 7"/>
          <p:cNvSpPr/>
          <p:nvPr/>
        </p:nvSpPr>
        <p:spPr>
          <a:xfrm>
            <a:off x="1847088" y="2103120"/>
            <a:ext cx="694944" cy="694944"/>
          </a:xfrm>
          <a:prstGeom prst="ellipse">
            <a:avLst/>
          </a:prstGeom>
          <a:solidFill>
            <a:srgbClr val="B5501F"/>
          </a:solidFill>
          <a:ln w="12700">
            <a:solidFill>
              <a:srgbClr val="B5501F"/>
            </a:solidFill>
            <a:prstDash val="solid"/>
          </a:ln>
        </p:spPr>
      </p:sp>
      <p:pic>
        <p:nvPicPr>
          <p:cNvPr id="10" name="Image 0" descr="preencoded.png"/>
          <p:cNvPicPr>
            <a:picLocks noChangeAspect="1"/>
          </p:cNvPicPr>
          <p:nvPr/>
        </p:nvPicPr>
        <p:blipFill>
          <a:blip r:embed="rId3"/>
          <a:stretch>
            <a:fillRect/>
          </a:stretch>
        </p:blipFill>
        <p:spPr>
          <a:xfrm>
            <a:off x="2027773" y="2283805"/>
            <a:ext cx="333573" cy="333573"/>
          </a:xfrm>
          <a:prstGeom prst="rect">
            <a:avLst/>
          </a:prstGeom>
        </p:spPr>
      </p:pic>
      <p:sp>
        <p:nvSpPr>
          <p:cNvPr id="11" name="Text 8"/>
          <p:cNvSpPr txBox="1"/>
          <p:nvPr/>
        </p:nvSpPr>
        <p:spPr>
          <a:xfrm>
            <a:off x="731520" y="2898648"/>
            <a:ext cx="2926080" cy="292608"/>
          </a:xfrm>
          <a:prstGeom prst="rect">
            <a:avLst/>
          </a:prstGeom>
          <a:noFill/>
          <a:ln/>
        </p:spPr>
        <p:txBody>
          <a:bodyPr wrap="square" lIns="0" tIns="0" rIns="0" bIns="0" rtlCol="0" anchor="t"/>
          <a:lstStyle/>
          <a:p>
            <a:pPr marL="0" indent="0" algn="ctr">
              <a:buNone/>
            </a:pPr>
            <a:r>
              <a:rPr lang="en-US" sz="1350" b="1" dirty="0">
                <a:solidFill>
                  <a:srgbClr val="B5501F"/>
                </a:solidFill>
                <a:latin typeface="맑은 고딕" pitchFamily="34" charset="0"/>
                <a:ea typeface="맑은 고딕" pitchFamily="34" charset="-122"/>
                <a:cs typeface="맑은 고딕" pitchFamily="34" charset="-120"/>
              </a:rPr>
              <a:t>연간 전 세계 부식 비용</a:t>
            </a:r>
            <a:endParaRPr lang="en-US" sz="1350" dirty="0"/>
          </a:p>
        </p:txBody>
      </p:sp>
      <p:sp>
        <p:nvSpPr>
          <p:cNvPr id="12" name="Text 9"/>
          <p:cNvSpPr txBox="1"/>
          <p:nvPr/>
        </p:nvSpPr>
        <p:spPr>
          <a:xfrm>
            <a:off x="731520" y="3172968"/>
            <a:ext cx="2926080" cy="685800"/>
          </a:xfrm>
          <a:prstGeom prst="rect">
            <a:avLst/>
          </a:prstGeom>
          <a:noFill/>
          <a:ln/>
        </p:spPr>
        <p:txBody>
          <a:bodyPr wrap="square" lIns="0" tIns="0" rIns="0" bIns="0" rtlCol="0" anchor="ctr"/>
          <a:lstStyle/>
          <a:p>
            <a:pPr marL="0" indent="0" algn="ctr">
              <a:buNone/>
            </a:pPr>
            <a:r>
              <a:rPr lang="en-US" sz="3600" b="1" dirty="0">
                <a:solidFill>
                  <a:srgbClr val="B5501F"/>
                </a:solidFill>
                <a:latin typeface="맑은 고딕" pitchFamily="34" charset="0"/>
                <a:ea typeface="맑은 고딕" pitchFamily="34" charset="-122"/>
                <a:cs typeface="맑은 고딕" pitchFamily="34" charset="-120"/>
              </a:rPr>
              <a:t>US$ 2.5조</a:t>
            </a:r>
            <a:endParaRPr lang="en-US" sz="3600" dirty="0"/>
          </a:p>
        </p:txBody>
      </p:sp>
      <p:sp>
        <p:nvSpPr>
          <p:cNvPr id="13" name="Text 10"/>
          <p:cNvSpPr txBox="1"/>
          <p:nvPr/>
        </p:nvSpPr>
        <p:spPr>
          <a:xfrm>
            <a:off x="777240"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세계 GDP의 약 3.4%</a:t>
            </a:r>
            <a:endParaRPr lang="en-US" sz="1250" dirty="0"/>
          </a:p>
        </p:txBody>
      </p:sp>
      <p:pic>
        <p:nvPicPr>
          <p:cNvPr id="15" name="Image 1" descr="preencoded.png"/>
          <p:cNvPicPr>
            <a:picLocks noChangeAspect="1"/>
          </p:cNvPicPr>
          <p:nvPr/>
        </p:nvPicPr>
        <p:blipFill>
          <a:blip r:embed="rId4"/>
          <a:stretch>
            <a:fillRect/>
          </a:stretch>
        </p:blipFill>
        <p:spPr>
          <a:xfrm>
            <a:off x="4008044" y="3177540"/>
            <a:ext cx="274320" cy="274320"/>
          </a:xfrm>
          <a:prstGeom prst="rect">
            <a:avLst/>
          </a:prstGeom>
        </p:spPr>
      </p:pic>
      <p:sp>
        <p:nvSpPr>
          <p:cNvPr id="16" name="Shape 12"/>
          <p:cNvSpPr/>
          <p:nvPr/>
        </p:nvSpPr>
        <p:spPr>
          <a:xfrm>
            <a:off x="4449928" y="1691640"/>
            <a:ext cx="3291840" cy="3246120"/>
          </a:xfrm>
          <a:prstGeom prst="roundRect">
            <a:avLst>
              <a:gd name="adj" fmla="val 2254"/>
            </a:avLst>
          </a:prstGeom>
          <a:solidFill>
            <a:srgbClr val="FFFFFF"/>
          </a:solidFill>
          <a:ln w="12700">
            <a:solidFill>
              <a:srgbClr val="D9DCE0"/>
            </a:solidFill>
            <a:prstDash val="solid"/>
          </a:ln>
        </p:spPr>
      </p:sp>
      <p:sp>
        <p:nvSpPr>
          <p:cNvPr id="17" name="Shape 13"/>
          <p:cNvSpPr/>
          <p:nvPr/>
        </p:nvSpPr>
        <p:spPr>
          <a:xfrm>
            <a:off x="4907128" y="1472184"/>
            <a:ext cx="2377440" cy="438912"/>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4907128"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탄소 배출</a:t>
            </a:r>
            <a:endParaRPr lang="en-US" sz="1500" dirty="0"/>
          </a:p>
        </p:txBody>
      </p:sp>
      <p:sp>
        <p:nvSpPr>
          <p:cNvPr id="19" name="Shape 15"/>
          <p:cNvSpPr/>
          <p:nvPr/>
        </p:nvSpPr>
        <p:spPr>
          <a:xfrm>
            <a:off x="5748376" y="2103120"/>
            <a:ext cx="694944" cy="694944"/>
          </a:xfrm>
          <a:prstGeom prst="ellipse">
            <a:avLst/>
          </a:prstGeom>
          <a:solidFill>
            <a:srgbClr val="1F5F7A"/>
          </a:solidFill>
          <a:ln w="12700">
            <a:solidFill>
              <a:srgbClr val="1F5F7A"/>
            </a:solidFill>
            <a:prstDash val="solid"/>
          </a:ln>
        </p:spPr>
      </p:sp>
      <p:pic>
        <p:nvPicPr>
          <p:cNvPr id="20" name="Image 2" descr="preencoded.png"/>
          <p:cNvPicPr>
            <a:picLocks noChangeAspect="1"/>
          </p:cNvPicPr>
          <p:nvPr/>
        </p:nvPicPr>
        <p:blipFill>
          <a:blip r:embed="rId5"/>
          <a:stretch>
            <a:fillRect/>
          </a:stretch>
        </p:blipFill>
        <p:spPr>
          <a:xfrm>
            <a:off x="5929061" y="2283805"/>
            <a:ext cx="333573" cy="333573"/>
          </a:xfrm>
          <a:prstGeom prst="rect">
            <a:avLst/>
          </a:prstGeom>
        </p:spPr>
      </p:pic>
      <p:sp>
        <p:nvSpPr>
          <p:cNvPr id="21" name="Text 16"/>
          <p:cNvSpPr txBox="1"/>
          <p:nvPr/>
        </p:nvSpPr>
        <p:spPr>
          <a:xfrm>
            <a:off x="4632808" y="2898648"/>
            <a:ext cx="2926080" cy="292608"/>
          </a:xfrm>
          <a:prstGeom prst="rect">
            <a:avLst/>
          </a:prstGeom>
          <a:noFill/>
          <a:ln/>
        </p:spPr>
        <p:txBody>
          <a:bodyPr wrap="square" lIns="0" tIns="0" rIns="0" bIns="0" rtlCol="0" anchor="t"/>
          <a:lstStyle/>
          <a:p>
            <a:pPr marL="0" indent="0" algn="ctr">
              <a:buNone/>
            </a:pPr>
            <a:r>
              <a:rPr lang="en-US" sz="1350" b="1" dirty="0">
                <a:solidFill>
                  <a:srgbClr val="1F5F7A"/>
                </a:solidFill>
                <a:latin typeface="맑은 고딕" pitchFamily="34" charset="0"/>
                <a:ea typeface="맑은 고딕" pitchFamily="34" charset="-122"/>
                <a:cs typeface="맑은 고딕" pitchFamily="34" charset="-120"/>
              </a:rPr>
              <a:t>부식 강재 교체용 제강</a:t>
            </a:r>
            <a:endParaRPr lang="en-US" sz="1350" dirty="0"/>
          </a:p>
        </p:txBody>
      </p:sp>
      <p:sp>
        <p:nvSpPr>
          <p:cNvPr id="22" name="Text 17"/>
          <p:cNvSpPr txBox="1"/>
          <p:nvPr/>
        </p:nvSpPr>
        <p:spPr>
          <a:xfrm>
            <a:off x="4632808" y="3172968"/>
            <a:ext cx="2926080" cy="685800"/>
          </a:xfrm>
          <a:prstGeom prst="rect">
            <a:avLst/>
          </a:prstGeom>
          <a:noFill/>
          <a:ln/>
        </p:spPr>
        <p:txBody>
          <a:bodyPr wrap="square" lIns="0" tIns="0" rIns="0" bIns="0" rtlCol="0" anchor="ctr"/>
          <a:lstStyle/>
          <a:p>
            <a:pPr marL="0" indent="0" algn="ctr">
              <a:buNone/>
            </a:pPr>
            <a:r>
              <a:rPr lang="en-US" sz="3600" b="1" dirty="0">
                <a:solidFill>
                  <a:srgbClr val="1F5F7A"/>
                </a:solidFill>
                <a:latin typeface="맑은 고딕" pitchFamily="34" charset="0"/>
                <a:ea typeface="맑은 고딕" pitchFamily="34" charset="-122"/>
                <a:cs typeface="맑은 고딕" pitchFamily="34" charset="-120"/>
              </a:rPr>
              <a:t>1.6–3.4%</a:t>
            </a:r>
            <a:endParaRPr lang="en-US" sz="3600" dirty="0"/>
          </a:p>
        </p:txBody>
      </p:sp>
      <p:sp>
        <p:nvSpPr>
          <p:cNvPr id="23" name="Text 18"/>
          <p:cNvSpPr txBox="1"/>
          <p:nvPr/>
        </p:nvSpPr>
        <p:spPr>
          <a:xfrm>
            <a:off x="4678528"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전 세계 CO₂ 배출 중 비중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2030년 4.1–9.1% 전망</a:t>
            </a:r>
            <a:endParaRPr lang="en-US" sz="1250" dirty="0"/>
          </a:p>
        </p:txBody>
      </p:sp>
      <p:pic>
        <p:nvPicPr>
          <p:cNvPr id="25" name="Image 3" descr="preencoded.png"/>
          <p:cNvPicPr>
            <a:picLocks noChangeAspect="1"/>
          </p:cNvPicPr>
          <p:nvPr/>
        </p:nvPicPr>
        <p:blipFill>
          <a:blip r:embed="rId4"/>
          <a:stretch>
            <a:fillRect/>
          </a:stretch>
        </p:blipFill>
        <p:spPr>
          <a:xfrm>
            <a:off x="7909331" y="3177540"/>
            <a:ext cx="274320" cy="274320"/>
          </a:xfrm>
          <a:prstGeom prst="rect">
            <a:avLst/>
          </a:prstGeom>
        </p:spPr>
      </p:pic>
      <p:sp>
        <p:nvSpPr>
          <p:cNvPr id="26" name="Shape 20"/>
          <p:cNvSpPr/>
          <p:nvPr/>
        </p:nvSpPr>
        <p:spPr>
          <a:xfrm>
            <a:off x="8351215" y="1691640"/>
            <a:ext cx="3291840" cy="3246120"/>
          </a:xfrm>
          <a:prstGeom prst="roundRect">
            <a:avLst>
              <a:gd name="adj" fmla="val 2254"/>
            </a:avLst>
          </a:prstGeom>
          <a:solidFill>
            <a:srgbClr val="FFFFFF"/>
          </a:solidFill>
          <a:ln w="12700">
            <a:solidFill>
              <a:srgbClr val="D9DCE0"/>
            </a:solidFill>
            <a:prstDash val="solid"/>
          </a:ln>
        </p:spPr>
      </p:sp>
      <p:sp>
        <p:nvSpPr>
          <p:cNvPr id="27" name="Shape 21"/>
          <p:cNvSpPr/>
          <p:nvPr/>
        </p:nvSpPr>
        <p:spPr>
          <a:xfrm>
            <a:off x="8808415" y="1472184"/>
            <a:ext cx="2377440" cy="438912"/>
          </a:xfrm>
          <a:prstGeom prst="roundRect">
            <a:avLst>
              <a:gd name="adj" fmla="val 50000"/>
            </a:avLst>
          </a:prstGeom>
          <a:solidFill>
            <a:srgbClr val="2B2D31"/>
          </a:solidFill>
          <a:ln w="12700">
            <a:solidFill>
              <a:srgbClr val="2B2D31"/>
            </a:solidFill>
            <a:prstDash val="solid"/>
          </a:ln>
        </p:spPr>
      </p:sp>
      <p:sp>
        <p:nvSpPr>
          <p:cNvPr id="28" name="Text 22"/>
          <p:cNvSpPr txBox="1"/>
          <p:nvPr/>
        </p:nvSpPr>
        <p:spPr>
          <a:xfrm>
            <a:off x="8808415"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자원 낭비</a:t>
            </a:r>
            <a:endParaRPr lang="en-US" sz="1500" dirty="0"/>
          </a:p>
        </p:txBody>
      </p:sp>
      <p:sp>
        <p:nvSpPr>
          <p:cNvPr id="29" name="Shape 23"/>
          <p:cNvSpPr/>
          <p:nvPr/>
        </p:nvSpPr>
        <p:spPr>
          <a:xfrm>
            <a:off x="9649663" y="2103120"/>
            <a:ext cx="694944" cy="694944"/>
          </a:xfrm>
          <a:prstGeom prst="ellipse">
            <a:avLst/>
          </a:prstGeom>
          <a:solidFill>
            <a:srgbClr val="2B2D31"/>
          </a:solidFill>
          <a:ln w="12700">
            <a:solidFill>
              <a:srgbClr val="2B2D31"/>
            </a:solidFill>
            <a:prstDash val="solid"/>
          </a:ln>
        </p:spPr>
      </p:sp>
      <p:pic>
        <p:nvPicPr>
          <p:cNvPr id="30" name="Image 4" descr="preencoded.png"/>
          <p:cNvPicPr>
            <a:picLocks noChangeAspect="1"/>
          </p:cNvPicPr>
          <p:nvPr/>
        </p:nvPicPr>
        <p:blipFill>
          <a:blip r:embed="rId6"/>
          <a:stretch>
            <a:fillRect/>
          </a:stretch>
        </p:blipFill>
        <p:spPr>
          <a:xfrm>
            <a:off x="9830349" y="2283805"/>
            <a:ext cx="333573" cy="333573"/>
          </a:xfrm>
          <a:prstGeom prst="rect">
            <a:avLst/>
          </a:prstGeom>
        </p:spPr>
      </p:pic>
      <p:sp>
        <p:nvSpPr>
          <p:cNvPr id="31" name="Text 24"/>
          <p:cNvSpPr txBox="1"/>
          <p:nvPr/>
        </p:nvSpPr>
        <p:spPr>
          <a:xfrm>
            <a:off x="8534095" y="2898648"/>
            <a:ext cx="2926080" cy="292608"/>
          </a:xfrm>
          <a:prstGeom prst="rect">
            <a:avLst/>
          </a:prstGeom>
          <a:noFill/>
          <a:ln/>
        </p:spPr>
        <p:txBody>
          <a:bodyPr wrap="square" lIns="0" tIns="0" rIns="0" bIns="0" rtlCol="0" anchor="t"/>
          <a:lstStyle/>
          <a:p>
            <a:pPr marL="0" indent="0" algn="ctr">
              <a:buNone/>
            </a:pPr>
            <a:r>
              <a:rPr lang="en-US" sz="1350" b="1" dirty="0">
                <a:solidFill>
                  <a:srgbClr val="2B2D31"/>
                </a:solidFill>
                <a:latin typeface="맑은 고딕" pitchFamily="34" charset="0"/>
                <a:ea typeface="맑은 고딕" pitchFamily="34" charset="-122"/>
                <a:cs typeface="맑은 고딕" pitchFamily="34" charset="-120"/>
              </a:rPr>
              <a:t>부식 손실 보충</a:t>
            </a:r>
            <a:endParaRPr lang="en-US" sz="1350" dirty="0"/>
          </a:p>
        </p:txBody>
      </p:sp>
      <p:sp>
        <p:nvSpPr>
          <p:cNvPr id="32" name="Text 25"/>
          <p:cNvSpPr txBox="1"/>
          <p:nvPr/>
        </p:nvSpPr>
        <p:spPr>
          <a:xfrm>
            <a:off x="8534095" y="3172968"/>
            <a:ext cx="2926080" cy="685800"/>
          </a:xfrm>
          <a:prstGeom prst="rect">
            <a:avLst/>
          </a:prstGeom>
          <a:noFill/>
          <a:ln/>
        </p:spPr>
        <p:txBody>
          <a:bodyPr wrap="square" lIns="0" tIns="0" rIns="0" bIns="0" rtlCol="0" anchor="ctr"/>
          <a:lstStyle/>
          <a:p>
            <a:pPr marL="0" indent="0" algn="ctr">
              <a:buNone/>
            </a:pPr>
            <a:r>
              <a:rPr lang="en-US" sz="3600" b="1" dirty="0">
                <a:solidFill>
                  <a:srgbClr val="2B2D31"/>
                </a:solidFill>
                <a:latin typeface="맑은 고딕" pitchFamily="34" charset="0"/>
                <a:ea typeface="맑은 고딕" pitchFamily="34" charset="-122"/>
                <a:cs typeface="맑은 고딕" pitchFamily="34" charset="-120"/>
              </a:rPr>
              <a:t>25–33%</a:t>
            </a:r>
            <a:endParaRPr lang="en-US" sz="3600" dirty="0"/>
          </a:p>
        </p:txBody>
      </p:sp>
      <p:sp>
        <p:nvSpPr>
          <p:cNvPr id="33" name="Text 26"/>
          <p:cNvSpPr txBox="1"/>
          <p:nvPr/>
        </p:nvSpPr>
        <p:spPr>
          <a:xfrm>
            <a:off x="8579815"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매년 생산되는 철강 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부식 손실을 메우는 데 쓰이는 비율</a:t>
            </a:r>
            <a:endParaRPr lang="en-US" sz="1250" dirty="0"/>
          </a:p>
        </p:txBody>
      </p:sp>
      <p:sp>
        <p:nvSpPr>
          <p:cNvPr id="35" name="Shape 28"/>
          <p:cNvSpPr/>
          <p:nvPr/>
        </p:nvSpPr>
        <p:spPr>
          <a:xfrm>
            <a:off x="548640" y="5257800"/>
            <a:ext cx="11094415" cy="822960"/>
          </a:xfrm>
          <a:prstGeom prst="roundRect">
            <a:avLst>
              <a:gd name="adj" fmla="val 8889"/>
            </a:avLst>
          </a:prstGeom>
          <a:solidFill>
            <a:srgbClr val="1F2226"/>
          </a:solidFill>
          <a:ln w="12700">
            <a:solidFill>
              <a:srgbClr val="1F2226"/>
            </a:solidFill>
            <a:prstDash val="solid"/>
          </a:ln>
        </p:spPr>
      </p:sp>
      <p:sp>
        <p:nvSpPr>
          <p:cNvPr id="36" name="Text 29"/>
          <p:cNvSpPr txBox="1"/>
          <p:nvPr/>
        </p:nvSpPr>
        <p:spPr>
          <a:xfrm>
            <a:off x="914400" y="5257800"/>
            <a:ext cx="10362895" cy="822960"/>
          </a:xfrm>
          <a:prstGeom prst="rect">
            <a:avLst/>
          </a:prstGeom>
          <a:noFill/>
          <a:ln/>
        </p:spPr>
        <p:txBody>
          <a:bodyPr wrap="square" lIns="0" tIns="0" rIns="0" bIns="0" rtlCol="0" anchor="ctr"/>
          <a:lstStyle/>
          <a:p>
            <a:pPr marL="0" indent="0" algn="ctr">
              <a:buNone/>
            </a:pPr>
            <a:r>
              <a:rPr lang="en-US" sz="1900" dirty="0">
                <a:solidFill>
                  <a:srgbClr val="D5D7DA"/>
                </a:solidFill>
                <a:latin typeface="맑은 고딕" pitchFamily="34" charset="0"/>
                <a:ea typeface="맑은 고딕" pitchFamily="34" charset="-122"/>
                <a:cs typeface="맑은 고딕" pitchFamily="34" charset="-120"/>
              </a:rPr>
              <a:t>제때 찾아 관리하면 </a:t>
            </a:r>
            <a:r>
              <a:rPr lang="en-US" sz="1900" b="1" dirty="0">
                <a:solidFill>
                  <a:srgbClr val="E8A87C"/>
                </a:solidFill>
                <a:latin typeface="맑은 고딕" pitchFamily="34" charset="0"/>
                <a:ea typeface="맑은 고딕" pitchFamily="34" charset="-122"/>
                <a:cs typeface="맑은 고딕" pitchFamily="34" charset="-120"/>
              </a:rPr>
              <a:t>부식 비용의 15–35%</a:t>
            </a:r>
            <a:r>
              <a:rPr lang="en-US" sz="1900" b="1" dirty="0">
                <a:solidFill>
                  <a:srgbClr val="FFFFFF"/>
                </a:solidFill>
                <a:latin typeface="맑은 고딕" pitchFamily="34" charset="0"/>
                <a:ea typeface="맑은 고딕" pitchFamily="34" charset="-122"/>
                <a:cs typeface="맑은 고딕" pitchFamily="34" charset="-120"/>
              </a:rPr>
              <a:t> (연 US$ 3,750–8,750억)를 줄일 수 있습니다</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61848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94767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73405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306324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84962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검사 비용에 이동 · 대기 비용까지</a:t>
            </a:r>
            <a:endParaRPr lang="en-US" sz="1550" dirty="0"/>
          </a:p>
        </p:txBody>
      </p:sp>
      <p:sp>
        <p:nvSpPr>
          <p:cNvPr id="23" name="Text 17"/>
          <p:cNvSpPr txBox="1"/>
          <p:nvPr/>
        </p:nvSpPr>
        <p:spPr>
          <a:xfrm>
            <a:off x="6172200" y="417880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검사 인력 · 장비 + 선박 용선 · 기상 대기 · 리프트 임대</a:t>
            </a:r>
            <a:endParaRPr lang="en-US" sz="12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marL="0" indent="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CUSTOMER DISCOVERY</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고객 인터뷰로 바뀐 가설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Text 4"/>
          <p:cNvSpPr txBox="1"/>
          <p:nvPr/>
        </p:nvSpPr>
        <p:spPr>
          <a:xfrm>
            <a:off x="548640" y="1280160"/>
            <a:ext cx="5486400" cy="292608"/>
          </a:xfrm>
          <a:prstGeom prst="rect">
            <a:avLst/>
          </a:prstGeom>
          <a:noFill/>
          <a:ln/>
        </p:spPr>
        <p:txBody>
          <a:bodyPr wrap="square" lIns="0" tIns="0" rIns="0" bIns="0" rtlCol="0" anchor="t"/>
          <a:lstStyle/>
          <a:p>
            <a:pPr indent="0" marL="0">
              <a:buNone/>
            </a:pPr>
            <a:r>
              <a:rPr lang="en-US" sz="1300" dirty="0">
                <a:solidFill>
                  <a:srgbClr val="6B6F76"/>
                </a:solidFill>
                <a:latin typeface="맑은 고딕" pitchFamily="34" charset="0"/>
                <a:ea typeface="맑은 고딕" pitchFamily="34" charset="-122"/>
                <a:cs typeface="맑은 고딕" pitchFamily="34" charset="-120"/>
              </a:rPr>
              <a:t>미국 현장 인터뷰 35건 · 2026년 7월</a:t>
            </a:r>
            <a:endParaRPr lang="en-US" sz="1300" dirty="0"/>
          </a:p>
        </p:txBody>
      </p:sp>
      <p:sp>
        <p:nvSpPr>
          <p:cNvPr id="7" name="Shape 5"/>
          <p:cNvSpPr/>
          <p:nvPr/>
        </p:nvSpPr>
        <p:spPr>
          <a:xfrm>
            <a:off x="548640" y="1828800"/>
            <a:ext cx="4206240" cy="3931920"/>
          </a:xfrm>
          <a:prstGeom prst="roundRect">
            <a:avLst>
              <a:gd name="adj" fmla="val 1860"/>
            </a:avLst>
          </a:prstGeom>
          <a:solidFill>
            <a:srgbClr val="F3F4F6"/>
          </a:solidFill>
          <a:ln w="12700">
            <a:solidFill>
              <a:srgbClr val="F3F4F6"/>
            </a:solidFill>
            <a:prstDash val="solid"/>
          </a:ln>
        </p:spPr>
      </p:sp>
      <p:sp>
        <p:nvSpPr>
          <p:cNvPr id="8" name="Shape 6"/>
          <p:cNvSpPr/>
          <p:nvPr/>
        </p:nvSpPr>
        <p:spPr>
          <a:xfrm>
            <a:off x="914400" y="2194560"/>
            <a:ext cx="1371600" cy="329184"/>
          </a:xfrm>
          <a:prstGeom prst="roundRect">
            <a:avLst>
              <a:gd name="adj" fmla="val 50000"/>
            </a:avLst>
          </a:prstGeom>
          <a:solidFill>
            <a:srgbClr val="A3A7AD"/>
          </a:solidFill>
          <a:ln w="12700">
            <a:solidFill>
              <a:srgbClr val="A3A7AD"/>
            </a:solidFill>
            <a:prstDash val="solid"/>
          </a:ln>
        </p:spPr>
      </p:sp>
      <p:sp>
        <p:nvSpPr>
          <p:cNvPr id="9" name="Text 7"/>
          <p:cNvSpPr txBox="1"/>
          <p:nvPr/>
        </p:nvSpPr>
        <p:spPr>
          <a:xfrm>
            <a:off x="914400" y="2194560"/>
            <a:ext cx="13716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처음 가설</a:t>
            </a:r>
            <a:endParaRPr lang="en-US" sz="1200" dirty="0"/>
          </a:p>
        </p:txBody>
      </p:sp>
      <p:sp>
        <p:nvSpPr>
          <p:cNvPr id="10" name="Text 8"/>
          <p:cNvSpPr txBox="1"/>
          <p:nvPr/>
        </p:nvSpPr>
        <p:spPr>
          <a:xfrm>
            <a:off x="914400" y="2743200"/>
            <a:ext cx="3474720" cy="914400"/>
          </a:xfrm>
          <a:prstGeom prst="rect">
            <a:avLst/>
          </a:prstGeom>
          <a:noFill/>
          <a:ln/>
        </p:spPr>
        <p:txBody>
          <a:bodyPr wrap="square" lIns="0" tIns="0" rIns="0" bIns="0" rtlCol="0" anchor="t"/>
          <a:lstStyle/>
          <a:p>
            <a:pPr indent="0" marL="0">
              <a:buNone/>
            </a:pPr>
            <a:r>
              <a:rPr lang="en-US" sz="2400" b="1" dirty="0">
                <a:solidFill>
                  <a:srgbClr val="6B6F76"/>
                </a:solidFill>
                <a:latin typeface="맑은 고딕" pitchFamily="34" charset="0"/>
                <a:ea typeface="맑은 고딕" pitchFamily="34" charset="-122"/>
                <a:cs typeface="맑은 고딕" pitchFamily="34" charset="-120"/>
              </a:rPr>
              <a:t>검사원 판단</a:t>
            </a:r>
            <a:endParaRPr lang="en-US" sz="2400" dirty="0"/>
          </a:p>
          <a:p>
            <a:pPr indent="0" marL="0">
              <a:buNone/>
            </a:pPr>
            <a:r>
              <a:rPr lang="en-US" sz="2400" b="1" dirty="0">
                <a:solidFill>
                  <a:srgbClr val="6B6F76"/>
                </a:solidFill>
                <a:latin typeface="맑은 고딕" pitchFamily="34" charset="0"/>
                <a:ea typeface="맑은 고딕" pitchFamily="34" charset="-122"/>
                <a:cs typeface="맑은 고딕" pitchFamily="34" charset="-120"/>
              </a:rPr>
              <a:t>보정 도구</a:t>
            </a:r>
            <a:endParaRPr lang="en-US" sz="2400" dirty="0"/>
          </a:p>
        </p:txBody>
      </p:sp>
      <p:sp>
        <p:nvSpPr>
          <p:cNvPr id="11" name="Text 9"/>
          <p:cNvSpPr txBox="1"/>
          <p:nvPr/>
        </p:nvSpPr>
        <p:spPr>
          <a:xfrm>
            <a:off x="914400" y="3931920"/>
            <a:ext cx="3474720" cy="731520"/>
          </a:xfrm>
          <a:prstGeom prst="rect">
            <a:avLst/>
          </a:prstGeom>
          <a:noFill/>
          <a:ln/>
        </p:spPr>
        <p:txBody>
          <a:bodyPr wrap="square" lIns="0" tIns="0" rIns="0" bIns="0" rtlCol="0" anchor="ctr"/>
          <a:lstStyle/>
          <a:p>
            <a:pPr indent="0" marL="0">
              <a:buNone/>
            </a:pPr>
            <a:r>
              <a:rPr lang="en-US" sz="4000" b="1" dirty="0">
                <a:solidFill>
                  <a:srgbClr val="6B6F76"/>
                </a:solidFill>
                <a:latin typeface="맑은 고딕" pitchFamily="34" charset="0"/>
                <a:ea typeface="맑은 고딕" pitchFamily="34" charset="-122"/>
                <a:cs typeface="맑은 고딕" pitchFamily="34" charset="-120"/>
              </a:rPr>
              <a:t>11 / 11</a:t>
            </a:r>
            <a:endParaRPr lang="en-US" sz="4000" dirty="0"/>
          </a:p>
        </p:txBody>
      </p:sp>
      <p:sp>
        <p:nvSpPr>
          <p:cNvPr id="12" name="Text 10"/>
          <p:cNvSpPr txBox="1"/>
          <p:nvPr/>
        </p:nvSpPr>
        <p:spPr>
          <a:xfrm>
            <a:off x="914400" y="4663440"/>
            <a:ext cx="2651760" cy="274320"/>
          </a:xfrm>
          <a:prstGeom prst="rect">
            <a:avLst/>
          </a:prstGeom>
          <a:noFill/>
          <a:ln/>
        </p:spPr>
        <p:txBody>
          <a:bodyPr wrap="square" lIns="0" tIns="0" rIns="0" bIns="0" rtlCol="0" anchor="t"/>
          <a:lstStyle/>
          <a:p>
            <a:pPr indent="0" marL="0">
              <a:buNone/>
            </a:pPr>
            <a:r>
              <a:rPr lang="en-US" sz="1300" dirty="0">
                <a:solidFill>
                  <a:srgbClr val="6B6F76"/>
                </a:solidFill>
                <a:latin typeface="맑은 고딕" pitchFamily="34" charset="0"/>
                <a:ea typeface="맑은 고딕" pitchFamily="34" charset="-122"/>
                <a:cs typeface="맑은 고딕" pitchFamily="34" charset="-120"/>
              </a:rPr>
              <a:t>현장 인력 반대</a:t>
            </a:r>
            <a:endParaRPr lang="en-US" sz="1300" dirty="0"/>
          </a:p>
        </p:txBody>
      </p:sp>
      <p:sp>
        <p:nvSpPr>
          <p:cNvPr id="13" name="Shape 11"/>
          <p:cNvSpPr/>
          <p:nvPr/>
        </p:nvSpPr>
        <p:spPr>
          <a:xfrm>
            <a:off x="914400" y="5074920"/>
            <a:ext cx="384048" cy="384048"/>
          </a:xfrm>
          <a:prstGeom prst="ellipse">
            <a:avLst/>
          </a:prstGeom>
          <a:solidFill>
            <a:srgbClr val="B23A2E"/>
          </a:solidFill>
          <a:ln w="12700">
            <a:solidFill>
              <a:srgbClr val="B23A2E"/>
            </a:solidFill>
            <a:prstDash val="solid"/>
          </a:ln>
        </p:spPr>
      </p:sp>
      <p:pic>
        <p:nvPicPr>
          <p:cNvPr id="14" name="Image 0" descr="preencoded.png">    </p:cNvPr>
          <p:cNvPicPr>
            <a:picLocks noChangeAspect="1"/>
          </p:cNvPicPr>
          <p:nvPr/>
        </p:nvPicPr>
        <p:blipFill>
          <a:blip r:embed="rId1"/>
          <a:stretch>
            <a:fillRect/>
          </a:stretch>
        </p:blipFill>
        <p:spPr>
          <a:xfrm>
            <a:off x="1014252" y="5174772"/>
            <a:ext cx="184343" cy="184343"/>
          </a:xfrm>
          <a:prstGeom prst="rect">
            <a:avLst/>
          </a:prstGeom>
        </p:spPr>
      </p:pic>
      <p:sp>
        <p:nvSpPr>
          <p:cNvPr id="15" name="Text 12"/>
          <p:cNvSpPr txBox="1"/>
          <p:nvPr/>
        </p:nvSpPr>
        <p:spPr>
          <a:xfrm>
            <a:off x="1417320" y="5074920"/>
            <a:ext cx="3108960" cy="384048"/>
          </a:xfrm>
          <a:prstGeom prst="rect">
            <a:avLst/>
          </a:prstGeom>
          <a:noFill/>
          <a:ln/>
        </p:spPr>
        <p:txBody>
          <a:bodyPr wrap="square" lIns="0" tIns="0" rIns="0" bIns="0" rtlCol="0" anchor="ctr"/>
          <a:lstStyle/>
          <a:p>
            <a:pPr indent="0" marL="0">
              <a:buNone/>
            </a:pPr>
            <a:r>
              <a:rPr lang="en-US" sz="1500" b="1" dirty="0">
                <a:solidFill>
                  <a:srgbClr val="B23A2E"/>
                </a:solidFill>
                <a:latin typeface="맑은 고딕" pitchFamily="34" charset="0"/>
                <a:ea typeface="맑은 고딕" pitchFamily="34" charset="-122"/>
                <a:cs typeface="맑은 고딕" pitchFamily="34" charset="-120"/>
              </a:rPr>
              <a:t>기각  </a:t>
            </a:r>
            <a:pPr indent="0" marL="0">
              <a:buNone/>
            </a:pPr>
            <a:r>
              <a:rPr lang="en-US" sz="1500" dirty="0">
                <a:solidFill>
                  <a:srgbClr val="2B2D31"/>
                </a:solidFill>
                <a:latin typeface="맑은 고딕" pitchFamily="34" charset="0"/>
                <a:ea typeface="맑은 고딕" pitchFamily="34" charset="-122"/>
                <a:cs typeface="맑은 고딕" pitchFamily="34" charset="-120"/>
              </a:rPr>
              <a:t>매뉴얼로 이미 해결</a:t>
            </a:r>
            <a:endParaRPr lang="en-US" sz="1500" dirty="0"/>
          </a:p>
        </p:txBody>
      </p:sp>
      <p:pic>
        <p:nvPicPr>
          <p:cNvPr id="16" name="Image 1" descr="preencoded.png">    </p:cNvPr>
          <p:cNvPicPr>
            <a:picLocks noChangeAspect="1"/>
          </p:cNvPicPr>
          <p:nvPr/>
        </p:nvPicPr>
        <p:blipFill>
          <a:blip r:embed="rId2"/>
          <a:stretch>
            <a:fillRect/>
          </a:stretch>
        </p:blipFill>
        <p:spPr>
          <a:xfrm>
            <a:off x="4937760" y="3566160"/>
            <a:ext cx="457200" cy="457200"/>
          </a:xfrm>
          <a:prstGeom prst="rect">
            <a:avLst/>
          </a:prstGeom>
        </p:spPr>
      </p:pic>
      <p:sp>
        <p:nvSpPr>
          <p:cNvPr id="17" name="Shape 13"/>
          <p:cNvSpPr/>
          <p:nvPr/>
        </p:nvSpPr>
        <p:spPr>
          <a:xfrm>
            <a:off x="5577840" y="1828800"/>
            <a:ext cx="6065215" cy="3931920"/>
          </a:xfrm>
          <a:prstGeom prst="roundRect">
            <a:avLst>
              <a:gd name="adj" fmla="val 1860"/>
            </a:avLst>
          </a:prstGeom>
          <a:solidFill>
            <a:srgbClr val="FBEDE4"/>
          </a:solidFill>
          <a:ln w="15875">
            <a:solidFill>
              <a:srgbClr val="B5501F"/>
            </a:solidFill>
            <a:prstDash val="solid"/>
          </a:ln>
        </p:spPr>
      </p:sp>
      <p:sp>
        <p:nvSpPr>
          <p:cNvPr id="18" name="Shape 14"/>
          <p:cNvSpPr/>
          <p:nvPr/>
        </p:nvSpPr>
        <p:spPr>
          <a:xfrm>
            <a:off x="5943600" y="2194560"/>
            <a:ext cx="1737360" cy="329184"/>
          </a:xfrm>
          <a:prstGeom prst="roundRect">
            <a:avLst>
              <a:gd name="adj" fmla="val 50000"/>
            </a:avLst>
          </a:prstGeom>
          <a:solidFill>
            <a:srgbClr val="B5501F"/>
          </a:solidFill>
          <a:ln w="12700">
            <a:solidFill>
              <a:srgbClr val="B5501F"/>
            </a:solidFill>
            <a:prstDash val="solid"/>
          </a:ln>
        </p:spPr>
      </p:sp>
      <p:sp>
        <p:nvSpPr>
          <p:cNvPr id="19" name="Text 15"/>
          <p:cNvSpPr txBox="1"/>
          <p:nvPr/>
        </p:nvSpPr>
        <p:spPr>
          <a:xfrm>
            <a:off x="5943600" y="219456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현장이 원한 것</a:t>
            </a:r>
            <a:endParaRPr lang="en-US" sz="1200" dirty="0"/>
          </a:p>
        </p:txBody>
      </p:sp>
      <p:sp>
        <p:nvSpPr>
          <p:cNvPr id="20" name="Text 16"/>
          <p:cNvSpPr txBox="1"/>
          <p:nvPr/>
        </p:nvSpPr>
        <p:spPr>
          <a:xfrm>
            <a:off x="5943600" y="2743200"/>
            <a:ext cx="5333695" cy="914400"/>
          </a:xfrm>
          <a:prstGeom prst="rect">
            <a:avLst/>
          </a:prstGeom>
          <a:noFill/>
          <a:ln/>
        </p:spPr>
        <p:txBody>
          <a:bodyPr wrap="square" lIns="0" tIns="0" rIns="0" bIns="0" rtlCol="0" anchor="t"/>
          <a:lstStyle/>
          <a:p>
            <a:pPr indent="0" marL="0">
              <a:buNone/>
            </a:pPr>
            <a:r>
              <a:rPr lang="en-US" sz="2400" b="1" dirty="0">
                <a:solidFill>
                  <a:srgbClr val="2B2D31"/>
                </a:solidFill>
                <a:latin typeface="맑은 고딕" pitchFamily="34" charset="0"/>
                <a:ea typeface="맑은 고딕" pitchFamily="34" charset="-122"/>
                <a:cs typeface="맑은 고딕" pitchFamily="34" charset="-120"/>
              </a:rPr>
              <a:t>드론 사전 스캔으로</a:t>
            </a:r>
            <a:endParaRPr lang="en-US" sz="2400" dirty="0"/>
          </a:p>
          <a:p>
            <a:pPr indent="0" marL="0">
              <a:buNone/>
            </a:pPr>
            <a:r>
              <a:rPr lang="en-US" sz="2400" b="1" dirty="0">
                <a:solidFill>
                  <a:srgbClr val="2B2D31"/>
                </a:solidFill>
                <a:latin typeface="맑은 고딕" pitchFamily="34" charset="0"/>
                <a:ea typeface="맑은 고딕" pitchFamily="34" charset="-122"/>
                <a:cs typeface="맑은 고딕" pitchFamily="34" charset="-120"/>
              </a:rPr>
              <a:t>점검 우선순위</a:t>
            </a:r>
            <a:endParaRPr lang="en-US" sz="2400" dirty="0"/>
          </a:p>
        </p:txBody>
      </p:sp>
      <p:sp>
        <p:nvSpPr>
          <p:cNvPr id="21" name="Text 17"/>
          <p:cNvSpPr txBox="1"/>
          <p:nvPr/>
        </p:nvSpPr>
        <p:spPr>
          <a:xfrm>
            <a:off x="5943600" y="3931920"/>
            <a:ext cx="2651760" cy="731520"/>
          </a:xfrm>
          <a:prstGeom prst="rect">
            <a:avLst/>
          </a:prstGeom>
          <a:noFill/>
          <a:ln/>
        </p:spPr>
        <p:txBody>
          <a:bodyPr wrap="square" lIns="0" tIns="0" rIns="0" bIns="0" rtlCol="0" anchor="ctr"/>
          <a:lstStyle/>
          <a:p>
            <a:pPr indent="0" marL="0">
              <a:buNone/>
            </a:pPr>
            <a:r>
              <a:rPr lang="en-US" sz="4000" b="1" dirty="0">
                <a:solidFill>
                  <a:srgbClr val="B5501F"/>
                </a:solidFill>
                <a:latin typeface="맑은 고딕" pitchFamily="34" charset="0"/>
                <a:ea typeface="맑은 고딕" pitchFamily="34" charset="-122"/>
                <a:cs typeface="맑은 고딕" pitchFamily="34" charset="-120"/>
              </a:rPr>
              <a:t>10 / 11</a:t>
            </a:r>
            <a:endParaRPr lang="en-US" sz="4000" dirty="0"/>
          </a:p>
        </p:txBody>
      </p:sp>
      <p:sp>
        <p:nvSpPr>
          <p:cNvPr id="22" name="Text 18"/>
          <p:cNvSpPr txBox="1"/>
          <p:nvPr/>
        </p:nvSpPr>
        <p:spPr>
          <a:xfrm>
            <a:off x="5943600" y="4663440"/>
            <a:ext cx="2651760" cy="274320"/>
          </a:xfrm>
          <a:prstGeom prst="rect">
            <a:avLst/>
          </a:prstGeom>
          <a:noFill/>
          <a:ln/>
        </p:spPr>
        <p:txBody>
          <a:bodyPr wrap="square" lIns="0" tIns="0" rIns="0" bIns="0" rtlCol="0" anchor="t"/>
          <a:lstStyle/>
          <a:p>
            <a:pPr indent="0" marL="0">
              <a:buNone/>
            </a:pPr>
            <a:r>
              <a:rPr lang="en-US" sz="1300" dirty="0">
                <a:solidFill>
                  <a:srgbClr val="6B6F76"/>
                </a:solidFill>
                <a:latin typeface="맑은 고딕" pitchFamily="34" charset="0"/>
                <a:ea typeface="맑은 고딕" pitchFamily="34" charset="-122"/>
                <a:cs typeface="맑은 고딕" pitchFamily="34" charset="-120"/>
              </a:rPr>
              <a:t>현장 인력 공감</a:t>
            </a:r>
            <a:endParaRPr lang="en-US" sz="1300" dirty="0"/>
          </a:p>
        </p:txBody>
      </p:sp>
      <p:sp>
        <p:nvSpPr>
          <p:cNvPr id="23" name="Text 19"/>
          <p:cNvSpPr txBox="1"/>
          <p:nvPr/>
        </p:nvSpPr>
        <p:spPr>
          <a:xfrm>
            <a:off x="8686800" y="3931920"/>
            <a:ext cx="2651760" cy="731520"/>
          </a:xfrm>
          <a:prstGeom prst="rect">
            <a:avLst/>
          </a:prstGeom>
          <a:noFill/>
          <a:ln/>
        </p:spPr>
        <p:txBody>
          <a:bodyPr wrap="square" lIns="0" tIns="0" rIns="0" bIns="0" rtlCol="0" anchor="ctr"/>
          <a:lstStyle/>
          <a:p>
            <a:pPr indent="0" marL="0">
              <a:buNone/>
            </a:pPr>
            <a:r>
              <a:rPr lang="en-US" sz="4000" b="1" dirty="0">
                <a:solidFill>
                  <a:srgbClr val="B5501F"/>
                </a:solidFill>
                <a:latin typeface="맑은 고딕" pitchFamily="34" charset="0"/>
                <a:ea typeface="맑은 고딕" pitchFamily="34" charset="-122"/>
                <a:cs typeface="맑은 고딕" pitchFamily="34" charset="-120"/>
              </a:rPr>
              <a:t>5 / 5</a:t>
            </a:r>
            <a:endParaRPr lang="en-US" sz="4000" dirty="0"/>
          </a:p>
        </p:txBody>
      </p:sp>
      <p:sp>
        <p:nvSpPr>
          <p:cNvPr id="24" name="Text 20"/>
          <p:cNvSpPr txBox="1"/>
          <p:nvPr/>
        </p:nvSpPr>
        <p:spPr>
          <a:xfrm>
            <a:off x="8686800" y="4663440"/>
            <a:ext cx="2651760" cy="274320"/>
          </a:xfrm>
          <a:prstGeom prst="rect">
            <a:avLst/>
          </a:prstGeom>
          <a:noFill/>
          <a:ln/>
        </p:spPr>
        <p:txBody>
          <a:bodyPr wrap="square" lIns="0" tIns="0" rIns="0" bIns="0" rtlCol="0" anchor="t"/>
          <a:lstStyle/>
          <a:p>
            <a:pPr indent="0" marL="0">
              <a:buNone/>
            </a:pPr>
            <a:r>
              <a:rPr lang="en-US" sz="1300" dirty="0">
                <a:solidFill>
                  <a:srgbClr val="6B6F76"/>
                </a:solidFill>
                <a:latin typeface="맑은 고딕" pitchFamily="34" charset="0"/>
                <a:ea typeface="맑은 고딕" pitchFamily="34" charset="-122"/>
                <a:cs typeface="맑은 고딕" pitchFamily="34" charset="-120"/>
              </a:rPr>
              <a:t>의사결정권자 관심</a:t>
            </a:r>
            <a:endParaRPr lang="en-US" sz="1300" dirty="0"/>
          </a:p>
        </p:txBody>
      </p:sp>
      <p:sp>
        <p:nvSpPr>
          <p:cNvPr id="25" name="Shape 21"/>
          <p:cNvSpPr/>
          <p:nvPr/>
        </p:nvSpPr>
        <p:spPr>
          <a:xfrm>
            <a:off x="5943600" y="5074920"/>
            <a:ext cx="384048" cy="384048"/>
          </a:xfrm>
          <a:prstGeom prst="ellipse">
            <a:avLst/>
          </a:prstGeom>
          <a:solidFill>
            <a:srgbClr val="3C8D5A"/>
          </a:solidFill>
          <a:ln w="12700">
            <a:solidFill>
              <a:srgbClr val="3C8D5A"/>
            </a:solidFill>
            <a:prstDash val="solid"/>
          </a:ln>
        </p:spPr>
      </p:sp>
      <p:pic>
        <p:nvPicPr>
          <p:cNvPr id="26" name="Image 2" descr="preencoded.png">    </p:cNvPr>
          <p:cNvPicPr>
            <a:picLocks noChangeAspect="1"/>
          </p:cNvPicPr>
          <p:nvPr/>
        </p:nvPicPr>
        <p:blipFill>
          <a:blip r:embed="rId3"/>
          <a:stretch>
            <a:fillRect/>
          </a:stretch>
        </p:blipFill>
        <p:spPr>
          <a:xfrm>
            <a:off x="6043452" y="5174772"/>
            <a:ext cx="184343" cy="184343"/>
          </a:xfrm>
          <a:prstGeom prst="rect">
            <a:avLst/>
          </a:prstGeom>
        </p:spPr>
      </p:pic>
      <p:sp>
        <p:nvSpPr>
          <p:cNvPr id="27" name="Text 22"/>
          <p:cNvSpPr txBox="1"/>
          <p:nvPr/>
        </p:nvSpPr>
        <p:spPr>
          <a:xfrm>
            <a:off x="6446520" y="5074920"/>
            <a:ext cx="4967935" cy="384048"/>
          </a:xfrm>
          <a:prstGeom prst="rect">
            <a:avLst/>
          </a:prstGeom>
          <a:noFill/>
          <a:ln/>
        </p:spPr>
        <p:txBody>
          <a:bodyPr wrap="square" lIns="0" tIns="0" rIns="0" bIns="0" rtlCol="0" anchor="ctr"/>
          <a:lstStyle/>
          <a:p>
            <a:pPr indent="0" marL="0">
              <a:buNone/>
            </a:pPr>
            <a:r>
              <a:rPr lang="en-US" sz="1500" b="1" dirty="0">
                <a:solidFill>
                  <a:srgbClr val="3C8D5A"/>
                </a:solidFill>
                <a:latin typeface="맑은 고딕" pitchFamily="34" charset="0"/>
                <a:ea typeface="맑은 고딕" pitchFamily="34" charset="-122"/>
                <a:cs typeface="맑은 고딕" pitchFamily="34" charset="-120"/>
              </a:rPr>
              <a:t>검증  </a:t>
            </a:r>
            <a:pPr indent="0" marL="0">
              <a:buNone/>
            </a:pPr>
            <a:r>
              <a:rPr lang="en-US" sz="1500" dirty="0">
                <a:solidFill>
                  <a:srgbClr val="2B2D31"/>
                </a:solidFill>
                <a:latin typeface="맑은 고딕" pitchFamily="34" charset="0"/>
                <a:ea typeface="맑은 고딕" pitchFamily="34" charset="-122"/>
                <a:cs typeface="맑은 고딕" pitchFamily="34" charset="-120"/>
              </a:rPr>
              <a:t>리프트 · 로프 액세스 · 선박 일수 절감</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sp>
        <p:nvSpPr>
          <p:cNvPr id="6" name="Shape 4"/>
          <p:cNvSpPr/>
          <p:nvPr/>
        </p:nvSpPr>
        <p:spPr>
          <a:xfrm>
            <a:off x="0" y="1371600"/>
            <a:ext cx="12191695" cy="2606040"/>
          </a:xfrm>
          <a:prstGeom prst="rect">
            <a:avLst/>
          </a:prstGeom>
          <a:solidFill>
            <a:srgbClr val="1F2226"/>
          </a:solidFill>
          <a:ln w="12700">
            <a:solidFill>
              <a:srgbClr val="1F2226"/>
            </a:solidFill>
            <a:prstDash val="solid"/>
          </a:ln>
        </p:spPr>
      </p:sp>
      <p:pic>
        <p:nvPicPr>
          <p:cNvPr id="7" name="Image 0" descr="/home/user/PPT/src/img/photo_15.png"/>
          <p:cNvPicPr>
            <a:picLocks noChangeAspect="1"/>
          </p:cNvPicPr>
          <p:nvPr/>
        </p:nvPicPr>
        <p:blipFill>
          <a:blip r:embed="rId3"/>
          <a:stretch>
            <a:fillRect/>
          </a:stretch>
        </p:blipFill>
        <p:spPr>
          <a:xfrm>
            <a:off x="1135342" y="1572768"/>
            <a:ext cx="1600200" cy="1600200"/>
          </a:xfrm>
          <a:prstGeom prst="rect">
            <a:avLst/>
          </a:prstGeom>
        </p:spPr>
      </p:pic>
      <p:pic>
        <p:nvPicPr>
          <p:cNvPr id="8" name="Image 1" descr="preencoded.png"/>
          <p:cNvPicPr>
            <a:picLocks noChangeAspect="1"/>
          </p:cNvPicPr>
          <p:nvPr/>
        </p:nvPicPr>
        <p:blipFill>
          <a:blip r:embed="rId4"/>
          <a:stretch>
            <a:fillRect/>
          </a:stretch>
        </p:blipFill>
        <p:spPr>
          <a:xfrm>
            <a:off x="3166796" y="2217420"/>
            <a:ext cx="310896" cy="310896"/>
          </a:xfrm>
          <a:prstGeom prst="rect">
            <a:avLst/>
          </a:prstGeom>
        </p:spPr>
      </p:pic>
      <p:sp>
        <p:nvSpPr>
          <p:cNvPr id="9" name="Shape 5"/>
          <p:cNvSpPr/>
          <p:nvPr/>
        </p:nvSpPr>
        <p:spPr>
          <a:xfrm>
            <a:off x="594360" y="3355848"/>
            <a:ext cx="2682164" cy="457200"/>
          </a:xfrm>
          <a:prstGeom prst="homePlate">
            <a:avLst/>
          </a:prstGeom>
          <a:solidFill>
            <a:srgbClr val="FFFFFF"/>
          </a:solidFill>
          <a:ln w="12700">
            <a:solidFill>
              <a:srgbClr val="FFFFFF"/>
            </a:solidFill>
            <a:prstDash val="solid"/>
          </a:ln>
        </p:spPr>
      </p:sp>
      <p:sp>
        <p:nvSpPr>
          <p:cNvPr id="10" name="Text 6"/>
          <p:cNvSpPr txBox="1"/>
          <p:nvPr/>
        </p:nvSpPr>
        <p:spPr>
          <a:xfrm>
            <a:off x="640080"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드론 · 카메라 촬영</a:t>
            </a:r>
            <a:endParaRPr lang="en-US" sz="1400" dirty="0"/>
          </a:p>
        </p:txBody>
      </p:sp>
      <p:pic>
        <p:nvPicPr>
          <p:cNvPr id="11" name="Image 2" descr="/home/user/PPT/src/img/mask_15.png"/>
          <p:cNvPicPr>
            <a:picLocks noChangeAspect="1"/>
          </p:cNvPicPr>
          <p:nvPr/>
        </p:nvPicPr>
        <p:blipFill>
          <a:blip r:embed="rId5"/>
          <a:stretch>
            <a:fillRect/>
          </a:stretch>
        </p:blipFill>
        <p:spPr>
          <a:xfrm>
            <a:off x="3908946" y="1572768"/>
            <a:ext cx="1600200" cy="1600200"/>
          </a:xfrm>
          <a:prstGeom prst="rect">
            <a:avLst/>
          </a:prstGeom>
        </p:spPr>
      </p:pic>
      <p:pic>
        <p:nvPicPr>
          <p:cNvPr id="12" name="Image 3" descr="preencoded.png"/>
          <p:cNvPicPr>
            <a:picLocks noChangeAspect="1"/>
          </p:cNvPicPr>
          <p:nvPr/>
        </p:nvPicPr>
        <p:blipFill>
          <a:blip r:embed="rId4"/>
          <a:stretch>
            <a:fillRect/>
          </a:stretch>
        </p:blipFill>
        <p:spPr>
          <a:xfrm>
            <a:off x="5940400" y="2217420"/>
            <a:ext cx="310896" cy="310896"/>
          </a:xfrm>
          <a:prstGeom prst="rect">
            <a:avLst/>
          </a:prstGeom>
        </p:spPr>
      </p:pic>
      <p:sp>
        <p:nvSpPr>
          <p:cNvPr id="13" name="Shape 7"/>
          <p:cNvSpPr/>
          <p:nvPr/>
        </p:nvSpPr>
        <p:spPr>
          <a:xfrm>
            <a:off x="3367964" y="3355848"/>
            <a:ext cx="2682164" cy="457200"/>
          </a:xfrm>
          <a:prstGeom prst="homePlate">
            <a:avLst/>
          </a:prstGeom>
          <a:solidFill>
            <a:srgbClr val="FFFFFF"/>
          </a:solidFill>
          <a:ln w="12700">
            <a:solidFill>
              <a:srgbClr val="FFFFFF"/>
            </a:solidFill>
            <a:prstDash val="solid"/>
          </a:ln>
        </p:spPr>
      </p:sp>
      <p:sp>
        <p:nvSpPr>
          <p:cNvPr id="14" name="Text 8"/>
          <p:cNvSpPr txBox="1"/>
          <p:nvPr/>
        </p:nvSpPr>
        <p:spPr>
          <a:xfrm>
            <a:off x="3413684"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녹 영역 자동 추출</a:t>
            </a:r>
            <a:endParaRPr lang="en-US" sz="1400" dirty="0"/>
          </a:p>
        </p:txBody>
      </p:sp>
      <p:sp>
        <p:nvSpPr>
          <p:cNvPr id="15" name="Shape 9"/>
          <p:cNvSpPr/>
          <p:nvPr/>
        </p:nvSpPr>
        <p:spPr>
          <a:xfrm>
            <a:off x="6682550" y="1572768"/>
            <a:ext cx="1600200" cy="1600200"/>
          </a:xfrm>
          <a:prstGeom prst="rect">
            <a:avLst/>
          </a:prstGeom>
          <a:solidFill>
            <a:srgbClr val="4E3F2F"/>
          </a:solidFill>
          <a:ln w="12700">
            <a:solidFill>
              <a:srgbClr val="FFFFFF"/>
            </a:solidFill>
            <a:prstDash val="solid"/>
          </a:ln>
        </p:spPr>
      </p:sp>
      <p:sp>
        <p:nvSpPr>
          <p:cNvPr id="16" name="Text 10"/>
          <p:cNvSpPr txBox="1"/>
          <p:nvPr/>
        </p:nvSpPr>
        <p:spPr>
          <a:xfrm>
            <a:off x="6682550" y="1892808"/>
            <a:ext cx="1600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b* 12.2</a:t>
            </a:r>
            <a:endParaRPr lang="en-US" sz="2200" dirty="0"/>
          </a:p>
        </p:txBody>
      </p:sp>
      <p:sp>
        <p:nvSpPr>
          <p:cNvPr id="17" name="Shape 11"/>
          <p:cNvSpPr/>
          <p:nvPr/>
        </p:nvSpPr>
        <p:spPr>
          <a:xfrm>
            <a:off x="6911150" y="2532888"/>
            <a:ext cx="1143000" cy="329184"/>
          </a:xfrm>
          <a:prstGeom prst="roundRect">
            <a:avLst>
              <a:gd name="adj" fmla="val 50000"/>
            </a:avLst>
          </a:prstGeom>
          <a:solidFill>
            <a:srgbClr val="3C8D5A"/>
          </a:solidFill>
          <a:ln w="12700">
            <a:solidFill>
              <a:srgbClr val="3C8D5A"/>
            </a:solidFill>
            <a:prstDash val="solid"/>
          </a:ln>
        </p:spPr>
      </p:sp>
      <p:sp>
        <p:nvSpPr>
          <p:cNvPr id="18" name="Text 12"/>
          <p:cNvSpPr txBox="1"/>
          <p:nvPr/>
        </p:nvSpPr>
        <p:spPr>
          <a:xfrm>
            <a:off x="6911150" y="2532888"/>
            <a:ext cx="1143000" cy="329184"/>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위험도 중간</a:t>
            </a:r>
            <a:endParaRPr lang="en-US" sz="1150" dirty="0"/>
          </a:p>
        </p:txBody>
      </p:sp>
      <p:pic>
        <p:nvPicPr>
          <p:cNvPr id="19" name="Image 4" descr="preencoded.png"/>
          <p:cNvPicPr>
            <a:picLocks noChangeAspect="1"/>
          </p:cNvPicPr>
          <p:nvPr/>
        </p:nvPicPr>
        <p:blipFill>
          <a:blip r:embed="rId4"/>
          <a:stretch>
            <a:fillRect/>
          </a:stretch>
        </p:blipFill>
        <p:spPr>
          <a:xfrm>
            <a:off x="8714003" y="2217420"/>
            <a:ext cx="310896" cy="310896"/>
          </a:xfrm>
          <a:prstGeom prst="rect">
            <a:avLst/>
          </a:prstGeom>
        </p:spPr>
      </p:pic>
      <p:sp>
        <p:nvSpPr>
          <p:cNvPr id="20" name="Shape 13"/>
          <p:cNvSpPr/>
          <p:nvPr/>
        </p:nvSpPr>
        <p:spPr>
          <a:xfrm>
            <a:off x="6141568" y="3355848"/>
            <a:ext cx="2682164" cy="457200"/>
          </a:xfrm>
          <a:prstGeom prst="homePlate">
            <a:avLst/>
          </a:prstGeom>
          <a:solidFill>
            <a:srgbClr val="FFFFFF"/>
          </a:solidFill>
          <a:ln w="12700">
            <a:solidFill>
              <a:srgbClr val="FFFFFF"/>
            </a:solidFill>
            <a:prstDash val="solid"/>
          </a:ln>
        </p:spPr>
      </p:sp>
      <p:sp>
        <p:nvSpPr>
          <p:cNvPr id="21" name="Text 14"/>
          <p:cNvSpPr txBox="1"/>
          <p:nvPr/>
        </p:nvSpPr>
        <p:spPr>
          <a:xfrm>
            <a:off x="6187288"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색(b*)으로 위험도 판정</a:t>
            </a:r>
            <a:endParaRPr lang="en-US" sz="1400" dirty="0"/>
          </a:p>
        </p:txBody>
      </p:sp>
      <p:pic>
        <p:nvPicPr>
          <p:cNvPr id="22" name="Image 5" descr="/home/user/PPT/src/img/offshore_legs.png"/>
          <p:cNvPicPr>
            <a:picLocks noChangeAspect="1"/>
          </p:cNvPicPr>
          <p:nvPr/>
        </p:nvPicPr>
        <p:blipFill>
          <a:blip r:embed="rId6"/>
          <a:srcRect/>
          <a:stretch/>
        </p:blipFill>
        <p:spPr>
          <a:xfrm>
            <a:off x="9456153" y="1572768"/>
            <a:ext cx="1600200" cy="1600200"/>
          </a:xfrm>
          <a:prstGeom prst="rect">
            <a:avLst/>
          </a:prstGeom>
        </p:spPr>
      </p:pic>
      <p:sp>
        <p:nvSpPr>
          <p:cNvPr id="23" name="Shape 15"/>
          <p:cNvSpPr/>
          <p:nvPr/>
        </p:nvSpPr>
        <p:spPr>
          <a:xfrm>
            <a:off x="9732759" y="2441448"/>
            <a:ext cx="310896" cy="310896"/>
          </a:xfrm>
          <a:prstGeom prst="ellipse">
            <a:avLst/>
          </a:prstGeom>
          <a:solidFill>
            <a:srgbClr val="B23A2E"/>
          </a:solidFill>
          <a:ln w="19050">
            <a:solidFill>
              <a:srgbClr val="FFFFFF"/>
            </a:solidFill>
            <a:prstDash val="solid"/>
          </a:ln>
        </p:spPr>
      </p:sp>
      <p:sp>
        <p:nvSpPr>
          <p:cNvPr id="24" name="Text 16"/>
          <p:cNvSpPr txBox="1"/>
          <p:nvPr/>
        </p:nvSpPr>
        <p:spPr>
          <a:xfrm>
            <a:off x="9732759" y="244144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5" name="Shape 17"/>
          <p:cNvSpPr/>
          <p:nvPr/>
        </p:nvSpPr>
        <p:spPr>
          <a:xfrm>
            <a:off x="10548861" y="2089404"/>
            <a:ext cx="310896" cy="310896"/>
          </a:xfrm>
          <a:prstGeom prst="ellipse">
            <a:avLst/>
          </a:prstGeom>
          <a:solidFill>
            <a:srgbClr val="3C8D5A"/>
          </a:solidFill>
          <a:ln w="19050">
            <a:solidFill>
              <a:srgbClr val="FFFFFF"/>
            </a:solidFill>
            <a:prstDash val="solid"/>
          </a:ln>
        </p:spPr>
      </p:sp>
      <p:sp>
        <p:nvSpPr>
          <p:cNvPr id="26" name="Text 18"/>
          <p:cNvSpPr txBox="1"/>
          <p:nvPr/>
        </p:nvSpPr>
        <p:spPr>
          <a:xfrm>
            <a:off x="10548861" y="208940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7" name="Shape 19"/>
          <p:cNvSpPr/>
          <p:nvPr/>
        </p:nvSpPr>
        <p:spPr>
          <a:xfrm>
            <a:off x="9972789" y="1673352"/>
            <a:ext cx="310896" cy="310896"/>
          </a:xfrm>
          <a:prstGeom prst="ellipse">
            <a:avLst/>
          </a:prstGeom>
          <a:solidFill>
            <a:srgbClr val="3A6EA5"/>
          </a:solidFill>
          <a:ln w="19050">
            <a:solidFill>
              <a:srgbClr val="FFFFFF"/>
            </a:solidFill>
            <a:prstDash val="solid"/>
          </a:ln>
        </p:spPr>
      </p:sp>
      <p:sp>
        <p:nvSpPr>
          <p:cNvPr id="28" name="Text 20"/>
          <p:cNvSpPr txBox="1"/>
          <p:nvPr/>
        </p:nvSpPr>
        <p:spPr>
          <a:xfrm>
            <a:off x="9972789" y="167335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Shape 21"/>
          <p:cNvSpPr/>
          <p:nvPr/>
        </p:nvSpPr>
        <p:spPr>
          <a:xfrm>
            <a:off x="8915171" y="3355848"/>
            <a:ext cx="2682164" cy="457200"/>
          </a:xfrm>
          <a:prstGeom prst="homePlate">
            <a:avLst/>
          </a:prstGeom>
          <a:solidFill>
            <a:srgbClr val="B5501F"/>
          </a:solidFill>
          <a:ln w="12700">
            <a:solidFill>
              <a:srgbClr val="B5501F"/>
            </a:solidFill>
            <a:prstDash val="solid"/>
          </a:ln>
        </p:spPr>
      </p:sp>
      <p:sp>
        <p:nvSpPr>
          <p:cNvPr id="30" name="Text 22"/>
          <p:cNvSpPr txBox="1"/>
          <p:nvPr/>
        </p:nvSpPr>
        <p:spPr>
          <a:xfrm>
            <a:off x="8960891" y="3355848"/>
            <a:ext cx="2407844"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점검 우선순위 지도</a:t>
            </a:r>
            <a:endParaRPr lang="en-US" sz="1400" dirty="0"/>
          </a:p>
        </p:txBody>
      </p:sp>
      <p:sp>
        <p:nvSpPr>
          <p:cNvPr id="31" name="Text 23"/>
          <p:cNvSpPr txBox="1"/>
          <p:nvPr/>
        </p:nvSpPr>
        <p:spPr>
          <a:xfrm>
            <a:off x="9357055" y="1078992"/>
            <a:ext cx="228600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예시 화면 (개념도)</a:t>
            </a:r>
            <a:endParaRPr lang="en-US" sz="1000" dirty="0"/>
          </a:p>
        </p:txBody>
      </p:sp>
      <p:sp>
        <p:nvSpPr>
          <p:cNvPr id="32" name="Shape 24"/>
          <p:cNvSpPr/>
          <p:nvPr/>
        </p:nvSpPr>
        <p:spPr>
          <a:xfrm>
            <a:off x="868680" y="4480560"/>
            <a:ext cx="4998568" cy="1508760"/>
          </a:xfrm>
          <a:prstGeom prst="roundRect">
            <a:avLst>
              <a:gd name="adj" fmla="val 4848"/>
            </a:avLst>
          </a:prstGeom>
          <a:solidFill>
            <a:srgbClr val="FFFFFF"/>
          </a:solidFill>
          <a:ln w="12700">
            <a:solidFill>
              <a:srgbClr val="D9DCE0"/>
            </a:solidFill>
            <a:prstDash val="solid"/>
          </a:ln>
        </p:spPr>
      </p:sp>
      <p:sp>
        <p:nvSpPr>
          <p:cNvPr id="33" name="Shape 25"/>
          <p:cNvSpPr/>
          <p:nvPr/>
        </p:nvSpPr>
        <p:spPr>
          <a:xfrm>
            <a:off x="868680" y="4480560"/>
            <a:ext cx="4998568" cy="438912"/>
          </a:xfrm>
          <a:prstGeom prst="rect">
            <a:avLst/>
          </a:prstGeom>
          <a:solidFill>
            <a:srgbClr val="B5501F"/>
          </a:solidFill>
          <a:ln w="12700">
            <a:solidFill>
              <a:srgbClr val="B5501F"/>
            </a:solidFill>
            <a:prstDash val="solid"/>
          </a:ln>
        </p:spPr>
      </p:sp>
      <p:sp>
        <p:nvSpPr>
          <p:cNvPr id="34" name="Text 26"/>
          <p:cNvSpPr txBox="1"/>
          <p:nvPr/>
        </p:nvSpPr>
        <p:spPr>
          <a:xfrm>
            <a:off x="1920240"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사진 한 장으로 비파괴 · 원격 판정</a:t>
            </a:r>
            <a:endParaRPr lang="en-US" sz="1500" dirty="0"/>
          </a:p>
        </p:txBody>
      </p:sp>
      <p:sp>
        <p:nvSpPr>
          <p:cNvPr id="35" name="Shape 27"/>
          <p:cNvSpPr/>
          <p:nvPr/>
        </p:nvSpPr>
        <p:spPr>
          <a:xfrm>
            <a:off x="548640" y="4297680"/>
            <a:ext cx="960120" cy="960120"/>
          </a:xfrm>
          <a:prstGeom prst="ellipse">
            <a:avLst/>
          </a:prstGeom>
          <a:solidFill>
            <a:srgbClr val="B5501F"/>
          </a:solidFill>
          <a:ln w="38100">
            <a:solidFill>
              <a:srgbClr val="FFFFFF"/>
            </a:solidFill>
            <a:prstDash val="solid"/>
          </a:ln>
        </p:spPr>
      </p:sp>
      <p:sp>
        <p:nvSpPr>
          <p:cNvPr id="36" name="Text 28"/>
          <p:cNvSpPr txBox="1"/>
          <p:nvPr/>
        </p:nvSpPr>
        <p:spPr>
          <a:xfrm>
            <a:off x="548640"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1</a:t>
            </a:r>
            <a:endParaRPr lang="en-US" sz="1300" dirty="0"/>
          </a:p>
        </p:txBody>
      </p:sp>
      <p:sp>
        <p:nvSpPr>
          <p:cNvPr id="37" name="Shape 29"/>
          <p:cNvSpPr/>
          <p:nvPr/>
        </p:nvSpPr>
        <p:spPr>
          <a:xfrm>
            <a:off x="1920240" y="5102352"/>
            <a:ext cx="329184" cy="329184"/>
          </a:xfrm>
          <a:prstGeom prst="ellipse">
            <a:avLst/>
          </a:prstGeom>
          <a:solidFill>
            <a:srgbClr val="B5501F"/>
          </a:solidFill>
          <a:ln w="12700">
            <a:solidFill>
              <a:srgbClr val="B5501F"/>
            </a:solidFill>
            <a:prstDash val="solid"/>
          </a:ln>
        </p:spPr>
      </p:sp>
      <p:pic>
        <p:nvPicPr>
          <p:cNvPr id="38" name="Image 6" descr="preencoded.png"/>
          <p:cNvPicPr>
            <a:picLocks noChangeAspect="1"/>
          </p:cNvPicPr>
          <p:nvPr/>
        </p:nvPicPr>
        <p:blipFill>
          <a:blip r:embed="rId7"/>
          <a:stretch>
            <a:fillRect/>
          </a:stretch>
        </p:blipFill>
        <p:spPr>
          <a:xfrm>
            <a:off x="2005828" y="5187940"/>
            <a:ext cx="158008" cy="158008"/>
          </a:xfrm>
          <a:prstGeom prst="rect">
            <a:avLst/>
          </a:prstGeom>
        </p:spPr>
      </p:pic>
      <p:sp>
        <p:nvSpPr>
          <p:cNvPr id="39" name="Text 30"/>
          <p:cNvSpPr txBox="1"/>
          <p:nvPr/>
        </p:nvSpPr>
        <p:spPr>
          <a:xfrm>
            <a:off x="2359152"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시편 절단 · 실험실 분석 없이 판정</a:t>
            </a:r>
            <a:endParaRPr lang="en-US" sz="1350" dirty="0"/>
          </a:p>
        </p:txBody>
      </p:sp>
      <p:sp>
        <p:nvSpPr>
          <p:cNvPr id="40" name="Shape 31"/>
          <p:cNvSpPr/>
          <p:nvPr/>
        </p:nvSpPr>
        <p:spPr>
          <a:xfrm>
            <a:off x="1920240" y="5532120"/>
            <a:ext cx="329184" cy="329184"/>
          </a:xfrm>
          <a:prstGeom prst="ellipse">
            <a:avLst/>
          </a:prstGeom>
          <a:solidFill>
            <a:srgbClr val="B5501F"/>
          </a:solidFill>
          <a:ln w="12700">
            <a:solidFill>
              <a:srgbClr val="B5501F"/>
            </a:solidFill>
            <a:prstDash val="solid"/>
          </a:ln>
        </p:spPr>
      </p:sp>
      <p:pic>
        <p:nvPicPr>
          <p:cNvPr id="41" name="Image 7" descr="preencoded.png"/>
          <p:cNvPicPr>
            <a:picLocks noChangeAspect="1"/>
          </p:cNvPicPr>
          <p:nvPr/>
        </p:nvPicPr>
        <p:blipFill>
          <a:blip r:embed="rId8"/>
          <a:stretch>
            <a:fillRect/>
          </a:stretch>
        </p:blipFill>
        <p:spPr>
          <a:xfrm>
            <a:off x="2005828" y="5617708"/>
            <a:ext cx="158008" cy="158008"/>
          </a:xfrm>
          <a:prstGeom prst="rect">
            <a:avLst/>
          </a:prstGeom>
        </p:spPr>
      </p:pic>
      <p:sp>
        <p:nvSpPr>
          <p:cNvPr id="42" name="Text 32"/>
          <p:cNvSpPr txBox="1"/>
          <p:nvPr/>
        </p:nvSpPr>
        <p:spPr>
          <a:xfrm>
            <a:off x="2359152"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접근 어려운 비말대도 드론으로 촬영</a:t>
            </a:r>
            <a:endParaRPr lang="en-US" sz="1350" dirty="0"/>
          </a:p>
        </p:txBody>
      </p:sp>
      <p:sp>
        <p:nvSpPr>
          <p:cNvPr id="43" name="Shape 33"/>
          <p:cNvSpPr/>
          <p:nvPr/>
        </p:nvSpPr>
        <p:spPr>
          <a:xfrm>
            <a:off x="6644488" y="4480560"/>
            <a:ext cx="4998568" cy="1508760"/>
          </a:xfrm>
          <a:prstGeom prst="roundRect">
            <a:avLst>
              <a:gd name="adj" fmla="val 4848"/>
            </a:avLst>
          </a:prstGeom>
          <a:solidFill>
            <a:srgbClr val="FFFFFF"/>
          </a:solidFill>
          <a:ln w="12700">
            <a:solidFill>
              <a:srgbClr val="D9DCE0"/>
            </a:solidFill>
            <a:prstDash val="solid"/>
          </a:ln>
        </p:spPr>
      </p:sp>
      <p:sp>
        <p:nvSpPr>
          <p:cNvPr id="44" name="Shape 34"/>
          <p:cNvSpPr/>
          <p:nvPr/>
        </p:nvSpPr>
        <p:spPr>
          <a:xfrm>
            <a:off x="6644488" y="4480560"/>
            <a:ext cx="4998568" cy="438912"/>
          </a:xfrm>
          <a:prstGeom prst="rect">
            <a:avLst/>
          </a:prstGeom>
          <a:solidFill>
            <a:srgbClr val="2B2D31"/>
          </a:solidFill>
          <a:ln w="12700">
            <a:solidFill>
              <a:srgbClr val="2B2D31"/>
            </a:solidFill>
            <a:prstDash val="solid"/>
          </a:ln>
        </p:spPr>
      </p:sp>
      <p:sp>
        <p:nvSpPr>
          <p:cNvPr id="45" name="Text 35"/>
          <p:cNvSpPr txBox="1"/>
          <p:nvPr/>
        </p:nvSpPr>
        <p:spPr>
          <a:xfrm>
            <a:off x="7696048"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규제 주기 안에서 자원 배치 최적화</a:t>
            </a:r>
            <a:endParaRPr lang="en-US" sz="1500" dirty="0"/>
          </a:p>
        </p:txBody>
      </p:sp>
      <p:sp>
        <p:nvSpPr>
          <p:cNvPr id="46" name="Shape 36"/>
          <p:cNvSpPr/>
          <p:nvPr/>
        </p:nvSpPr>
        <p:spPr>
          <a:xfrm>
            <a:off x="6324448" y="4297680"/>
            <a:ext cx="960120" cy="960120"/>
          </a:xfrm>
          <a:prstGeom prst="ellipse">
            <a:avLst/>
          </a:prstGeom>
          <a:solidFill>
            <a:srgbClr val="2B2D31"/>
          </a:solidFill>
          <a:ln w="38100">
            <a:solidFill>
              <a:srgbClr val="FFFFFF"/>
            </a:solidFill>
            <a:prstDash val="solid"/>
          </a:ln>
        </p:spPr>
      </p:sp>
      <p:sp>
        <p:nvSpPr>
          <p:cNvPr id="47" name="Text 37"/>
          <p:cNvSpPr txBox="1"/>
          <p:nvPr/>
        </p:nvSpPr>
        <p:spPr>
          <a:xfrm>
            <a:off x="6324448"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2</a:t>
            </a:r>
            <a:endParaRPr lang="en-US" sz="1300" dirty="0"/>
          </a:p>
        </p:txBody>
      </p:sp>
      <p:sp>
        <p:nvSpPr>
          <p:cNvPr id="48" name="Shape 38"/>
          <p:cNvSpPr/>
          <p:nvPr/>
        </p:nvSpPr>
        <p:spPr>
          <a:xfrm>
            <a:off x="7696048" y="5102352"/>
            <a:ext cx="329184" cy="329184"/>
          </a:xfrm>
          <a:prstGeom prst="ellipse">
            <a:avLst/>
          </a:prstGeom>
          <a:solidFill>
            <a:srgbClr val="2B2D31"/>
          </a:solidFill>
          <a:ln w="12700">
            <a:solidFill>
              <a:srgbClr val="2B2D31"/>
            </a:solidFill>
            <a:prstDash val="solid"/>
          </a:ln>
        </p:spPr>
      </p:sp>
      <p:pic>
        <p:nvPicPr>
          <p:cNvPr id="49" name="Image 8" descr="preencoded.png"/>
          <p:cNvPicPr>
            <a:picLocks noChangeAspect="1"/>
          </p:cNvPicPr>
          <p:nvPr/>
        </p:nvPicPr>
        <p:blipFill>
          <a:blip r:embed="rId9"/>
          <a:stretch>
            <a:fillRect/>
          </a:stretch>
        </p:blipFill>
        <p:spPr>
          <a:xfrm>
            <a:off x="7781635" y="5187940"/>
            <a:ext cx="158008" cy="158008"/>
          </a:xfrm>
          <a:prstGeom prst="rect">
            <a:avLst/>
          </a:prstGeom>
        </p:spPr>
      </p:pic>
      <p:sp>
        <p:nvSpPr>
          <p:cNvPr id="50" name="Text 39"/>
          <p:cNvSpPr txBox="1"/>
          <p:nvPr/>
        </p:nvSpPr>
        <p:spPr>
          <a:xfrm>
            <a:off x="8134960"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위험 지점부터 사람 · 배 · 리프트 투입</a:t>
            </a:r>
            <a:endParaRPr lang="en-US" sz="1350" dirty="0"/>
          </a:p>
        </p:txBody>
      </p:sp>
      <p:sp>
        <p:nvSpPr>
          <p:cNvPr id="51" name="Shape 40"/>
          <p:cNvSpPr/>
          <p:nvPr/>
        </p:nvSpPr>
        <p:spPr>
          <a:xfrm>
            <a:off x="7696048" y="5532120"/>
            <a:ext cx="329184" cy="329184"/>
          </a:xfrm>
          <a:prstGeom prst="ellipse">
            <a:avLst/>
          </a:prstGeom>
          <a:solidFill>
            <a:srgbClr val="2B2D31"/>
          </a:solidFill>
          <a:ln w="12700">
            <a:solidFill>
              <a:srgbClr val="2B2D31"/>
            </a:solidFill>
            <a:prstDash val="solid"/>
          </a:ln>
        </p:spPr>
      </p:sp>
      <p:pic>
        <p:nvPicPr>
          <p:cNvPr id="52" name="Image 9" descr="preencoded.png"/>
          <p:cNvPicPr>
            <a:picLocks noChangeAspect="1"/>
          </p:cNvPicPr>
          <p:nvPr/>
        </p:nvPicPr>
        <p:blipFill>
          <a:blip r:embed="rId10"/>
          <a:stretch>
            <a:fillRect/>
          </a:stretch>
        </p:blipFill>
        <p:spPr>
          <a:xfrm>
            <a:off x="7781635" y="5617708"/>
            <a:ext cx="158008" cy="158008"/>
          </a:xfrm>
          <a:prstGeom prst="rect">
            <a:avLst/>
          </a:prstGeom>
        </p:spPr>
      </p:pic>
      <p:sp>
        <p:nvSpPr>
          <p:cNvPr id="53" name="Text 41"/>
          <p:cNvSpPr txBox="1"/>
          <p:nvPr/>
        </p:nvSpPr>
        <p:spPr>
          <a:xfrm>
            <a:off x="8134960"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로프 액세스 출동 여부 사전 판단</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Text 4"/>
          <p:cNvSpPr txBox="1"/>
          <p:nvPr/>
        </p:nvSpPr>
        <p:spPr>
          <a:xfrm>
            <a:off x="7528255" y="1051560"/>
            <a:ext cx="411480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탄소강 · 240시간 촉진부식 · 단계별 평균값</a:t>
            </a:r>
            <a:endParaRPr lang="en-US" sz="1000" dirty="0"/>
          </a:p>
        </p:txBody>
      </p:sp>
      <p:sp>
        <p:nvSpPr>
          <p:cNvPr id="7" name="Shape 5"/>
          <p:cNvSpPr/>
          <p:nvPr/>
        </p:nvSpPr>
        <p:spPr>
          <a:xfrm>
            <a:off x="548640" y="1417320"/>
            <a:ext cx="3246120" cy="3931920"/>
          </a:xfrm>
          <a:prstGeom prst="roundRect">
            <a:avLst>
              <a:gd name="adj" fmla="val 2254"/>
            </a:avLst>
          </a:prstGeom>
          <a:solidFill>
            <a:srgbClr val="F3F4F6"/>
          </a:solidFill>
          <a:ln w="12700">
            <a:solidFill>
              <a:srgbClr val="F3F4F6"/>
            </a:solidFill>
            <a:prstDash val="solid"/>
          </a:ln>
        </p:spPr>
      </p:sp>
      <p:sp>
        <p:nvSpPr>
          <p:cNvPr id="8" name="Shape 6"/>
          <p:cNvSpPr/>
          <p:nvPr/>
        </p:nvSpPr>
        <p:spPr>
          <a:xfrm>
            <a:off x="777240" y="1645920"/>
            <a:ext cx="1417320" cy="329184"/>
          </a:xfrm>
          <a:prstGeom prst="roundRect">
            <a:avLst>
              <a:gd name="adj" fmla="val 50000"/>
            </a:avLst>
          </a:prstGeom>
          <a:solidFill>
            <a:srgbClr val="3A6EA5"/>
          </a:solidFill>
          <a:ln w="12700">
            <a:solidFill>
              <a:srgbClr val="3A6EA5"/>
            </a:solidFill>
            <a:prstDash val="solid"/>
          </a:ln>
        </p:spPr>
      </p:sp>
      <p:sp>
        <p:nvSpPr>
          <p:cNvPr id="9" name="Text 7"/>
          <p:cNvSpPr txBox="1"/>
          <p:nvPr/>
        </p:nvSpPr>
        <p:spPr>
          <a:xfrm>
            <a:off x="777240"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낮음</a:t>
            </a:r>
            <a:endParaRPr lang="en-US" sz="1250" dirty="0"/>
          </a:p>
        </p:txBody>
      </p:sp>
      <p:sp>
        <p:nvSpPr>
          <p:cNvPr id="10" name="Text 8"/>
          <p:cNvSpPr txBox="1"/>
          <p:nvPr/>
        </p:nvSpPr>
        <p:spPr>
          <a:xfrm>
            <a:off x="2377440"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24시간</a:t>
            </a:r>
            <a:endParaRPr lang="en-US" sz="1200" dirty="0"/>
          </a:p>
        </p:txBody>
      </p:sp>
      <p:pic>
        <p:nvPicPr>
          <p:cNvPr id="11" name="Image 0" descr="/home/user/PPT/src/img/photo_3.png"/>
          <p:cNvPicPr>
            <a:picLocks noChangeAspect="1"/>
          </p:cNvPicPr>
          <p:nvPr/>
        </p:nvPicPr>
        <p:blipFill>
          <a:blip r:embed="rId3"/>
          <a:stretch>
            <a:fillRect/>
          </a:stretch>
        </p:blipFill>
        <p:spPr>
          <a:xfrm>
            <a:off x="1325880" y="2148840"/>
            <a:ext cx="1691640" cy="1691640"/>
          </a:xfrm>
          <a:prstGeom prst="rect">
            <a:avLst/>
          </a:prstGeom>
        </p:spPr>
      </p:pic>
      <p:sp>
        <p:nvSpPr>
          <p:cNvPr id="12" name="Shape 9"/>
          <p:cNvSpPr/>
          <p:nvPr/>
        </p:nvSpPr>
        <p:spPr>
          <a:xfrm>
            <a:off x="777240" y="4023360"/>
            <a:ext cx="1325880" cy="685800"/>
          </a:xfrm>
          <a:prstGeom prst="rect">
            <a:avLst/>
          </a:prstGeom>
          <a:solidFill>
            <a:srgbClr val="4B4A48"/>
          </a:solidFill>
          <a:ln w="12700">
            <a:solidFill>
              <a:srgbClr val="4B4A48"/>
            </a:solidFill>
            <a:prstDash val="solid"/>
          </a:ln>
        </p:spPr>
      </p:sp>
      <p:sp>
        <p:nvSpPr>
          <p:cNvPr id="13" name="Text 10"/>
          <p:cNvSpPr txBox="1"/>
          <p:nvPr/>
        </p:nvSpPr>
        <p:spPr>
          <a:xfrm>
            <a:off x="868680"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14" name="Text 11"/>
          <p:cNvSpPr txBox="1"/>
          <p:nvPr/>
        </p:nvSpPr>
        <p:spPr>
          <a:xfrm>
            <a:off x="868680"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1.7</a:t>
            </a:r>
            <a:endParaRPr lang="en-US" sz="1800" dirty="0"/>
          </a:p>
        </p:txBody>
      </p:sp>
      <p:sp>
        <p:nvSpPr>
          <p:cNvPr id="15" name="Shape 12"/>
          <p:cNvSpPr/>
          <p:nvPr/>
        </p:nvSpPr>
        <p:spPr>
          <a:xfrm>
            <a:off x="2240280" y="4023360"/>
            <a:ext cx="1325880" cy="685800"/>
          </a:xfrm>
          <a:prstGeom prst="rect">
            <a:avLst/>
          </a:prstGeom>
          <a:solidFill>
            <a:srgbClr val="FFFFFF"/>
          </a:solidFill>
          <a:ln w="12700">
            <a:solidFill>
              <a:srgbClr val="D9DCE0"/>
            </a:solidFill>
            <a:prstDash val="solid"/>
          </a:ln>
        </p:spPr>
      </p:sp>
      <p:sp>
        <p:nvSpPr>
          <p:cNvPr id="16" name="Text 13"/>
          <p:cNvSpPr txBox="1"/>
          <p:nvPr/>
        </p:nvSpPr>
        <p:spPr>
          <a:xfrm>
            <a:off x="2331720"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17" name="Text 14"/>
          <p:cNvSpPr txBox="1"/>
          <p:nvPr/>
        </p:nvSpPr>
        <p:spPr>
          <a:xfrm>
            <a:off x="2331720" y="4297680"/>
            <a:ext cx="1143000" cy="365760"/>
          </a:xfrm>
          <a:prstGeom prst="rect">
            <a:avLst/>
          </a:prstGeom>
          <a:noFill/>
          <a:ln/>
        </p:spPr>
        <p:txBody>
          <a:bodyPr wrap="square" lIns="0" tIns="0" rIns="0" bIns="0" rtlCol="0" anchor="ctr"/>
          <a:lstStyle/>
          <a:p>
            <a:pPr marL="0" indent="0">
              <a:buNone/>
            </a:pPr>
            <a:r>
              <a:rPr lang="en-US" sz="1800" b="1" dirty="0">
                <a:solidFill>
                  <a:srgbClr val="3A6EA5"/>
                </a:solidFill>
                <a:latin typeface="맑은 고딕" pitchFamily="34" charset="0"/>
                <a:ea typeface="맑은 고딕" pitchFamily="34" charset="-122"/>
                <a:cs typeface="맑은 고딕" pitchFamily="34" charset="-120"/>
              </a:rPr>
              <a:t>0.34</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18" name="Shape 15"/>
          <p:cNvSpPr/>
          <p:nvPr/>
        </p:nvSpPr>
        <p:spPr>
          <a:xfrm>
            <a:off x="777240" y="4910328"/>
            <a:ext cx="2788920" cy="182880"/>
          </a:xfrm>
          <a:prstGeom prst="roundRect">
            <a:avLst>
              <a:gd name="adj" fmla="val 50000"/>
            </a:avLst>
          </a:prstGeom>
          <a:solidFill>
            <a:srgbClr val="E2E4E8"/>
          </a:solidFill>
          <a:ln w="12700">
            <a:solidFill>
              <a:srgbClr val="E2E4E8"/>
            </a:solidFill>
            <a:prstDash val="solid"/>
          </a:ln>
        </p:spPr>
      </p:sp>
      <p:sp>
        <p:nvSpPr>
          <p:cNvPr id="19" name="Shape 16"/>
          <p:cNvSpPr/>
          <p:nvPr/>
        </p:nvSpPr>
        <p:spPr>
          <a:xfrm>
            <a:off x="777240" y="4910328"/>
            <a:ext cx="653954" cy="182880"/>
          </a:xfrm>
          <a:prstGeom prst="roundRect">
            <a:avLst>
              <a:gd name="adj" fmla="val 50000"/>
            </a:avLst>
          </a:prstGeom>
          <a:solidFill>
            <a:srgbClr val="3A6EA5"/>
          </a:solidFill>
          <a:ln w="12700">
            <a:solidFill>
              <a:srgbClr val="3A6EA5"/>
            </a:solidFill>
            <a:prstDash val="solid"/>
          </a:ln>
        </p:spPr>
      </p:sp>
      <p:pic>
        <p:nvPicPr>
          <p:cNvPr id="20" name="Image 1" descr="preencoded.png"/>
          <p:cNvPicPr>
            <a:picLocks noChangeAspect="1"/>
          </p:cNvPicPr>
          <p:nvPr/>
        </p:nvPicPr>
        <p:blipFill>
          <a:blip r:embed="rId4"/>
          <a:stretch>
            <a:fillRect/>
          </a:stretch>
        </p:blipFill>
        <p:spPr>
          <a:xfrm>
            <a:off x="3987470" y="2834640"/>
            <a:ext cx="292608" cy="292608"/>
          </a:xfrm>
          <a:prstGeom prst="rect">
            <a:avLst/>
          </a:prstGeom>
        </p:spPr>
      </p:pic>
      <p:sp>
        <p:nvSpPr>
          <p:cNvPr id="21" name="Shape 17"/>
          <p:cNvSpPr/>
          <p:nvPr/>
        </p:nvSpPr>
        <p:spPr>
          <a:xfrm>
            <a:off x="4472788" y="1417320"/>
            <a:ext cx="3246120" cy="3931920"/>
          </a:xfrm>
          <a:prstGeom prst="roundRect">
            <a:avLst>
              <a:gd name="adj" fmla="val 2254"/>
            </a:avLst>
          </a:prstGeom>
          <a:solidFill>
            <a:srgbClr val="F3F4F6"/>
          </a:solidFill>
          <a:ln w="12700">
            <a:solidFill>
              <a:srgbClr val="F3F4F6"/>
            </a:solidFill>
            <a:prstDash val="solid"/>
          </a:ln>
        </p:spPr>
      </p:sp>
      <p:sp>
        <p:nvSpPr>
          <p:cNvPr id="22" name="Shape 18"/>
          <p:cNvSpPr/>
          <p:nvPr/>
        </p:nvSpPr>
        <p:spPr>
          <a:xfrm>
            <a:off x="4701388" y="1645920"/>
            <a:ext cx="1417320" cy="329184"/>
          </a:xfrm>
          <a:prstGeom prst="roundRect">
            <a:avLst>
              <a:gd name="adj" fmla="val 50000"/>
            </a:avLst>
          </a:prstGeom>
          <a:solidFill>
            <a:srgbClr val="3C8D5A"/>
          </a:solidFill>
          <a:ln w="12700">
            <a:solidFill>
              <a:srgbClr val="3C8D5A"/>
            </a:solidFill>
            <a:prstDash val="solid"/>
          </a:ln>
        </p:spPr>
      </p:sp>
      <p:sp>
        <p:nvSpPr>
          <p:cNvPr id="23" name="Text 19"/>
          <p:cNvSpPr txBox="1"/>
          <p:nvPr/>
        </p:nvSpPr>
        <p:spPr>
          <a:xfrm>
            <a:off x="4701388"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중간</a:t>
            </a:r>
            <a:endParaRPr lang="en-US" sz="1250" dirty="0"/>
          </a:p>
        </p:txBody>
      </p:sp>
      <p:sp>
        <p:nvSpPr>
          <p:cNvPr id="24" name="Text 20"/>
          <p:cNvSpPr txBox="1"/>
          <p:nvPr/>
        </p:nvSpPr>
        <p:spPr>
          <a:xfrm>
            <a:off x="6301588"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120시간</a:t>
            </a:r>
            <a:endParaRPr lang="en-US" sz="1200" dirty="0"/>
          </a:p>
        </p:txBody>
      </p:sp>
      <p:pic>
        <p:nvPicPr>
          <p:cNvPr id="25" name="Image 2" descr="/home/user/PPT/src/img/photo_15.png"/>
          <p:cNvPicPr>
            <a:picLocks noChangeAspect="1"/>
          </p:cNvPicPr>
          <p:nvPr/>
        </p:nvPicPr>
        <p:blipFill>
          <a:blip r:embed="rId5"/>
          <a:stretch>
            <a:fillRect/>
          </a:stretch>
        </p:blipFill>
        <p:spPr>
          <a:xfrm>
            <a:off x="5250028" y="2148840"/>
            <a:ext cx="1691640" cy="1691640"/>
          </a:xfrm>
          <a:prstGeom prst="rect">
            <a:avLst/>
          </a:prstGeom>
        </p:spPr>
      </p:pic>
      <p:sp>
        <p:nvSpPr>
          <p:cNvPr id="26" name="Shape 21"/>
          <p:cNvSpPr/>
          <p:nvPr/>
        </p:nvSpPr>
        <p:spPr>
          <a:xfrm>
            <a:off x="4701388" y="4023360"/>
            <a:ext cx="1325880" cy="685800"/>
          </a:xfrm>
          <a:prstGeom prst="rect">
            <a:avLst/>
          </a:prstGeom>
          <a:solidFill>
            <a:srgbClr val="4B4034"/>
          </a:solidFill>
          <a:ln w="12700">
            <a:solidFill>
              <a:srgbClr val="4B4034"/>
            </a:solidFill>
            <a:prstDash val="solid"/>
          </a:ln>
        </p:spPr>
      </p:sp>
      <p:sp>
        <p:nvSpPr>
          <p:cNvPr id="27" name="Text 22"/>
          <p:cNvSpPr txBox="1"/>
          <p:nvPr/>
        </p:nvSpPr>
        <p:spPr>
          <a:xfrm>
            <a:off x="4792828"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28" name="Text 23"/>
          <p:cNvSpPr txBox="1"/>
          <p:nvPr/>
        </p:nvSpPr>
        <p:spPr>
          <a:xfrm>
            <a:off x="4792828"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9.4</a:t>
            </a:r>
            <a:endParaRPr lang="en-US" sz="1800" dirty="0"/>
          </a:p>
        </p:txBody>
      </p:sp>
      <p:sp>
        <p:nvSpPr>
          <p:cNvPr id="29" name="Shape 24"/>
          <p:cNvSpPr/>
          <p:nvPr/>
        </p:nvSpPr>
        <p:spPr>
          <a:xfrm>
            <a:off x="6164428" y="4023360"/>
            <a:ext cx="1325880" cy="685800"/>
          </a:xfrm>
          <a:prstGeom prst="rect">
            <a:avLst/>
          </a:prstGeom>
          <a:solidFill>
            <a:srgbClr val="FFFFFF"/>
          </a:solidFill>
          <a:ln w="12700">
            <a:solidFill>
              <a:srgbClr val="D9DCE0"/>
            </a:solidFill>
            <a:prstDash val="solid"/>
          </a:ln>
        </p:spPr>
      </p:sp>
      <p:sp>
        <p:nvSpPr>
          <p:cNvPr id="30" name="Text 25"/>
          <p:cNvSpPr txBox="1"/>
          <p:nvPr/>
        </p:nvSpPr>
        <p:spPr>
          <a:xfrm>
            <a:off x="6255868"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31" name="Text 26"/>
          <p:cNvSpPr txBox="1"/>
          <p:nvPr/>
        </p:nvSpPr>
        <p:spPr>
          <a:xfrm>
            <a:off x="6255868" y="4297680"/>
            <a:ext cx="1143000" cy="365760"/>
          </a:xfrm>
          <a:prstGeom prst="rect">
            <a:avLst/>
          </a:prstGeom>
          <a:noFill/>
          <a:ln/>
        </p:spPr>
        <p:txBody>
          <a:bodyPr wrap="square" lIns="0" tIns="0" rIns="0" bIns="0" rtlCol="0" anchor="ctr"/>
          <a:lstStyle/>
          <a:p>
            <a:pPr marL="0" indent="0">
              <a:buNone/>
            </a:pPr>
            <a:r>
              <a:rPr lang="en-US" sz="1800" b="1" dirty="0">
                <a:solidFill>
                  <a:srgbClr val="3C8D5A"/>
                </a:solidFill>
                <a:latin typeface="맑은 고딕" pitchFamily="34" charset="0"/>
                <a:ea typeface="맑은 고딕" pitchFamily="34" charset="-122"/>
                <a:cs typeface="맑은 고딕" pitchFamily="34" charset="-120"/>
              </a:rPr>
              <a:t>0.68</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32" name="Shape 27"/>
          <p:cNvSpPr/>
          <p:nvPr/>
        </p:nvSpPr>
        <p:spPr>
          <a:xfrm>
            <a:off x="4701388" y="4910328"/>
            <a:ext cx="2788920" cy="182880"/>
          </a:xfrm>
          <a:prstGeom prst="roundRect">
            <a:avLst>
              <a:gd name="adj" fmla="val 50000"/>
            </a:avLst>
          </a:prstGeom>
          <a:solidFill>
            <a:srgbClr val="E2E4E8"/>
          </a:solidFill>
          <a:ln w="12700">
            <a:solidFill>
              <a:srgbClr val="E2E4E8"/>
            </a:solidFill>
            <a:prstDash val="solid"/>
          </a:ln>
        </p:spPr>
      </p:sp>
      <p:sp>
        <p:nvSpPr>
          <p:cNvPr id="33" name="Shape 28"/>
          <p:cNvSpPr/>
          <p:nvPr/>
        </p:nvSpPr>
        <p:spPr>
          <a:xfrm>
            <a:off x="4701388" y="4910328"/>
            <a:ext cx="1307907" cy="182880"/>
          </a:xfrm>
          <a:prstGeom prst="roundRect">
            <a:avLst>
              <a:gd name="adj" fmla="val 50000"/>
            </a:avLst>
          </a:prstGeom>
          <a:solidFill>
            <a:srgbClr val="3C8D5A"/>
          </a:solidFill>
          <a:ln w="12700">
            <a:solidFill>
              <a:srgbClr val="3C8D5A"/>
            </a:solidFill>
            <a:prstDash val="solid"/>
          </a:ln>
        </p:spPr>
      </p:sp>
      <p:pic>
        <p:nvPicPr>
          <p:cNvPr id="34" name="Image 3" descr="preencoded.png"/>
          <p:cNvPicPr>
            <a:picLocks noChangeAspect="1"/>
          </p:cNvPicPr>
          <p:nvPr/>
        </p:nvPicPr>
        <p:blipFill>
          <a:blip r:embed="rId4"/>
          <a:stretch>
            <a:fillRect/>
          </a:stretch>
        </p:blipFill>
        <p:spPr>
          <a:xfrm>
            <a:off x="7911617" y="2834640"/>
            <a:ext cx="292608" cy="292608"/>
          </a:xfrm>
          <a:prstGeom prst="rect">
            <a:avLst/>
          </a:prstGeom>
        </p:spPr>
      </p:pic>
      <p:sp>
        <p:nvSpPr>
          <p:cNvPr id="35" name="Shape 29"/>
          <p:cNvSpPr/>
          <p:nvPr/>
        </p:nvSpPr>
        <p:spPr>
          <a:xfrm>
            <a:off x="8396935" y="1417320"/>
            <a:ext cx="3246120" cy="3931920"/>
          </a:xfrm>
          <a:prstGeom prst="roundRect">
            <a:avLst>
              <a:gd name="adj" fmla="val 2254"/>
            </a:avLst>
          </a:prstGeom>
          <a:solidFill>
            <a:srgbClr val="F3F4F6"/>
          </a:solidFill>
          <a:ln w="12700">
            <a:solidFill>
              <a:srgbClr val="F3F4F6"/>
            </a:solidFill>
            <a:prstDash val="solid"/>
          </a:ln>
        </p:spPr>
      </p:sp>
      <p:sp>
        <p:nvSpPr>
          <p:cNvPr id="36" name="Shape 30"/>
          <p:cNvSpPr/>
          <p:nvPr/>
        </p:nvSpPr>
        <p:spPr>
          <a:xfrm>
            <a:off x="8625535" y="1645920"/>
            <a:ext cx="1417320" cy="329184"/>
          </a:xfrm>
          <a:prstGeom prst="roundRect">
            <a:avLst>
              <a:gd name="adj" fmla="val 50000"/>
            </a:avLst>
          </a:prstGeom>
          <a:solidFill>
            <a:srgbClr val="B23A2E"/>
          </a:solidFill>
          <a:ln w="12700">
            <a:solidFill>
              <a:srgbClr val="B23A2E"/>
            </a:solidFill>
            <a:prstDash val="solid"/>
          </a:ln>
        </p:spPr>
      </p:sp>
      <p:sp>
        <p:nvSpPr>
          <p:cNvPr id="37" name="Text 31"/>
          <p:cNvSpPr txBox="1"/>
          <p:nvPr/>
        </p:nvSpPr>
        <p:spPr>
          <a:xfrm>
            <a:off x="8625535"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높음</a:t>
            </a:r>
            <a:endParaRPr lang="en-US" sz="1250" dirty="0"/>
          </a:p>
        </p:txBody>
      </p:sp>
      <p:sp>
        <p:nvSpPr>
          <p:cNvPr id="38" name="Text 32"/>
          <p:cNvSpPr txBox="1"/>
          <p:nvPr/>
        </p:nvSpPr>
        <p:spPr>
          <a:xfrm>
            <a:off x="10225735"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240시간</a:t>
            </a:r>
            <a:endParaRPr lang="en-US" sz="1200" dirty="0"/>
          </a:p>
        </p:txBody>
      </p:sp>
      <p:pic>
        <p:nvPicPr>
          <p:cNvPr id="39" name="Image 4" descr="/home/user/PPT/src/img/photo_30.png"/>
          <p:cNvPicPr>
            <a:picLocks noChangeAspect="1"/>
          </p:cNvPicPr>
          <p:nvPr/>
        </p:nvPicPr>
        <p:blipFill>
          <a:blip r:embed="rId6"/>
          <a:stretch>
            <a:fillRect/>
          </a:stretch>
        </p:blipFill>
        <p:spPr>
          <a:xfrm>
            <a:off x="9174175" y="2148840"/>
            <a:ext cx="1691640" cy="1691640"/>
          </a:xfrm>
          <a:prstGeom prst="rect">
            <a:avLst/>
          </a:prstGeom>
        </p:spPr>
      </p:pic>
      <p:sp>
        <p:nvSpPr>
          <p:cNvPr id="40" name="Shape 33"/>
          <p:cNvSpPr/>
          <p:nvPr/>
        </p:nvSpPr>
        <p:spPr>
          <a:xfrm>
            <a:off x="8625535" y="4023360"/>
            <a:ext cx="1325880" cy="685800"/>
          </a:xfrm>
          <a:prstGeom prst="rect">
            <a:avLst/>
          </a:prstGeom>
          <a:solidFill>
            <a:srgbClr val="4C3C2C"/>
          </a:solidFill>
          <a:ln w="12700">
            <a:solidFill>
              <a:srgbClr val="4C3C2C"/>
            </a:solidFill>
            <a:prstDash val="solid"/>
          </a:ln>
        </p:spPr>
      </p:sp>
      <p:sp>
        <p:nvSpPr>
          <p:cNvPr id="41" name="Text 34"/>
          <p:cNvSpPr txBox="1"/>
          <p:nvPr/>
        </p:nvSpPr>
        <p:spPr>
          <a:xfrm>
            <a:off x="8716975"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42" name="Text 35"/>
          <p:cNvSpPr txBox="1"/>
          <p:nvPr/>
        </p:nvSpPr>
        <p:spPr>
          <a:xfrm>
            <a:off x="8716975"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13.1</a:t>
            </a:r>
            <a:endParaRPr lang="en-US" sz="1800" dirty="0"/>
          </a:p>
        </p:txBody>
      </p:sp>
      <p:sp>
        <p:nvSpPr>
          <p:cNvPr id="43" name="Shape 36"/>
          <p:cNvSpPr/>
          <p:nvPr/>
        </p:nvSpPr>
        <p:spPr>
          <a:xfrm>
            <a:off x="10088575" y="4023360"/>
            <a:ext cx="1325880" cy="685800"/>
          </a:xfrm>
          <a:prstGeom prst="rect">
            <a:avLst/>
          </a:prstGeom>
          <a:solidFill>
            <a:srgbClr val="FFFFFF"/>
          </a:solidFill>
          <a:ln w="12700">
            <a:solidFill>
              <a:srgbClr val="D9DCE0"/>
            </a:solidFill>
            <a:prstDash val="solid"/>
          </a:ln>
        </p:spPr>
      </p:sp>
      <p:sp>
        <p:nvSpPr>
          <p:cNvPr id="44" name="Text 37"/>
          <p:cNvSpPr txBox="1"/>
          <p:nvPr/>
        </p:nvSpPr>
        <p:spPr>
          <a:xfrm>
            <a:off x="10180015"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45" name="Text 38"/>
          <p:cNvSpPr txBox="1"/>
          <p:nvPr/>
        </p:nvSpPr>
        <p:spPr>
          <a:xfrm>
            <a:off x="10180015" y="4297680"/>
            <a:ext cx="1143000" cy="365760"/>
          </a:xfrm>
          <a:prstGeom prst="rect">
            <a:avLst/>
          </a:prstGeom>
          <a:noFill/>
          <a:ln/>
        </p:spPr>
        <p:txBody>
          <a:bodyPr wrap="square" lIns="0" tIns="0" rIns="0" bIns="0" rtlCol="0" anchor="ctr"/>
          <a:lstStyle/>
          <a:p>
            <a:pPr marL="0" indent="0">
              <a:buNone/>
            </a:pPr>
            <a:r>
              <a:rPr lang="en-US" sz="1800" b="1" dirty="0">
                <a:solidFill>
                  <a:srgbClr val="B23A2E"/>
                </a:solidFill>
                <a:latin typeface="맑은 고딕" pitchFamily="34" charset="0"/>
                <a:ea typeface="맑은 고딕" pitchFamily="34" charset="-122"/>
                <a:cs typeface="맑은 고딕" pitchFamily="34" charset="-120"/>
              </a:rPr>
              <a:t>1.45</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46" name="Shape 39"/>
          <p:cNvSpPr/>
          <p:nvPr/>
        </p:nvSpPr>
        <p:spPr>
          <a:xfrm>
            <a:off x="8625535" y="4910328"/>
            <a:ext cx="2788920" cy="182880"/>
          </a:xfrm>
          <a:prstGeom prst="roundRect">
            <a:avLst>
              <a:gd name="adj" fmla="val 50000"/>
            </a:avLst>
          </a:prstGeom>
          <a:solidFill>
            <a:srgbClr val="E2E4E8"/>
          </a:solidFill>
          <a:ln w="12700">
            <a:solidFill>
              <a:srgbClr val="E2E4E8"/>
            </a:solidFill>
            <a:prstDash val="solid"/>
          </a:ln>
        </p:spPr>
      </p:sp>
      <p:sp>
        <p:nvSpPr>
          <p:cNvPr id="47" name="Shape 40"/>
          <p:cNvSpPr/>
          <p:nvPr/>
        </p:nvSpPr>
        <p:spPr>
          <a:xfrm>
            <a:off x="8625535" y="4910328"/>
            <a:ext cx="2788920" cy="182880"/>
          </a:xfrm>
          <a:prstGeom prst="roundRect">
            <a:avLst>
              <a:gd name="adj" fmla="val 50000"/>
            </a:avLst>
          </a:prstGeom>
          <a:solidFill>
            <a:srgbClr val="B23A2E"/>
          </a:solidFill>
          <a:ln w="12700">
            <a:solidFill>
              <a:srgbClr val="B23A2E"/>
            </a:solidFill>
            <a:prstDash val="solid"/>
          </a:ln>
        </p:spPr>
      </p:sp>
      <p:sp>
        <p:nvSpPr>
          <p:cNvPr id="48" name="Shape 41"/>
          <p:cNvSpPr/>
          <p:nvPr/>
        </p:nvSpPr>
        <p:spPr>
          <a:xfrm>
            <a:off x="9539935" y="5458968"/>
            <a:ext cx="2103120" cy="329184"/>
          </a:xfrm>
          <a:prstGeom prst="roundRect">
            <a:avLst>
              <a:gd name="adj" fmla="val 50000"/>
            </a:avLst>
          </a:prstGeom>
          <a:solidFill>
            <a:srgbClr val="B23A2E"/>
          </a:solidFill>
          <a:ln w="12700">
            <a:solidFill>
              <a:srgbClr val="B23A2E"/>
            </a:solidFill>
            <a:prstDash val="solid"/>
          </a:ln>
        </p:spPr>
      </p:sp>
      <p:sp>
        <p:nvSpPr>
          <p:cNvPr id="49" name="Text 42"/>
          <p:cNvSpPr txBox="1"/>
          <p:nvPr/>
        </p:nvSpPr>
        <p:spPr>
          <a:xfrm>
            <a:off x="9539935" y="5458968"/>
            <a:ext cx="21031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부식 속도 약 4배 ↑</a:t>
            </a:r>
            <a:endParaRPr lang="en-US" sz="1250" dirty="0"/>
          </a:p>
        </p:txBody>
      </p:sp>
      <p:sp>
        <p:nvSpPr>
          <p:cNvPr id="50" name="Text 43"/>
          <p:cNvSpPr txBox="1"/>
          <p:nvPr/>
        </p:nvSpPr>
        <p:spPr>
          <a:xfrm>
            <a:off x="54864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ρ = 0.88  </a:t>
            </a:r>
            <a:r>
              <a:rPr lang="en-US" sz="1100" dirty="0">
                <a:solidFill>
                  <a:srgbClr val="6B6F76"/>
                </a:solidFill>
                <a:latin typeface="맑은 고딕" pitchFamily="34" charset="0"/>
                <a:ea typeface="맑은 고딕" pitchFamily="34" charset="-122"/>
                <a:cs typeface="맑은 고딕" pitchFamily="34" charset="-120"/>
              </a:rPr>
              <a:t>색–속도 순위 상관</a:t>
            </a:r>
            <a:endParaRPr lang="en-US" sz="1400" dirty="0"/>
          </a:p>
        </p:txBody>
      </p:sp>
      <p:sp>
        <p:nvSpPr>
          <p:cNvPr id="51" name="Text 44"/>
          <p:cNvSpPr txBox="1"/>
          <p:nvPr/>
        </p:nvSpPr>
        <p:spPr>
          <a:xfrm>
            <a:off x="342900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3개 구간  </a:t>
            </a:r>
            <a:r>
              <a:rPr lang="en-US" sz="1100" dirty="0">
                <a:solidFill>
                  <a:srgbClr val="6B6F76"/>
                </a:solidFill>
                <a:latin typeface="맑은 고딕" pitchFamily="34" charset="0"/>
                <a:ea typeface="맑은 고딕" pitchFamily="34" charset="-122"/>
                <a:cs typeface="맑은 고딕" pitchFamily="34" charset="-120"/>
              </a:rPr>
              <a:t>위험도별 속도 분리</a:t>
            </a:r>
            <a:endParaRPr lang="en-US" sz="1400" dirty="0"/>
          </a:p>
        </p:txBody>
      </p:sp>
      <p:sp>
        <p:nvSpPr>
          <p:cNvPr id="52" name="Text 45"/>
          <p:cNvSpPr txBox="1"/>
          <p:nvPr/>
        </p:nvSpPr>
        <p:spPr>
          <a:xfrm>
            <a:off x="630936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6가지 분석  </a:t>
            </a:r>
            <a:r>
              <a:rPr lang="en-US" sz="1100" dirty="0">
                <a:solidFill>
                  <a:srgbClr val="6B6F76"/>
                </a:solidFill>
                <a:latin typeface="맑은 고딕" pitchFamily="34" charset="0"/>
                <a:ea typeface="맑은 고딕" pitchFamily="34" charset="-122"/>
                <a:cs typeface="맑은 고딕" pitchFamily="34" charset="-120"/>
              </a:rPr>
              <a:t>교차 검증 완료</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1270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marL="0" indent="0" algn="r">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1270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marL="0" indent="0" algn="r">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1270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marL="0" indent="0" algn="r">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30" name="Shape 28"/>
          <p:cNvSpPr/>
          <p:nvPr/>
        </p:nvSpPr>
        <p:spPr>
          <a:xfrm>
            <a:off x="548640" y="3703320"/>
            <a:ext cx="5410048" cy="2377440"/>
          </a:xfrm>
          <a:prstGeom prst="roundRect">
            <a:avLst>
              <a:gd name="adj" fmla="val 3077"/>
            </a:avLst>
          </a:prstGeom>
          <a:solidFill>
            <a:srgbClr val="F3F4F6"/>
          </a:solidFill>
          <a:ln w="12700">
            <a:solidFill>
              <a:srgbClr val="F3F4F6"/>
            </a:solidFill>
            <a:prstDash val="solid"/>
          </a:ln>
        </p:spPr>
      </p:sp>
      <p:sp>
        <p:nvSpPr>
          <p:cNvPr id="31" name="Text 29"/>
          <p:cNvSpPr txBox="1"/>
          <p:nvPr/>
        </p:nvSpPr>
        <p:spPr>
          <a:xfrm>
            <a:off x="822960" y="3886200"/>
            <a:ext cx="4952848" cy="292608"/>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구매를 움직이는 3가지 동기</a:t>
            </a:r>
            <a:endParaRPr lang="en-US" sz="1300" dirty="0"/>
          </a:p>
        </p:txBody>
      </p:sp>
      <p:sp>
        <p:nvSpPr>
          <p:cNvPr id="32" name="Shape 30"/>
          <p:cNvSpPr/>
          <p:nvPr/>
        </p:nvSpPr>
        <p:spPr>
          <a:xfrm>
            <a:off x="822960" y="4343400"/>
            <a:ext cx="420624" cy="420624"/>
          </a:xfrm>
          <a:prstGeom prst="ellipse">
            <a:avLst/>
          </a:prstGeom>
          <a:solidFill>
            <a:srgbClr val="2B2D31"/>
          </a:solidFill>
          <a:ln w="12700">
            <a:solidFill>
              <a:srgbClr val="2B2D31"/>
            </a:solidFill>
            <a:prstDash val="solid"/>
          </a:ln>
        </p:spPr>
      </p:sp>
      <p:pic>
        <p:nvPicPr>
          <p:cNvPr id="33" name="Image 0" descr="preencoded.png"/>
          <p:cNvPicPr>
            <a:picLocks noChangeAspect="1"/>
          </p:cNvPicPr>
          <p:nvPr/>
        </p:nvPicPr>
        <p:blipFill>
          <a:blip r:embed="rId3"/>
          <a:stretch>
            <a:fillRect/>
          </a:stretch>
        </p:blipFill>
        <p:spPr>
          <a:xfrm>
            <a:off x="932322" y="4452762"/>
            <a:ext cx="201900" cy="201900"/>
          </a:xfrm>
          <a:prstGeom prst="rect">
            <a:avLst/>
          </a:prstGeom>
        </p:spPr>
      </p:pic>
      <p:sp>
        <p:nvSpPr>
          <p:cNvPr id="34" name="Text 31"/>
          <p:cNvSpPr txBox="1"/>
          <p:nvPr/>
        </p:nvSpPr>
        <p:spPr>
          <a:xfrm>
            <a:off x="1417320" y="434340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안전   </a:t>
            </a:r>
            <a:r>
              <a:rPr lang="en-US" sz="1300" dirty="0">
                <a:solidFill>
                  <a:srgbClr val="6B6F76"/>
                </a:solidFill>
                <a:latin typeface="맑은 고딕" pitchFamily="34" charset="0"/>
                <a:ea typeface="맑은 고딕" pitchFamily="34" charset="-122"/>
                <a:cs typeface="맑은 고딕" pitchFamily="34" charset="-120"/>
              </a:rPr>
              <a:t>놓친 부식 → 사고</a:t>
            </a:r>
            <a:endParaRPr lang="en-US" sz="1400" dirty="0"/>
          </a:p>
        </p:txBody>
      </p:sp>
      <p:sp>
        <p:nvSpPr>
          <p:cNvPr id="35" name="Shape 32"/>
          <p:cNvSpPr/>
          <p:nvPr/>
        </p:nvSpPr>
        <p:spPr>
          <a:xfrm>
            <a:off x="822960" y="4892040"/>
            <a:ext cx="420624" cy="420624"/>
          </a:xfrm>
          <a:prstGeom prst="ellipse">
            <a:avLst/>
          </a:prstGeom>
          <a:solidFill>
            <a:srgbClr val="2B2D31"/>
          </a:solidFill>
          <a:ln w="12700">
            <a:solidFill>
              <a:srgbClr val="2B2D31"/>
            </a:solidFill>
            <a:prstDash val="solid"/>
          </a:ln>
        </p:spPr>
      </p:sp>
      <p:pic>
        <p:nvPicPr>
          <p:cNvPr id="36" name="Image 1" descr="preencoded.png"/>
          <p:cNvPicPr>
            <a:picLocks noChangeAspect="1"/>
          </p:cNvPicPr>
          <p:nvPr/>
        </p:nvPicPr>
        <p:blipFill>
          <a:blip r:embed="rId4"/>
          <a:stretch>
            <a:fillRect/>
          </a:stretch>
        </p:blipFill>
        <p:spPr>
          <a:xfrm>
            <a:off x="932322" y="5001402"/>
            <a:ext cx="201900" cy="201900"/>
          </a:xfrm>
          <a:prstGeom prst="rect">
            <a:avLst/>
          </a:prstGeom>
        </p:spPr>
      </p:pic>
      <p:sp>
        <p:nvSpPr>
          <p:cNvPr id="37" name="Text 33"/>
          <p:cNvSpPr txBox="1"/>
          <p:nvPr/>
        </p:nvSpPr>
        <p:spPr>
          <a:xfrm>
            <a:off x="1417320" y="489204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비용   </a:t>
            </a:r>
            <a:r>
              <a:rPr lang="en-US" sz="1300" dirty="0">
                <a:solidFill>
                  <a:srgbClr val="6B6F76"/>
                </a:solidFill>
                <a:latin typeface="맑은 고딕" pitchFamily="34" charset="0"/>
                <a:ea typeface="맑은 고딕" pitchFamily="34" charset="-122"/>
                <a:cs typeface="맑은 고딕" pitchFamily="34" charset="-120"/>
              </a:rPr>
              <a:t>선박 · 리프트 일수</a:t>
            </a:r>
            <a:endParaRPr lang="en-US" sz="1400" dirty="0"/>
          </a:p>
        </p:txBody>
      </p:sp>
      <p:sp>
        <p:nvSpPr>
          <p:cNvPr id="38" name="Shape 34"/>
          <p:cNvSpPr/>
          <p:nvPr/>
        </p:nvSpPr>
        <p:spPr>
          <a:xfrm>
            <a:off x="822960" y="5440680"/>
            <a:ext cx="420624" cy="420624"/>
          </a:xfrm>
          <a:prstGeom prst="ellipse">
            <a:avLst/>
          </a:prstGeom>
          <a:solidFill>
            <a:srgbClr val="2B2D31"/>
          </a:solidFill>
          <a:ln w="12700">
            <a:solidFill>
              <a:srgbClr val="2B2D31"/>
            </a:solidFill>
            <a:prstDash val="solid"/>
          </a:ln>
        </p:spPr>
      </p:sp>
      <p:pic>
        <p:nvPicPr>
          <p:cNvPr id="39" name="Image 2" descr="preencoded.png"/>
          <p:cNvPicPr>
            <a:picLocks noChangeAspect="1"/>
          </p:cNvPicPr>
          <p:nvPr/>
        </p:nvPicPr>
        <p:blipFill>
          <a:blip r:embed="rId5"/>
          <a:stretch>
            <a:fillRect/>
          </a:stretch>
        </p:blipFill>
        <p:spPr>
          <a:xfrm>
            <a:off x="932322" y="5550042"/>
            <a:ext cx="201900" cy="201900"/>
          </a:xfrm>
          <a:prstGeom prst="rect">
            <a:avLst/>
          </a:prstGeom>
        </p:spPr>
      </p:pic>
      <p:sp>
        <p:nvSpPr>
          <p:cNvPr id="40" name="Text 35"/>
          <p:cNvSpPr txBox="1"/>
          <p:nvPr/>
        </p:nvSpPr>
        <p:spPr>
          <a:xfrm>
            <a:off x="1417320" y="544068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규제 · 보험   </a:t>
            </a:r>
            <a:r>
              <a:rPr lang="en-US" sz="1300" dirty="0">
                <a:solidFill>
                  <a:srgbClr val="6B6F76"/>
                </a:solidFill>
                <a:latin typeface="맑은 고딕" pitchFamily="34" charset="0"/>
                <a:ea typeface="맑은 고딕" pitchFamily="34" charset="-122"/>
                <a:cs typeface="맑은 고딕" pitchFamily="34" charset="-120"/>
              </a:rPr>
              <a:t>기한 내 기록 제출</a:t>
            </a:r>
            <a:endParaRPr lang="en-US" sz="1400" dirty="0"/>
          </a:p>
        </p:txBody>
      </p:sp>
      <p:sp>
        <p:nvSpPr>
          <p:cNvPr id="41" name="Shape 36"/>
          <p:cNvSpPr/>
          <p:nvPr/>
        </p:nvSpPr>
        <p:spPr>
          <a:xfrm>
            <a:off x="6233008" y="3703320"/>
            <a:ext cx="5410048" cy="2377440"/>
          </a:xfrm>
          <a:prstGeom prst="roundRect">
            <a:avLst>
              <a:gd name="adj" fmla="val 3077"/>
            </a:avLst>
          </a:prstGeom>
          <a:solidFill>
            <a:srgbClr val="FBEDE4"/>
          </a:solidFill>
          <a:ln w="12700">
            <a:solidFill>
              <a:srgbClr val="FBEDE4"/>
            </a:solidFill>
            <a:prstDash val="solid"/>
          </a:ln>
        </p:spPr>
      </p:sp>
      <p:sp>
        <p:nvSpPr>
          <p:cNvPr id="42" name="Text 37"/>
          <p:cNvSpPr txBox="1"/>
          <p:nvPr/>
        </p:nvSpPr>
        <p:spPr>
          <a:xfrm>
            <a:off x="6507328" y="3886200"/>
            <a:ext cx="4952848" cy="292608"/>
          </a:xfrm>
          <a:prstGeom prst="rect">
            <a:avLst/>
          </a:prstGeom>
          <a:noFill/>
          <a:ln/>
        </p:spPr>
        <p:txBody>
          <a:bodyPr wrap="square" lIns="0" tIns="0" rIns="0" bIns="0" rtlCol="0" anchor="t"/>
          <a:lstStyle/>
          <a:p>
            <a:pPr marL="0" indent="0">
              <a:buNone/>
            </a:pPr>
            <a:r>
              <a:rPr lang="en-US" sz="1300" b="1" dirty="0">
                <a:solidFill>
                  <a:srgbClr val="B5501F"/>
                </a:solidFill>
                <a:latin typeface="맑은 고딕" pitchFamily="34" charset="0"/>
                <a:ea typeface="맑은 고딕" pitchFamily="34" charset="-122"/>
                <a:cs typeface="맑은 고딕" pitchFamily="34" charset="-120"/>
              </a:rPr>
              <a:t>MLC가 줄이는 비용</a:t>
            </a:r>
            <a:endParaRPr lang="en-US" sz="1300" dirty="0"/>
          </a:p>
        </p:txBody>
      </p:sp>
      <p:sp>
        <p:nvSpPr>
          <p:cNvPr id="43" name="Shape 38"/>
          <p:cNvSpPr/>
          <p:nvPr/>
        </p:nvSpPr>
        <p:spPr>
          <a:xfrm>
            <a:off x="6507328" y="4343400"/>
            <a:ext cx="420624" cy="420624"/>
          </a:xfrm>
          <a:prstGeom prst="ellipse">
            <a:avLst/>
          </a:prstGeom>
          <a:solidFill>
            <a:srgbClr val="B5501F"/>
          </a:solidFill>
          <a:ln w="12700">
            <a:solidFill>
              <a:srgbClr val="B5501F"/>
            </a:solidFill>
            <a:prstDash val="solid"/>
          </a:ln>
        </p:spPr>
      </p:sp>
      <p:pic>
        <p:nvPicPr>
          <p:cNvPr id="44" name="Image 3" descr="preencoded.png"/>
          <p:cNvPicPr>
            <a:picLocks noChangeAspect="1"/>
          </p:cNvPicPr>
          <p:nvPr/>
        </p:nvPicPr>
        <p:blipFill>
          <a:blip r:embed="rId6"/>
          <a:stretch>
            <a:fillRect/>
          </a:stretch>
        </p:blipFill>
        <p:spPr>
          <a:xfrm>
            <a:off x="6616690" y="4452762"/>
            <a:ext cx="201900" cy="201900"/>
          </a:xfrm>
          <a:prstGeom prst="rect">
            <a:avLst/>
          </a:prstGeom>
        </p:spPr>
      </p:pic>
      <p:sp>
        <p:nvSpPr>
          <p:cNvPr id="45" name="Text 39"/>
          <p:cNvSpPr txBox="1"/>
          <p:nvPr/>
        </p:nvSpPr>
        <p:spPr>
          <a:xfrm>
            <a:off x="7037680"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46" name="Text 40"/>
          <p:cNvSpPr txBox="1"/>
          <p:nvPr/>
        </p:nvSpPr>
        <p:spPr>
          <a:xfrm>
            <a:off x="7037680"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위험 지점부터 배 투입</a:t>
            </a:r>
            <a:endParaRPr lang="en-US" sz="1100" dirty="0"/>
          </a:p>
        </p:txBody>
      </p:sp>
      <p:sp>
        <p:nvSpPr>
          <p:cNvPr id="47" name="Shape 41"/>
          <p:cNvSpPr/>
          <p:nvPr/>
        </p:nvSpPr>
        <p:spPr>
          <a:xfrm>
            <a:off x="8938031" y="4343400"/>
            <a:ext cx="420624" cy="420624"/>
          </a:xfrm>
          <a:prstGeom prst="ellipse">
            <a:avLst/>
          </a:prstGeom>
          <a:solidFill>
            <a:srgbClr val="B5501F"/>
          </a:solidFill>
          <a:ln w="12700">
            <a:solidFill>
              <a:srgbClr val="B5501F"/>
            </a:solidFill>
            <a:prstDash val="solid"/>
          </a:ln>
        </p:spPr>
      </p:sp>
      <p:pic>
        <p:nvPicPr>
          <p:cNvPr id="48" name="Image 4" descr="preencoded.png"/>
          <p:cNvPicPr>
            <a:picLocks noChangeAspect="1"/>
          </p:cNvPicPr>
          <p:nvPr/>
        </p:nvPicPr>
        <p:blipFill>
          <a:blip r:embed="rId7"/>
          <a:stretch>
            <a:fillRect/>
          </a:stretch>
        </p:blipFill>
        <p:spPr>
          <a:xfrm>
            <a:off x="9047394" y="4452762"/>
            <a:ext cx="201900" cy="201900"/>
          </a:xfrm>
          <a:prstGeom prst="rect">
            <a:avLst/>
          </a:prstGeom>
        </p:spPr>
      </p:pic>
      <p:sp>
        <p:nvSpPr>
          <p:cNvPr id="49" name="Text 42"/>
          <p:cNvSpPr txBox="1"/>
          <p:nvPr/>
        </p:nvSpPr>
        <p:spPr>
          <a:xfrm>
            <a:off x="9468383"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리프트 · 비계 임대</a:t>
            </a:r>
            <a:endParaRPr lang="en-US" sz="1300" dirty="0"/>
          </a:p>
        </p:txBody>
      </p:sp>
      <p:sp>
        <p:nvSpPr>
          <p:cNvPr id="50" name="Text 43"/>
          <p:cNvSpPr txBox="1"/>
          <p:nvPr/>
        </p:nvSpPr>
        <p:spPr>
          <a:xfrm>
            <a:off x="9468383"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필요한 구간만 골라 임대</a:t>
            </a:r>
            <a:endParaRPr lang="en-US" sz="1100" dirty="0"/>
          </a:p>
        </p:txBody>
      </p:sp>
      <p:sp>
        <p:nvSpPr>
          <p:cNvPr id="51" name="Shape 44"/>
          <p:cNvSpPr/>
          <p:nvPr/>
        </p:nvSpPr>
        <p:spPr>
          <a:xfrm>
            <a:off x="6507328" y="5093208"/>
            <a:ext cx="420624" cy="420624"/>
          </a:xfrm>
          <a:prstGeom prst="ellipse">
            <a:avLst/>
          </a:prstGeom>
          <a:solidFill>
            <a:srgbClr val="B5501F"/>
          </a:solidFill>
          <a:ln w="12700">
            <a:solidFill>
              <a:srgbClr val="B5501F"/>
            </a:solidFill>
            <a:prstDash val="solid"/>
          </a:ln>
        </p:spPr>
      </p:sp>
      <p:pic>
        <p:nvPicPr>
          <p:cNvPr id="52" name="Image 5" descr="preencoded.png"/>
          <p:cNvPicPr>
            <a:picLocks noChangeAspect="1"/>
          </p:cNvPicPr>
          <p:nvPr/>
        </p:nvPicPr>
        <p:blipFill>
          <a:blip r:embed="rId8"/>
          <a:stretch>
            <a:fillRect/>
          </a:stretch>
        </p:blipFill>
        <p:spPr>
          <a:xfrm>
            <a:off x="6616690" y="5202570"/>
            <a:ext cx="201900" cy="201900"/>
          </a:xfrm>
          <a:prstGeom prst="rect">
            <a:avLst/>
          </a:prstGeom>
        </p:spPr>
      </p:pic>
      <p:sp>
        <p:nvSpPr>
          <p:cNvPr id="53" name="Text 45"/>
          <p:cNvSpPr txBox="1"/>
          <p:nvPr/>
        </p:nvSpPr>
        <p:spPr>
          <a:xfrm>
            <a:off x="7037680"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로프 액세스 출동</a:t>
            </a:r>
            <a:endParaRPr lang="en-US" sz="1300" dirty="0"/>
          </a:p>
        </p:txBody>
      </p:sp>
      <p:sp>
        <p:nvSpPr>
          <p:cNvPr id="54" name="Text 46"/>
          <p:cNvSpPr txBox="1"/>
          <p:nvPr/>
        </p:nvSpPr>
        <p:spPr>
          <a:xfrm>
            <a:off x="7037680"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출동 여부 사전 판단</a:t>
            </a:r>
            <a:endParaRPr lang="en-US" sz="1100" dirty="0"/>
          </a:p>
        </p:txBody>
      </p:sp>
      <p:sp>
        <p:nvSpPr>
          <p:cNvPr id="55" name="Shape 47"/>
          <p:cNvSpPr/>
          <p:nvPr/>
        </p:nvSpPr>
        <p:spPr>
          <a:xfrm>
            <a:off x="8938031" y="5093208"/>
            <a:ext cx="420624" cy="420624"/>
          </a:xfrm>
          <a:prstGeom prst="ellipse">
            <a:avLst/>
          </a:prstGeom>
          <a:solidFill>
            <a:srgbClr val="B5501F"/>
          </a:solidFill>
          <a:ln w="12700">
            <a:solidFill>
              <a:srgbClr val="B5501F"/>
            </a:solidFill>
            <a:prstDash val="solid"/>
          </a:ln>
        </p:spPr>
      </p:sp>
      <p:pic>
        <p:nvPicPr>
          <p:cNvPr id="56" name="Image 6" descr="preencoded.png"/>
          <p:cNvPicPr>
            <a:picLocks noChangeAspect="1"/>
          </p:cNvPicPr>
          <p:nvPr/>
        </p:nvPicPr>
        <p:blipFill>
          <a:blip r:embed="rId9"/>
          <a:stretch>
            <a:fillRect/>
          </a:stretch>
        </p:blipFill>
        <p:spPr>
          <a:xfrm>
            <a:off x="9047394" y="5202570"/>
            <a:ext cx="201900" cy="201900"/>
          </a:xfrm>
          <a:prstGeom prst="rect">
            <a:avLst/>
          </a:prstGeom>
        </p:spPr>
      </p:pic>
      <p:sp>
        <p:nvSpPr>
          <p:cNvPr id="57" name="Text 48"/>
          <p:cNvSpPr txBox="1"/>
          <p:nvPr/>
        </p:nvSpPr>
        <p:spPr>
          <a:xfrm>
            <a:off x="9468383"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점검 기록 · 문서 작업</a:t>
            </a:r>
            <a:endParaRPr lang="en-US" sz="1300" dirty="0"/>
          </a:p>
        </p:txBody>
      </p:sp>
      <p:sp>
        <p:nvSpPr>
          <p:cNvPr id="58" name="Text 49"/>
          <p:cNvSpPr txBox="1"/>
          <p:nvPr/>
        </p:nvSpPr>
        <p:spPr>
          <a:xfrm>
            <a:off x="9468383"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사진 리포트로 정리</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생태계와 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417320"/>
            <a:ext cx="11094415" cy="1783080"/>
          </a:xfrm>
          <a:prstGeom prst="roundRect">
            <a:avLst>
              <a:gd name="adj" fmla="val 48718"/>
            </a:avLst>
          </a:prstGeom>
          <a:solidFill>
            <a:srgbClr val="E3EFF4"/>
          </a:solidFill>
          <a:ln w="12700">
            <a:solidFill>
              <a:srgbClr val="E3EFF4"/>
            </a:solidFill>
            <a:prstDash val="solid"/>
          </a:ln>
        </p:spPr>
      </p:sp>
      <p:sp>
        <p:nvSpPr>
          <p:cNvPr id="7" name="Shape 5"/>
          <p:cNvSpPr/>
          <p:nvPr/>
        </p:nvSpPr>
        <p:spPr>
          <a:xfrm>
            <a:off x="731520" y="1554480"/>
            <a:ext cx="1508760" cy="1508760"/>
          </a:xfrm>
          <a:prstGeom prst="ellipse">
            <a:avLst/>
          </a:prstGeom>
          <a:solidFill>
            <a:srgbClr val="1F5F7A"/>
          </a:solidFill>
          <a:ln w="38100">
            <a:solidFill>
              <a:srgbClr val="FFFFFF"/>
            </a:solidFill>
            <a:prstDash val="solid"/>
          </a:ln>
        </p:spPr>
      </p:sp>
      <p:sp>
        <p:nvSpPr>
          <p:cNvPr id="8" name="Text 6"/>
          <p:cNvSpPr txBox="1"/>
          <p:nvPr/>
        </p:nvSpPr>
        <p:spPr>
          <a:xfrm>
            <a:off x="731520" y="1554480"/>
            <a:ext cx="1508760" cy="1508760"/>
          </a:xfrm>
          <a:prstGeom prst="rect">
            <a:avLst/>
          </a:prstGeom>
          <a:noFill/>
          <a:ln/>
        </p:spPr>
        <p:txBody>
          <a:bodyPr wrap="square" lIns="0" tIns="0" rIns="0" bIns="0" rtlCol="0" anchor="ctr"/>
          <a:lstStyle/>
          <a:p>
            <a:pPr marL="0" indent="0" algn="ctr">
              <a:buNone/>
            </a:pPr>
            <a:r>
              <a:rPr lang="en-US" sz="2100" b="1" dirty="0">
                <a:solidFill>
                  <a:srgbClr val="FFFFFF"/>
                </a:solidFill>
                <a:latin typeface="맑은 고딕" pitchFamily="34" charset="0"/>
                <a:ea typeface="맑은 고딕" pitchFamily="34" charset="-122"/>
                <a:cs typeface="맑은 고딕" pitchFamily="34" charset="-120"/>
              </a:rPr>
              <a:t>파트너</a:t>
            </a:r>
            <a:endParaRPr lang="en-US" sz="2100" dirty="0"/>
          </a:p>
        </p:txBody>
      </p:sp>
      <p:sp>
        <p:nvSpPr>
          <p:cNvPr id="9" name="Shape 7"/>
          <p:cNvSpPr/>
          <p:nvPr/>
        </p:nvSpPr>
        <p:spPr>
          <a:xfrm>
            <a:off x="5341468" y="1554480"/>
            <a:ext cx="1508760" cy="1508760"/>
          </a:xfrm>
          <a:prstGeom prst="ellipse">
            <a:avLst/>
          </a:prstGeom>
          <a:solidFill>
            <a:srgbClr val="2B2D31"/>
          </a:solidFill>
          <a:ln w="38100">
            <a:solidFill>
              <a:srgbClr val="FFFFFF"/>
            </a:solidFill>
            <a:prstDash val="solid"/>
          </a:ln>
        </p:spPr>
      </p:sp>
      <p:sp>
        <p:nvSpPr>
          <p:cNvPr id="10" name="Text 8"/>
          <p:cNvSpPr txBox="1"/>
          <p:nvPr/>
        </p:nvSpPr>
        <p:spPr>
          <a:xfrm>
            <a:off x="5341468" y="1554480"/>
            <a:ext cx="1508760" cy="1508760"/>
          </a:xfrm>
          <a:prstGeom prst="rect">
            <a:avLst/>
          </a:prstGeom>
          <a:noFill/>
          <a:ln/>
        </p:spPr>
        <p:txBody>
          <a:bodyPr wrap="square" lIns="0" tIns="0" rIns="0" bIns="0" rtlCol="0" anchor="ctr"/>
          <a:lstStyle/>
          <a:p>
            <a:pPr marL="0" indent="0" algn="ctr">
              <a:buNone/>
            </a:pPr>
            <a:r>
              <a:rPr lang="en-US" sz="2100" b="1" dirty="0">
                <a:solidFill>
                  <a:srgbClr val="FFFFFF"/>
                </a:solidFill>
                <a:latin typeface="맑은 고딕" pitchFamily="34" charset="0"/>
                <a:ea typeface="맑은 고딕" pitchFamily="34" charset="-122"/>
                <a:cs typeface="맑은 고딕" pitchFamily="34" charset="-120"/>
              </a:rPr>
              <a:t>MLC</a:t>
            </a:r>
            <a:endParaRPr lang="en-US" sz="2100" dirty="0"/>
          </a:p>
        </p:txBody>
      </p:sp>
      <p:sp>
        <p:nvSpPr>
          <p:cNvPr id="11" name="Shape 9"/>
          <p:cNvSpPr/>
          <p:nvPr/>
        </p:nvSpPr>
        <p:spPr>
          <a:xfrm>
            <a:off x="9951415" y="1554480"/>
            <a:ext cx="1508760" cy="1508760"/>
          </a:xfrm>
          <a:prstGeom prst="ellipse">
            <a:avLst/>
          </a:prstGeom>
          <a:solidFill>
            <a:srgbClr val="B5501F"/>
          </a:solidFill>
          <a:ln w="38100">
            <a:solidFill>
              <a:srgbClr val="FFFFFF"/>
            </a:solidFill>
            <a:prstDash val="solid"/>
          </a:ln>
        </p:spPr>
      </p:sp>
      <p:sp>
        <p:nvSpPr>
          <p:cNvPr id="12" name="Text 10"/>
          <p:cNvSpPr txBox="1"/>
          <p:nvPr/>
        </p:nvSpPr>
        <p:spPr>
          <a:xfrm>
            <a:off x="9951415" y="1554480"/>
            <a:ext cx="1508760" cy="1508760"/>
          </a:xfrm>
          <a:prstGeom prst="rect">
            <a:avLst/>
          </a:prstGeom>
          <a:noFill/>
          <a:ln/>
        </p:spPr>
        <p:txBody>
          <a:bodyPr wrap="square" lIns="0" tIns="0" rIns="0" bIns="0" rtlCol="0" anchor="ctr"/>
          <a:lstStyle/>
          <a:p>
            <a:pPr marL="0" indent="0" algn="ctr">
              <a:buNone/>
            </a:pPr>
            <a:r>
              <a:rPr lang="en-US" sz="2100" b="1" dirty="0">
                <a:solidFill>
                  <a:srgbClr val="FFFFFF"/>
                </a:solidFill>
                <a:latin typeface="맑은 고딕" pitchFamily="34" charset="0"/>
                <a:ea typeface="맑은 고딕" pitchFamily="34" charset="-122"/>
                <a:cs typeface="맑은 고딕" pitchFamily="34" charset="-120"/>
              </a:rPr>
              <a:t>고객사</a:t>
            </a:r>
            <a:endParaRPr lang="en-US" sz="2100" dirty="0"/>
          </a:p>
        </p:txBody>
      </p:sp>
      <p:sp>
        <p:nvSpPr>
          <p:cNvPr id="13" name="Shape 11"/>
          <p:cNvSpPr/>
          <p:nvPr/>
        </p:nvSpPr>
        <p:spPr>
          <a:xfrm>
            <a:off x="2377440" y="2308860"/>
            <a:ext cx="2826868" cy="0"/>
          </a:xfrm>
          <a:prstGeom prst="line">
            <a:avLst/>
          </a:prstGeom>
          <a:noFill/>
          <a:ln w="25400">
            <a:solidFill>
              <a:srgbClr val="1F5F7A"/>
            </a:solidFill>
            <a:prstDash val="solid"/>
            <a:tailEnd type="triangle"/>
          </a:ln>
        </p:spPr>
      </p:sp>
      <p:sp>
        <p:nvSpPr>
          <p:cNvPr id="14" name="Text 12"/>
          <p:cNvSpPr txBox="1"/>
          <p:nvPr/>
        </p:nvSpPr>
        <p:spPr>
          <a:xfrm>
            <a:off x="2377440" y="1897380"/>
            <a:ext cx="2826868" cy="320040"/>
          </a:xfrm>
          <a:prstGeom prst="rect">
            <a:avLst/>
          </a:prstGeom>
          <a:noFill/>
          <a:ln/>
        </p:spPr>
        <p:txBody>
          <a:bodyPr wrap="square" lIns="0" tIns="0" rIns="0" bIns="0" rtlCol="0" anchor="t"/>
          <a:lstStyle/>
          <a:p>
            <a:pPr marL="0" indent="0" algn="ctr">
              <a:buNone/>
            </a:pPr>
            <a:r>
              <a:rPr lang="en-US" sz="1400" b="1" dirty="0">
                <a:solidFill>
                  <a:srgbClr val="1F5F7A"/>
                </a:solidFill>
                <a:latin typeface="맑은 고딕" pitchFamily="34" charset="0"/>
                <a:ea typeface="맑은 고딕" pitchFamily="34" charset="-122"/>
                <a:cs typeface="맑은 고딕" pitchFamily="34" charset="-120"/>
              </a:rPr>
              <a:t>현장 촬영 데이터 · 고객 소개</a:t>
            </a:r>
            <a:endParaRPr lang="en-US" sz="1400" dirty="0"/>
          </a:p>
        </p:txBody>
      </p:sp>
      <p:sp>
        <p:nvSpPr>
          <p:cNvPr id="15" name="Shape 13"/>
          <p:cNvSpPr/>
          <p:nvPr/>
        </p:nvSpPr>
        <p:spPr>
          <a:xfrm>
            <a:off x="6987388" y="2308860"/>
            <a:ext cx="2826868" cy="0"/>
          </a:xfrm>
          <a:prstGeom prst="line">
            <a:avLst/>
          </a:prstGeom>
          <a:noFill/>
          <a:ln w="25400">
            <a:solidFill>
              <a:srgbClr val="2B2D31"/>
            </a:solidFill>
            <a:prstDash val="solid"/>
            <a:tailEnd type="triangle"/>
          </a:ln>
        </p:spPr>
      </p:sp>
      <p:sp>
        <p:nvSpPr>
          <p:cNvPr id="16" name="Text 14"/>
          <p:cNvSpPr txBox="1"/>
          <p:nvPr/>
        </p:nvSpPr>
        <p:spPr>
          <a:xfrm>
            <a:off x="6987388" y="1897380"/>
            <a:ext cx="2826868" cy="320040"/>
          </a:xfrm>
          <a:prstGeom prst="rect">
            <a:avLst/>
          </a:prstGeom>
          <a:noFill/>
          <a:ln/>
        </p:spPr>
        <p:txBody>
          <a:bodyPr wrap="square" lIns="0" tIns="0" rIns="0" bIns="0" rtlCol="0" anchor="t"/>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점검 우선순위 리포트</a:t>
            </a:r>
            <a:endParaRPr lang="en-US" sz="1400" dirty="0"/>
          </a:p>
        </p:txBody>
      </p:sp>
      <p:sp>
        <p:nvSpPr>
          <p:cNvPr id="17" name="Text 15"/>
          <p:cNvSpPr txBox="1"/>
          <p:nvPr/>
        </p:nvSpPr>
        <p:spPr>
          <a:xfrm>
            <a:off x="6987388" y="2400300"/>
            <a:ext cx="2826868" cy="292608"/>
          </a:xfrm>
          <a:prstGeom prst="rect">
            <a:avLst/>
          </a:prstGeom>
          <a:noFill/>
          <a:ln/>
        </p:spPr>
        <p:txBody>
          <a:bodyPr wrap="square" lIns="0" tIns="0" rIns="0" bIns="0" rtlCol="0" anchor="t"/>
          <a:lstStyle/>
          <a:p>
            <a:pPr marL="0" indent="0" algn="ctr">
              <a:buNone/>
            </a:pPr>
            <a:r>
              <a:rPr lang="en-US" sz="1300" b="1" dirty="0">
                <a:solidFill>
                  <a:srgbClr val="B5501F"/>
                </a:solidFill>
                <a:latin typeface="맑은 고딕" pitchFamily="34" charset="0"/>
                <a:ea typeface="맑은 고딕" pitchFamily="34" charset="-122"/>
                <a:cs typeface="맑은 고딕" pitchFamily="34" charset="-120"/>
              </a:rPr>
              <a:t>점검 건당 · 구독형 요금</a:t>
            </a:r>
            <a:endParaRPr lang="en-US" sz="1300" dirty="0"/>
          </a:p>
        </p:txBody>
      </p:sp>
      <p:sp>
        <p:nvSpPr>
          <p:cNvPr id="18" name="Text 16"/>
          <p:cNvSpPr txBox="1"/>
          <p:nvPr/>
        </p:nvSpPr>
        <p:spPr>
          <a:xfrm>
            <a:off x="548640" y="3310128"/>
            <a:ext cx="2926080" cy="548640"/>
          </a:xfrm>
          <a:prstGeom prst="rect">
            <a:avLst/>
          </a:prstGeom>
          <a:noFill/>
          <a:ln/>
        </p:spPr>
        <p:txBody>
          <a:bodyPr wrap="square" lIns="0" tIns="0" rIns="0" bIns="0" rtlCol="0" anchor="t"/>
          <a:lstStyle/>
          <a:p>
            <a:pPr marL="0" indent="0" algn="l">
              <a:buNone/>
            </a:pPr>
            <a:r>
              <a:rPr lang="en-US" sz="1300" b="1" dirty="0">
                <a:solidFill>
                  <a:srgbClr val="2B2D31"/>
                </a:solidFill>
                <a:latin typeface="맑은 고딕" pitchFamily="34" charset="0"/>
                <a:ea typeface="맑은 고딕" pitchFamily="34" charset="-122"/>
                <a:cs typeface="맑은 고딕" pitchFamily="34" charset="-120"/>
              </a:rPr>
              <a:t>드론 운용사 · 방식 </a:t>
            </a:r>
            <a:r>
              <a:rPr lang="en-US" sz="1300" b="1" dirty="0" err="1">
                <a:solidFill>
                  <a:srgbClr val="2B2D31"/>
                </a:solidFill>
                <a:latin typeface="맑은 고딕" pitchFamily="34" charset="0"/>
                <a:ea typeface="맑은 고딕" pitchFamily="34" charset="-122"/>
                <a:cs typeface="맑은 고딕" pitchFamily="34" charset="-120"/>
              </a:rPr>
              <a:t>전문</a:t>
            </a:r>
            <a:r>
              <a:rPr lang="en-US" sz="1300" b="1" dirty="0">
                <a:solidFill>
                  <a:srgbClr val="2B2D31"/>
                </a:solidFill>
                <a:latin typeface="맑은 고딕" pitchFamily="34" charset="0"/>
                <a:ea typeface="맑은 고딕" pitchFamily="34" charset="-122"/>
                <a:cs typeface="맑은 고딕" pitchFamily="34" charset="-120"/>
              </a:rPr>
              <a:t> </a:t>
            </a:r>
            <a:r>
              <a:rPr lang="en-US" sz="1300" b="1" dirty="0" err="1">
                <a:solidFill>
                  <a:srgbClr val="2B2D31"/>
                </a:solidFill>
                <a:latin typeface="맑은 고딕" pitchFamily="34" charset="0"/>
                <a:ea typeface="맑은 고딕" pitchFamily="34" charset="-122"/>
                <a:cs typeface="맑은 고딕" pitchFamily="34" charset="-120"/>
              </a:rPr>
              <a:t>업체</a:t>
            </a:r>
            <a:endParaRPr lang="en-US" sz="1300" dirty="0"/>
          </a:p>
        </p:txBody>
      </p:sp>
      <p:sp>
        <p:nvSpPr>
          <p:cNvPr id="19" name="Text 17"/>
          <p:cNvSpPr txBox="1"/>
          <p:nvPr/>
        </p:nvSpPr>
        <p:spPr>
          <a:xfrm>
            <a:off x="4632808" y="3310128"/>
            <a:ext cx="2926080" cy="548640"/>
          </a:xfrm>
          <a:prstGeom prst="rect">
            <a:avLst/>
          </a:prstGeom>
          <a:noFill/>
          <a:ln/>
        </p:spPr>
        <p:txBody>
          <a:bodyPr wrap="square" lIns="0" tIns="0" rIns="0" bIns="0" rtlCol="0" anchor="t"/>
          <a:lstStyle/>
          <a:p>
            <a:pPr marL="0" indent="0" algn="ctr">
              <a:buNone/>
            </a:pPr>
            <a:r>
              <a:rPr lang="en-US" sz="1300" b="1" dirty="0">
                <a:solidFill>
                  <a:srgbClr val="2B2D31"/>
                </a:solidFill>
                <a:latin typeface="맑은 고딕" pitchFamily="34" charset="0"/>
                <a:ea typeface="맑은 고딕" pitchFamily="34" charset="-122"/>
                <a:cs typeface="맑은 고딕" pitchFamily="34" charset="-120"/>
              </a:rPr>
              <a:t>녹 색 기반 위험도 분석</a:t>
            </a:r>
            <a:endParaRPr lang="en-US" sz="1300" dirty="0"/>
          </a:p>
          <a:p>
            <a:pPr marL="0" indent="0" algn="ctr">
              <a:buNone/>
            </a:pPr>
            <a:r>
              <a:rPr lang="en-US" sz="1150" dirty="0">
                <a:solidFill>
                  <a:srgbClr val="6B6F76"/>
                </a:solidFill>
                <a:latin typeface="맑은 고딕" pitchFamily="34" charset="0"/>
                <a:ea typeface="맑은 고딕" pitchFamily="34" charset="-122"/>
                <a:cs typeface="맑은 고딕" pitchFamily="34" charset="-120"/>
              </a:rPr>
              <a:t>위험도 판정 · 우선순위 지도</a:t>
            </a:r>
            <a:endParaRPr lang="en-US" sz="1300" dirty="0"/>
          </a:p>
        </p:txBody>
      </p:sp>
      <p:sp>
        <p:nvSpPr>
          <p:cNvPr id="20" name="Text 18"/>
          <p:cNvSpPr txBox="1"/>
          <p:nvPr/>
        </p:nvSpPr>
        <p:spPr>
          <a:xfrm>
            <a:off x="8716975" y="3310128"/>
            <a:ext cx="2926080" cy="548640"/>
          </a:xfrm>
          <a:prstGeom prst="rect">
            <a:avLst/>
          </a:prstGeom>
          <a:noFill/>
          <a:ln/>
        </p:spPr>
        <p:txBody>
          <a:bodyPr wrap="square" lIns="0" tIns="0" rIns="0" bIns="0" rtlCol="0" anchor="t"/>
          <a:lstStyle/>
          <a:p>
            <a:pPr marL="0" indent="0" algn="r">
              <a:buNone/>
            </a:pPr>
            <a:r>
              <a:rPr lang="en-US" sz="1300" b="1" dirty="0">
                <a:solidFill>
                  <a:srgbClr val="2B2D31"/>
                </a:solidFill>
                <a:latin typeface="맑은 고딕" pitchFamily="34" charset="0"/>
                <a:ea typeface="맑은 고딕" pitchFamily="34" charset="-122"/>
                <a:cs typeface="맑은 고딕" pitchFamily="34" charset="-120"/>
              </a:rPr>
              <a:t>해양 석유 · 가스 운영사</a:t>
            </a:r>
            <a:endParaRPr lang="en-US" sz="1300" dirty="0"/>
          </a:p>
          <a:p>
            <a:pPr marL="0" indent="0" algn="r">
              <a:buNone/>
            </a:pPr>
            <a:r>
              <a:rPr lang="en-US" sz="1150" dirty="0">
                <a:solidFill>
                  <a:srgbClr val="6B6F76"/>
                </a:solidFill>
                <a:latin typeface="맑은 고딕" pitchFamily="34" charset="0"/>
                <a:ea typeface="맑은 고딕" pitchFamily="34" charset="-122"/>
                <a:cs typeface="맑은 고딕" pitchFamily="34" charset="-120"/>
              </a:rPr>
              <a:t>점검 프로그램 매니저</a:t>
            </a:r>
            <a:endParaRPr lang="en-US" sz="1300" dirty="0"/>
          </a:p>
        </p:txBody>
      </p:sp>
      <p:sp>
        <p:nvSpPr>
          <p:cNvPr id="21" name="Text 19"/>
          <p:cNvSpPr txBox="1"/>
          <p:nvPr/>
        </p:nvSpPr>
        <p:spPr>
          <a:xfrm>
            <a:off x="548640" y="4114800"/>
            <a:ext cx="4572000" cy="274320"/>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고객사 안의 의사결정 구조</a:t>
            </a:r>
            <a:endParaRPr lang="en-US" sz="1300" dirty="0"/>
          </a:p>
        </p:txBody>
      </p:sp>
      <p:sp>
        <p:nvSpPr>
          <p:cNvPr id="22" name="Shape 20"/>
          <p:cNvSpPr/>
          <p:nvPr/>
        </p:nvSpPr>
        <p:spPr>
          <a:xfrm>
            <a:off x="548640" y="4480560"/>
            <a:ext cx="2670734" cy="1371600"/>
          </a:xfrm>
          <a:prstGeom prst="roundRect">
            <a:avLst>
              <a:gd name="adj" fmla="val 5333"/>
            </a:avLst>
          </a:prstGeom>
          <a:solidFill>
            <a:srgbClr val="F3F4F6"/>
          </a:solidFill>
          <a:ln w="12700">
            <a:solidFill>
              <a:srgbClr val="F3F4F6"/>
            </a:solidFill>
            <a:prstDash val="solid"/>
          </a:ln>
        </p:spPr>
      </p:sp>
      <p:sp>
        <p:nvSpPr>
          <p:cNvPr id="23" name="Shape 21"/>
          <p:cNvSpPr/>
          <p:nvPr/>
        </p:nvSpPr>
        <p:spPr>
          <a:xfrm>
            <a:off x="731520" y="4663440"/>
            <a:ext cx="502920" cy="502920"/>
          </a:xfrm>
          <a:prstGeom prst="ellipse">
            <a:avLst/>
          </a:prstGeom>
          <a:solidFill>
            <a:srgbClr val="B5501F"/>
          </a:solidFill>
          <a:ln w="12700">
            <a:solidFill>
              <a:srgbClr val="B5501F"/>
            </a:solidFill>
            <a:prstDash val="solid"/>
          </a:ln>
        </p:spPr>
      </p:sp>
      <p:pic>
        <p:nvPicPr>
          <p:cNvPr id="24" name="Image 0" descr="preencoded.png"/>
          <p:cNvPicPr>
            <a:picLocks noChangeAspect="1"/>
          </p:cNvPicPr>
          <p:nvPr/>
        </p:nvPicPr>
        <p:blipFill>
          <a:blip r:embed="rId3"/>
          <a:stretch>
            <a:fillRect/>
          </a:stretch>
        </p:blipFill>
        <p:spPr>
          <a:xfrm>
            <a:off x="862279" y="4794199"/>
            <a:ext cx="241402" cy="241402"/>
          </a:xfrm>
          <a:prstGeom prst="rect">
            <a:avLst/>
          </a:prstGeom>
        </p:spPr>
      </p:pic>
      <p:sp>
        <p:nvSpPr>
          <p:cNvPr id="25" name="Shape 22"/>
          <p:cNvSpPr/>
          <p:nvPr/>
        </p:nvSpPr>
        <p:spPr>
          <a:xfrm>
            <a:off x="1371600" y="4764024"/>
            <a:ext cx="685800" cy="292608"/>
          </a:xfrm>
          <a:prstGeom prst="roundRect">
            <a:avLst>
              <a:gd name="adj" fmla="val 50000"/>
            </a:avLst>
          </a:prstGeom>
          <a:solidFill>
            <a:srgbClr val="B5501F"/>
          </a:solidFill>
          <a:ln w="12700">
            <a:solidFill>
              <a:srgbClr val="B5501F"/>
            </a:solidFill>
            <a:prstDash val="solid"/>
          </a:ln>
        </p:spPr>
      </p:sp>
      <p:sp>
        <p:nvSpPr>
          <p:cNvPr id="26" name="Text 23"/>
          <p:cNvSpPr txBox="1"/>
          <p:nvPr/>
        </p:nvSpPr>
        <p:spPr>
          <a:xfrm>
            <a:off x="1371600" y="4764024"/>
            <a:ext cx="68580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결정</a:t>
            </a:r>
            <a:endParaRPr lang="en-US" sz="1100" dirty="0"/>
          </a:p>
        </p:txBody>
      </p:sp>
      <p:sp>
        <p:nvSpPr>
          <p:cNvPr id="27" name="Text 24"/>
          <p:cNvSpPr txBox="1"/>
          <p:nvPr/>
        </p:nvSpPr>
        <p:spPr>
          <a:xfrm>
            <a:off x="731520" y="5257800"/>
            <a:ext cx="2396414" cy="274320"/>
          </a:xfrm>
          <a:prstGeom prst="rect">
            <a:avLst/>
          </a:prstGeom>
          <a:noFill/>
          <a:ln/>
        </p:spPr>
        <p:txBody>
          <a:bodyPr wrap="square" lIns="0" tIns="0" rIns="0" bIns="0" rtlCol="0" anchor="t"/>
          <a:lstStyle/>
          <a:p>
            <a:pPr marL="0" indent="0">
              <a:buNone/>
            </a:pPr>
            <a:r>
              <a:rPr lang="en-US" sz="1350" b="1" dirty="0">
                <a:solidFill>
                  <a:srgbClr val="2B2D31"/>
                </a:solidFill>
                <a:latin typeface="맑은 고딕" pitchFamily="34" charset="0"/>
                <a:ea typeface="맑은 고딕" pitchFamily="34" charset="-122"/>
                <a:cs typeface="맑은 고딕" pitchFamily="34" charset="-120"/>
              </a:rPr>
              <a:t>CEO · 대표</a:t>
            </a:r>
            <a:endParaRPr lang="en-US" sz="1350" dirty="0"/>
          </a:p>
        </p:txBody>
      </p:sp>
      <p:sp>
        <p:nvSpPr>
          <p:cNvPr id="28" name="Text 25"/>
          <p:cNvSpPr txBox="1"/>
          <p:nvPr/>
        </p:nvSpPr>
        <p:spPr>
          <a:xfrm>
            <a:off x="731520" y="5513832"/>
            <a:ext cx="2396414" cy="256032"/>
          </a:xfrm>
          <a:prstGeom prst="rect">
            <a:avLst/>
          </a:prstGeom>
          <a:noFill/>
          <a:ln/>
        </p:spPr>
        <p:txBody>
          <a:bodyPr wrap="square" lIns="0" tIns="0" rIns="0" bIns="0" rtlCol="0" anchor="t"/>
          <a:lstStyle/>
          <a:p>
            <a:pPr marL="0" indent="0">
              <a:buNone/>
            </a:pPr>
            <a:r>
              <a:rPr lang="en-US" sz="1150" dirty="0">
                <a:solidFill>
                  <a:srgbClr val="6B6F76"/>
                </a:solidFill>
                <a:latin typeface="맑은 고딕" pitchFamily="34" charset="0"/>
                <a:ea typeface="맑은 고딕" pitchFamily="34" charset="-122"/>
                <a:cs typeface="맑은 고딕" pitchFamily="34" charset="-120"/>
              </a:rPr>
              <a:t>안전 · 비용 · 규제 대응</a:t>
            </a:r>
            <a:endParaRPr lang="en-US" sz="1150" dirty="0"/>
          </a:p>
        </p:txBody>
      </p:sp>
      <p:sp>
        <p:nvSpPr>
          <p:cNvPr id="29" name="Shape 26"/>
          <p:cNvSpPr/>
          <p:nvPr/>
        </p:nvSpPr>
        <p:spPr>
          <a:xfrm>
            <a:off x="3356534" y="4480560"/>
            <a:ext cx="2670734" cy="1371600"/>
          </a:xfrm>
          <a:prstGeom prst="roundRect">
            <a:avLst>
              <a:gd name="adj" fmla="val 5333"/>
            </a:avLst>
          </a:prstGeom>
          <a:solidFill>
            <a:srgbClr val="F3F4F6"/>
          </a:solidFill>
          <a:ln w="12700">
            <a:solidFill>
              <a:srgbClr val="F3F4F6"/>
            </a:solidFill>
            <a:prstDash val="solid"/>
          </a:ln>
        </p:spPr>
      </p:sp>
      <p:sp>
        <p:nvSpPr>
          <p:cNvPr id="30" name="Shape 27"/>
          <p:cNvSpPr/>
          <p:nvPr/>
        </p:nvSpPr>
        <p:spPr>
          <a:xfrm>
            <a:off x="3539414" y="4663440"/>
            <a:ext cx="502920" cy="502920"/>
          </a:xfrm>
          <a:prstGeom prst="ellipse">
            <a:avLst/>
          </a:prstGeom>
          <a:solidFill>
            <a:srgbClr val="1F5F7A"/>
          </a:solidFill>
          <a:ln w="12700">
            <a:solidFill>
              <a:srgbClr val="1F5F7A"/>
            </a:solidFill>
            <a:prstDash val="solid"/>
          </a:ln>
        </p:spPr>
      </p:sp>
      <p:pic>
        <p:nvPicPr>
          <p:cNvPr id="31" name="Image 1" descr="preencoded.png"/>
          <p:cNvPicPr>
            <a:picLocks noChangeAspect="1"/>
          </p:cNvPicPr>
          <p:nvPr/>
        </p:nvPicPr>
        <p:blipFill>
          <a:blip r:embed="rId4"/>
          <a:stretch>
            <a:fillRect/>
          </a:stretch>
        </p:blipFill>
        <p:spPr>
          <a:xfrm>
            <a:off x="3670173" y="4794199"/>
            <a:ext cx="241402" cy="241402"/>
          </a:xfrm>
          <a:prstGeom prst="rect">
            <a:avLst/>
          </a:prstGeom>
        </p:spPr>
      </p:pic>
      <p:sp>
        <p:nvSpPr>
          <p:cNvPr id="32" name="Shape 28"/>
          <p:cNvSpPr/>
          <p:nvPr/>
        </p:nvSpPr>
        <p:spPr>
          <a:xfrm>
            <a:off x="4179494" y="4764024"/>
            <a:ext cx="685800" cy="292608"/>
          </a:xfrm>
          <a:prstGeom prst="roundRect">
            <a:avLst>
              <a:gd name="adj" fmla="val 50000"/>
            </a:avLst>
          </a:prstGeom>
          <a:solidFill>
            <a:srgbClr val="1F5F7A"/>
          </a:solidFill>
          <a:ln w="12700">
            <a:solidFill>
              <a:srgbClr val="1F5F7A"/>
            </a:solidFill>
            <a:prstDash val="solid"/>
          </a:ln>
        </p:spPr>
      </p:sp>
      <p:sp>
        <p:nvSpPr>
          <p:cNvPr id="33" name="Text 29"/>
          <p:cNvSpPr txBox="1"/>
          <p:nvPr/>
        </p:nvSpPr>
        <p:spPr>
          <a:xfrm>
            <a:off x="4179494" y="4764024"/>
            <a:ext cx="68580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추천</a:t>
            </a:r>
            <a:endParaRPr lang="en-US" sz="1100" dirty="0"/>
          </a:p>
        </p:txBody>
      </p:sp>
      <p:sp>
        <p:nvSpPr>
          <p:cNvPr id="34" name="Text 30"/>
          <p:cNvSpPr txBox="1"/>
          <p:nvPr/>
        </p:nvSpPr>
        <p:spPr>
          <a:xfrm>
            <a:off x="3539414" y="5257800"/>
            <a:ext cx="2396414" cy="274320"/>
          </a:xfrm>
          <a:prstGeom prst="rect">
            <a:avLst/>
          </a:prstGeom>
          <a:noFill/>
          <a:ln/>
        </p:spPr>
        <p:txBody>
          <a:bodyPr wrap="square" lIns="0" tIns="0" rIns="0" bIns="0" rtlCol="0" anchor="t"/>
          <a:lstStyle/>
          <a:p>
            <a:pPr marL="0" indent="0">
              <a:buNone/>
            </a:pPr>
            <a:r>
              <a:rPr lang="en-US" sz="1350" b="1" dirty="0">
                <a:solidFill>
                  <a:srgbClr val="2B2D31"/>
                </a:solidFill>
                <a:latin typeface="맑은 고딕" pitchFamily="34" charset="0"/>
                <a:ea typeface="맑은 고딕" pitchFamily="34" charset="-122"/>
                <a:cs typeface="맑은 고딕" pitchFamily="34" charset="-120"/>
              </a:rPr>
              <a:t>부식 엔지니어링 매니저</a:t>
            </a:r>
            <a:endParaRPr lang="en-US" sz="1350" dirty="0"/>
          </a:p>
        </p:txBody>
      </p:sp>
      <p:sp>
        <p:nvSpPr>
          <p:cNvPr id="35" name="Text 31"/>
          <p:cNvSpPr txBox="1"/>
          <p:nvPr/>
        </p:nvSpPr>
        <p:spPr>
          <a:xfrm>
            <a:off x="3539414" y="5513832"/>
            <a:ext cx="2396414" cy="256032"/>
          </a:xfrm>
          <a:prstGeom prst="rect">
            <a:avLst/>
          </a:prstGeom>
          <a:noFill/>
          <a:ln/>
        </p:spPr>
        <p:txBody>
          <a:bodyPr wrap="square" lIns="0" tIns="0" rIns="0" bIns="0" rtlCol="0" anchor="t"/>
          <a:lstStyle/>
          <a:p>
            <a:pPr marL="0" indent="0">
              <a:buNone/>
            </a:pPr>
            <a:r>
              <a:rPr lang="en-US" sz="1150" dirty="0">
                <a:solidFill>
                  <a:srgbClr val="6B6F76"/>
                </a:solidFill>
                <a:latin typeface="맑은 고딕" pitchFamily="34" charset="0"/>
                <a:ea typeface="맑은 고딕" pitchFamily="34" charset="-122"/>
                <a:cs typeface="맑은 고딕" pitchFamily="34" charset="-120"/>
              </a:rPr>
              <a:t>기술 검토 후 추천</a:t>
            </a:r>
            <a:endParaRPr lang="en-US" sz="1150" dirty="0"/>
          </a:p>
        </p:txBody>
      </p:sp>
      <p:sp>
        <p:nvSpPr>
          <p:cNvPr id="36" name="Shape 32"/>
          <p:cNvSpPr/>
          <p:nvPr/>
        </p:nvSpPr>
        <p:spPr>
          <a:xfrm>
            <a:off x="6164428" y="4480560"/>
            <a:ext cx="2670734" cy="1371600"/>
          </a:xfrm>
          <a:prstGeom prst="roundRect">
            <a:avLst>
              <a:gd name="adj" fmla="val 5333"/>
            </a:avLst>
          </a:prstGeom>
          <a:solidFill>
            <a:srgbClr val="F3F4F6"/>
          </a:solidFill>
          <a:ln w="12700">
            <a:solidFill>
              <a:srgbClr val="F3F4F6"/>
            </a:solidFill>
            <a:prstDash val="solid"/>
          </a:ln>
        </p:spPr>
      </p:sp>
      <p:sp>
        <p:nvSpPr>
          <p:cNvPr id="37" name="Shape 33"/>
          <p:cNvSpPr/>
          <p:nvPr/>
        </p:nvSpPr>
        <p:spPr>
          <a:xfrm>
            <a:off x="6347308" y="4663440"/>
            <a:ext cx="502920" cy="502920"/>
          </a:xfrm>
          <a:prstGeom prst="ellipse">
            <a:avLst/>
          </a:prstGeom>
          <a:solidFill>
            <a:srgbClr val="1F5F7A"/>
          </a:solidFill>
          <a:ln w="12700">
            <a:solidFill>
              <a:srgbClr val="1F5F7A"/>
            </a:solidFill>
            <a:prstDash val="solid"/>
          </a:ln>
        </p:spPr>
      </p:sp>
      <p:pic>
        <p:nvPicPr>
          <p:cNvPr id="38" name="Image 2" descr="preencoded.png"/>
          <p:cNvPicPr>
            <a:picLocks noChangeAspect="1"/>
          </p:cNvPicPr>
          <p:nvPr/>
        </p:nvPicPr>
        <p:blipFill>
          <a:blip r:embed="rId5"/>
          <a:stretch>
            <a:fillRect/>
          </a:stretch>
        </p:blipFill>
        <p:spPr>
          <a:xfrm>
            <a:off x="6478067" y="4794199"/>
            <a:ext cx="241402" cy="241402"/>
          </a:xfrm>
          <a:prstGeom prst="rect">
            <a:avLst/>
          </a:prstGeom>
        </p:spPr>
      </p:pic>
      <p:sp>
        <p:nvSpPr>
          <p:cNvPr id="39" name="Shape 34"/>
          <p:cNvSpPr/>
          <p:nvPr/>
        </p:nvSpPr>
        <p:spPr>
          <a:xfrm>
            <a:off x="6987388" y="4764024"/>
            <a:ext cx="685800" cy="292608"/>
          </a:xfrm>
          <a:prstGeom prst="roundRect">
            <a:avLst>
              <a:gd name="adj" fmla="val 50000"/>
            </a:avLst>
          </a:prstGeom>
          <a:solidFill>
            <a:srgbClr val="1F5F7A"/>
          </a:solidFill>
          <a:ln w="12700">
            <a:solidFill>
              <a:srgbClr val="1F5F7A"/>
            </a:solidFill>
            <a:prstDash val="solid"/>
          </a:ln>
        </p:spPr>
      </p:sp>
      <p:sp>
        <p:nvSpPr>
          <p:cNvPr id="40" name="Text 35"/>
          <p:cNvSpPr txBox="1"/>
          <p:nvPr/>
        </p:nvSpPr>
        <p:spPr>
          <a:xfrm>
            <a:off x="6987388" y="4764024"/>
            <a:ext cx="68580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사용</a:t>
            </a:r>
            <a:endParaRPr lang="en-US" sz="1100" dirty="0"/>
          </a:p>
        </p:txBody>
      </p:sp>
      <p:sp>
        <p:nvSpPr>
          <p:cNvPr id="41" name="Text 36"/>
          <p:cNvSpPr txBox="1"/>
          <p:nvPr/>
        </p:nvSpPr>
        <p:spPr>
          <a:xfrm>
            <a:off x="6347308" y="5257800"/>
            <a:ext cx="2396414" cy="274320"/>
          </a:xfrm>
          <a:prstGeom prst="rect">
            <a:avLst/>
          </a:prstGeom>
          <a:noFill/>
          <a:ln/>
        </p:spPr>
        <p:txBody>
          <a:bodyPr wrap="square" lIns="0" tIns="0" rIns="0" bIns="0" rtlCol="0" anchor="t"/>
          <a:lstStyle/>
          <a:p>
            <a:pPr marL="0" indent="0">
              <a:buNone/>
            </a:pPr>
            <a:r>
              <a:rPr lang="en-US" sz="1350" b="1" dirty="0">
                <a:solidFill>
                  <a:srgbClr val="2B2D31"/>
                </a:solidFill>
                <a:latin typeface="맑은 고딕" pitchFamily="34" charset="0"/>
                <a:ea typeface="맑은 고딕" pitchFamily="34" charset="-122"/>
                <a:cs typeface="맑은 고딕" pitchFamily="34" charset="-120"/>
              </a:rPr>
              <a:t>현장 엔지니어 · 검사원</a:t>
            </a:r>
            <a:endParaRPr lang="en-US" sz="1350" dirty="0"/>
          </a:p>
        </p:txBody>
      </p:sp>
      <p:sp>
        <p:nvSpPr>
          <p:cNvPr id="42" name="Text 37"/>
          <p:cNvSpPr txBox="1"/>
          <p:nvPr/>
        </p:nvSpPr>
        <p:spPr>
          <a:xfrm>
            <a:off x="6347308" y="5513832"/>
            <a:ext cx="2396414" cy="256032"/>
          </a:xfrm>
          <a:prstGeom prst="rect">
            <a:avLst/>
          </a:prstGeom>
          <a:noFill/>
          <a:ln/>
        </p:spPr>
        <p:txBody>
          <a:bodyPr wrap="square" lIns="0" tIns="0" rIns="0" bIns="0" rtlCol="0" anchor="t"/>
          <a:lstStyle/>
          <a:p>
            <a:pPr marL="0" indent="0">
              <a:buNone/>
            </a:pPr>
            <a:r>
              <a:rPr lang="en-US" sz="1150" dirty="0">
                <a:solidFill>
                  <a:srgbClr val="6B6F76"/>
                </a:solidFill>
                <a:latin typeface="맑은 고딕" pitchFamily="34" charset="0"/>
                <a:ea typeface="맑은 고딕" pitchFamily="34" charset="-122"/>
                <a:cs typeface="맑은 고딕" pitchFamily="34" charset="-120"/>
              </a:rPr>
              <a:t>점검 동선 · 출동 결정</a:t>
            </a:r>
            <a:endParaRPr lang="en-US" sz="1150" dirty="0"/>
          </a:p>
        </p:txBody>
      </p:sp>
      <p:sp>
        <p:nvSpPr>
          <p:cNvPr id="43" name="Shape 38"/>
          <p:cNvSpPr/>
          <p:nvPr/>
        </p:nvSpPr>
        <p:spPr>
          <a:xfrm>
            <a:off x="8972321" y="4480560"/>
            <a:ext cx="2670734" cy="1371600"/>
          </a:xfrm>
          <a:prstGeom prst="roundRect">
            <a:avLst>
              <a:gd name="adj" fmla="val 5333"/>
            </a:avLst>
          </a:prstGeom>
          <a:solidFill>
            <a:srgbClr val="F3F4F6"/>
          </a:solidFill>
          <a:ln w="12700">
            <a:solidFill>
              <a:srgbClr val="F3F4F6"/>
            </a:solidFill>
            <a:prstDash val="solid"/>
          </a:ln>
        </p:spPr>
      </p:sp>
      <p:sp>
        <p:nvSpPr>
          <p:cNvPr id="44" name="Shape 39"/>
          <p:cNvSpPr/>
          <p:nvPr/>
        </p:nvSpPr>
        <p:spPr>
          <a:xfrm>
            <a:off x="9155201" y="4663440"/>
            <a:ext cx="502920" cy="502920"/>
          </a:xfrm>
          <a:prstGeom prst="ellipse">
            <a:avLst/>
          </a:prstGeom>
          <a:solidFill>
            <a:srgbClr val="6B6F76"/>
          </a:solidFill>
          <a:ln w="12700">
            <a:solidFill>
              <a:srgbClr val="6B6F76"/>
            </a:solidFill>
            <a:prstDash val="solid"/>
          </a:ln>
        </p:spPr>
      </p:sp>
      <p:pic>
        <p:nvPicPr>
          <p:cNvPr id="45" name="Image 3" descr="preencoded.png"/>
          <p:cNvPicPr>
            <a:picLocks noChangeAspect="1"/>
          </p:cNvPicPr>
          <p:nvPr/>
        </p:nvPicPr>
        <p:blipFill>
          <a:blip r:embed="rId6"/>
          <a:stretch>
            <a:fillRect/>
          </a:stretch>
        </p:blipFill>
        <p:spPr>
          <a:xfrm>
            <a:off x="9285961" y="4794199"/>
            <a:ext cx="241402" cy="241402"/>
          </a:xfrm>
          <a:prstGeom prst="rect">
            <a:avLst/>
          </a:prstGeom>
        </p:spPr>
      </p:pic>
      <p:sp>
        <p:nvSpPr>
          <p:cNvPr id="46" name="Shape 40"/>
          <p:cNvSpPr/>
          <p:nvPr/>
        </p:nvSpPr>
        <p:spPr>
          <a:xfrm>
            <a:off x="9795281" y="4764024"/>
            <a:ext cx="685800" cy="292608"/>
          </a:xfrm>
          <a:prstGeom prst="roundRect">
            <a:avLst>
              <a:gd name="adj" fmla="val 50000"/>
            </a:avLst>
          </a:prstGeom>
          <a:solidFill>
            <a:srgbClr val="6B6F76"/>
          </a:solidFill>
          <a:ln w="12700">
            <a:solidFill>
              <a:srgbClr val="6B6F76"/>
            </a:solidFill>
            <a:prstDash val="solid"/>
          </a:ln>
        </p:spPr>
      </p:sp>
      <p:sp>
        <p:nvSpPr>
          <p:cNvPr id="47" name="Text 41"/>
          <p:cNvSpPr txBox="1"/>
          <p:nvPr/>
        </p:nvSpPr>
        <p:spPr>
          <a:xfrm>
            <a:off x="9795281" y="4764024"/>
            <a:ext cx="68580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영향</a:t>
            </a:r>
            <a:endParaRPr lang="en-US" sz="1100" dirty="0"/>
          </a:p>
        </p:txBody>
      </p:sp>
      <p:sp>
        <p:nvSpPr>
          <p:cNvPr id="48" name="Text 42"/>
          <p:cNvSpPr txBox="1"/>
          <p:nvPr/>
        </p:nvSpPr>
        <p:spPr>
          <a:xfrm>
            <a:off x="9155201" y="5257800"/>
            <a:ext cx="2396414" cy="274320"/>
          </a:xfrm>
          <a:prstGeom prst="rect">
            <a:avLst/>
          </a:prstGeom>
          <a:noFill/>
          <a:ln/>
        </p:spPr>
        <p:txBody>
          <a:bodyPr wrap="square" lIns="0" tIns="0" rIns="0" bIns="0" rtlCol="0" anchor="t"/>
          <a:lstStyle/>
          <a:p>
            <a:pPr marL="0" indent="0">
              <a:buNone/>
            </a:pPr>
            <a:r>
              <a:rPr lang="en-US" sz="1350" b="1" dirty="0">
                <a:solidFill>
                  <a:srgbClr val="2B2D31"/>
                </a:solidFill>
                <a:latin typeface="맑은 고딕" pitchFamily="34" charset="0"/>
                <a:ea typeface="맑은 고딕" pitchFamily="34" charset="-122"/>
                <a:cs typeface="맑은 고딕" pitchFamily="34" charset="-120"/>
              </a:rPr>
              <a:t>방식 전문 업체 · 연구자</a:t>
            </a:r>
            <a:endParaRPr lang="en-US" sz="1350" dirty="0"/>
          </a:p>
        </p:txBody>
      </p:sp>
      <p:sp>
        <p:nvSpPr>
          <p:cNvPr id="49" name="Text 43"/>
          <p:cNvSpPr txBox="1"/>
          <p:nvPr/>
        </p:nvSpPr>
        <p:spPr>
          <a:xfrm>
            <a:off x="9155201" y="5513832"/>
            <a:ext cx="2396414" cy="256032"/>
          </a:xfrm>
          <a:prstGeom prst="rect">
            <a:avLst/>
          </a:prstGeom>
          <a:noFill/>
          <a:ln/>
        </p:spPr>
        <p:txBody>
          <a:bodyPr wrap="square" lIns="0" tIns="0" rIns="0" bIns="0" rtlCol="0" anchor="t"/>
          <a:lstStyle/>
          <a:p>
            <a:pPr marL="0" indent="0">
              <a:buNone/>
            </a:pPr>
            <a:r>
              <a:rPr lang="en-US" sz="1150" dirty="0">
                <a:solidFill>
                  <a:srgbClr val="6B6F76"/>
                </a:solidFill>
                <a:latin typeface="맑은 고딕" pitchFamily="34" charset="0"/>
                <a:ea typeface="맑은 고딕" pitchFamily="34" charset="-122"/>
                <a:cs typeface="맑은 고딕" pitchFamily="34" charset="-120"/>
              </a:rPr>
              <a:t>기술 교차 검증 · 소개</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Shape 4"/>
          <p:cNvSpPr/>
          <p:nvPr/>
        </p:nvSpPr>
        <p:spPr>
          <a:xfrm flipH="1">
            <a:off x="822960" y="1554480"/>
            <a:ext cx="10545775" cy="2286000"/>
          </a:xfrm>
          <a:prstGeom prst="rtTriangle">
            <a:avLst/>
          </a:prstGeom>
          <a:solidFill>
            <a:srgbClr val="FBEDE4"/>
          </a:solidFill>
          <a:ln w="12700">
            <a:solidFill>
              <a:srgbClr val="FBEDE4"/>
            </a:solidFill>
            <a:prstDash val="solid"/>
          </a:ln>
        </p:spPr>
      </p:sp>
      <p:sp>
        <p:nvSpPr>
          <p:cNvPr id="7" name="Shape 5"/>
          <p:cNvSpPr/>
          <p:nvPr/>
        </p:nvSpPr>
        <p:spPr>
          <a:xfrm>
            <a:off x="1018002" y="2606040"/>
            <a:ext cx="1280160" cy="1280160"/>
          </a:xfrm>
          <a:prstGeom prst="ellipse">
            <a:avLst/>
          </a:prstGeom>
          <a:solidFill>
            <a:srgbClr val="8FA0AC"/>
          </a:solidFill>
          <a:ln w="38100">
            <a:solidFill>
              <a:srgbClr val="FFFFFF"/>
            </a:solidFill>
            <a:prstDash val="solid"/>
          </a:ln>
        </p:spPr>
      </p:sp>
      <p:sp>
        <p:nvSpPr>
          <p:cNvPr id="8" name="Text 6"/>
          <p:cNvSpPr txBox="1"/>
          <p:nvPr/>
        </p:nvSpPr>
        <p:spPr>
          <a:xfrm>
            <a:off x="1018002" y="2880360"/>
            <a:ext cx="1280160" cy="7315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실험실</a:t>
            </a:r>
            <a:endParaRPr lang="en-US" sz="1300" dirty="0"/>
          </a:p>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기술 검증</a:t>
            </a:r>
            <a:endParaRPr lang="en-US" sz="1300" dirty="0"/>
          </a:p>
        </p:txBody>
      </p:sp>
      <p:sp>
        <p:nvSpPr>
          <p:cNvPr id="9" name="Shape 7"/>
          <p:cNvSpPr/>
          <p:nvPr/>
        </p:nvSpPr>
        <p:spPr>
          <a:xfrm>
            <a:off x="548640" y="4069080"/>
            <a:ext cx="2310323" cy="438912"/>
          </a:xfrm>
          <a:prstGeom prst="homePlate">
            <a:avLst/>
          </a:prstGeom>
          <a:solidFill>
            <a:srgbClr val="A3A7AD"/>
          </a:solidFill>
          <a:ln w="12700">
            <a:solidFill>
              <a:srgbClr val="A3A7AD"/>
            </a:solidFill>
            <a:prstDash val="solid"/>
          </a:ln>
        </p:spPr>
      </p:sp>
      <p:sp>
        <p:nvSpPr>
          <p:cNvPr id="10" name="Text 8"/>
          <p:cNvSpPr txBox="1"/>
          <p:nvPr/>
        </p:nvSpPr>
        <p:spPr>
          <a:xfrm>
            <a:off x="731520"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1" name="Text 9"/>
          <p:cNvSpPr txBox="1"/>
          <p:nvPr/>
        </p:nvSpPr>
        <p:spPr>
          <a:xfrm>
            <a:off x="594360"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240시간 촉진부식</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6가지 분석 교차 검증</a:t>
            </a:r>
            <a:endParaRPr lang="en-US" sz="1200" dirty="0"/>
          </a:p>
        </p:txBody>
      </p:sp>
      <p:sp>
        <p:nvSpPr>
          <p:cNvPr id="12" name="Shape 10"/>
          <p:cNvSpPr/>
          <p:nvPr/>
        </p:nvSpPr>
        <p:spPr>
          <a:xfrm>
            <a:off x="3145445" y="2423160"/>
            <a:ext cx="1463040" cy="1463040"/>
          </a:xfrm>
          <a:prstGeom prst="ellipse">
            <a:avLst/>
          </a:prstGeom>
          <a:solidFill>
            <a:srgbClr val="8FA0AC"/>
          </a:solidFill>
          <a:ln w="38100">
            <a:solidFill>
              <a:srgbClr val="FFFFFF"/>
            </a:solidFill>
            <a:prstDash val="solid"/>
          </a:ln>
        </p:spPr>
      </p:sp>
      <p:sp>
        <p:nvSpPr>
          <p:cNvPr id="13" name="Text 11"/>
          <p:cNvSpPr txBox="1"/>
          <p:nvPr/>
        </p:nvSpPr>
        <p:spPr>
          <a:xfrm>
            <a:off x="3145445" y="2788920"/>
            <a:ext cx="1463040" cy="731520"/>
          </a:xfrm>
          <a:prstGeom prst="rect">
            <a:avLst/>
          </a:prstGeom>
          <a:noFill/>
          <a:ln/>
        </p:spPr>
        <p:txBody>
          <a:bodyPr wrap="square" lIns="0" tIns="0" rIns="0" bIns="0" rtlCol="0" anchor="ctr"/>
          <a:lstStyle/>
          <a:p>
            <a:pPr marL="0" indent="0" algn="ctr">
              <a:buNone/>
            </a:pPr>
            <a:r>
              <a:rPr lang="en-US" sz="1350" b="1" dirty="0">
                <a:solidFill>
                  <a:srgbClr val="FFFFFF"/>
                </a:solidFill>
                <a:latin typeface="맑은 고딕" pitchFamily="34" charset="0"/>
                <a:ea typeface="맑은 고딕" pitchFamily="34" charset="-122"/>
                <a:cs typeface="맑은 고딕" pitchFamily="34" charset="-120"/>
              </a:rPr>
              <a:t>미국 고객</a:t>
            </a:r>
            <a:endParaRPr lang="en-US" sz="1350" dirty="0"/>
          </a:p>
          <a:p>
            <a:pPr marL="0" indent="0" algn="ctr">
              <a:buNone/>
            </a:pPr>
            <a:r>
              <a:rPr lang="en-US" sz="1350" b="1" dirty="0">
                <a:solidFill>
                  <a:srgbClr val="FFFFFF"/>
                </a:solidFill>
                <a:latin typeface="맑은 고딕" pitchFamily="34" charset="0"/>
                <a:ea typeface="맑은 고딕" pitchFamily="34" charset="-122"/>
                <a:cs typeface="맑은 고딕" pitchFamily="34" charset="-120"/>
              </a:rPr>
              <a:t>인터뷰 35건</a:t>
            </a:r>
            <a:endParaRPr lang="en-US" sz="1350" dirty="0"/>
          </a:p>
        </p:txBody>
      </p:sp>
      <p:sp>
        <p:nvSpPr>
          <p:cNvPr id="14" name="Shape 12"/>
          <p:cNvSpPr/>
          <p:nvPr/>
        </p:nvSpPr>
        <p:spPr>
          <a:xfrm>
            <a:off x="2767523" y="4069080"/>
            <a:ext cx="2310323" cy="438912"/>
          </a:xfrm>
          <a:prstGeom prst="chevron">
            <a:avLst/>
          </a:prstGeom>
          <a:solidFill>
            <a:srgbClr val="A3A7AD"/>
          </a:solidFill>
          <a:ln w="12700">
            <a:solidFill>
              <a:srgbClr val="A3A7AD"/>
            </a:solidFill>
            <a:prstDash val="solid"/>
          </a:ln>
        </p:spPr>
      </p:sp>
      <p:sp>
        <p:nvSpPr>
          <p:cNvPr id="15" name="Text 13"/>
          <p:cNvSpPr txBox="1"/>
          <p:nvPr/>
        </p:nvSpPr>
        <p:spPr>
          <a:xfrm>
            <a:off x="2950403"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6" name="Text 14"/>
          <p:cNvSpPr txBox="1"/>
          <p:nvPr/>
        </p:nvSpPr>
        <p:spPr>
          <a:xfrm>
            <a:off x="2813243"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Tex-Corps · 2026년 7월</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타깃: 해양 석유 · 가스</a:t>
            </a:r>
            <a:endParaRPr lang="en-US" sz="1200" dirty="0"/>
          </a:p>
        </p:txBody>
      </p:sp>
      <p:sp>
        <p:nvSpPr>
          <p:cNvPr id="17" name="Shape 15"/>
          <p:cNvSpPr/>
          <p:nvPr/>
        </p:nvSpPr>
        <p:spPr>
          <a:xfrm>
            <a:off x="5272888" y="2240280"/>
            <a:ext cx="1645920" cy="1645920"/>
          </a:xfrm>
          <a:prstGeom prst="ellipse">
            <a:avLst/>
          </a:prstGeom>
          <a:solidFill>
            <a:srgbClr val="1F5F7A"/>
          </a:solidFill>
          <a:ln w="38100">
            <a:solidFill>
              <a:srgbClr val="FFFFFF"/>
            </a:solidFill>
            <a:prstDash val="solid"/>
          </a:ln>
        </p:spPr>
      </p:sp>
      <p:sp>
        <p:nvSpPr>
          <p:cNvPr id="18" name="Text 16"/>
          <p:cNvSpPr txBox="1"/>
          <p:nvPr/>
        </p:nvSpPr>
        <p:spPr>
          <a:xfrm>
            <a:off x="5272888" y="2697480"/>
            <a:ext cx="164592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두께 측정</a:t>
            </a:r>
            <a:endParaRPr lang="en-US" sz="1400" dirty="0"/>
          </a:p>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데이터 결합</a:t>
            </a:r>
            <a:endParaRPr lang="en-US" sz="1400" dirty="0"/>
          </a:p>
        </p:txBody>
      </p:sp>
      <p:sp>
        <p:nvSpPr>
          <p:cNvPr id="19" name="Shape 17"/>
          <p:cNvSpPr/>
          <p:nvPr/>
        </p:nvSpPr>
        <p:spPr>
          <a:xfrm>
            <a:off x="4986406" y="4069080"/>
            <a:ext cx="2310323" cy="438912"/>
          </a:xfrm>
          <a:prstGeom prst="chevron">
            <a:avLst/>
          </a:prstGeom>
          <a:solidFill>
            <a:srgbClr val="4A4F57"/>
          </a:solidFill>
          <a:ln w="12700">
            <a:solidFill>
              <a:srgbClr val="4A4F57"/>
            </a:solidFill>
            <a:prstDash val="solid"/>
          </a:ln>
        </p:spPr>
      </p:sp>
      <p:sp>
        <p:nvSpPr>
          <p:cNvPr id="20" name="Text 18"/>
          <p:cNvSpPr txBox="1"/>
          <p:nvPr/>
        </p:nvSpPr>
        <p:spPr>
          <a:xfrm>
            <a:off x="5169286"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1" name="Text 19"/>
          <p:cNvSpPr txBox="1"/>
          <p:nvPr/>
        </p:nvSpPr>
        <p:spPr>
          <a:xfrm>
            <a:off x="5032126"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사진이 못 보는</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두께 감소를 보정</a:t>
            </a:r>
            <a:endParaRPr lang="en-US" sz="1200" dirty="0"/>
          </a:p>
        </p:txBody>
      </p:sp>
      <p:sp>
        <p:nvSpPr>
          <p:cNvPr id="22" name="Shape 20"/>
          <p:cNvSpPr/>
          <p:nvPr/>
        </p:nvSpPr>
        <p:spPr>
          <a:xfrm>
            <a:off x="7400331" y="2057400"/>
            <a:ext cx="1828800" cy="1828800"/>
          </a:xfrm>
          <a:prstGeom prst="ellipse">
            <a:avLst/>
          </a:prstGeom>
          <a:solidFill>
            <a:srgbClr val="2B2D31"/>
          </a:solidFill>
          <a:ln w="38100">
            <a:solidFill>
              <a:srgbClr val="FFFFFF"/>
            </a:solidFill>
            <a:prstDash val="solid"/>
          </a:ln>
        </p:spPr>
      </p:sp>
      <p:sp>
        <p:nvSpPr>
          <p:cNvPr id="23" name="Text 21"/>
          <p:cNvSpPr txBox="1"/>
          <p:nvPr/>
        </p:nvSpPr>
        <p:spPr>
          <a:xfrm>
            <a:off x="7400331" y="2606040"/>
            <a:ext cx="1828800" cy="731520"/>
          </a:xfrm>
          <a:prstGeom prst="rect">
            <a:avLst/>
          </a:prstGeom>
          <a:noFill/>
          <a:ln/>
        </p:spPr>
        <p:txBody>
          <a:bodyPr wrap="square" lIns="0" tIns="0" rIns="0" bIns="0" rtlCol="0" anchor="ctr"/>
          <a:lstStyle/>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비용 절감</a:t>
            </a:r>
            <a:endParaRPr lang="en-US" sz="1450" dirty="0"/>
          </a:p>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근거 정량화</a:t>
            </a:r>
            <a:endParaRPr lang="en-US" sz="1450" dirty="0"/>
          </a:p>
        </p:txBody>
      </p:sp>
      <p:sp>
        <p:nvSpPr>
          <p:cNvPr id="24" name="Shape 22"/>
          <p:cNvSpPr/>
          <p:nvPr/>
        </p:nvSpPr>
        <p:spPr>
          <a:xfrm>
            <a:off x="7205289" y="4069080"/>
            <a:ext cx="2310323" cy="438912"/>
          </a:xfrm>
          <a:prstGeom prst="chevron">
            <a:avLst/>
          </a:prstGeom>
          <a:solidFill>
            <a:srgbClr val="3A3F45"/>
          </a:solidFill>
          <a:ln w="12700">
            <a:solidFill>
              <a:srgbClr val="3A3F45"/>
            </a:solidFill>
            <a:prstDash val="solid"/>
          </a:ln>
        </p:spPr>
      </p:sp>
      <p:sp>
        <p:nvSpPr>
          <p:cNvPr id="25" name="Text 23"/>
          <p:cNvSpPr txBox="1"/>
          <p:nvPr/>
        </p:nvSpPr>
        <p:spPr>
          <a:xfrm>
            <a:off x="7388169"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6" name="Text 24"/>
          <p:cNvSpPr txBox="1"/>
          <p:nvPr/>
        </p:nvSpPr>
        <p:spPr>
          <a:xfrm>
            <a:off x="7251009"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선박 · 리프트 · 문서 시간</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절감액으로 ROI 산출</a:t>
            </a:r>
            <a:endParaRPr lang="en-US" sz="1200" dirty="0"/>
          </a:p>
        </p:txBody>
      </p:sp>
      <p:sp>
        <p:nvSpPr>
          <p:cNvPr id="27" name="Shape 25"/>
          <p:cNvSpPr/>
          <p:nvPr/>
        </p:nvSpPr>
        <p:spPr>
          <a:xfrm>
            <a:off x="9527774" y="1874520"/>
            <a:ext cx="2011680" cy="2011680"/>
          </a:xfrm>
          <a:prstGeom prst="ellipse">
            <a:avLst/>
          </a:prstGeom>
          <a:solidFill>
            <a:srgbClr val="B5501F"/>
          </a:solidFill>
          <a:ln w="38100">
            <a:solidFill>
              <a:srgbClr val="FFFFFF"/>
            </a:solidFill>
            <a:prstDash val="solid"/>
          </a:ln>
        </p:spPr>
      </p:sp>
      <p:sp>
        <p:nvSpPr>
          <p:cNvPr id="28" name="Text 26"/>
          <p:cNvSpPr txBox="1"/>
          <p:nvPr/>
        </p:nvSpPr>
        <p:spPr>
          <a:xfrm>
            <a:off x="9527774" y="2514600"/>
            <a:ext cx="201168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유망 현장</a:t>
            </a:r>
            <a:endParaRPr lang="en-US" sz="1500" dirty="0"/>
          </a:p>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심화</a:t>
            </a:r>
            <a:endParaRPr lang="en-US" sz="1500" dirty="0"/>
          </a:p>
        </p:txBody>
      </p:sp>
      <p:sp>
        <p:nvSpPr>
          <p:cNvPr id="29" name="Shape 27"/>
          <p:cNvSpPr/>
          <p:nvPr/>
        </p:nvSpPr>
        <p:spPr>
          <a:xfrm>
            <a:off x="9424172" y="4069080"/>
            <a:ext cx="2310323" cy="438912"/>
          </a:xfrm>
          <a:prstGeom prst="chevron">
            <a:avLst/>
          </a:prstGeom>
          <a:solidFill>
            <a:srgbClr val="2B2D31"/>
          </a:solidFill>
          <a:ln w="12700">
            <a:solidFill>
              <a:srgbClr val="2B2D31"/>
            </a:solidFill>
            <a:prstDash val="solid"/>
          </a:ln>
        </p:spPr>
      </p:sp>
      <p:sp>
        <p:nvSpPr>
          <p:cNvPr id="30" name="Text 28"/>
          <p:cNvSpPr txBox="1"/>
          <p:nvPr/>
        </p:nvSpPr>
        <p:spPr>
          <a:xfrm>
            <a:off x="9607052"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31" name="Text 29"/>
          <p:cNvSpPr txBox="1"/>
          <p:nvPr/>
        </p:nvSpPr>
        <p:spPr>
          <a:xfrm>
            <a:off x="9469892"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미드스트림 압축 기지</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비말대 · 라이저 지지 프레임</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a:effectLst/>
      </p:bgPr>
    </p:bg>
    <p:spTree>
      <p:nvGrpSpPr>
        <p:cNvPr id="1" name=""/>
        <p:cNvGrpSpPr/>
        <p:nvPr/>
      </p:nvGrpSpPr>
      <p:grpSpPr>
        <a:xfrm>
          <a:off x="0" y="0"/>
          <a:ext cx="0" cy="0"/>
          <a:chOff x="0" y="0"/>
          <a:chExt cx="0" cy="0"/>
        </a:xfrm>
      </p:grpSpPr>
      <p:sp>
        <p:nvSpPr>
          <p:cNvPr id="2" name="Text 0"/>
          <p:cNvSpPr txBox="1"/>
          <p:nvPr/>
        </p:nvSpPr>
        <p:spPr>
          <a:xfrm>
            <a:off x="0" y="2269958"/>
            <a:ext cx="12191695" cy="457200"/>
          </a:xfrm>
          <a:prstGeom prst="rect">
            <a:avLst/>
          </a:prstGeom>
          <a:noFill/>
          <a:ln/>
        </p:spPr>
        <p:txBody>
          <a:bodyPr wrap="square" lIns="0" tIns="0" rIns="0" bIns="0" rtlCol="0" anchor="t"/>
          <a:lstStyle/>
          <a:p>
            <a:pPr marL="0" indent="0" algn="ctr">
              <a:buNone/>
            </a:pPr>
            <a:r>
              <a:rPr lang="en-US" sz="2200" b="1" kern="0" spc="60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818598"/>
            <a:ext cx="12191695" cy="1097280"/>
          </a:xfrm>
          <a:prstGeom prst="rect">
            <a:avLst/>
          </a:prstGeom>
          <a:noFill/>
          <a:ln/>
        </p:spPr>
        <p:txBody>
          <a:bodyPr wrap="square" lIns="0" tIns="0" rIns="0" bIns="0" rtlCol="0" anchor="ctr"/>
          <a:lstStyle/>
          <a:p>
            <a:pPr marL="0" indent="0" algn="ctr">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marL="0" indent="0" algn="ctr">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3860</TotalTime>
  <Words>1492</Words>
  <Application>Microsoft Office PowerPoint</Application>
  <PresentationFormat>와이드스크린</PresentationFormat>
  <Paragraphs>237</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7</cp:revision>
  <dcterms:created xsi:type="dcterms:W3CDTF">2026-10-06T01:17:14Z</dcterms:created>
  <dcterms:modified xsi:type="dcterms:W3CDTF">2026-10-16T02:22:40Z</dcterms:modified>
</cp:coreProperties>
</file>